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9" Type="http://schemas.openxmlformats.org/officeDocument/2006/relationships/slide" Target="slides/slide9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6" Type="http://schemas.openxmlformats.org/officeDocument/2006/relationships/slide" Target="slides/slide6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1280, height: 720, background: '#FFFFFF', position: 'relative', fontFamily: 'Source Han Sans CN, Microsoft YaHei, sans-serif' }}&gt;&#10;  &lt;Box style={{ position: 'absolute', top: 0, left: 0, width: 960, height: 12, background: '#1E4FA8' }} /&gt;&#10;  &lt;Box style={{ position: 'absolute', top: 0, right: 0, width: 320, height: 12, background: '#3D7BD9' }} /&gt;&#10;&#10;  &lt;Box style={{ position: 'absolute', top: 96, left: 80, width: 1120, flexDirection: 'column', alignItems: 'center' }}&gt;&#10;    &lt;Text style={{ fontSize: 20, color: '#3D7BD9', letterSpacing: 8 }}&gt;硕士学位论文 · 进展汇报&lt;/Text&gt;&#10;    &lt;Text style={{ fontSize: 50, fontWeight: 'bold', color: '#0E3F8C', textAlign: 'center', lineHeight: 1.35, marginTop: 22 }}&gt;&#10;      动态滚动的多机巢多无人机&lt;br /&gt;协同任务分配方法&#10;    &lt;/Text&gt;&#10;    &lt;Text style={{ fontSize: 16, color: '#8B97A8', marginTop: 18, textAlign: 'center' }}&gt;&#10;      Dynamic Rolling Multi-Nest Multi-UAV Collaborative Task Allocation: A Hierarchical Framework&#10;    &lt;/Text&gt;&#10;    &lt;Box style={{ marginTop: 24, flexDirection: 'row', gap: 14 }}&gt;&#10;      &lt;Box style={{ padding: '7px 22px', background: '#E8EFF8', borderRadius: 18 }}&gt;&#10;        &lt;Text style={{ fontSize: 17, color: '#1E4FA8', fontWeight: 'bold' }}&gt;分层求解框架的构建与实验验证&lt;/Text&gt;&#10;      &lt;/Box&gt;&#10;      &lt;Box style={{ padding: '7px 22px', background: '#F0F5FC', borderRadius: 18 }}&gt;&#10;        &lt;Text style={{ fontSize: 17, color: '#4A5568' }}&gt;进展 · 结果 · 下一步&lt;/Text&gt;&#10;      &lt;/Box&gt;&#10;    &lt;/Box&gt;&#10;  &lt;/Box&gt;&#10;&#10;  &lt;Box style={{ position: 'absolute', bottom: 96, left: 80 }}&gt;&#10;    &lt;svg width={1120} height={228} viewBox='0 0 1120 228'&gt;&#10;      &lt;path d='M 0,150 C 180,96 320,130 480,100 S 760,130 900,92 S 1060,116 1120,100 L 1120,228 L 0,228 Z' fill='#F0F5FC' /&gt;&#10;      &lt;path d='M 0,150 C 180,96 320,130 480,100 S 760,130 900,92 S 1060,116 1120,100' fill='none' stroke='#D6DCE5' strokeWidth='1' /&gt;&#10;      &lt;path d='M 0,182 C 150,124 260,164 410,132 S 700,174 860,124 S 1050,152 1120,134 L 1120,228 L 0,228 Z' fill='#E8EFF8' /&gt;&#10;      &lt;path d='M 0,182 C 150,124 260,164 410,132 S 700,174 860,124 S 1050,152 1120,134' fill='none' stroke='#3D7BD9' strokeWidth='1.2' /&gt;&#10;      &lt;path d='M 0,208 C 200,168 380,196 560,172 S 880,200 1120,168 L 1120,228 L 0,228 Z' fill='#DCE7F5' /&gt;&#10;      &lt;path d='M 128,158 Q 320,38 556,116' fill='none' stroke='#1E4FA8' strokeWidth='1.6' strokeDasharray='7 5' /&gt;&#10;      &lt;path d='M 556,116 Q 770,26 972,110' fill='none' stroke='#1E4FA8' strokeWidth='1.6' strokeDasharray='7 5' /&gt;&#10;      &lt;path d='M 972,110 Q 1060,72 1108,96' fill='none' stroke='#3D7BD9' strokeWidth='1.4' strokeDasharray='6 5' /&gt;&#10;      &lt;circle cx='252' cy='86' r='5' fill='#FFC107' /&gt;&#10;      &lt;circle cx='416' cy='64' r='5' fill='#FFC107' /&gt;&#10;      &lt;circle cx='668' cy='54' r='5' fill='#FFC107' /&gt;&#10;      &lt;circle cx='862' cy='68' r='5' fill='#FFC107' /&gt;&#10;      &lt;circle cx='180' cy='120' r='4' fill='#FFC107' opacity='0.75' /&gt;&#10;      &lt;circle cx='510' cy='96' r='4' fill='#FFC107' opacity='0.75' /&gt;&#10;      &lt;circle cx='760' cy='86' r='4' fill='#FFC107' opacity='0.75' /&gt;&#10;      &lt;circle cx='1020' cy='120' r='4' fill='#FFC107' opacity='0.75' /&gt;&#10;      &lt;path d='M 330,76 l 11,5 l -11,5 l 3,-5 Z' fill='#1E4FA8' /&gt;&#10;      &lt;path d='M 762,48 l 11,5 l -11,5 l 3,-5 Z' fill='#1E4FA8' /&gt;&#10;      &lt;g&gt;&#10;        &lt;rect x='114' y='146' width='18' height='14' rx='2' fill='#1E4FA8' /&gt;&#10;        &lt;path d='M 110,146 L 123,136 L 136,146 Z' fill='#0E3F8C' /&gt;&#10;      &lt;/g&gt;&#10;      &lt;g&gt;&#10;        &lt;rect x='547' y='104' width='18' height='14' rx='2' fill='#1E4FA8' /&gt;&#10;        &lt;path d='M 543,104 L 556,94 L 569,104 Z' fill='#0E3F8C' /&gt;&#10;      &lt;/g&gt;&#10;      &lt;g&gt;&#10;        &lt;rect x='963' y='98' width='18' height='14' rx='2' fill='#1E4FA8' /&gt;&#10;        &lt;path d='M 959,98 L 972,88 L 985,98 Z' fill='#0E3F8C' /&gt;&#10;      &lt;/g&gt;&#10;      &lt;text x='152' y='178' font-size='14' fill='#4A5568'&gt;机巢（异源起飞）&lt;/text&gt;&#10;      &lt;text x='600' y='140' font-size='14' fill='#4A5568'&gt;终点机巢择优降落&lt;/text&gt;&#10;      &lt;text x='330' y='112' font-size='14' fill='#1E4FA8'&gt;三维航程航线&lt;/text&gt;&#10;      &lt;text x='470' y='44' font-size='14' fill='#B8860B'&gt;动态到达任务&lt;/text&gt;&#10;    &lt;/svg&gt;&#10;  &lt;/Box&gt;&#10;  &lt;Box style={{ position: 'absolute', bottom: 268, right: 96, background: '#FFFFFF', border: '1px solid #D6DCE5', borderRadius: 8, padding: '8px 16px', flexDirection: 'row', alignItems: 'center', gap: 10 }}&gt;&#10;    &lt;Text style={{ fontSize: 13, color: '#4A5568' }}&gt;&lt;span style={{ color: '#FFC107' }}&gt;●&lt;/span&gt; 任务（Poisson 滚动到达）&lt;/Text&gt;&#10;    &lt;Text style={{ fontSize: 13, color: '#1E4FA8', fontWeight: 'bold' }}&gt;– –&lt;/Text&gt;&#10;    &lt;Text style={{ fontSize: 13, color: '#4A5568' }}&gt;航次（UAV 起点固定 · 终点可选）&lt;/Text&gt;&#10;  &lt;/Box&gt;&#10;  &lt;Box style={{ position: 'absolute', bottom: 102, left: 110, flexDirection: 'row', alignItems: 'center', gap: 5 }}&gt;&#10;    &lt;Text style={{ fontSize: 13.5, color: '#8B97A8', fontWeight: 'bold' }}&gt;DEM&lt;/Text&gt;&#10;    &lt;Text style={{ fontSize: 13.5, color: '#8B97A8' }}&gt;三维地形剖面（垂直切面航程口径）&lt;/Text&gt;&#10;  &lt;/Box&gt;&#10;&#10;  &lt;Box style={{ position: 'absolute', bottom: 24, left: 80, width: 1120, flexDirection: 'row', justifyContent: 'space-between', alignItems: 'center' }}&gt;&#10;    &lt;Text style={{ fontSize: 16, color: '#4A5568' }}&gt;汇报人：XXX&lt;span style={{ color: '#D6DCE5' }}&gt;　|　&lt;/span&gt;指导教师：XXX&lt;/Text&gt;&#10;    &lt;Text style={{ fontSize: 16, color: '#4A5568' }}&gt;2026 年 10 月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9144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9144000" y="0"/>
            <a:ext cx="3048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4572000" y="91440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硕士学位论文</a:t>
            </a:r>
            <a:r>
              <a:rPr lang="en-US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238500" y="1352550"/>
            <a:ext cx="5715000" cy="1543050"/>
          </a:xfrm>
          <a:prstGeom prst="rect"/>
        </p:spPr>
        <p:txBody>
          <a:bodyPr wrap="none" lIns="0" tIns="0" rIns="0" bIns="0"/>
          <a:p>
            <a:pPr algn="ctr">
              <a:lnSpc>
                <a:spcPct val="135000"/>
              </a:lnSpc>
            </a:pPr>
            <a:r>
              <a:rPr lang="zh-CN" sz="3750" b="1">
                <a:solidFill>
                  <a:srgbClr val="0E3F8C"/>
                </a:solidFill>
                <a:latin typeface="Source Han Sans CN"/>
                <a:ea typeface="Source Han Sans CN"/>
              </a:rPr>
              <a:t>动态滚动的多机巢多无人机</a:t>
            </a:r>
            <a:endParaRPr/>
          </a:p>
          <a:p>
            <a:pPr algn="ctr">
              <a:lnSpc>
                <a:spcPct val="135000"/>
              </a:lnSpc>
            </a:pPr>
            <a:r>
              <a:rPr lang="zh-CN" sz="3750" b="1">
                <a:solidFill>
                  <a:srgbClr val="0E3F8C"/>
                </a:solidFill>
                <a:latin typeface="Source Han Sans CN"/>
                <a:ea typeface="Source Han Sans CN"/>
              </a:rPr>
              <a:t>协同任务分配方法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2647950" y="3067050"/>
            <a:ext cx="6905625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Source Han Sans CN"/>
                <a:ea typeface="Source Han Sans CN"/>
              </a:rPr>
              <a:t>Dynamic Rolling Multi-Nest Multi-UAV Collaborative Task Allocation: A Hierarchical Framework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3771900" y="3486150"/>
            <a:ext cx="2686050" cy="333375"/>
          </a:xfrm>
          <a:prstGeom prst="roundRect">
            <a:avLst>
              <a:gd name="adj" fmla="val 5142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3981450" y="3552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Source Han Sans CN"/>
                <a:ea typeface="Source Han Sans CN"/>
              </a:rPr>
              <a:t>分层求解框架的构建与实验验证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6591300" y="3486150"/>
            <a:ext cx="1828800" cy="333375"/>
          </a:xfrm>
          <a:prstGeom prst="roundRect">
            <a:avLst>
              <a:gd name="adj" fmla="val 5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800850" y="3552825"/>
            <a:ext cx="1409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进展</a:t>
            </a:r>
            <a:r>
              <a:rPr lang="en-US" sz="12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结果</a:t>
            </a:r>
            <a:r>
              <a:rPr lang="en-US" sz="12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下一步</a:t>
            </a:r>
            <a:endParaRPr/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3771900"/>
            <a:ext cx="10668000" cy="21717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7124700" y="4000500"/>
            <a:ext cx="415290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277100" y="4076700"/>
            <a:ext cx="1600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FFC107"/>
                </a:solidFill>
                <a:latin typeface="Source Han Sans CN"/>
                <a:ea typeface="Source Han Sans CN"/>
              </a:rPr>
              <a:t>●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任务（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Poisson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滚动到达）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972550" y="4076700"/>
            <a:ext cx="171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CN"/>
                <a:ea typeface="Source Han Sans CN"/>
              </a:rPr>
              <a:t>– –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239250" y="4076700"/>
            <a:ext cx="1885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航次（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UAV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起点固定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终点可选）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47750" y="5724525"/>
            <a:ext cx="314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8B97A8"/>
                </a:solidFill>
                <a:latin typeface="Source Han Sans CN"/>
                <a:ea typeface="Source Han Sans CN"/>
              </a:rPr>
              <a:t>DEM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409700" y="5724525"/>
            <a:ext cx="2057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CN"/>
                <a:ea typeface="Source Han Sans CN"/>
              </a:rPr>
              <a:t>三维地形剖面（垂直切面航程口径）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762000" y="6438900"/>
            <a:ext cx="2314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汇报人：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XXX</a:t>
            </a:r>
            <a:r>
              <a:rPr lang="zh-CN" sz="1200">
                <a:solidFill>
                  <a:srgbClr val="D6DCE5"/>
                </a:solidFill>
                <a:latin typeface="Source Han Sans CN"/>
                <a:ea typeface="Source Han Sans CN"/>
              </a:rPr>
              <a:t>　</a:t>
            </a:r>
            <a:r>
              <a:rPr lang="en-US" sz="1200">
                <a:solidFill>
                  <a:srgbClr val="D6DCE5"/>
                </a:solidFill>
                <a:latin typeface="Source Han Sans CN"/>
                <a:ea typeface="Source Han Sans CN"/>
              </a:rPr>
              <a:t>|</a:t>
            </a:r>
            <a:r>
              <a:rPr lang="zh-CN" sz="1200">
                <a:solidFill>
                  <a:srgbClr val="D6DCE5"/>
                </a:solidFill>
                <a:latin typeface="Source Han Sans CN"/>
                <a:ea typeface="Source Han Sans CN"/>
              </a:rPr>
              <a:t>　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指导教师：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XXX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10448925" y="6438900"/>
            <a:ext cx="981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2026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年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39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&#10;  &lt;Box style={{ position: 'absolute', top: 110, left: 40, width: 356, height: 540, background: '#0E3F8C', borderRadius: 12, padding: '44px 36px', flexDirection: 'column' }}&gt;&#10;    &lt;Text style={{ fontSize: 38, fontWeight: 'bold', color: '#FFFFFF' }}&gt;汇报提纲&lt;/Text&gt;&#10;    &lt;Text style={{ fontSize: 15, color: '#B5D4F4', letterSpacing: 4, marginTop: 8 }}&gt;CONTENTS&lt;/Text&gt;&#10;    &lt;Box style={{ width: 44, height: 3, background: '#FFC107', marginTop: 20 }} /&gt;&#10;    &lt;Text style={{ fontSize: 17, color: '#DCE7F5', lineHeight: 1.9, marginTop: 28 }}&gt;&#10;      围绕「动态任务池 × 多机巢 × 选择性执行」三个关键词，先讲清问题与方法骨架，再用两组实验支撑核心主张，最后坦诚当前的证据边界。&#10;    &lt;/Text&gt;&#10;    &lt;Text style={{ fontSize: 14, color: '#85B7EB', lineHeight: 1.8, marginTop: 22 }}&gt;&#10;      汇报约 15 分钟，公式与数据均可回溯到论文第 3 章与实验记录。&#10;    &lt;/Text&gt;&#10;  &lt;/Box&gt;&#10;&#10;  &lt;Box style={{ position: 'absolute', top: 110, left: 428, width: 812, height: 540, flexDirection: 'column', justifyContent: 'space-between' }}&gt;&#10;    {[&#10;      { n: '01', t: '研究问题与总体框架', d: '任务动态到达与持续滞留、无人机状态动态变化、任务规模与执行能力失配——静态一次性规划失效，引出两阶段分层滚动框架', p: 'P3–P5' },&#10;      { n: '02', t: '第一阶段：动态任务选择', d: '基础优先级预筛选 + 边际收益增量选择 + 快速可行性检查，把任务池压缩为规模可控的候选集', p: 'P6–P7' },&#10;      { n: '03', t: '第二阶段：选择性 MUAS 与 DMDE', d: '多机巢选择性分配的组合优化模型、四层准字典序适应度、改进离散映射差分进化与终点机巢精确求解', p: 'P8–P10' },&#10;      { n: '04', t: '实验验证与下一步', d: 'exp01 多 seed 阶梯（方向一致可复现）、exp02 规模标定（求解规模与 N 解耦）、性能瓶颈消除、证据边界与计划', p: 'P11–P15' },&#10;    ].map((it) =&gt; (&#10;      &lt;Box key={it.n} style={{ flexDirection: 'row', alignItems: 'flex-start', gap: 20, background: '#F0F5FC', borderRadius: 10, padding: '18px 22px', border: '1px solid #D6DCE5', borderLeft: '4px solid #1E4FA8' }}&gt;&#10;        &lt;Box style={{ width: 54, height: 54, background: '#1E4FA8', borderRadius: 8, alignItems: 'center', justifyContent: 'center' }}&gt;&#10;          &lt;Text style={{ fontSize: 22, fontWeight: 'bold', color: '#FFFFFF' }}&gt;{it.n}&lt;/Text&gt;&#10;        &lt;/Box&gt;&#10;        &lt;Box style={{ flex: 1, flexDirection: 'column' }}&gt;&#10;          &lt;Text style={{ fontSize: 21, fontWeight: 'bold', color: '#1A2230' }}&gt;&#10;            {it.t}&lt;span style={{ fontSize: 15, fontWeight: 'normal', color: '#3D7BD9' }}&gt;　{it.p}&lt;/span&gt;&#10;          &lt;/Text&gt;&#10;          &lt;Text style={{ fontSize: 15, color: '#4A5568', lineHeight: 1.6, marginTop: 6 }}&gt;{it.d}&lt;/Text&gt;&#10;        &lt;/Box&gt;&#10;      &lt;/Box&gt;&#10;    ))}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2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381000" y="1047750"/>
            <a:ext cx="3390900" cy="5143500"/>
          </a:xfrm>
          <a:prstGeom prst="roundRect">
            <a:avLst>
              <a:gd name="adj" fmla="val 33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23900" y="1466850"/>
            <a:ext cx="27051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Source Han Sans CN"/>
                <a:ea typeface="Source Han Sans CN"/>
              </a:rPr>
              <a:t>汇报提纲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23900" y="1981200"/>
            <a:ext cx="2705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B5D4F4"/>
                </a:solidFill>
                <a:latin typeface="Source Han Sans CN"/>
                <a:ea typeface="Source Han Sans CN"/>
              </a:rPr>
              <a:t>CONTENTS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723900" y="2343150"/>
            <a:ext cx="4191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23900" y="2638425"/>
            <a:ext cx="2705100" cy="1485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围绕「动态任务池</a:t>
            </a:r>
            <a:r>
              <a:rPr lang="en-US" sz="1275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多机巢</a:t>
            </a:r>
            <a:r>
              <a:rPr lang="en-US" sz="1275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选择性执行」三个关键词，先讲清问题与方法骨架，再用两组实验支撑核心主张，最后坦诚当前的证据边界。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23900" y="4333875"/>
            <a:ext cx="27051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汇报约</a:t>
            </a:r>
            <a:r>
              <a:rPr lang="en-US" sz="105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15 </a:t>
            </a: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分钟，公式与数据均可回溯到论文第</a:t>
            </a:r>
            <a:r>
              <a:rPr lang="en-US" sz="105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3 </a:t>
            </a: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章与实验记录。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4114800" y="1047750"/>
            <a:ext cx="7734300" cy="1200150"/>
          </a:xfrm>
          <a:prstGeom prst="roundRect">
            <a:avLst>
              <a:gd name="adj" fmla="val 793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4114800" y="1047750"/>
            <a:ext cx="7734300" cy="1200150"/>
          </a:xfrm>
          <a:custGeom>
            <a:pathLst>
              <a:path w="812" h="12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0"/>
                </a:lnTo>
                <a:cubicBezTo>
                  <a:pt x="4" y="123"/>
                  <a:pt x="6" y="125"/>
                  <a:pt x="9" y="126"/>
                </a:cubicBezTo>
                <a:cubicBezTo>
                  <a:pt x="4" y="125"/>
                  <a:pt x="0" y="121"/>
                  <a:pt x="0" y="11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4324350" y="12192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48175" y="135255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029200" y="1219200"/>
            <a:ext cx="6572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研究问题与总体框架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P3–P5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029200" y="1524000"/>
            <a:ext cx="65722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任务动态到达与持续滞留、无人机状态动态变化、任务规模与执行能力失配——静态一次性规划失效，引出两阶段分层滚动框架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4114800" y="2543175"/>
            <a:ext cx="7734300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4114800" y="2543175"/>
            <a:ext cx="7734300" cy="923925"/>
          </a:xfrm>
          <a:custGeom>
            <a:pathLst>
              <a:path w="812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/>
          <p:cNvSpPr/>
          <p:nvPr/>
        </p:nvSpPr>
        <p:spPr>
          <a:xfrm rot="0" flipH="0" flipV="0">
            <a:off x="4324350" y="2714625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4448175" y="2847975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5029200" y="2714625"/>
            <a:ext cx="6572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第一阶段：动态任务选择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P6–P7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029200" y="3019425"/>
            <a:ext cx="65722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边际收益增量选择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快速可行性检查，把任务池压缩为规模可控的候选集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4114800" y="3771900"/>
            <a:ext cx="7734300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1" name=""/>
          <p:cNvSpPr/>
          <p:nvPr/>
        </p:nvSpPr>
        <p:spPr>
          <a:xfrm rot="0" flipH="0" flipV="0">
            <a:off x="4114800" y="3771900"/>
            <a:ext cx="7734300" cy="923925"/>
          </a:xfrm>
          <a:custGeom>
            <a:pathLst>
              <a:path w="812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4324350" y="39433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448175" y="407670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5029200" y="3943350"/>
            <a:ext cx="6572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第二阶段：选择性</a:t>
            </a:r>
            <a:r>
              <a:rPr lang="en-US" sz="15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与</a:t>
            </a:r>
            <a:r>
              <a:rPr lang="en-US" sz="15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DMDE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P8–P10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029200" y="4248150"/>
            <a:ext cx="65722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多机巢选择性分配的组合优化模型、四层准字典序适应度、改进离散映射差分进化与终点机巢精确求解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4114800" y="4991100"/>
            <a:ext cx="7734300" cy="1200150"/>
          </a:xfrm>
          <a:prstGeom prst="roundRect">
            <a:avLst>
              <a:gd name="adj" fmla="val 793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4114800" y="4991100"/>
            <a:ext cx="7734300" cy="1200150"/>
          </a:xfrm>
          <a:custGeom>
            <a:pathLst>
              <a:path w="812" h="12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0"/>
                </a:lnTo>
                <a:cubicBezTo>
                  <a:pt x="4" y="123"/>
                  <a:pt x="6" y="125"/>
                  <a:pt x="9" y="126"/>
                </a:cubicBezTo>
                <a:cubicBezTo>
                  <a:pt x="4" y="125"/>
                  <a:pt x="0" y="121"/>
                  <a:pt x="0" y="11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4324350" y="51625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448175" y="529590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5029200" y="5162550"/>
            <a:ext cx="6572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实验验证与下一步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P11–P15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029200" y="5467350"/>
            <a:ext cx="65722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exp01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多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阶梯（方向一致可复现）、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规模标定（求解规模与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解耦）、性能瓶颈消除、证据边界与计划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02 / 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76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&#10;  &lt;Text style={{ position: 'absolute', top: 130, right: 60, fontSize: 330, fontWeight: 'bold', color: '#E8EFF8', lineHeight: 1 }}&gt;01&lt;/Text&gt;&#10;&#10;  &lt;Box style={{ position: 'absolute', top: 480, right: 80, width: 360, flexDirection: 'column', alignItems: 'flex-end', gap: 12 }}&gt;&#10;    {['任务动态到达与滞留', '规模—能力失配', '两阶段分层滚动求解'].map((k) =&gt; (&#10;      &lt;Box key={k} style={{ padding: '8px 18px', background: '#F0F5FC', borderRadius: 18, border: '1px solid #D6DCE5' }}&gt;&#10;        &lt;Text style={{ fontSize: 15, color: '#1E4FA8', fontWeight: 'bold' }}&gt;{k}&lt;/Text&gt;&#10;      &lt;/Box&gt;&#10;    ))}&#10;  &lt;/Box&gt;&#10;&#10;  &lt;Box style={{ position: 'absolute', top: 200, left: 80, width: 760, flexDirection: 'column' }}&gt;&#10;    &lt;Box style={{ flexDirection: 'row', alignItems: 'center', gap: 14 }}&gt;&#10;      &lt;Box style={{ width: 40, height: 4, background: '#FFC107' }} /&gt;&#10;      &lt;Text style={{ fontSize: 17, color: '#3D7BD9', letterSpacing: 5 }}&gt;CHAPTER 01&lt;/Text&gt;&#10;    &lt;/Box&gt;&#10;    &lt;Text style={{ fontSize: 44, fontWeight: 'bold', color: '#0E3F8C', marginTop: 18 }}&gt;研究问题与总体框架&lt;/Text&gt;&#10;    &lt;Box style={{ marginTop: 34, flexDirection: 'column', gap: 18 }}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任务&lt;span style={{ fontWeight: 'bold' }}&gt;动态到达、持续滞留&lt;/span&gt;与无人机&lt;span style={{ fontWeight: 'bold' }}&gt;状态动态变化&lt;/span&gt;并存，规划必须周期性滚动进行&#10;        &lt;/Text&gt;&#10;      &lt;/Box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任务规模与当前执行能力&lt;span style={{ fontWeight: 'bold' }}&gt;经常失配&lt;/span&gt;——不能全量求解，也不能随意丢弃任务&#10;        &lt;/Text&gt;&#10;      &lt;/Box&gt;&#10;    &lt;/Box&gt;&#10;    &lt;Text style={{ fontSize: 16, color: '#4A5568', lineHeight: 1.8, marginTop: 30 }}&gt;&#10;      广域巡检场景中，静态一次性规划无法应对持续到达的任务流。本章先刻画问题特征，再给出「快速任务选择缩空间 + 精细 MUAS 组合优化」的两阶段总体求解框架。&#10;    &lt;/Text&gt;&#10;    &lt;Box style={{ marginTop: 24, flexDirection: 'row', gap: 12, alignItems: 'center' }}&gt;&#10;      &lt;Box style={{ padding: '7px 16px', background: '#1E4FA8', borderRadius: 6 }}&gt;&#10;        &lt;Text style={{ fontSize: 14, color: '#FFFFFF', fontWeight: 'bold' }}&gt;P4 · 五大挑战&lt;/Text&gt;&#10;      &lt;/Box&gt;&#10;      &lt;Box style={{ padding: '7px 16px', background: '#1E4FA8', borderRadius: 6 }}&gt;&#10;        &lt;Text style={{ fontSize: 14, color: '#FFFFFF', fontWeight: 'bold' }}&gt;P5 · 总体求解框架&lt;/Text&gt;&#10;      &lt;/Box&gt;&#10;    &lt;/Box&gt;&#10;  &lt;/Box&gt;&#10;&#10;  &lt;Box style={{ position: 'absolute', bottom: 76, left: 80, flexDirection: 'row', gap: 12, alignItems: 'center' }}&gt;&#10;    {['01', '02', '03', '04'].map((n, i) =&gt; (&#10;      &lt;Box key={n} style={{ padding: '6px 16px', borderRadius: 14, background: i === 0 ? '#1E4FA8' : '#F0F5FC' }}&gt;&#10;        &lt;Text style={{ fontSize: 14, fontWeight: 'bold', color: i === 0 ? '#FFFFFF' : '#8B97A8' }}&gt;{n}&lt;/Text&gt;&#10;      &lt;/Box&gt;&#10;    ))}&#10;    &lt;Text style={{ fontSize: 14, color: '#8B97A8', marginLeft: 8 }}&gt;研究问题 · 方法两阶段 · 实验验证&lt;/Text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3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8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734300" y="1238250"/>
            <a:ext cx="3886200" cy="3771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801225" y="45720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972675" y="464820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任务动态到达与滞留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10067925" y="5010150"/>
            <a:ext cx="13620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239375" y="5086350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规模—能力失配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9801225" y="54483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972675" y="552450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两阶段分层滚动求解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276350" y="190500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01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62000" y="2276475"/>
            <a:ext cx="7239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研究问题与总体框架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952500" y="3105150"/>
            <a:ext cx="70485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任务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动态到达、持续滞留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与无人机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状态动态变化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并存，规划必须周期性滚动进行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762000" y="3752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952500" y="3648075"/>
            <a:ext cx="70485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任务规模与当前执行能力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经常失配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——不能全量求解，也不能随意丢弃任务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62000" y="4305300"/>
            <a:ext cx="7239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广域巡检场景中，静态一次性规划无法应对持续到达的任务流。本章先刻画问题特征，再给出「快速任务选择缩空间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精细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组合优化」的两阶段总体求解框架。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62000" y="5200650"/>
            <a:ext cx="11525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14400" y="5267325"/>
            <a:ext cx="847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P4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五大挑战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028825" y="5200650"/>
            <a:ext cx="14192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2181225" y="5267325"/>
            <a:ext cx="1114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P5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总体求解框架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1440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150495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209550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268605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3200400" y="5915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8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03 / 16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11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广域巡检场景下的五大挑战&lt;/Text&gt;&#10;  &lt;/Box&gt;&#10;  &lt;Text style={{ position: 'absolute', top: 78, left: 60, fontSize: 15, color: '#8B97A8' }}&gt;静态一次性规划失效——分配决策必须在滚动周期内反复重做&lt;/Text&gt;&#10;&#10;  &lt;Box style={{ position: 'absolute', top: 116, left: 40, width: 660, flexDirection: 'column' }}&gt;&#10;    &lt;Box style={{ background: '#FFFFFF', border: '1px solid #D6DCE5', borderRadius: 10, padding: 10 }}&gt;&#10;      &lt;Image src=&quot;assets/fig_exp01_dynamics.png&quot; style={{ width: 638, height: 343, objectFit: 'cover', borderRadius: 6 }} /&gt;&#10;    &lt;/Box&gt;&#10;    &lt;Text style={{ fontSize: 14, color: '#4A5568', lineHeight: 1.7, marginTop: 12 }}&gt;&#10;      左图为本文方法在滚动协议下的一次&lt;span style={{ fontWeight: 'bold' }}&gt;真实运行轨迹&lt;/span&gt;（任务 × 周期状态矩阵）：任务陆续到达（灰）→ 池内待处理（橙）→ 被选择执行并完成（绿）。任务流持续到来、部分任务滞留数个周期，正是右侧五类挑战共同作用的直接体现。&#10;    &lt;/Text&gt;&#10;  &lt;/Box&gt;&#10;&#10;  &lt;Box style={{ position: 'absolute', top: 116, left: 728, width: 512, height: 534, flexDirection: 'column', justifyContent: 'space-between' }}&gt;&#10;    {[&#10;      { n: '1', t: '任务动态到达与持续滞留', d: '任务池按周期演化 T(t+1)=remain∪new∪release，滞留任务需要等待补偿，不能静默丢失' },&#10;      { n: '2', t: '无人机可用状态动态变化', d: '起降、充电、故障使可用集每周期不同，规划必须基于当前真实状态而非初始快照' },&#10;      { n: '3', t: '多机巢起降与终点选择', d: '异源起飞、异巢终止：起点由停靠状态确定，终点机巢是决策变量且受泊位容量约束' },&#10;      { n: '4', t: '任务数量与执行能力不匹配', d: '任务数远超单周期能力承载，既不能全量求解，也不能非物理地拒绝任务' },&#10;      { n: '5', t: '任务价值与空间执行代价并存', d: '高价值任务可能伴随高三维航程代价，收益与代价必须放在一起权衡' },&#10;    ].map((c) =&gt; (&#10;      &lt;Box key={c.n} style={{ flexDirection: 'row', gap: 14, alignItems: 'flex-start', background: '#F0F5FC', borderRadius: 8, padding: '12px 16px', borderLeft: '4px solid #1E4FA8' }}&gt;&#10;        &lt;Box style={{ width: 30, height: 30, borderRadius: 15, background: '#1E4FA8', alignItems: 'center', justifyContent: 'center' }}&gt;&#10;          &lt;Text style={{ fontSize: 16, fontWeight: 'bold', color: '#FFFFFF' }}&gt;{c.n}&lt;/Text&gt;&#10;        &lt;/Box&gt;&#10;        &lt;Box style={{ flex: 1, flexDirection: 'column' }}&gt;&#10;          &lt;Text style={{ fontSize: 18, fontWeight: 'bold', color: '#1A2230' }}&gt;{c.t}&lt;/Text&gt;&#10;          &lt;Text style={{ fontSize: 14, color: '#4A5568', lineHeight: 1.55, marginTop: 4 }}&gt;{c.d}&lt;/Text&gt;&#10;        &lt;/Box&gt;&#10;      &lt;/Box&gt;&#10;    ))}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4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36576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广域巡检场景下的五大挑战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静态一次性规划失效——分配决策必须在滚动周期内反复重做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81000" y="1104900"/>
            <a:ext cx="6286500" cy="3457575"/>
          </a:xfrm>
          <a:prstGeom prst="roundRect">
            <a:avLst>
              <a:gd name="adj" fmla="val 275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 r:embed="rId1"/>
          <a:srcRect l="0" t="7396" r="0" b="7396"/>
          <a:stretch>
            <a:fillRect/>
          </a:stretch>
        </p:blipFill>
        <p:spPr>
          <a:xfrm rot="0" flipH="0" flipV="0">
            <a:off x="476250" y="1200150"/>
            <a:ext cx="6076950" cy="3267075"/>
          </a:xfrm>
          <a:prstGeom prst="roundRect">
            <a:avLst>
              <a:gd name="adj" fmla="val 1749"/>
            </a:avLst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81000" y="4676775"/>
            <a:ext cx="62865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左图为本文方法在滚动协议下的一次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真实运行轨迹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（任务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周期状态矩阵）：任务陆续到达（灰）→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池内待处理（橙）→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被选择执行并完成（绿）。任务流持续到来、部分任务滞留数个周期，正是右侧五类挑战共同作用的直接体现。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972300" y="1104900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1" name=""/>
          <p:cNvSpPr/>
          <p:nvPr/>
        </p:nvSpPr>
        <p:spPr>
          <a:xfrm rot="0" flipH="0" flipV="0">
            <a:off x="6972300" y="1104900"/>
            <a:ext cx="4876800" cy="981075"/>
          </a:xfrm>
          <a:custGeom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7124700" y="12192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219950" y="126682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543800" y="1219200"/>
            <a:ext cx="411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任务动态到达与持续滞留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543800" y="146685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任务池按周期演化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T(t+1)=remain∪new∪release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，滞留任务需要等待补偿，不能静默丢失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6972300" y="2190750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6972300" y="2190750"/>
            <a:ext cx="4876800" cy="981075"/>
          </a:xfrm>
          <a:custGeom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7124700" y="23050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219950" y="23526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7543800" y="2305050"/>
            <a:ext cx="411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无人机可用状态动态变化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7543800" y="2552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起降、充电、故障使可用集每周期不同，规划必须基于当前真实状态而非初始快照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972300" y="3286125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6972300" y="3286125"/>
            <a:ext cx="4876800" cy="981075"/>
          </a:xfrm>
          <a:custGeom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7124700" y="34004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219950" y="344805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7543800" y="3400425"/>
            <a:ext cx="411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多机巢起降与终点选择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543800" y="3648075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异源起飞、异巢终止：起点由停靠状态确定，终点机巢是决策变量且受泊位容量约束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972300" y="4371975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6972300" y="4371975"/>
            <a:ext cx="4876800" cy="981075"/>
          </a:xfrm>
          <a:custGeom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712470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7219950" y="45339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543800" y="4486275"/>
            <a:ext cx="411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任务数量与执行能力不匹配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543800" y="4733925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任务数远超单周期能力承载，既不能全量求解，也不能非物理地拒绝任务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972300" y="5457825"/>
            <a:ext cx="4876800" cy="733425"/>
          </a:xfrm>
          <a:prstGeom prst="roundRect">
            <a:avLst>
              <a:gd name="adj" fmla="val 1039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6972300" y="5457825"/>
            <a:ext cx="4876800" cy="733425"/>
          </a:xfrm>
          <a:custGeom>
            <a:pathLst>
              <a:path w="512" h="7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3"/>
                </a:lnTo>
                <a:cubicBezTo>
                  <a:pt x="4" y="75"/>
                  <a:pt x="5" y="77"/>
                  <a:pt x="7" y="77"/>
                </a:cubicBezTo>
                <a:cubicBezTo>
                  <a:pt x="3" y="77"/>
                  <a:pt x="0" y="73"/>
                  <a:pt x="0" y="6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7124700" y="5572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219950" y="561975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5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543800" y="5572125"/>
            <a:ext cx="411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任务价值与空间执行代价并存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543800" y="5819775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高价值任务可能伴随高三维航程代价，收益与代价必须放在一起权衡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1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4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28, left: 40, flexDirection: 'row', alignItems: 'center', gap: 14 }}&gt;&#10;    &lt;Box style={{ width: 6, height: 34, background: '#1E4FA8' }} /&gt;&#10;    &lt;Text style={{ fontSize: 32, fontWeight: 'bold', color: '#0E3F8C' }}&gt;总体求解框架：分层滚动闭环&lt;/Text&gt;&#10;  &lt;/Box&gt;&#10;  &lt;Box style={{ position: 'absolute', top: 74, left: 60, padding: '6px 18px', background: '#0E3F8C', borderRadius: 6 }}&gt;&#10;    &lt;Text style={{ fontSize: 16, fontWeight: 'bold', color: '#FFFFFF' }}&gt;核心主张：快速任务选择缩空间 + 精细 MUAS 组合优化&lt;/Text&gt;&#10;  &lt;/Box&gt;&#10;&#10;  &lt;Box style={{ position: 'absolute', top: 128, left: 60 }}&gt;&#10;    &lt;svg width={1160} height={296} viewBox='0 0 1160 296'&gt;&#10;      &lt;rect x='18' y='102' width='142' height='92' rx='10' fill='#F0F5FC' stroke='#1E4FA8' strokeWidth='1.2' /&gt;&#10;      &lt;text x='89' y='140' font-size='16' font-weight='bold' fill='#0E3F8C' text-anchor='middle'&gt;动态任务池&lt;/text&gt;&#10;      &lt;text x='89' y='166' font-size='13' fill='#4A5568' text-anchor='middle'&gt;滚动到达 · 滞留留池&lt;/text&gt;&#10;      &lt;line x1='160' y1='148' x2='216' y2='148' stroke='#1E4FA8' strokeWidth='1.8' markerEnd='url(#ah1)' /&gt;&#10;      &lt;rect x='220' y='30' width='332' height='236' rx='12' fill='#FFFFFF' stroke='#1E4FA8' strokeWidth='1.2' /&gt;&#10;      &lt;rect x='220' y='30' width='332' height='44' rx='12' fill='#1E4FA8' /&gt;&#10;      &lt;rect x='220' y='58' width='332' height='16' fill='#1E4FA8' /&gt;&#10;      &lt;text x='386' y='58' font-size='16' font-weight='bold' fill='#FFFFFF' text-anchor='middle'&gt;第一阶段 · 动态任务选择&lt;/text&gt;&#10;      &lt;rect x='240' y='90' width='292' height='40' rx='7' fill='#F0F5FC' stroke='#3D7BD9' strokeWidth='0.8' /&gt;&#10;      &lt;text x='386' y='115' font-size='14' fill='#1A2230' text-anchor='middle'&gt;优先级预筛选 Top-αK ∩ cap(t)&lt;/text&gt;&#10;      &lt;line x1='386' y1='130' x2='386' y2='144' stroke='#3D7BD9' strokeWidth='1.2' markerEnd='url(#ah2)' /&gt;&#10;      &lt;rect x='240' y='146' width='292' height='40' rx='7' fill='#F0F5FC' stroke='#3D7BD9' strokeWidth='0.8' /&gt;&#10;      &lt;text x='386' y='171' font-size='14' fill='#1A2230' text-anchor='middle'&gt;边际收益增量选择 Δ = ΔB / ΔC&lt;/text&gt;&#10;      &lt;line x1='386' y1='186' x2='386' y2='200' stroke='#3D7BD9' strokeWidth='1.2' markerEnd='url(#ah2)' /&gt;&#10;      &lt;rect x='240' y='202' width='292' height='40' rx='7' fill='#F0F5FC' stroke='#3D7BD9' strokeWidth='0.8' /&gt;&#10;      &lt;text x='386' y='227' font-size='14' fill='#1A2230' text-anchor='middle'&gt;快速可行性检查&lt;/text&gt;&#10;      &lt;line x1='552' y1='148' x2='606' y2='148' stroke='#1E4FA8' strokeWidth='1.8' markerEnd='url(#ah1)' /&gt;&#10;      &lt;text x='579' y='136' font-size='13' font-weight='bold' fill='#1E4FA8' text-anchor='middle'&gt;候选集&lt;/text&gt;&#10;      &lt;rect x='610' y='30' width='332' height='236' rx='12' fill='#FFFFFF' stroke='#1E4FA8' strokeWidth='1.2' /&gt;&#10;      &lt;rect x='610' y='30' width='332' height='44' rx='12' fill='#0E3F8C' /&gt;&#10;      &lt;rect x='610' y='58' width='332' height='16' fill='#0E3F8C' /&gt;&#10;      &lt;text x='776' y='58' font-size='16' font-weight='bold' fill='#FFFFFF' text-anchor='middle'&gt;第二阶段 · 选择性 MUAS&lt;/text&gt;&#10;      &lt;rect x='630' y='90' width='292' height='40' rx='7' fill='#F0F5FC' stroke='#3D7BD9' strokeWidth='0.8' /&gt;&#10;      &lt;text x='776' y='115' font-size='14' fill='#1A2230' text-anchor='middle'&gt;统一编码 + DMDE 进化搜索&lt;/text&gt;&#10;      &lt;line x1='776' y1='130' x2='776' y2='144' stroke='#3D7BD9' strokeWidth='1.2' markerEnd='url(#ah2)' /&gt;&#10;      &lt;rect x='630' y='146' width='292' height='40' rx='7' fill='#F0F5FC' stroke='#3D7BD9' strokeWidth='0.8' /&gt;&#10;      &lt;text x='776' y='171' font-size='14' fill='#1A2230' text-anchor='middle'&gt;解码 + 可行性修复（Lamarckian 回写）&lt;/text&gt;&#10;      &lt;line x1='776' y1='186' x2='776' y2='200' stroke='#3D7BD9' strokeWidth='1.2' markerEnd='url(#ah2)' /&gt;&#10;      &lt;rect x='630' y='202' width='292' height='40' rx='7' fill='#F0F5FC' stroke='#3D7BD9' strokeWidth='0.8' /&gt;&#10;      &lt;text x='776' y='227' font-size='14' fill='#1A2230' text-anchor='middle'&gt;终点机巢：最小费用流精确求解&lt;/text&gt;&#10;      &lt;line x1='942' y1='148' x2='996' y2='148' stroke='#1E4FA8' strokeWidth='1.8' markerEnd='url(#ah1)' /&gt;&#10;      &lt;rect x='1000' y='102' width='142' height='92' rx='10' fill='#E8EFF8' stroke='#1E4FA8' strokeWidth='1.2' /&gt;&#10;      &lt;text x='1071' y='140' font-size='16' font-weight='bold' fill='#0E3F8C' text-anchor='middle'&gt;执行与反馈&lt;/text&gt;&#10;      &lt;text x='1071' y='166' font-size='13' fill='#4A5568' text-anchor='middle'&gt;状态更新 · 事件重规划&lt;/text&gt;&#10;      &lt;path d='M 1071,194 L 1071,266 L 89,266 L 89,198' fill='none' stroke='#3D7BD9' strokeWidth='1.6' strokeDasharray='7 5' markerEnd='url(#ah1)' /&gt;&#10;      &lt;text x='580' y='286' font-size='14' fill='#3D7BD9' text-anchor='middle'&gt;周期 t+1：任务池更新 T(t+1) = remain ∪ new ∪ release，UAV 状态同步更新&lt;/text&gt;&#10;      &lt;defs&gt;&#10;        &lt;marker id='ah1' viewBox='0 0 10 10' refX='8' refY='5' markerWidth='7' markerHeight='7' orient='auto-start-reverse'&gt;&#10;          &lt;path d='M2 1L8 5L2 9' fill='none' stroke='#1E4FA8' strokeWidth='1.6' strokeLinecap='round' strokeLinejoin='round' /&gt;&#10;        &lt;/marker&gt;&#10;        &lt;marker id='ah2' viewBox='0 0 10 10' refX='8' refY='5' markerWidth='6' markerHeight='6' orient='auto-start-reverse'&gt;&#10;          &lt;path d='M2 1L8 5L2 9' fill='none' stroke='#3D7BD9' strokeWidth='1.4' strokeLinecap='round' strokeLinejoin='round' /&gt;&#10;        &lt;/marker&gt;&#10;      &lt;/defs&gt;&#10;    &lt;/svg&gt;&#10;  &lt;/Box&gt;&#10;&#10;  &lt;Box style={{ position: 'absolute', top: 442, left: 60, width: 1160, flexDirection: 'row', gap: 20 }}&gt;&#10;    {[&#10;      { t: '第一阶段：轻量不构造成组合问题', d: '只为「值得考虑的任务」快速排序与筛选，落选任务留池下周期再评——避免对整个动态任务池做昂贵组合搜索，同时保住与执行代价的联系。', tag: '缩空间' },&#10;      { t: '第二阶段：四类决策联合优化', d: '任务是否执行 y × 归属 x × 访问顺序 π × 终点机巢 z 联合确定；起点固定、终点可选、允许部分空闲——这是多机巢动态滚动的 MTSP 变体。', tag: '精优化' },&#10;      { t: '滚动闭环：能力范围内做更多', d: '完成出池、未选留池、故障释放、新任务到达；迟到不等于废飞，完成口径只认物理约束——保证长程运行下的任务不丢失。', tag: '闭环运行' },&#10;    ].map((c) =&gt; (&#10;      &lt;Box key={c.tag} style={{ flex: 1, background: '#F7F9FC', border: '1px solid #D6DCE5', borderTop: '4px solid #1E4FA8', borderRadius: 10, padding: '14px 18px', flexDirection: 'column' }}&gt;&#10;        &lt;Box style={{ flexDirection: 'row', justifyContent: 'space-between', alignItems: 'center' }}&gt;&#10;          &lt;Text style={{ fontSize: 17, fontWeight: 'bold', color: '#0E3F8C' }}&gt;{c.t}&lt;/Text&gt;&#10;          &lt;Text style={{ fontSize: 13, fontWeight: 'bold', color: '#FFFFFF', background: '#3D7BD9', padding: '3px 10px', borderRadius: 10 }}&gt;{c.tag}&lt;/Text&gt;&#10;        &lt;/Box&gt;&#10;        &lt;Text style={{ fontSize: 14, color: '#4A5568', lineHeight: 1.6, marginTop: 8 }}&gt;{c.d}&lt;/Text&gt;&#10;      &lt;/Box&gt;&#10;    ))}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5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81000" y="29527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571500" y="266700"/>
            <a:ext cx="3962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总体求解框架：分层滚动闭环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571500" y="704850"/>
            <a:ext cx="4171950" cy="304800"/>
          </a:xfrm>
          <a:prstGeom prst="roundRect">
            <a:avLst>
              <a:gd name="adj" fmla="val 18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742950" y="762000"/>
            <a:ext cx="3829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核心主张：快速任务选择缩空间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精细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组合优化</a:t>
            </a:r>
            <a:endParaRPr/>
          </a:p>
        </p:txBody>
      </p:sp>
      <p:pic>
        <p:nvPicPr>
          <p:cNvPr id="3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219200"/>
            <a:ext cx="11049000" cy="2819400"/>
          </a:xfrm>
          <a:prstGeom prst="rect">
            <a:avLst/>
          </a:prstGeom>
          <a:ln/>
        </p:spPr>
      </p:pic>
      <p:sp>
        <p:nvSpPr>
          <p:cNvPr id="362" name=""/>
          <p:cNvSpPr/>
          <p:nvPr/>
        </p:nvSpPr>
        <p:spPr>
          <a:xfrm rot="0" flipH="0" flipV="0">
            <a:off x="571500" y="4248150"/>
            <a:ext cx="3552825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3" name=""/>
          <p:cNvSpPr/>
          <p:nvPr/>
        </p:nvSpPr>
        <p:spPr>
          <a:xfrm rot="0" flipH="0" flipV="0">
            <a:off x="571500" y="4248150"/>
            <a:ext cx="3552825" cy="1362075"/>
          </a:xfrm>
          <a:custGeom>
            <a:pathLst>
              <a:path w="373" h="143">
                <a:moveTo>
                  <a:pt x="363" y="0"/>
                </a:moveTo>
                <a:cubicBezTo>
                  <a:pt x="368" y="0"/>
                  <a:pt x="372" y="4"/>
                  <a:pt x="373" y="8"/>
                </a:cubicBezTo>
                <a:cubicBezTo>
                  <a:pt x="372" y="6"/>
                  <a:pt x="370" y="4"/>
                  <a:pt x="367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742950" y="4391025"/>
            <a:ext cx="2428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第一阶段：轻量不构造成组合问题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3390900" y="4381500"/>
            <a:ext cx="561975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3390900" y="4381500"/>
            <a:ext cx="561975" cy="209550"/>
          </a:xfrm>
          <a:prstGeom prst="rect"/>
        </p:spPr>
        <p:txBody>
          <a:bodyPr wrap="none" lIns="71438" tIns="21431" rIns="71438" bIns="21431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缩空间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42950" y="4667250"/>
            <a:ext cx="32099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只为「值得考虑的任务」快速排序与筛选，落选任务留池下周期再评——避免对整个动态任务池做昂贵组合搜索，同时保住与执行代价的联系。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4314825" y="4248150"/>
            <a:ext cx="3562350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4314825" y="4248150"/>
            <a:ext cx="3562350" cy="1362075"/>
          </a:xfrm>
          <a:custGeom>
            <a:pathLst>
              <a:path w="374" h="143">
                <a:moveTo>
                  <a:pt x="364" y="0"/>
                </a:moveTo>
                <a:cubicBezTo>
                  <a:pt x="369" y="0"/>
                  <a:pt x="373" y="4"/>
                  <a:pt x="374" y="8"/>
                </a:cubicBezTo>
                <a:cubicBezTo>
                  <a:pt x="373" y="6"/>
                  <a:pt x="371" y="4"/>
                  <a:pt x="36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486275" y="4391025"/>
            <a:ext cx="2105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第二阶段：四类决策联合优化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7143750" y="4381500"/>
            <a:ext cx="561975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143750" y="4381500"/>
            <a:ext cx="561975" cy="209550"/>
          </a:xfrm>
          <a:prstGeom prst="rect"/>
        </p:spPr>
        <p:txBody>
          <a:bodyPr wrap="none" lIns="71438" tIns="21431" rIns="71438" bIns="21431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精优化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4486275" y="4667250"/>
            <a:ext cx="32194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任务是否执行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y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归属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x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访问顺序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π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终点机巢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z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联合确定；起点固定、终点可选、允许部分空闲——这是多机巢动态滚动的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MTSP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变体。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8067675" y="4248150"/>
            <a:ext cx="3552825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75" name=""/>
          <p:cNvSpPr/>
          <p:nvPr/>
        </p:nvSpPr>
        <p:spPr>
          <a:xfrm rot="0" flipH="0" flipV="0">
            <a:off x="8067675" y="4248150"/>
            <a:ext cx="3552825" cy="1362075"/>
          </a:xfrm>
          <a:custGeom>
            <a:pathLst>
              <a:path w="373" h="143">
                <a:moveTo>
                  <a:pt x="363" y="0"/>
                </a:moveTo>
                <a:cubicBezTo>
                  <a:pt x="368" y="0"/>
                  <a:pt x="372" y="4"/>
                  <a:pt x="373" y="8"/>
                </a:cubicBezTo>
                <a:cubicBezTo>
                  <a:pt x="372" y="6"/>
                  <a:pt x="370" y="4"/>
                  <a:pt x="367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8239125" y="4391025"/>
            <a:ext cx="2105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滚动闭环：能力范围内做更多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10763250" y="4381500"/>
            <a:ext cx="685800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0763250" y="4381500"/>
            <a:ext cx="685800" cy="209550"/>
          </a:xfrm>
          <a:prstGeom prst="rect"/>
        </p:spPr>
        <p:txBody>
          <a:bodyPr wrap="none" lIns="71438" tIns="21431" rIns="71438" bIns="21431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闭环运行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239125" y="4667250"/>
            <a:ext cx="32099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完成出池、未选留池、故障释放、新任务到达；迟到不等于废飞，完成口径只认物理约束——保证长程运行下的任务不丢失。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384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&#10;  &lt;Text style={{ position: 'absolute', top: 130, right: 60, fontSize: 330, fontWeight: 'bold', color: '#E8EFF8', lineHeight: 1 }}&gt;02&lt;/Text&gt;&#10;&#10;  &lt;Box style={{ position: 'absolute', top: 200, left: 80, width: 760, flexDirection: 'column' }}&gt;&#10;    &lt;Box style={{ flexDirection: 'row', alignItems: 'center', gap: 14 }}&gt;&#10;      &lt;Box style={{ width: 40, height: 4, background: '#FFC107' }} /&gt;&#10;      &lt;Text style={{ fontSize: 17, color: '#3D7BD9', letterSpacing: 5 }}&gt;CHAPTER 02&lt;/Text&gt;&#10;    &lt;/Box&gt;&#10;    &lt;Text style={{ fontSize: 44, fontWeight: 'bold', color: '#0E3F8C', marginTop: 18 }}&gt;第一阶段：动态任务选择&lt;/Text&gt;&#10;    &lt;Box style={{ marginTop: 34, flexDirection: 'column', gap: 18 }}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&lt;span style={{ fontWeight: 'bold' }}&gt;不构造成全局组合优化问题&lt;/span&gt;——采用轻量化的「预筛选 + 增量选择 + 可行性检查」三步机制&#10;        &lt;/Text&gt;&#10;      &lt;/Box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候选规模受&lt;span style={{ fontWeight: 'bold' }}&gt;机数名额与能力承载数双重上界&lt;/span&gt;控制，选择与后续执行代价保持联系&#10;        &lt;/Text&gt;&#10;      &lt;/Box&gt;&#10;    &lt;/Box&gt;&#10;    &lt;Text style={{ fontSize: 16, color: '#4A5568', lineHeight: 1.8, marginTop: 30 }}&gt;&#10;      该阶段的目的不是直接确定最终执行任务，而是将原始动态任务池缩减为规模可控的候选集合，使后续边际选择与 MUAS 精细优化无需面对全部任务；落选任务留池、下周期再评。&#10;    &lt;/Text&gt;&#10;    &lt;Box style={{ marginTop: 24, flexDirection: 'row', gap: 12, alignItems: 'center' }}&gt;&#10;      &lt;Box style={{ padding: '7px 16px', background: '#1E4FA8', borderRadius: 6 }}&gt;&#10;        &lt;Text style={{ fontSize: 14, color: '#FFFFFF', fontWeight: 'bold' }}&gt;P7 · 优先级预筛选与边际收益选择&lt;/Text&gt;&#10;      &lt;/Box&gt;&#10;    &lt;/Box&gt;&#10;  &lt;/Box&gt;&#10;&#10;  &lt;Box style={{ position: 'absolute', top: 480, right: 80, width: 360, flexDirection: 'column', alignItems: 'flex-end', gap: 12 }}&gt;&#10;    {['基础优先级评价', '边际收益增量选择', '快速可行性检查'].map((k) =&gt; (&#10;      &lt;Box key={k} style={{ padding: '8px 18px', background: '#F0F5FC', borderRadius: 18, border: '1px solid #D6DCE5' }}&gt;&#10;        &lt;Text style={{ fontSize: 15, color: '#1E4FA8', fontWeight: 'bold' }}&gt;{k}&lt;/Text&gt;&#10;      &lt;/Box&gt;&#10;    ))}&#10;  &lt;/Box&gt;&#10;&#10;  &lt;Box style={{ position: 'absolute', bottom: 76, left: 80, flexDirection: 'row', gap: 12, alignItems: 'center' }}&gt;&#10;    {['01', '02', '03', '04'].map((n, i) =&gt; (&#10;      &lt;Box key={n} style={{ padding: '6px 16px', borderRadius: 14, background: i === 1 ? '#1E4FA8' : '#F0F5FC' }}&gt;&#10;        &lt;Text style={{ fontSize: 14, fontWeight: 'bold', color: i === 1 ? '#FFFFFF' : '#8B97A8' }}&gt;{n}&lt;/Text&gt;&#10;      &lt;/Box&gt;&#10;    ))}&#10;    &lt;Text style={{ fontSize: 14, color: '#8B97A8', marginLeft: 8 }}&gt;研究问题 · 方法两阶段 · 实验验证&lt;/Text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6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6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7734300" y="1238250"/>
            <a:ext cx="3886200" cy="3771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276350" y="190500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02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762000" y="2276475"/>
            <a:ext cx="7239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第一阶段：动态任务选择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952500" y="3105150"/>
            <a:ext cx="70485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不构造成全局组合优化问题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——采用轻量化的「预筛选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增量选择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可行性检查」三步机制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62000" y="4124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952500" y="4019550"/>
            <a:ext cx="70485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候选规模受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机数名额与能力承载数双重上界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控制，选择与后续执行代价保持联系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62000" y="4676775"/>
            <a:ext cx="7239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该阶段的目的不是直接确定最终执行任务，而是将原始动态任务池缩减为规模可控的候选集合，使后续边际选择与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精细优化无需面对全部任务；落选任务留池、下周期再评。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62000" y="5572125"/>
            <a:ext cx="235267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14400" y="5638800"/>
            <a:ext cx="2047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P7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优先级预筛选与边际收益选择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10086975" y="4572000"/>
            <a:ext cx="134302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0258425" y="464820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基础优先级评价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9944100" y="5010150"/>
            <a:ext cx="148590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10115550" y="5086350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10086975" y="5448300"/>
            <a:ext cx="134302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0258425" y="552450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快速可行性检查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91440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50495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209550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268605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200400" y="5915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14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06 / 16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417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基础优先级预筛选 + 边际收益增量选择&lt;/Text&gt;&#10;  &lt;/Box&gt;&#10;  &lt;Text style={{ position: 'absolute', top: 78, left: 60, fontSize: 15, color: '#8B97A8' }}&gt;五因素加权排序缩池，边际价值决定「加入当前组合后是否仍值得执行」&lt;/Text&gt;&#10;&#10;  &lt;Box style={{ position: 'absolute', top: 116, left: 40, width: 700, flexDirection: 'column', gap: 16 }}&gt;&#10;    &lt;Box style={{ background: '#F7F9FC', border: '1px solid #D6DCE5', borderRadius: 10, padding: '16px 20px', flexDirection: 'column' }}&gt;&#10;      &lt;Text style={{ fontSize: 19, fontWeight: 'bold', color: '#0E3F8C' }}&gt;① 基础任务优先级（五因素 min-max 归一化加权）&lt;/Text&gt;&#10;      &lt;Box style={{ marginTop: 12, background: '#E8EFF8', borderRadius: 8, padding: '14px 16px', alignItems: 'center' }}&gt;&#10;        &lt;Text style={{ fontSize: 23, fontWeight: 'bold', color: '#0E3F8C' }}&gt;&#10;          P&lt;span style={{ fontSize: 15 }}&gt;i&lt;/span&gt; = w&lt;span style={{ fontSize: 15 }}&gt;r&lt;/span&gt;·R&lt;span style={{ fontSize: 15 }}&gt;i&lt;/span&gt; + w&lt;span style={{ fontSize: 15 }}&gt;u&lt;/span&gt;·U&lt;span style={{ fontSize: 15 }}&gt;i&lt;/span&gt; + w&lt;span style={{ fontSize: 15 }}&gt;w&lt;/span&gt;·W&lt;span style={{ fontSize: 15 }}&gt;i&lt;/span&gt; + w&lt;span style={{ fontSize: 15 }}&gt;s&lt;/span&gt;·G&lt;span style={{ fontSize: 15 }}&gt;i&lt;/span&gt; − w&lt;span style={{ fontSize: 15 }}&gt;c&lt;/span&gt;·C&lt;span style={{ fontSize: 15 }}&gt;i&lt;/span&gt;&#10;        &lt;/Text&gt;&#10;      &lt;/Box&gt;&#10;      &lt;Text style={{ fontSize: 14, color: '#4A5568', lineHeight: 1.7, marginTop: 10 }}&gt;&#10;        五因素均先做 min-max 归一化：收益 R · 时间紧迫度 U · 等待补偿 W = 1−e&lt;sup&gt;−t/τ&lt;/sup&gt;（防长期滞留）· 空间协同增益 G（近邻任务可同机连续执行，聚集是&lt;span style={{ color: '#1E4FA8', fontWeight: 'bold' }}&gt;正因素&lt;/span&gt;）· 粗执行代价 C；权重和为 1，默认 0.30 / 0.25 / 0.15 / 0.15 / 0.15&#10;      &lt;/Text&gt;&#10;    &lt;/Box&gt;&#10;&#10;    &lt;Box style={{ background: '#F7F9FC', border: '1px solid #D6DCE5', borderRadius: 10, padding: '16px 20px', flexDirection: 'column' }}&gt;&#10;      &lt;Text style={{ fontSize: 19, fontWeight: 'bold', color: '#0E3F8C' }}&gt;② 候选集：机数名额 × 能力承载数双重上界&lt;/Text&gt;&#10;      &lt;Box style={{ marginTop: 12, background: '#E8EFF8', borderRadius: 8, padding: '14px 16px', alignItems: 'center' }}&gt;&#10;        &lt;Text style={{ fontSize: 21, fontWeight: 'bold', color: '#0E3F8C' }}&gt;&#10;          k = min&lt;span style={{ fontSize: 15 }}&gt;{&quot;{&quot;}ceil(α·K&lt;span style={{ fontSize: 11 }}&gt;avail&lt;/span&gt;), cap(t){&quot;}&quot;} &lt;/span&gt;&#10;          &lt;span style={{ fontWeight: 'normal', color: '#4A5568' }}&gt;　　&lt;/span&gt;&#10;          cap(t) = floor( B(t) / c&lt;span style={{ fontSize: 15 }}&gt;med&lt;/span&gt; )&#10;        &lt;/Text&gt;&#10;      &lt;/Box&gt;&#10;      &lt;Text style={{ fontSize: 14, color: '#4A5568', lineHeight: 1.7, marginTop: 10 }}&gt;&#10;        机数名额（α=2.5）保护搜索复杂度；能力承载数只计&lt;span style={{ fontWeight: 'bold' }}&gt;可起飞子集&lt;/span&gt;的剩余航程 B(t)——正在充电的机是幻影容量，不计入；紧急/释放任务可绕过名额强制纳入，但仍须过可行性检查&#10;      &lt;/Text&gt;&#10;    &lt;/Box&gt;&#10;&#10;    &lt;Box style={{ background: '#F0F5FC', border: '1px solid #D6DCE5', borderRadius: 10, padding: '12px 20px', flexDirection: 'row', alignItems: 'center', gap: 10 }}&gt;&#10;      &lt;Text style={{ fontSize: 15, fontWeight: 'bold', color: '#0E3F8C' }}&gt;机制串联：&lt;/Text&gt;&#10;      {['按 P_i 排序', '双重上界截断', '边际比逐个纳入', '可行性弹回'].map((s, i) =&gt; (&#10;        &lt;Box key={s} style={{ flexDirection: 'row', alignItems: 'center', gap: 10 }}&gt;&#10;          {i &gt; 0 &amp;&amp; &lt;Text style={{ fontSize: 16, color: '#3D7BD9', fontWeight: 'bold' }}&gt;→&lt;/Text&gt;}&#10;          &lt;Box style={{ padding: '6px 12px', background: '#FFFFFF', borderRadius: 14, border: '1px solid #3D7BD9' }}&gt;&#10;            &lt;Text style={{ fontSize: 13, color: '#1E4FA8' }}&gt;{s}&lt;/Text&gt;&#10;          &lt;/Box&gt;&#10;        &lt;/Box&gt;&#10;      ))}&#10;    &lt;/Box&gt;&#10;  &lt;/Box&gt;&#10;&#10;  &lt;Box style={{ position: 'absolute', top: 116, left: 764, width: 476, flexDirection: 'column', gap: 14 }}&gt;&#10;    &lt;Box style={{ background: '#F0F5FC', border: '1px solid #D6DCE5', borderTop: '4px solid #1E4FA8', borderRadius: 10, padding: '14px 20px', flexDirection: 'column' }}&gt;&#10;      &lt;Text style={{ fontSize: 19, fontWeight: 'bold', color: '#0E3F8C' }}&gt;③ 边际收益增量选择&lt;/Text&gt;&#10;      &lt;Box style={{ marginTop: 10, background: '#FFFFFF', borderRadius: 8, padding: '12px 14px', alignItems: 'center' }}&gt;&#10;        &lt;Text style={{ fontSize: 20, fontWeight: 'bold', color: '#0E3F8C' }}&gt;&#10;          Δ&lt;span style={{ fontSize: 13 }}&gt;i&lt;/span&gt; = ΔB&lt;span style={{ fontSize: 13 }}&gt;i&lt;/span&gt; / (ΔC&lt;span style={{ fontSize: 13 }}&gt;i&lt;/span&gt; + ε)&#10;        &lt;/Text&gt;&#10;        &lt;Text style={{ fontSize: 16, color: '#1E4FA8', marginTop: 6 }}&gt;&#10;          ΔC&lt;span style={{ fontSize: 11 }}&gt;i&lt;/span&gt; = min&lt;span style={{ fontSize: 12 }}&gt;{&quot;{&quot;} C&lt;span style={{ fontSize: 10 }}&gt;ai&lt;/span&gt; + C&lt;span style={{ fontSize: 10 }}&gt;ib&lt;/span&gt; − C&lt;span style={{ fontSize: 10 }}&gt;ab&lt;/span&gt; {&quot;}&quot;}&#10;          &lt;/span&gt;（相邻边插入，统一 DEM 三维航程）&#10;        &lt;/Text&gt;&#10;      &lt;/Box&gt;&#10;      &lt;Text style={{ fontSize: 14, color: '#4A5568', lineHeight: 1.7, marginTop: 8 }}&gt;&#10;        插入式快速估计：把任务 i 尝试插入已选序列的每条相邻边，取最小三维航程增量——&lt;span style={{ fontWeight: 'bold' }}&gt;不求解完整 MUAS&lt;/span&gt;，与已选任务空间相近者因增量代价低而胜出&#10;      &lt;/Text&gt;&#10;    &lt;/Box&gt;&#10;&#10;    &lt;Box style={{ background: '#F7F9FC', border: '1px solid #D6DCE5', borderRadius: 10, padding: '13px 20px', flexDirection: 'column' }}&gt;&#10;      &lt;Text style={{ fontSize: 17, fontWeight: 'bold', color: '#0E3F8C' }}&gt;④ 快速可行性检查（粗粒度，弹回不淘汰）&lt;/Text&gt;&#10;      &lt;Text style={{ fontSize: 14, color: '#4A5568', lineHeight: 1.7, marginTop: 6 }}&gt;&#10;        是否有可用机 · 基本可达性 · 剩余航程 · 时间窗明显冲突 · 三维地形不可达——明显不可行才不进候选，否则留池下周期再评&#10;      &lt;/Text&gt;&#10;    &lt;/Box&gt;&#10;&#10;    &lt;Box style={{ background: '#0E3F8C', borderRadius: 10, padding: '14px 20px', flexDirection: 'column' }}&gt;&#10;      &lt;Text style={{ fontSize: 16, fontWeight: 'bold', color: '#FFFFFF', lineHeight: 1.6 }}&gt;&#10;        判断：选择质量与实时性兼得——边际比只依赖代价矩阵查表与插入估计，单周期选择开销可忽略，却保住了「任务 × 组合」的匹配质量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7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52959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五因素加权排序缩池，边际价值决定「加入当前组合后是否仍值得执行」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381000" y="1104900"/>
            <a:ext cx="6667500" cy="2085975"/>
          </a:xfrm>
          <a:prstGeom prst="roundRect">
            <a:avLst>
              <a:gd name="adj" fmla="val 456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571500" y="1257300"/>
            <a:ext cx="628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①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基础任务优先级（五因素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min-max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归一化加权）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571500" y="1590675"/>
            <a:ext cx="6286500" cy="533400"/>
          </a:xfrm>
          <a:prstGeom prst="roundRect">
            <a:avLst>
              <a:gd name="adj" fmla="val 1428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419225" y="1724025"/>
            <a:ext cx="4600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P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r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·R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u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·U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w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s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·G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−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c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·C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571500" y="2219325"/>
            <a:ext cx="62865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五因素均先做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min-max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归一化：收益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R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时间紧迫度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等待补偿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W = 1−e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−t/τ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（防长期滞留）·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空间协同增益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G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（近邻任务可同机连续执行，聚集是</a:t>
            </a:r>
            <a:r>
              <a:rPr lang="zh-CN" sz="1050" b="1">
                <a:solidFill>
                  <a:srgbClr val="1E4FA8"/>
                </a:solidFill>
                <a:latin typeface="Source Han Sans CN"/>
                <a:ea typeface="Source Han Sans CN"/>
              </a:rPr>
              <a:t>正因素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粗执行代价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；权重和为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1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，默认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0.30 / 0.25 / 0.15 / 0.15 / 0.15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381000" y="3343275"/>
            <a:ext cx="6667500" cy="1800225"/>
          </a:xfrm>
          <a:prstGeom prst="roundRect">
            <a:avLst>
              <a:gd name="adj" fmla="val 52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71500" y="3495675"/>
            <a:ext cx="628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②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候选集：机数名额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能力承载数双重上界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571500" y="3829050"/>
            <a:ext cx="6286500" cy="514350"/>
          </a:xfrm>
          <a:prstGeom prst="roundRect">
            <a:avLst>
              <a:gd name="adj" fmla="val 148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047750" y="3962400"/>
            <a:ext cx="5334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Source Han Sans CN"/>
                <a:ea typeface="Source Han Sans CN"/>
              </a:rPr>
              <a:t>k = min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{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ceil(α·K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avail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), cap(t)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}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575">
                <a:solidFill>
                  <a:srgbClr val="4A5568"/>
                </a:solidFill>
                <a:latin typeface="Source Han Sans CN"/>
                <a:ea typeface="Source Han Sans CN"/>
              </a:rPr>
              <a:t>　　</a:t>
            </a:r>
            <a:r>
              <a:rPr lang="en-US" sz="1575" b="1">
                <a:solidFill>
                  <a:srgbClr val="0E3F8C"/>
                </a:solidFill>
                <a:latin typeface="Source Han Sans CN"/>
                <a:ea typeface="Source Han Sans CN"/>
              </a:rPr>
              <a:t>cap(t) = floor( B(t) / c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med</a:t>
            </a:r>
            <a:r>
              <a:rPr lang="en-US" sz="15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)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71500" y="4438650"/>
            <a:ext cx="6286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机数名额（α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=2.5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）保护搜索复杂度；能力承载数只计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可起飞子集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的剩余航程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B(t)——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正在充电的机是幻影容量，不计入；紧急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/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释放任务可绕过名额强制纳入，但仍须过可行性检查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381000" y="5295900"/>
            <a:ext cx="6667500" cy="495300"/>
          </a:xfrm>
          <a:prstGeom prst="roundRect">
            <a:avLst>
              <a:gd name="adj" fmla="val 1923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71500" y="54578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机制串联：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1381125" y="5410200"/>
            <a:ext cx="8382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495425" y="54673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按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P_i 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排序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2314575" y="54483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38" name=""/>
          <p:cNvSpPr/>
          <p:nvPr/>
        </p:nvSpPr>
        <p:spPr>
          <a:xfrm rot="0" flipH="0" flipV="0">
            <a:off x="2562225" y="5410200"/>
            <a:ext cx="9715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2676525" y="5467350"/>
            <a:ext cx="742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双重上界截断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629025" y="54483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3876675" y="5410200"/>
            <a:ext cx="1095375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990975" y="5467350"/>
            <a:ext cx="866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边际比逐个纳入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067300" y="5448300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5314950" y="5410200"/>
            <a:ext cx="847725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5429250" y="5467350"/>
            <a:ext cx="619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可行性弹回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7277100" y="1143000"/>
            <a:ext cx="4533900" cy="2400300"/>
          </a:xfrm>
          <a:prstGeom prst="roundRect">
            <a:avLst>
              <a:gd name="adj" fmla="val 396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7277100" y="1143000"/>
            <a:ext cx="4533900" cy="2400300"/>
          </a:xfrm>
          <a:custGeom>
            <a:pathLst>
              <a:path w="476" h="252">
                <a:moveTo>
                  <a:pt x="466" y="0"/>
                </a:moveTo>
                <a:cubicBezTo>
                  <a:pt x="471" y="0"/>
                  <a:pt x="475" y="4"/>
                  <a:pt x="476" y="8"/>
                </a:cubicBezTo>
                <a:cubicBezTo>
                  <a:pt x="475" y="6"/>
                  <a:pt x="473" y="4"/>
                  <a:pt x="470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6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467600" y="1276350"/>
            <a:ext cx="4152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③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7467600" y="1590675"/>
            <a:ext cx="4152900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8667750" y="1704975"/>
            <a:ext cx="1762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0E3F8C"/>
                </a:solidFill>
                <a:latin typeface="Source Han Sans CN"/>
                <a:ea typeface="Source Han Sans CN"/>
              </a:rPr>
              <a:t>Δ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ΔB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/ (ΔC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ε)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7600950" y="1990725"/>
            <a:ext cx="388620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>ΔC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i</a:t>
            </a: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= min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{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ai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+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ib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−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ab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}</a:t>
            </a:r>
            <a:r>
              <a:rPr lang="zh-CN" sz="1200">
                <a:solidFill>
                  <a:srgbClr val="1E4FA8"/>
                </a:solidFill>
                <a:latin typeface="Source Han Sans CN"/>
                <a:ea typeface="Source Han Sans CN"/>
              </a:rPr>
              <a:t>（相邻边插入，统一</a:t>
            </a: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DEM </a:t>
            </a:r>
            <a:r>
              <a:rPr lang="zh-CN" sz="1200">
                <a:solidFill>
                  <a:srgbClr val="1E4FA8"/>
                </a:solidFill>
                <a:latin typeface="Source Han Sans CN"/>
                <a:ea typeface="Source Han Sans CN"/>
              </a:rPr>
              <a:t>三维航程）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7467600" y="2552700"/>
            <a:ext cx="41529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插入式快速估计：把任务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i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尝试插入已选序列的每条相邻边，取最小三维航程增量——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不求解完整</a:t>
            </a:r>
            <a:r>
              <a:rPr lang="en-US" sz="1050" b="1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MUAS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，与已选任务空间相近者因增量代价低而胜出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7277100" y="3638550"/>
            <a:ext cx="45339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7467600" y="3762375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④ </a:t>
            </a: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快速可行性检查（粗粒度，弹回不淘汰）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7467600" y="4019550"/>
            <a:ext cx="4152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是否有可用机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基本可达性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剩余航程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时间窗明显冲突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三维地形不可达——明显不可行才不进候选，否则留池下周期再评</a:t>
            </a:r>
            <a:endParaRPr/>
          </a:p>
        </p:txBody>
      </p:sp>
      <p:sp>
        <p:nvSpPr>
          <p:cNvPr id="456" name=""/>
          <p:cNvSpPr/>
          <p:nvPr/>
        </p:nvSpPr>
        <p:spPr>
          <a:xfrm rot="0" flipH="0" flipV="0">
            <a:off x="7277100" y="4829175"/>
            <a:ext cx="4533900" cy="1152525"/>
          </a:xfrm>
          <a:prstGeom prst="roundRect">
            <a:avLst>
              <a:gd name="adj" fmla="val 826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7467600" y="4962525"/>
            <a:ext cx="41529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判断：选择质量与实时性兼得——边际比只依赖代价矩阵查表与插入估计，单周期选择开销可忽略，却保住了「任务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组合」的匹配质量。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9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462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&#10;  &lt;Text style={{ position: 'absolute', top: 130, right: 60, fontSize: 330, fontWeight: 'bold', color: '#E8EFF8', lineHeight: 1 }}&gt;03&lt;/Text&gt;&#10;&#10;  &lt;Box style={{ position: 'absolute', top: 200, left: 80, width: 760, flexDirection: 'column' }}&gt;&#10;    &lt;Box style={{ flexDirection: 'row', alignItems: 'center', gap: 14 }}&gt;&#10;      &lt;Box style={{ width: 40, height: 4, background: '#FFC107' }} /&gt;&#10;      &lt;Text style={{ fontSize: 17, color: '#3D7BD9', letterSpacing: 5 }}&gt;CHAPTER 03&lt;/Text&gt;&#10;    &lt;/Box&gt;&#10;    &lt;Text style={{ fontSize: 44, fontWeight: 'bold', color: '#0E3F8C', marginTop: 18 }}&gt;第二阶段：选择性 MUAS 与 DMDE&lt;/Text&gt;&#10;    &lt;Box style={{ marginTop: 22, flexDirection: 'column', gap: 18 }}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单周期精细规划建模为多机巢条件下的&lt;span style={{ fontWeight: 'bold' }}&gt;选择性多无人机协同任务分配&lt;/span&gt;问题：是否执行 × 归属 × 顺序 × 终点机巢联合决策&#10;        &lt;/Text&gt;&#10;      &lt;/Box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以&lt;span style={{ fontWeight: 'bold' }}&gt;离散映射差分进化（DMDE）&lt;/span&gt;为基础做结构扩展，支持部分分配、顺序搜索与异巢终止&#10;        &lt;/Text&gt;&#10;      &lt;/Box&gt;&#10;    &lt;/Box&gt;&#10;    &lt;Text style={{ fontSize: 16, color: '#4A5568', lineHeight: 1.8, marginTop: 16 }}&gt;&#10;      起点机巢由 UAV 当前停靠状态唯一确定（已知状态），终点机巢在可行集合内择优（决策变量）——共同构成「异源起飞—异巢终止」协同；每个任务至多一机执行，部分 UAV 可保持空闲。&#10;    &lt;/Text&gt;&#10;    &lt;Box style={{ marginTop: 10, flexDirection: 'row', gap: 12, alignItems: 'center' }}&gt;&#10;      &lt;Box style={{ padding: '7px 16px', background: '#1E4FA8', borderRadius: 6 }}&gt;&#10;        &lt;Text style={{ fontSize: 14, color: '#FFFFFF', fontWeight: 'bold' }}&gt;P9 · 优化模型与四层适应度&lt;/Text&gt;&#10;      &lt;/Box&gt;&#10;      &lt;Box style={{ padding: '7px 16px', background: '#1E4FA8', borderRadius: 6 }}&gt;&#10;        &lt;Text style={{ fontSize: 14, color: '#FFFFFF', fontWeight: 'bold' }}&gt;P10 · 改进 DMDE&lt;/Text&gt;&#10;      &lt;/Box&gt;&#10;    &lt;/Box&gt;&#10;  &lt;/Box&gt;&#10;&#10;  &lt;Box style={{ position: 'absolute', top: 480, right: 80, width: 360, flexDirection: 'column', alignItems: 'flex-end', gap: 12 }}&gt;&#10;    {['统一编码 + 逆映射', '终点机巢最小费用流', '四层准字典序适应度'].map((k) =&gt; (&#10;      &lt;Box key={k} style={{ padding: '8px 18px', background: '#F0F5FC', borderRadius: 18, border: '1px solid #D6DCE5' }}&gt;&#10;        &lt;Text style={{ fontSize: 15, color: '#1E4FA8', fontWeight: 'bold' }}&gt;{k}&lt;/Text&gt;&#10;      &lt;/Box&gt;&#10;    ))}&#10;  &lt;/Box&gt;&#10;&#10;  &lt;Box style={{ position: 'absolute', bottom: 58, left: 80, flexDirection: 'row', gap: 12, alignItems: 'center' }}&gt;&#10;    {['01', '02', '03', '04'].map((n, i) =&gt; (&#10;      &lt;Box key={n} style={{ padding: '6px 16px', borderRadius: 14, background: i === 2 ? '#1E4FA8' : '#F0F5FC' }}&gt;&#10;        &lt;Text style={{ fontSize: 14, fontWeight: 'bold', color: i === 2 ? '#FFFFFF' : '#8B97A8' }}&gt;{n}&lt;/Text&gt;&#10;      &lt;/Box&gt;&#10;    ))}&#10;    &lt;Text style={{ fontSize: 14, color: '#8B97A8', marginLeft: 8 }}&gt;研究问题 · 方法两阶段 · 实验验证&lt;/Text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8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4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734300" y="1238250"/>
            <a:ext cx="3886200" cy="3771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276350" y="190500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03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000" y="2276475"/>
            <a:ext cx="7239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第二阶段：选择性</a:t>
            </a:r>
            <a:r>
              <a:rPr lang="en-US" sz="33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与</a:t>
            </a:r>
            <a:r>
              <a:rPr lang="en-US" sz="33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DMDE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62000" y="30956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952500" y="2990850"/>
            <a:ext cx="70485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单周期精细规划建模为多机巢条件下的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选择性多无人机协同任务分配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问题：是否执行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归属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顺序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终点机巢联合决策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762000" y="4010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52500" y="3905250"/>
            <a:ext cx="70485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以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离散映射差分进化（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>DMDE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）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为基础做结构扩展，支持部分分配、顺序搜索与异巢终止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762000" y="4800600"/>
            <a:ext cx="7239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起点机巢由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当前停靠状态唯一确定（已知状态），终点机巢在可行集合内择优（决策变量）——共同构成「异源起飞—异巢终止」协同；每个任务至多一机执行，部分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可保持空闲。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762000" y="5562600"/>
            <a:ext cx="19526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914400" y="56292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P9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优化模型与四层适应度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2828925" y="5562600"/>
            <a:ext cx="142875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2981325" y="5629275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P10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改进</a:t>
            </a: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DMDE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9886950" y="4572000"/>
            <a:ext cx="154305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10058400" y="4648200"/>
            <a:ext cx="120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统一编码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逆映射</a:t>
            </a:r>
            <a:endParaRPr/>
          </a:p>
        </p:txBody>
      </p:sp>
      <p:sp>
        <p:nvSpPr>
          <p:cNvPr id="480" name=""/>
          <p:cNvSpPr/>
          <p:nvPr/>
        </p:nvSpPr>
        <p:spPr>
          <a:xfrm rot="0" flipH="0" flipV="0">
            <a:off x="9801225" y="501015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9972675" y="508635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终点机巢最小费用流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9801225" y="54483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9972675" y="552450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四层准字典序适应度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762000" y="602932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914400" y="608647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1352550" y="602932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504950" y="608647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1943100" y="602932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2095500" y="608647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490" name=""/>
          <p:cNvSpPr/>
          <p:nvPr/>
        </p:nvSpPr>
        <p:spPr>
          <a:xfrm rot="0" flipH="0" flipV="0">
            <a:off x="2533650" y="602932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2686050" y="608647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200400" y="608647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497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选择性多机巢 MUAS 优化模型与适应度&lt;/Text&gt;&#10;  &lt;/Box&gt;&#10;  &lt;Text style={{ position: 'absolute', top: 78, left: 60, fontSize: 15, color: '#8B97A8' }}&gt;左：论文组合优化模型　右：进化评价的现行生产口径（四层准字典序）&lt;/Text&gt;&#10;&#10;  &lt;Box style={{ position: 'absolute', top: 116, left: 40, width: 610, flexDirection: 'column', gap: 14 }}&gt;&#10;    &lt;Box style={{ background: '#F7F9FC', border: '1px solid #D6DCE5', borderRadius: 10, padding: '14px 18px', flexDirection: 'column' }}&gt;&#10;      &lt;Text style={{ fontSize: 18, fontWeight: 'bold', color: '#0E3F8C' }}&gt;① 决策变量与耦合约束&lt;/Text&gt;&#10;      &lt;Box style={{ marginTop: 10, background: '#E8EFF8', borderRadius: 8, padding: '12px 14px' }}&gt;&#10;        &lt;Text style={{ fontSize: 18, fontWeight: 'bold', color: '#0E3F8C' }}&gt;&#10;          y&lt;span style={{ fontSize: 12 }}&gt;j&lt;/span&gt; ∈ {&quot;{0,1}&quot;}　x&lt;span style={{ fontSize: 12 }}&gt;uj&lt;/span&gt; ∈ {&quot;{0,1}&quot;}　π&lt;span style={{ fontSize: 12 }}&gt;u&lt;/span&gt;=(T&lt;span style={{ fontSize: 12 }}&gt;u1&lt;/span&gt;,…,T&lt;span style={{ fontSize: 12 }}&gt;un&lt;/span&gt;)　z&lt;span style={{ fontSize: 12 }}&gt;ub&lt;/span&gt; ∈ {&quot;{0,1}&quot;}&#10;        &lt;/Text&gt;&#10;        &lt;Text style={{ fontSize: 17, color: '#1E4FA8', marginTop: 8 }}&gt;&#10;          Σ&lt;span style={{ fontSize: 11 }}&gt;u&lt;/span&gt; x&lt;span style={{ fontSize: 11 }}&gt;uj&lt;/span&gt; = y&lt;span style={{ fontSize: 11 }}&gt;j&lt;/span&gt;　（每任务至多一机；y=0 即暂不执行）&#10;        &lt;/Text&gt;&#10;      &lt;/Box&gt;&#10;      &lt;Text style={{ fontSize: 14, color: '#4A5568', lineHeight: 1.65, marginTop: 8 }}&gt;&#10;        y：任务是否执行　x：UAV–任务归属　π：访问顺序　z：终点机巢（起点由停靠状态给定）——允许 n&lt;span style={{ fontSize: 11 }}&gt;u&lt;/span&gt;=0，即部分 UAV 空闲&#10;      &lt;/Text&gt;&#10;    &lt;/Box&gt;&#10;&#10;    &lt;Box style={{ background: '#F7F9FC', border: '1px solid #D6DCE5', borderRadius: 10, padding: '14px 18px', flexDirection: 'column' }}&gt;&#10;      &lt;Text style={{ fontSize: 18, fontWeight: 'bold', color: '#0E3F8C' }}&gt;② 双目标：收益最大 × 代价最小&lt;/Text&gt;&#10;      &lt;Box style={{ marginTop: 10, background: '#E8EFF8', borderRadius: 8, padding: '12px 14px' }}&gt;&#10;        &lt;Text style={{ fontSize: 19, fontWeight: 'bold', color: '#0E3F8C' }}&gt;&#10;          max F&lt;span style={{ fontSize: 12 }}&gt;1&lt;/span&gt; = Σ&lt;span style={{ fontSize: 11 }}&gt;j&lt;/span&gt; R&lt;span style={{ fontSize: 11 }}&gt;j&lt;/span&gt;(t)·y&lt;span style={{ fontSize: 11 }}&gt;j&lt;/span&gt;&#10;          &lt;span style={{ fontWeight: 'normal', color: '#4A5568' }}&gt;　　　&lt;/span&gt;&#10;          min F&lt;span style={{ fontSize: 12 }}&gt;2&lt;/span&gt; = C(x, π, z, y)&#10;        &lt;/Text&gt;&#10;      &lt;/Box&gt;&#10;      &lt;Text style={{ fontSize: 14, color: '#4A5568', lineHeight: 1.65, marginTop: 8 }}&gt;&#10;        F2 综合三维飞行代价、时间代价与约束惩罚；约束覆盖航程、时间窗、终点可达、机巢容量（末态泊位 = 现有 − 起飞 + 降落）、三维地理与访问顺序&#10;      &lt;/Text&gt;&#10;    &lt;/Box&gt;&#10;&#10;    &lt;Box style={{ background: '#0E3F8C', borderRadius: 10, padding: '13px 18px', flexDirection: 'column' }}&gt;&#10;      &lt;Text style={{ fontSize: 15, fontWeight: 'bold', color: '#FFFFFF', lineHeight: 1.6 }}&gt;&#10;        终点机巢子问题：给定路线后 min Σ c&lt;span style={{ fontSize: 11 }}&gt;ub&lt;/span&gt;(π&lt;span style={{ fontSize: 11 }}&gt;u&lt;/span&gt;)·z&lt;span style={{ fontSize: 11 }}&gt;ub&lt;/span&gt;（容量约束），结构是小规模运输问题——用最小费用流&lt;span style={{ color: '#FFC107' }}&gt;精确求解&lt;/span&gt;，联合考虑所有 UAV 的终点竞争，返航代价进入完整成本评价。&#10;      &lt;/Text&gt;&#10;    &lt;/Box&gt;&#10;  &lt;/Box&gt;&#10;&#10;  &lt;Box style={{ position: 'absolute', top: 116, left: 674, width: 566, flexDirection: 'column', gap: 14 }}&gt;&#10;    &lt;Box style={{ background: '#F0F5FC', border: '1px solid #D6DCE5', borderTop: '4px solid #1E4FA8', borderRadius: 10, padding: '14px 18px', flexDirection: 'column' }}&gt;&#10;      &lt;Text style={{ fontSize: 18, fontWeight: 'bold', color: '#0E3F8C' }}&gt;③ 进化评价：四层准字典序（生产口径）&lt;/Text&gt;&#10;      &lt;Box style={{ marginTop: 10, background: '#FFFFFF', borderRadius: 8, padding: '12px 14px' }}&gt;&#10;        &lt;Text style={{ fontSize: 17, fontWeight: 'bold', color: '#0E3F8C', lineHeight: 1.7 }}&gt;&#10;          f = W&lt;span style={{ fontSize: 11 }}&gt;hard&lt;/span&gt;·n&lt;span style={{ fontSize: 11 }}&gt;hard&lt;/span&gt; + w&lt;span style={{ fontSize: 11 }}&gt;exc&lt;/span&gt;·excess&lt;span style={{ fontSize: 11 }}&gt;m&lt;/span&gt; − m·F&lt;span style={{ fontSize: 11 }}&gt;1eff&lt;/span&gt; + w&lt;span style={{ fontSize: 11 }}&gt;late&lt;/span&gt;·L&lt;span style={{ fontSize: 11 }}&gt;tot&lt;/span&gt; + λ·path + w&lt;span style={{ fontSize: 11 }}&gt;time&lt;/span&gt;·F&lt;span style={{ fontSize: 11 }}&gt;3&lt;/span&gt;&#10;        &lt;/Text&gt;&#10;      &lt;/Box&gt;&#10;      &lt;Box style={{ marginTop: 10, flexDirection: 'column', gap: 6 }}&gt;&#10;        {[&#10;          ['T0 物理违约（硬）', 'W_hard = κ·m·R_pool：任何一次违约压倒全部收益——幽灵交付永不入选'],&#10;          ['T1 交付收益', 'F1_eff 含迟到折减 eff = R·max(0, 1−L/W)，W=1800s'],&#10;          ['T2 迟到（软）', '0.01/s：迟到可接受但计价，只与路径同台竞争'],&#10;          ['T3 航程/负载', 'λ·path + w_time·F3，F3 = max_u T_u（最坏机时间）'],&#10;        ].map((r) =&gt; (&#10;          &lt;Box key={r[0]} style={{ flexDirection: 'row', gap: 10, alignItems: 'flex-start' }}&gt;&#10;            &lt;Box style={{ width: 116, background: '#1E4FA8', borderRadius: 4, alignItems: 'center', padding: '3px 0' }}&gt;&#10;              &lt;Text style={{ fontSize: 12, fontWeight: 'bold', color: '#FFFFFF' }}&gt;{r[0]}&lt;/Text&gt;&#10;            &lt;/Box&gt;&#10;            &lt;Text style={{ fontSize: 13, color: '#4A5568', lineHeight: 1.55, flex: 1 }}&gt;{r[1]}&lt;/Text&gt;&#10;          &lt;/Box&gt;&#10;        ))}&#10;      &lt;/Box&gt;&#10;    &lt;/Box&gt;&#10;&#10;    &lt;Box style={{ background: '#F7F9FC', border: '1px solid #D6DCE5', borderRadius: 10, padding: '13px 18px', flexDirection: 'column' }}&gt;&#10;      &lt;Text style={{ fontSize: 16, fontWeight: 'bold', color: '#0E3F8C' }}&gt;设计判断&lt;/Text&gt;&#10;      &lt;Text style={{ fontSize: 14, color: '#4A5568', lineHeight: 1.7, marginTop: 6 }}&gt;&#10;        单标量适应度保持 DMDE 选择机制不变（与 Zhao Ming 2017 同构）；T0 是&lt;span style={{ fontWeight: 'bold' }}&gt;护栏&lt;/span&gt;——探针显示 22423 次评估物理违约 0 次，「可行域窄」窄在零迟到而非物理不可行；T1 折减回答「迟到算不算完成」的语义问题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9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9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0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5410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选择性多机巢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优化模型与适应度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左：论文组合优化模型　右：进化评价的现行生产口径（四层准字典序）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81000" y="1104900"/>
            <a:ext cx="5810250" cy="1895475"/>
          </a:xfrm>
          <a:prstGeom prst="roundRect">
            <a:avLst>
              <a:gd name="adj" fmla="val 502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552450" y="1238250"/>
            <a:ext cx="5467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①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决策变量与耦合约束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552450" y="1543050"/>
            <a:ext cx="5467350" cy="714375"/>
          </a:xfrm>
          <a:prstGeom prst="roundRect">
            <a:avLst>
              <a:gd name="adj" fmla="val 10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685800" y="1657350"/>
            <a:ext cx="520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y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∈ 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{0,1}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x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uj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∈ 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{0,1}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π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=(T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u1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,…,T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un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)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z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ub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∈ 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{0,1}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685800" y="1943100"/>
            <a:ext cx="520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>
                <a:solidFill>
                  <a:srgbClr val="1E4FA8"/>
                </a:solidFill>
                <a:latin typeface="Source Han Sans CN"/>
                <a:ea typeface="Source Han Sans CN"/>
              </a:rPr>
              <a:t>Σ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u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x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uj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= y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j</a:t>
            </a:r>
            <a:r>
              <a:rPr lang="zh-CN" sz="1275">
                <a:solidFill>
                  <a:srgbClr val="1E4FA8"/>
                </a:solidFill>
                <a:latin typeface="Source Han Sans CN"/>
                <a:ea typeface="Source Han Sans CN"/>
              </a:rPr>
              <a:t>　（每任务至多一机；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y=0 </a:t>
            </a:r>
            <a:r>
              <a:rPr lang="zh-CN" sz="1275">
                <a:solidFill>
                  <a:srgbClr val="1E4FA8"/>
                </a:solidFill>
                <a:latin typeface="Source Han Sans CN"/>
                <a:ea typeface="Source Han Sans CN"/>
              </a:rPr>
              <a:t>即暂不执行）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552450" y="2333625"/>
            <a:ext cx="54673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y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：任务是否执行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x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UAV–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任务归属　π：访问顺序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z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：终点机巢（起点由停靠状态给定）——允许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n</a:t>
            </a:r>
            <a:r>
              <a:rPr lang="en-US" sz="825">
                <a:solidFill>
                  <a:srgbClr val="4A5568"/>
                </a:solidFill>
                <a:latin typeface="Source Han Sans CN"/>
                <a:ea typeface="Source Han Sans CN"/>
              </a:rPr>
              <a:t>u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=0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，即部分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空闲</a:t>
            </a:r>
            <a:endParaRPr/>
          </a:p>
        </p:txBody>
      </p:sp>
      <p:sp>
        <p:nvSpPr>
          <p:cNvPr id="509" name=""/>
          <p:cNvSpPr/>
          <p:nvPr/>
        </p:nvSpPr>
        <p:spPr>
          <a:xfrm rot="0" flipH="0" flipV="0">
            <a:off x="381000" y="3133725"/>
            <a:ext cx="5810250" cy="1628775"/>
          </a:xfrm>
          <a:prstGeom prst="roundRect">
            <a:avLst>
              <a:gd name="adj" fmla="val 58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552450" y="3267075"/>
            <a:ext cx="5467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②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双目标：收益最大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代价最小</a:t>
            </a:r>
            <a:endParaRPr/>
          </a:p>
        </p:txBody>
      </p:sp>
      <p:sp>
        <p:nvSpPr>
          <p:cNvPr id="511" name=""/>
          <p:cNvSpPr/>
          <p:nvPr/>
        </p:nvSpPr>
        <p:spPr>
          <a:xfrm rot="0" flipH="0" flipV="0">
            <a:off x="552450" y="3571875"/>
            <a:ext cx="5467350" cy="447675"/>
          </a:xfrm>
          <a:prstGeom prst="roundRect">
            <a:avLst>
              <a:gd name="adj" fmla="val 1702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685800" y="3686175"/>
            <a:ext cx="5200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max F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1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Σ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R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(t)·y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zh-CN" sz="1425">
                <a:solidFill>
                  <a:srgbClr val="4A5568"/>
                </a:solidFill>
                <a:latin typeface="Source Han Sans CN"/>
                <a:ea typeface="Source Han Sans CN"/>
              </a:rPr>
              <a:t>　　　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min F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2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C(x, π, z, y)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552450" y="4095750"/>
            <a:ext cx="54673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F2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综合三维飞行代价、时间代价与约束惩罚；约束覆盖航程、时间窗、终点可达、机巢容量（末态泊位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=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现有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−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起飞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降落）、三维地理与访问顺序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381000" y="4895850"/>
            <a:ext cx="5810250" cy="1076325"/>
          </a:xfrm>
          <a:prstGeom prst="roundRect">
            <a:avLst>
              <a:gd name="adj" fmla="val 88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552450" y="5019675"/>
            <a:ext cx="54673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终点机巢子问题：给定路线后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min Σ c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ub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(π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)·z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ub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（容量约束），结构是小规模运输问题——用最小费用流</a:t>
            </a:r>
            <a:r>
              <a:rPr lang="zh-CN" sz="1125" b="1">
                <a:solidFill>
                  <a:srgbClr val="FFC107"/>
                </a:solidFill>
                <a:latin typeface="Source Han Sans CN"/>
                <a:ea typeface="Source Han Sans CN"/>
              </a:rPr>
              <a:t>精确求解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，联合考虑所有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的终点竞争，返航代价进入完整成本评价。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6419850" y="1143000"/>
            <a:ext cx="5391150" cy="2952750"/>
          </a:xfrm>
          <a:prstGeom prst="roundRect">
            <a:avLst>
              <a:gd name="adj" fmla="val 322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7" name=""/>
          <p:cNvSpPr/>
          <p:nvPr/>
        </p:nvSpPr>
        <p:spPr>
          <a:xfrm rot="0" flipH="0" flipV="0">
            <a:off x="6419850" y="1143000"/>
            <a:ext cx="5391150" cy="2952750"/>
          </a:xfrm>
          <a:custGeom>
            <a:pathLst>
              <a:path w="566" h="310">
                <a:moveTo>
                  <a:pt x="556" y="0"/>
                </a:moveTo>
                <a:cubicBezTo>
                  <a:pt x="561" y="0"/>
                  <a:pt x="565" y="4"/>
                  <a:pt x="566" y="8"/>
                </a:cubicBezTo>
                <a:cubicBezTo>
                  <a:pt x="565" y="6"/>
                  <a:pt x="563" y="4"/>
                  <a:pt x="560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591300" y="1276350"/>
            <a:ext cx="504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③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进化评价：四层准字典序（生产口径）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6591300" y="1581150"/>
            <a:ext cx="50482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6724650" y="1695450"/>
            <a:ext cx="47815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f =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hard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·n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hard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exc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·excess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m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− m·F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1eff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late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·L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tot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λ·path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time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·F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6591300" y="2571750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6657975" y="2600325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T0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物理违约（硬）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7791450" y="2571750"/>
            <a:ext cx="38481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W_hard = κ·m·R_pool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：任何一次违约压倒全部收益——幽灵交付永不入选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6591300" y="3095625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6829425" y="3124200"/>
            <a:ext cx="638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T1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交付收益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7791450" y="3095625"/>
            <a:ext cx="38481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F1_eff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含迟到折减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eff = R·max(0, 1−L/W)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，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W=1800s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6591300" y="3390900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6772275" y="3419475"/>
            <a:ext cx="752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T2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迟到（软）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7791450" y="3390900"/>
            <a:ext cx="38481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0.01/s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：迟到可接受但计价，只与路径同台竞争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6591300" y="3686175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6800850" y="3714750"/>
            <a:ext cx="695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T3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航程</a:t>
            </a: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/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负载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7791450" y="3686175"/>
            <a:ext cx="38481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λ·path + w_time·F3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，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F3 = max_u T_u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（最坏机时间）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6419850" y="4191000"/>
            <a:ext cx="5391150" cy="1314450"/>
          </a:xfrm>
          <a:prstGeom prst="roundRect">
            <a:avLst>
              <a:gd name="adj" fmla="val 724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6591300" y="431482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设计判断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6591300" y="4562475"/>
            <a:ext cx="504825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单标量适应度保持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DMDE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选择机制不变（与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Zhao Ming 2017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同构）；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T0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是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护栏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——探针显示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22423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次评估物理违约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次，「可行域窄」窄在零迟到而非物理不可行；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T1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折减回答「迟到算不算完成」的语义问题。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改进离散映射差分进化（DMDE）&lt;/Text&gt;&#10;  &lt;/Box&gt;&#10;  &lt;Text style={{ position: 'absolute', top: 78, left: 60, fontSize: 15, color: '#8B97A8' }}&gt;连续编码承载「UAV 归属 + 访问顺序」，差分算子的搜索方向由地理代价引导&lt;/Text&gt;&#10;&#10;  &lt;Box style={{ position: 'absolute', top: 98, left: 60 }}&gt;&#10;    &lt;svg width={1160} height={252} viewBox='0 0 1160 252'&gt;&#10;      &lt;text x='20' y='26' font-size='16' font-weight='bold' fill='#0E3F8C'&gt;离散层：三元组基因 (U_i, T_j, C(i,j)) —— 按 UAV 分段，每任务恰出现一次，基因总数恒 M&lt;/text&gt;&#10;      &lt;rect x='60' y='42' width='96' height='42' rx='6' fill='#1E4FA8' /&gt;&#10;      &lt;text x='108' y='68' font-size='14' fill='#FFFFFF' text-anchor='middle'&gt;U0→T3&lt;/text&gt;&#10;      &lt;rect x='160' y='42' width='112' height='42' rx='6' fill='#B5D4F4' /&gt;&#10;      &lt;text x='216' y='68' font-size='14' fill='#0E3F8C' text-anchor='middle'&gt;T3→T7&lt;/text&gt;&#10;      &lt;rect x='276' y='42' width='106' height='42' rx='6' fill='#B5D4F4' /&gt;&#10;      &lt;text x='329' y='68' font-size='14' fill='#0E3F8C' text-anchor='middle'&gt;T7→T1&lt;/text&gt;&#10;      &lt;text x='108' y='102' font-size='12' fill='#4A5568' text-anchor='middle'&gt;起始基因 (id≥0)&lt;/text&gt;&#10;      &lt;text x='266' y='102' font-size='12' fill='#4A5568' text-anchor='middle'&gt;巡游基因 (id=−1)&lt;/text&gt;&#10;      &lt;rect x='430' y='42' width='96' height='42' rx='6' fill='#1E4FA8' /&gt;&#10;      &lt;text x='478' y='68' font-size='14' fill='#FFFFFF' text-anchor='middle'&gt;U1→T2&lt;/text&gt;&#10;      &lt;rect x='530' y='42' width='112' height='42' rx='6' fill='#B5D4F4' /&gt;&#10;      &lt;text x='586' y='68' font-size='14' fill='#0E3F8C' text-anchor='middle'&gt;T2→T5&lt;/text&gt;&#10;      &lt;rect x='646' y='42' width='96' height='42' rx='6' fill='#B5D4F4' /&gt;&#10;      &lt;text x='694' y='68' font-size='14' fill='#0E3F8C' text-anchor='middle'&gt;T5→T8&lt;/text&gt;&#10;      &lt;rect x='790' y='42' width='96' height='42' rx='6' fill='#1E4FA8' /&gt;&#10;      &lt;text x='838' y='68' font-size='14' fill='#FFFFFF' text-anchor='middle'&gt;U2→T6&lt;/text&gt;&#10;      &lt;rect x='890' y='42' width='112' height='42' rx='6' fill='#B5D4F4' /&gt;&#10;      &lt;text x='946' y='68' font-size='14' fill='#0E3F8C' text-anchor='middle'&gt;T6→T4&lt;/text&gt;&#10;      &lt;rect x='1006' y='42' width='98' height='42' rx='6' fill='#D6DCE5' stroke='#8B97A8' strokeWidth='1' strokeDasharray='4 3' /&gt;&#10;      &lt;text x='1055' y='68' font-size='13' fill='#4A5568' text-anchor='middle'&gt;T4→巢?&lt;/text&gt;&#10;      &lt;text x='1055' y='102' font-size='12' fill='#8B97A8' text-anchor='middle'&gt;终点不占编码维&lt;/text&gt;&#10;      &lt;line x1='406' y1='40' x2='406' y2='106' stroke='#D6DCE5' strokeWidth='1.2' strokeDasharray='5 4' /&gt;&#10;      &lt;line x1='772' y1='40' x2='772' y2='106' stroke='#D6DCE5' strokeWidth='1.2' strokeDasharray='5 4' /&gt;&#10;      &lt;text x='30' y='152' font-size='15' font-weight='bold' fill='#0E3F8C'&gt;连续层：固定布局代价值向量（DE 在此空间变异/交叉）&lt;/text&gt;&#10;      &lt;text x='968' y='139' font-size='14' font-weight='bold' fill='#3D7BD9'&gt;▼ 逆映射（4 步，见下）&lt;/text&gt;&#10;      &lt;rect x='60' y='166' width='250' height='38' rx='6' fill='#1E4FA8' /&gt;&#10;      &lt;text x='185' y='190' font-size='14' fill='#FFFFFF' text-anchor='middle'&gt;起始基因代价 [0, K)&lt;/text&gt;&#10;      &lt;rect x='314' y='166' width='480' height='38' rx='6' fill='#3D7BD9' /&gt;&#10;      &lt;text x='554' y='190' font-size='14' fill='#FFFFFF' text-anchor='middle'&gt;巡游基因代价（任务→任务） [K, M)&lt;/text&gt;&#10;      &lt;rect x='798' y='166' width='304' height='38' rx='6' fill='#D6DCE5' strokeDasharray='5 4' /&gt;&#10;      &lt;text x='950' y='190' font-size='14' fill='#4A5568' text-anchor='middle'&gt;终止段（主方案为空） [M, M+K)&lt;/text&gt;&#10;      &lt;text x='30' y='234' font-size='14' fill='#4A5568'&gt;差分算子作用于连续代价——其差分具有「三维航程差」的物理意义，搜索方向由地形代价引导；临时结果经逆映射还原为可行离散个体。&lt;/text&gt;&#10;    &lt;/svg&gt;&#10;  &lt;/Box&gt;&#10;&#10;  &lt;Box style={{ position: 'absolute', top: 372, left: 60, width: 1160, flexDirection: 'row', alignItems: 'flex-start', gap: 0 }}&gt;&#10;    {[&#10;      { n: '1', t: '首任务匹配', d: '温度自适应 softmax：早期较大候选集软采样保多样性，随温度衰减收敛为贪心匹配' },&#10;      { n: '2', t: '巡游边匹配', d: '按迭代行替换：以已访问任务为新起点行继续匹配——访问顺序真正进入进化搜索空间' },&#10;      { n: '3', t: '扰动增强', d: '匹配后辅以 swap / insert / reverse 扰动，跳出局部结构' },&#10;      { n: '4', t: '段结构规范化', d: '重建航次分段：起始基因按 UAV 升序、终止基因稳定落段末——保证 SRP 不变式' },&#10;    ].map((s, i) =&gt; (&#10;      &lt;Box key={s.n} style={{ width: 280, flexDirection: 'column', paddingLeft: i === 0 ? 0 : 13 }}&gt;&#10;        &lt;Box style={{ flexDirection: 'row', alignItems: 'center', gap: 10 }}&gt;&#10;          &lt;Box style={{ width: 34, height: 34, borderRadius: 17, background: '#1E4FA8', alignItems: 'center', justifyContent: 'center' }}&gt;&#10;            &lt;Text style={{ fontSize: 16, fontWeight: 'bold', color: '#FFFFFF' }}&gt;{s.n}&lt;/Text&gt;&#10;          &lt;/Box&gt;&#10;          &lt;Text style={{ fontSize: 18, fontWeight: 'bold', color: '#0E3F8C' }}&gt;{s.t}&lt;/Text&gt;&#10;        &lt;/Box&gt;&#10;        &lt;Text style={{ fontSize: 13.5, color: '#4A5568', lineHeight: 1.6, marginTop: 8, paddingRight: 16 }}&gt;{s.d}&lt;/Text&gt;&#10;      &lt;/Box&gt;&#10;    ))}&#10;  &lt;/Box&gt;&#10;&#10;  &lt;Box style={{ position: 'absolute', top: 500, left: 60, width: 1160, flexDirection: 'row', gap: 20 }}&gt;&#10;    &lt;Box style={{ flex: 1, background: '#F0F5FC', border: '1px solid #D6DCE5', borderLeft: '4px solid #1E4FA8', borderRadius: 10, padding: '13px 18px' }}&gt;&#10;      &lt;Text style={{ fontSize: 15.5, fontWeight: 'bold', color: '#0E3F8C' }}&gt;选择性 y=0 的决策位置：不占编码维度&lt;/Text&gt;&#10;      &lt;Text style={{ fontSize: 13.5, color: '#4A5568', lineHeight: 1.65, marginTop: 5 }}&gt;&#10;        DE 空间中每个任务都被分配，「暂不执行」由解码后的可行性修复在评估端裁量（航程超限移除），并支持「任务少时并入更少机」的合并修复——空闲机零成本。&#10;      &lt;/Text&gt;&#10;    &lt;/Box&gt;&#10;    &lt;Box style={{ flex: 1, background: '#F0F5FC', border: '1px solid #D6DCE5', borderLeft: '4px solid #0E3F8C', borderRadius: 10, padding: '13px 18px' }}&gt;&#10;      &lt;Text style={{ fontSize: 15.5, fontWeight: 'bold', color: '#0E3F8C' }}&gt;Lamarckian 回写：只回写起始基因&lt;/Text&gt;&#10;      &lt;Text style={{ fontSize: 13.5, color: '#4A5568', lineHeight: 1.65, marginTop: 5 }}&gt;&#10;        修复解只把首任务写回获胜个体的起始基因，巡游基因原样保留、绝不增删——基因长度恒定，这是「每任务恰出现一次」不变式下可安全落地的关键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0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46291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改进离散映射差分进化（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DMDE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96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连续编码承载「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UAV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归属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访问顺序」，差分算子的搜索方向由地理代价引导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933450"/>
            <a:ext cx="11049000" cy="2400300"/>
          </a:xfrm>
          <a:prstGeom prst="rect">
            <a:avLst/>
          </a:prstGeom>
          <a:ln/>
        </p:spPr>
      </p:pic>
      <p:sp>
        <p:nvSpPr>
          <p:cNvPr id="28" name=""/>
          <p:cNvSpPr/>
          <p:nvPr/>
        </p:nvSpPr>
        <p:spPr>
          <a:xfrm rot="0" flipH="0" flipV="0">
            <a:off x="571500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990600" y="36004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首任务匹配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571500" y="3943350"/>
            <a:ext cx="2667000" cy="49530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温度自适应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softmax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：早期较大候选集软采样保多样性，随温度衰减收敛为贪心匹配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3362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476625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781425" y="36004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巡游边匹配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362325" y="3943350"/>
            <a:ext cx="2543175" cy="74295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按迭代行替换：以已访问任务为新起点行继续匹配——访问顺序真正进入进化搜索空间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029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143625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448425" y="36004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扰动增强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029325" y="3943350"/>
            <a:ext cx="2543175" cy="49530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匹配后辅以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swap / insert / reverse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扰动，跳出局部结构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8696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810625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115425" y="36004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段结构规范化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696325" y="3943350"/>
            <a:ext cx="2543175" cy="74295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重建航次分段：起始基因按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升序、终止基因稳定落段末——保证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SRP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不变式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960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609600" y="4762500"/>
            <a:ext cx="5429250" cy="990600"/>
          </a:xfrm>
          <a:custGeom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" y="4886325"/>
            <a:ext cx="50482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y=0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的决策位置：不占编码维度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81050" y="5114925"/>
            <a:ext cx="5048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DE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空间中每个任务都被分配，「暂不执行」由解码后的可行性修复在评估端裁量（航程超限移除），并支持「任务少时并入更少机」的合并修复——空闲机零成本。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22935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6229350" y="4762500"/>
            <a:ext cx="5429250" cy="990600"/>
          </a:xfrm>
          <a:custGeom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400800" y="4886325"/>
            <a:ext cx="50482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Lamarckian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回写：只回写起始基因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400800" y="5114925"/>
            <a:ext cx="5048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修复解只把首任务写回获胜个体的起始基因，巡游基因原样保留、绝不增删——基因长度恒定，这是「每任务恰出现一次」不变式下可安全落地的关键。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6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&#10;  &lt;Text style={{ position: 'absolute', top: 130, right: 60, fontSize: 330, fontWeight: 'bold', color: '#E8EFF8', lineHeight: 1 }}&gt;04&lt;/Text&gt;&#10;&#10;  &lt;Box style={{ position: 'absolute', top: 200, left: 80, width: 760, flexDirection: 'column' }}&gt;&#10;    &lt;Box style={{ flexDirection: 'row', alignItems: 'center', gap: 14 }}&gt;&#10;      &lt;Box style={{ width: 40, height: 4, background: '#FFC107' }} /&gt;&#10;      &lt;Text style={{ fontSize: 17, color: '#3D7BD9', letterSpacing: 5 }}&gt;CHAPTER 04&lt;/Text&gt;&#10;    &lt;/Box&gt;&#10;    &lt;Text style={{ fontSize: 44, fontWeight: 'bold', color: '#0E3F8C', marginTop: 18 }}&gt;实验验证与下一步&lt;/Text&gt;&#10;    &lt;Box style={{ marginTop: 34, flexDirection: 'column', gap: 18 }}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exp01 多 seed 阶梯：改进方向 &lt;span style={{ fontWeight: 'bold' }}&gt;3/3 seed 一致&lt;/span&gt;、可逐位复现，幅度 seed-dependent&#10;        &lt;/Text&gt;&#10;      &lt;/Box&gt;&#10;      &lt;Box style={{ flexDirection: 'row', alignItems: 'flex-start', gap: 12 }}&gt;&#10;        &lt;Box style={{ width: 8, height: 8, borderRadius: 4, background: '#1E4FA8', marginTop: 11 }} /&gt;&#10;        &lt;Text style={{ fontSize: 19, color: '#1A2230', lineHeight: 1.7, flex: 1 }}&gt;&#10;          exp02 规模标定：&lt;span style={{ fontWeight: 'bold' }}&gt;求解规模与任务规模 N 解耦&lt;/span&gt;，瓶颈定位到选择名额而非候选比例&#10;        &lt;/Text&gt;&#10;      &lt;/Box&gt;&#10;    &lt;/Box&gt;&#10;    &lt;Text style={{ fontSize: 16, color: '#4A5568', lineHeight: 1.8, marginTop: 30 }}&gt;&#10;      评估口径：长程滚动 24 周期、Poisson λ=5 到达；「任务不被完成只有物理约束被违反」——完成只认物理约束，迟到计奖励折减而非废飞。所有数字来自实验 metrics 原始记录，可复现。&#10;    &lt;/Text&gt;&#10;    &lt;Box style={{ marginTop: 24, flexDirection: 'row', gap: 12, alignItems: 'center' }}&gt;&#10;      &lt;Box style={{ padding: '7px 16px', background: '#1E4FA8', borderRadius: 6 }}&gt;&#10;        &lt;Text style={{ fontSize: 14, color: '#FFFFFF', fontWeight: 'bold' }}&gt;P12 · exp01&lt;/Text&gt;&#10;      &lt;/Box&gt;&#10;      &lt;Box style={{ padding: '7px 16px', background: '#1E4FA8', borderRadius: 6 }}&gt;&#10;        &lt;Text style={{ fontSize: 14, color: '#FFFFFF', fontWeight: 'bold' }}&gt;P13 · exp02&lt;/Text&gt;&#10;      &lt;/Box&gt;&#10;      &lt;Box style={{ padding: '7px 16px', background: '#1E4FA8', borderRadius: 6 }}&gt;&#10;        &lt;Text style={{ fontSize: 14, color: '#FFFFFF', fontWeight: 'bold' }}&gt;P14 · 性能瓶颈&lt;/Text&gt;&#10;      &lt;/Box&gt;&#10;      &lt;Box style={{ padding: '7px 16px', background: '#1E4FA8', borderRadius: 6 }}&gt;&#10;        &lt;Text style={{ fontSize: 14, color: '#FFFFFF', fontWeight: 'bold' }}&gt;P15 · 边界与计划&lt;/Text&gt;&#10;      &lt;/Box&gt;&#10;    &lt;/Box&gt;&#10;  &lt;/Box&gt;&#10;&#10;  &lt;Box style={{ position: 'absolute', top: 480, right: 80, width: 360, flexDirection: 'column', alignItems: 'flex-end', gap: 12 }}&gt;&#10;    {['按时率 93.3% ± 3.6', '完成 60/60 · 废飞 0', '求解规模与 N 解耦'].map((k) =&gt; (&#10;      &lt;Box key={k} style={{ padding: '8px 18px', background: '#F0F5FC', borderRadius: 18, border: '1px solid #D6DCE5' }}&gt;&#10;        &lt;Text style={{ fontSize: 15, color: '#1E4FA8', fontWeight: 'bold' }}&gt;{k}&lt;/Text&gt;&#10;      &lt;/Box&gt;&#10;    ))}&#10;  &lt;/Box&gt;&#10;&#10;  &lt;Box style={{ position: 'absolute', bottom: 76, left: 80, flexDirection: 'row', gap: 12, alignItems: 'center' }}&gt;&#10;    {['01', '02', '03', '04'].map((n, i) =&gt; (&#10;      &lt;Box key={n} style={{ padding: '6px 16px', borderRadius: 14, background: i === 3 ? '#1E4FA8' : '#F0F5FC' }}&gt;&#10;        &lt;Text style={{ fontSize: 14, fontWeight: 'bold', color: i === 3 ? '#FFFFFF' : '#8B97A8' }}&gt;{n}&lt;/Text&gt;&#10;      &lt;/Box&gt;&#10;    ))}&#10;    &lt;Text style={{ fontSize: 14, color: '#8B97A8', marginLeft: 8 }}&gt;研究问题 · 方法两阶段 · 实验验证&lt;/Text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1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7734300" y="1238250"/>
            <a:ext cx="3886200" cy="3771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276350" y="190500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04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62000" y="2276475"/>
            <a:ext cx="7239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实验验证与下一步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952500" y="3105150"/>
            <a:ext cx="70485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exp01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多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阶梯：改进方向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3/3 seed 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一致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、可逐位复现，幅度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seed-dependent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762000" y="3752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52500" y="3648075"/>
            <a:ext cx="70485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规模标定：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求解规模与任务规模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解耦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，瓶颈定位到选择名额而非候选比例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62000" y="4305300"/>
            <a:ext cx="7239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评估口径：长程滚动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24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周期、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Poisson λ=5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到达；「任务不被完成只有物理约束被违反」——完成只认物理约束，迟到计奖励折减而非废飞。所有数字来自实验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metrics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原始记录，可复现。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62000" y="5200650"/>
            <a:ext cx="110490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914400" y="526732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P12 · exp01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1981200" y="5200650"/>
            <a:ext cx="110490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2133600" y="526732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P13 · exp02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3200400" y="5200650"/>
            <a:ext cx="12287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352800" y="5267325"/>
            <a:ext cx="923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P14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性能瓶颈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4543425" y="5200650"/>
            <a:ext cx="136207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695825" y="5267325"/>
            <a:ext cx="1057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P15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边界与计划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9763125" y="4572000"/>
            <a:ext cx="16668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9934575" y="4648200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按时率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93.3% ± 3.6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9772650" y="5010150"/>
            <a:ext cx="165735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944100" y="5086350"/>
            <a:ext cx="1314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完成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60/60 ·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废飞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0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9877425" y="5448300"/>
            <a:ext cx="15525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0048875" y="5524500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求解规模与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解耦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1440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0495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209550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2686050" y="5915025"/>
            <a:ext cx="171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200400" y="5915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2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5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exp01：多 seed 阶梯——改进方向一致且可复现&lt;/Text&gt;&#10;  &lt;/Box&gt;&#10;  &lt;Text style={{ position: 'absolute', top: 78, left: 60, fontSize: 15, color: '#8B97A8' }}&gt;长程滚动 24 周期 · Poisson λ=5 · 3 seed 全新复跑（当前代码版本）&lt;/Text&gt;&#10;&#10;  &lt;Box style={{ position: 'absolute', top: 116, left: 40, width: 380, height: 534, background: '#0E3F8C', borderRadius: 12, padding: '34px 30px', flexDirection: 'column' }}&gt;&#10;    &lt;Text style={{ fontSize: 15, color: '#85B7EB', letterSpacing: 2 }}&gt;按时率（memetic 口径，n=3）&lt;/Text&gt;&#10;    &lt;Text style={{ fontSize: 78, fontWeight: 'bold', color: '#FFFFFF', lineHeight: 1.15, marginTop: 6 }}&gt;93.3&lt;span style={{ fontSize: 34 }}&gt;%&lt;/span&gt;&lt;/Text&gt;&#10;    &lt;Text style={{ fontSize: 17, color: '#B5D4F4', marginTop: 2 }}&gt;± 3.6（83.9 → 91.7 → 93.3）&lt;/Text&gt;&#10;    &lt;Box style={{ width: 44, height: 3, background: '#FFC107', marginTop: 22 }} /&gt;&#10;    &lt;Box style={{ marginTop: 22, flexDirection: 'column', gap: 14 }}&gt;&#10;      {[&#10;        ['任务完成', '60 / 60 = 100%'],&#10;        ['废飞 · 淘汰 · 不可达', '全部为 0'],&#10;        ['物理违约（22423 次评估）', '0 次'],&#10;        ['平均迟到深度', '575 s（−22%）'],&#10;      ].map((r) =&gt; (&#10;        &lt;Box key={r[0]} style={{ flexDirection: 'row', justifyContent: 'space-between', alignItems: 'center' }}&gt;&#10;          &lt;Text style={{ fontSize: 14, color: '#B5D4F4' }}&gt;{r[0]}&lt;/Text&gt;&#10;          &lt;Text style={{ fontSize: 17, fontWeight: 'bold', color: '#FFFFFF' }}&gt;{r[1]}&lt;/Text&gt;&#10;        &lt;/Box&gt;&#10;      ))}&#10;    &lt;/Box&gt;&#10;    &lt;Text style={{ fontSize: 14, color: '#DCE7F5', lineHeight: 1.7, marginTop: 26 }}&gt;&#10;      「不被完成只有物理约束被违反」在全部 9 个实验格成立：能力范围内解决更多当下的任务，而非凑完成率。&#10;    &lt;/Text&gt;&#10;  &lt;/Box&gt;&#10;&#10;  &lt;Box style={{ position: 'absolute', top: 116, left: 444, width: 796, flexDirection: 'column' }}&gt;&#10;    &lt;Table&#10;      style={{ width: 796, height: 240 }}&#10;      defaultTextStyle={{ fontSize: 15, textAlign: 'center', color: '#1A2230' }}&#10;      defaultCellStyle={{&#10;        border: { left: { width: 1, color: '#D6DCE5' }, right: { width: 1, color: '#D6DCE5' }, top: { width: 1, color: '#D6DCE5' }, bottom: { width: 1, color: '#D6DCE5' } },&#10;      }}&#10;      cells={[&#10;        [&#10;          { text: '配置（3 seed 均值±std）', textStyle: { bold: true, color: '#FFFFFF' }, cellStyle: { background: { color: '#1E4FA8' } } },&#10;          { text: '按时率 %', textStyle: { bold: true, color: '#FFFFFF' }, cellStyle: { background: { color: '#1E4FA8' } } },&#10;          { text: '迟到数', textStyle: { bold: true, color: '#FFFFFF' }, cellStyle: { background: { color: '#1E4FA8' } } },&#10;          { text: '平均迟到 s', textStyle: { bold: true, color: '#FFFFFF' }, cellStyle: { background: { color: '#1E4FA8' } } },&#10;          { text: '总奖励', textStyle: { bold: true, color: '#FFFFFF' }, cellStyle: { background: { color: '#1E4FA8' } } },&#10;          { text: '总航程 km', textStyle: { bold: true, color: '#FFFFFF' }, cellStyle: { background: { color: '#1E4FA8' } } },&#10;        ],&#10;        ['N 无抛光', '83.9 ± 2.1', '9.7 ± 1.2', '736', '309.8', '1723.7'],&#10;        [{ text: 'P 生产（+polish）', textStyle: { bold: true } }, { text: '91.7 ± 3.6', textStyle: { bold: true, color: '#1E4FA8' } }, { text: '5.0 ± 2.2', textStyle: { bold: true } }, '732', '318.1', '1693.0'],&#10;        [{ text: 'M memetic（M1）', cellStyle: { background: { color: '#F0F5FC' } } }, { text: '93.3 ± 3.6', textStyle: { bold: true, color: '#1E4FA8' }, cellStyle: { background: { color: '#F0F5FC' } } }, { text: '4.0 ± 2.2', textStyle: { bold: true }, cellStyle: { background: { color: '#F0F5FC' } } }, { text: '575', cellStyle: { background: { color: '#F0F5FC' } } }, { text: '319.7', cellStyle: { background: { color: '#F0F5FC' } } }, { text: '1662.9', cellStyle: { background: { color: '#F0F5FC' } } }],&#10;        [&#10;          { text: 'P − N', textStyle: { bold: true, color: '#3B6D11' } },&#10;          { text: '+7.8 pp', textStyle: { bold: true, color: '#3B6D11' } },&#10;          { text: '−4.7', textStyle: { bold: true, color: '#3B6D11' } },&#10;          { text: '−4', textStyle: { color: '#3B6D11' } },&#10;          { text: '+8.3', textStyle: { color: '#3B6D11' } },&#10;          { text: '−30.7', textStyle: { color: '#3B6D11' } },&#10;        ],&#10;        [&#10;          { text: 'M − P', textStyle: { bold: true, color: '#3B6D11' }, cellStyle: { background: { color: '#F7F9FC' } } },&#10;          { text: '+1.7 pp', textStyle: { bold: true, color: '#3B6D11' }, cellStyle: { background: { color: '#F7F9FC' } } },&#10;          { text: '−1.0', textStyle: { bold: true, color: '#3B6D11' }, cellStyle: { background: { color: '#F7F9FC' } } },&#10;          { text: '−157', textStyle: { color: '#3B6D11' }, cellStyle: { background: { color: '#F7F9FC' } } },&#10;          { text: '+1.6', textStyle: { color: '#3B6D11' }, cellStyle: { background: { color: '#F7F9FC' } } },&#10;          { text: '−30.1', textStyle: { color: '#3B6D11' }, cellStyle: { background: { color: '#F7F9FC' } } },&#10;        ],&#10;      ]}&#10;    /&gt;&#10;&#10;    &lt;Box style={{ marginTop: 16, background: '#F7F9FC', border: '1px solid #D6DCE5', borderRadius: 10, padding: '14px 18px' }}&gt;&#10;      &lt;Text style={{ fontSize: 16, fontWeight: 'bold', color: '#0E3F8C' }}&gt;每 seed 增益：方向 3/3 一致，幅度差 4 倍&lt;/Text&gt;&#10;      &lt;Text style={{ fontSize: 14, color: '#4A5568', lineHeight: 1.75, marginTop: 6 }}&gt;&#10;        s42：polish &lt;span style={{ fontWeight: 'bold', color: '#1E4FA8' }}&gt;+6.7pp&lt;/span&gt;、memetic +3.3pp；　s43：+13.3pp、+1.7pp；　s44：+3.3pp、&lt;span style={{ fontWeight: 'bold', color: '#D9534F' }}&gt;+0.0pp&lt;/span&gt;&#10;      &lt;/Text&gt;&#10;      &lt;Text style={{ fontSize: 14, color: '#4A5568', lineHeight: 1.75, marginTop: 4 }}&gt;&#10;        s44 零增益机制已定性：单任务周期无路由改进空间，档案增益只降路径、被持平规则拒收——论文按 seed-dependent 报区间「+0~+3.3pp，均值 +1.7pp」，不报单点。&#10;      &lt;/Text&gt;&#10;    &lt;/Box&gt;&#10;&#10;    &lt;Box style={{ marginTop: 14, background: '#F0F5FC', borderLeft: '4px solid #1E4FA8', borderRadius: 8, padding: '12px 18px' }}&gt;&#10;      &lt;Text style={{ fontSize: 15, fontWeight: 'bold', color: '#0E3F8C', lineHeight: 1.6 }}&gt;&#10;        判断：抛光与 memetic 的改进不是单 seed 巧合——方向全部一致；同时幅度依赖 seed，说明「后验抛光能修多少」取决于 DMDE 收敛解离局部最优的距离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2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67532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exp01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：多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阶梯——改进方向一致且可复现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38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长程滚动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24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周期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Poisson λ=5 · 3 seed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全新复跑（当前代码版本）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81000" y="1104900"/>
            <a:ext cx="3619500" cy="5086350"/>
          </a:xfrm>
          <a:prstGeom prst="roundRect">
            <a:avLst>
              <a:gd name="adj" fmla="val 315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66750" y="1428750"/>
            <a:ext cx="304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按时率（</a:t>
            </a:r>
            <a:r>
              <a:rPr lang="en-US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memetic </a:t>
            </a: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口径，</a:t>
            </a:r>
            <a:r>
              <a:rPr lang="en-US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n=3</a:t>
            </a: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66750" y="1657350"/>
            <a:ext cx="3048000" cy="10287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850" b="1">
                <a:solidFill>
                  <a:srgbClr val="FFFFFF"/>
                </a:solidFill>
                <a:latin typeface="Source Han Sans CN"/>
                <a:ea typeface="Source Han Sans CN"/>
              </a:rPr>
              <a:t>93.3</a:t>
            </a:r>
            <a:r>
              <a:rPr lang="en-US" sz="2550" b="1">
                <a:solidFill>
                  <a:srgbClr val="FFFFFF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66750" y="2705100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5D4F4"/>
                </a:solidFill>
                <a:latin typeface="Source Han Sans CN"/>
                <a:ea typeface="Source Han Sans CN"/>
              </a:rPr>
              <a:t>± 3.6</a:t>
            </a:r>
            <a:r>
              <a:rPr lang="zh-CN" sz="1275">
                <a:solidFill>
                  <a:srgbClr val="B5D4F4"/>
                </a:solidFill>
                <a:latin typeface="Source Han Sans CN"/>
                <a:ea typeface="Source Han Sans CN"/>
              </a:rPr>
              <a:t>（</a:t>
            </a:r>
            <a:r>
              <a:rPr lang="en-US" sz="1275">
                <a:solidFill>
                  <a:srgbClr val="B5D4F4"/>
                </a:solidFill>
                <a:latin typeface="Source Han Sans CN"/>
                <a:ea typeface="Source Han Sans CN"/>
              </a:rPr>
              <a:t>83.9 → 91.7 → 93.3</a:t>
            </a:r>
            <a:r>
              <a:rPr lang="zh-CN" sz="1275">
                <a:solidFill>
                  <a:srgbClr val="B5D4F4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666750" y="3114675"/>
            <a:ext cx="4191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66750" y="33718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任务完成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2466975" y="3352800"/>
            <a:ext cx="1247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60 / 60 = 100%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66750" y="3705225"/>
            <a:ext cx="1162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废飞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淘汰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不可达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076575" y="3686175"/>
            <a:ext cx="638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全部为</a:t>
            </a: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0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66750" y="4038600"/>
            <a:ext cx="1638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物理违约（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 xml:space="preserve">22423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次评估）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400425" y="4019550"/>
            <a:ext cx="314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 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次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66750" y="43719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平均迟到深度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2486025" y="4352925"/>
            <a:ext cx="1228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575 s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（−</a:t>
            </a: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22%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66750" y="4800600"/>
            <a:ext cx="30480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DCE7F5"/>
                </a:solidFill>
                <a:latin typeface="Source Han Sans CN"/>
                <a:ea typeface="Source Han Sans CN"/>
              </a:rPr>
              <a:t>「不被完成只有物理约束被违反」在全部</a:t>
            </a:r>
            <a:r>
              <a:rPr lang="en-US" sz="10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9 </a:t>
            </a:r>
            <a:r>
              <a:rPr lang="zh-CN" sz="1050">
                <a:solidFill>
                  <a:srgbClr val="DCE7F5"/>
                </a:solidFill>
                <a:latin typeface="Source Han Sans CN"/>
                <a:ea typeface="Source Han Sans CN"/>
              </a:rPr>
              <a:t>个实验格成立：能力范围内解决更多当下的任务，而非凑完成率。</a:t>
            </a:r>
            <a:endParaRPr/>
          </a:p>
        </p:txBody>
      </p:sp>
      <p:graphicFrame>
        <p:nvGraphicFramePr>
          <p:cNvPr id="115" name=""/>
          <p:cNvGraphicFramePr/>
          <p:nvPr/>
        </p:nvGraphicFramePr>
        <p:xfrm rot="0" flipH="0" flipV="0">
          <a:off x="4229100" y="1104900"/>
          <a:ext cx="7581900" cy="2286000"/>
        </p:xfrm>
        <a:graphic>
          <a:graphicData uri="http://schemas.openxmlformats.org/drawingml/2006/table">
            <a:tbl>
              <a:tblGrid>
                <a:gridCol w="2501520">
                  <a:extLst>
                    <a:ext uri="{9D8B030D-6E8A-4147-A177-3AD203B41FA5}">
                      <a16:colId val="1"/>
                    </a:ext>
                  </a:extLst>
                </a:gridCol>
                <a:gridCol w="1141419">
                  <a:extLst>
                    <a:ext uri="{9D8B030D-6E8A-4147-A177-3AD203B41FA5}">
                      <a16:colId val="2"/>
                    </a:ext>
                  </a:extLst>
                </a:gridCol>
                <a:gridCol w="1008075">
                  <a:extLst>
                    <a:ext uri="{9D8B030D-6E8A-4147-A177-3AD203B41FA5}">
                      <a16:colId val="3"/>
                    </a:ext>
                  </a:extLst>
                </a:gridCol>
                <a:gridCol w="1088081">
                  <a:extLst>
                    <a:ext uri="{9D8B030D-6E8A-4147-A177-3AD203B41FA5}">
                      <a16:colId val="4"/>
                    </a:ext>
                  </a:extLst>
                </a:gridCol>
                <a:gridCol w="728054">
                  <a:extLst>
                    <a:ext uri="{9D8B030D-6E8A-4147-A177-3AD203B41FA5}">
                      <a16:colId val="5"/>
                    </a:ext>
                  </a:extLst>
                </a:gridCol>
                <a:gridCol w="111475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配置（3 seed 均值±std）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按时率 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迟到数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平均迟到 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总奖励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总航程 km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无抛光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83.9 ± 2.1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9.7 ± 1.2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736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309.8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1723.7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 生产（+polish）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91.7 ± 3.6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5.0 ± 2.2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732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318.1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1693.0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 memetic（M1）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93.3 ± 3.6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4.0 ± 2.2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575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319.7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1662.9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P − 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+7.8 pp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−4.7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+8.3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−30.7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M − 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+1.7 pp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−1.0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−157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+1.6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−30.1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16" name=""/>
          <p:cNvSpPr/>
          <p:nvPr/>
        </p:nvSpPr>
        <p:spPr>
          <a:xfrm rot="0" flipH="0" flipV="0">
            <a:off x="4229100" y="3543300"/>
            <a:ext cx="7581900" cy="1400175"/>
          </a:xfrm>
          <a:prstGeom prst="roundRect">
            <a:avLst>
              <a:gd name="adj" fmla="val 680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400550" y="3676650"/>
            <a:ext cx="723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每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增益：方向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3/3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一致，幅度差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4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倍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400550" y="3924300"/>
            <a:ext cx="7239000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s42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polish </a:t>
            </a:r>
            <a:r>
              <a:rPr lang="en-US" sz="1050" b="1">
                <a:solidFill>
                  <a:srgbClr val="1E4FA8"/>
                </a:solidFill>
                <a:latin typeface="Source Han Sans CN"/>
                <a:ea typeface="Source Han Sans CN"/>
              </a:rPr>
              <a:t>+6.7pp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memetic 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s43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+13.3pp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+1.7pp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s44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 b="1">
                <a:solidFill>
                  <a:srgbClr val="D9534F"/>
                </a:solidFill>
                <a:latin typeface="Source Han Sans CN"/>
                <a:ea typeface="Source Han Sans CN"/>
              </a:rPr>
              <a:t>+0.0pp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400550" y="4248150"/>
            <a:ext cx="72390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s44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零增益机制已定性：单任务周期无路由改进空间，档案增益只降路径、被持平规则拒收——论文按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seed-dependent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报区间「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+0~+3.3pp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，均值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+1.7pp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」，不报单点。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4267200" y="5076825"/>
            <a:ext cx="7581900" cy="781050"/>
          </a:xfrm>
          <a:prstGeom prst="roundRect">
            <a:avLst>
              <a:gd name="adj" fmla="val 97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4267200" y="5076825"/>
            <a:ext cx="7581900" cy="781050"/>
          </a:xfrm>
          <a:custGeom>
            <a:pathLst>
              <a:path w="796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438650" y="5191125"/>
            <a:ext cx="7200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判断：抛光与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memetic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的改进不是单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巧合——方向全部一致；同时幅度依赖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，说明「后验抛光能修多少」取决于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DMDE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收敛解离局部最优的距离。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12 / 16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27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exp02：规模标定——求解规模与任务规模 N 解耦&lt;/Text&gt;&#10;  &lt;/Box&gt;&#10;  &lt;Text style={{ position: 'absolute', top: 78, left: 60, fontSize: 15, color: '#8B97A8' }}&gt;17 格变体扫描（N = 50 / 100 / 200 × 名额族与能力族），下图为「吞吐—耗时—质量」权衡核心图&lt;/Text&gt;&#10;&#10;  &lt;Box style={{ position: 'absolute', top: 112, left: 60, background: '#FFFFFF', border: '1px solid #D6DCE5', borderRadius: 10, padding: 8 }}&gt;&#10;    &lt;Image src=&quot;assets/fig_exp02_tradeoff.png&quot; style={{ width: 1144, height: 459, objectFit: 'cover', borderRadius: 6 }} /&gt;&#10;  &lt;/Box&gt;&#10;&#10;  &lt;Box style={{ position: 'absolute', top: 592, left: 60, width: 1160, background: '#0E3F8C', borderRadius: 10, padding: '14px 22px', flexDirection: 'row', alignItems: 'center', gap: 18 }}&gt;&#10;    &lt;Text style={{ fontSize: 19, fontWeight: 'bold', color: '#FFFFFF', flex: 1, lineHeight: 1.5 }}&gt;&#10;      核心结论：把筛选交给能力标定 cap(t)，求解规模恒定——二阶段耗时与任务规模 N 无关&#10;    &lt;/Text&gt;&#10;    &lt;Box style={{ padding: '7px 14px', background: '#1E4FA8', borderRadius: 14 }}&gt;&#10;      &lt;Text style={{ fontSize: 13.5, fontWeight: 'bold', color: '#FFFFFF' }}&gt;候选 k 与 N 无关&lt;/Text&gt;&#10;    &lt;/Box&gt;&#10;    &lt;Box style={{ padding: '7px 14px', background: '#1E4FA8', borderRadius: 14 }}&gt;&#10;      &lt;Text style={{ fontSize: 13.5, fontWeight: 'bold', color: '#FFFFFF' }}&gt;k=16 时 25.0~25.3s&lt;/Text&gt;&#10;    &lt;/Box&gt;&#10;    &lt;Box style={{ padding: '7px 14px', background: '#FFC107', borderRadius: 14 }}&gt;&#10;      &lt;Text style={{ fontSize: 13.5, fontWeight: 'bold', color: '#0E3F8C' }}&gt;F1 保全量 93.5% / 83.4%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3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69151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exp02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：规模标定——求解规模与任务规模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解耦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6410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17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格变体扫描（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N = 50 / 100 / 200 ×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名额族与能力族），下图为「吞吐—耗时—质量」权衡核心图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571500" y="1066800"/>
            <a:ext cx="11049000" cy="4524375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4" name=""/>
          <p:cNvPicPr>
            <a:picLocks noChangeAspect="1"/>
          </p:cNvPicPr>
          <p:nvPr/>
        </p:nvPicPr>
        <p:blipFill>
          <a:blip r:embed="rId1"/>
          <a:srcRect l="4" t="0" r="4" b="0"/>
          <a:stretch>
            <a:fillRect/>
          </a:stretch>
        </p:blipFill>
        <p:spPr>
          <a:xfrm rot="0" flipH="0" flipV="0">
            <a:off x="647700" y="1143000"/>
            <a:ext cx="10896600" cy="4371975"/>
          </a:xfrm>
          <a:prstGeom prst="roundRect">
            <a:avLst>
              <a:gd name="adj" fmla="val 1307"/>
            </a:avLst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571500" y="5638800"/>
            <a:ext cx="11049000" cy="600075"/>
          </a:xfrm>
          <a:prstGeom prst="roundRect">
            <a:avLst>
              <a:gd name="adj" fmla="val 158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781050" y="5772150"/>
            <a:ext cx="55245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核心结论：把筛选交给能力标定</a:t>
            </a: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cap(t)</a:t>
            </a: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，求解规模恒定——二阶段耗时与任务规模</a:t>
            </a: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无关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6477000" y="5791200"/>
            <a:ext cx="12573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610350" y="5857875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候选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k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与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无关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7905750" y="5791200"/>
            <a:ext cx="15240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039100" y="5857875"/>
            <a:ext cx="1257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k=16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时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25.0~25.3s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9601200" y="5791200"/>
            <a:ext cx="1809750" cy="295275"/>
          </a:xfrm>
          <a:prstGeom prst="roundRect">
            <a:avLst>
              <a:gd name="adj" fmla="val 4516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9734550" y="5857875"/>
            <a:ext cx="1543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F1 </a:t>
            </a:r>
            <a:r>
              <a:rPr lang="zh-CN" sz="1013" b="1">
                <a:solidFill>
                  <a:srgbClr val="0E3F8C"/>
                </a:solidFill>
                <a:latin typeface="Source Han Sans CN"/>
                <a:ea typeface="Source Han Sans CN"/>
              </a:rPr>
              <a:t>保全量</a:t>
            </a:r>
            <a:r>
              <a:rPr lang="en-US" sz="101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93.5% / 83.4%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47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性能瓶颈定位与消除：代价矩阵延迟构建&lt;/Text&gt;&#10;  &lt;/Box&gt;&#10;  &lt;Text style={{ position: 'absolute', top: 78, left: 60, fontSize: 15, color: '#8B97A8' }}&gt;一阶段前不再对全量任务建 O(n²) 矩阵——惰性代价表按需估算并缓存&lt;/Text&gt;&#10;&#10;  &lt;Box style={{ position: 'absolute', top: 116, left: 40, width: 400, height: 534, flexDirection: 'column' }}&gt;&#10;    &lt;Box style={{ background: '#F0F5FC', border: '1px solid #D6DCE5', borderRadius: 12, padding: '24px 26px', flexDirection: 'column' }}&gt;&#10;      &lt;Text style={{ fontSize: 15, color: '#4A5568' }}&gt;O(n²) 矩阵构建占端到端比例（N=200）&lt;/Text&gt;&#10;      &lt;Box style={{ flexDirection: 'row', alignItems: 'flex-end', gap: 14, marginTop: 10 }}&gt;&#10;        &lt;Text style={{ fontSize: 62, fontWeight: 'bold', color: '#D9534F', lineHeight: 1 }}&gt;85.6&lt;span style={{ fontSize: 26 }}&gt;%&lt;/span&gt;&lt;/Text&gt;&#10;        &lt;Text style={{ fontSize: 30, color: '#8B97A8', paddingBottom: 6 }}&gt;→&lt;/Text&gt;&#10;        &lt;Text style={{ fontSize: 62, fontWeight: 'bold', color: '#3B6D11', lineHeight: 1 }}&gt;3.7&lt;span style={{ fontSize: 26 }}&gt;%&lt;/span&gt;&lt;/Text&gt;&#10;      &lt;/Box&gt;&#10;      &lt;Box style={{ height: 10, background: '#D6DCE5', borderRadius: 5, marginTop: 16 }}&gt;&#10;        &lt;Box style={{ width: '4.3%', height: 10, background: '#3B6D11', borderRadius: 5 }} /&gt;&#10;      &lt;/Box&gt;&#10;      &lt;Text style={{ fontSize: 14, color: '#4A5568', lineHeight: 1.7, marginTop: 14 }}&gt;&#10;        现算边数 2 164 / 43 264（&lt;span style={{ fontWeight: 'bold' }}&gt;5.0%&lt;/span&gt;）；子集构建 66ms，对比全量预建约 16.8s&#10;      &lt;/Text&gt;&#10;    &lt;/Box&gt;&#10;&#10;    &lt;Box style={{ marginTop: 16, background: '#F7F9FC', border: '1px solid #D6DCE5', borderRadius: 10, padding: '14px 20px', flexDirection: 'column' }}&gt;&#10;      &lt;Text style={{ fontSize: 16, fontWeight: 'bold', color: '#0E3F8C' }}&gt;机制：惰性代价表 LazyPairwiseCost&lt;/Text&gt;&#10;      &lt;Text style={{ fontSize: 14, color: '#4A5568', lineHeight: 1.7, marginTop: 6 }}&gt;&#10;        映射协议 + 按需估算 + 缓存，一阶段只触 O(n·K + k²) 条边；候选确定后仅对子集精建 4 个代价矩阵。值与全量建表&lt;span style={{ fontWeight: 'bold' }}&gt;逐位一致&lt;/span&gt;。&#10;      &lt;/Text&gt;&#10;    &lt;/Box&gt;&#10;&#10;    &lt;Box style={{ marginTop: 14, background: '#0E3F8C', borderRadius: 10, padding: '13px 20px' }}&gt;&#10;      &lt;Text style={{ fontSize: 15, fontWeight: 'bold', color: '#FFFFFF', lineHeight: 1.6 }}&gt;&#10;        无损验证：7 个实验格与旧代码逐位复现（bit-exact）——性能优化不改变任何决策结果，两阶段耗时分解见右图。&#10;      &lt;/Text&gt;&#10;    &lt;/Box&gt;&#10;  &lt;/Box&gt;&#10;&#10;  &lt;Box style={{ position: 'absolute', top: 116, left: 464, width: 776, flexDirection: 'column' }}&gt;&#10;    &lt;Box style={{ background: '#FFFFFF', border: '1px solid #D6DCE5', borderRadius: 10, padding: 8 }}&gt;&#10;      &lt;Image src=&quot;assets/fig_exp02_time.png&quot; style={{ width: 760, height: 278, objectFit: 'cover', borderRadius: 6 }} /&gt;&#10;    &lt;/Box&gt;&#10;    &lt;Text style={{ fontSize: 14, color: '#8B97A8', marginTop: 8 }}&gt;&#10;      耗时分解（t_hint / t_selection / t_build / t_muas）：构建与选择阶段开销可忽略，耗时集中在第二阶段求解&#10;    &lt;/Text&gt;&#10;    &lt;Box style={{ marginTop: 14, background: '#F7F9FC', border: '1px solid #D6DCE5', borderLeft: '4px solid #1E4FA8', borderRadius: 8, padding: '14px 20px' }}&gt;&#10;      &lt;Text style={{ fontSize: 16, fontWeight: 'bold', color: '#0E3F8C' }}&gt;设计判断&lt;/Text&gt;&#10;      &lt;Text style={{ fontSize: 14.5, color: '#4A5568', lineHeight: 1.75, marginTop: 6 }}&gt;&#10;        瓶颈消除后，选择阶段的职能从「成本控制器」变为「质量控制器」：候选名额不再是耗时瓶颈，真正的代价在第二阶段随 k² 增长的求解——这正是「k ≈ cap(t) 是甜点、超过后收益速衰」标定结论的机理来源，也解释了 exp02 中 k=40→41 的边际收益骤减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4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5486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性能瓶颈定位与消除：代价矩阵延迟构建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467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一阶段前不再对全量任务建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O(n²)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矩阵——惰性代价表按需估算并缓存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81000" y="1104900"/>
            <a:ext cx="3810000" cy="2371725"/>
          </a:xfrm>
          <a:prstGeom prst="roundRect">
            <a:avLst>
              <a:gd name="adj" fmla="val 481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28650" y="1333500"/>
            <a:ext cx="331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O(n²)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矩阵构建占端到端比例（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N=200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28650" y="1600200"/>
            <a:ext cx="14954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D9534F"/>
                </a:solidFill>
                <a:latin typeface="Source Han Sans CN"/>
                <a:ea typeface="Source Han Sans CN"/>
              </a:rPr>
              <a:t>85.6</a:t>
            </a:r>
            <a:r>
              <a:rPr lang="en-US" sz="1950" b="1">
                <a:solidFill>
                  <a:srgbClr val="D9534F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2257425" y="1914525"/>
            <a:ext cx="285750" cy="400050"/>
          </a:xfrm>
          <a:prstGeom prst="rect"/>
        </p:spPr>
        <p:txBody>
          <a:bodyPr wrap="none" lIns="0" tIns="0" rIns="0" bIns="42863"/>
          <a:p>
            <a:pPr>
              <a:lnSpc>
                <a:spcPct val="100000"/>
              </a:lnSpc>
            </a:pPr>
            <a:r>
              <a:rPr sz="2250">
                <a:solidFill>
                  <a:srgbClr val="8B97A8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2676525" y="1600200"/>
            <a:ext cx="11334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3B6D11"/>
                </a:solidFill>
                <a:latin typeface="Source Han Sans CN"/>
                <a:ea typeface="Source Han Sans CN"/>
              </a:rPr>
              <a:t>3.7</a:t>
            </a:r>
            <a:r>
              <a:rPr lang="en-US" sz="1950" b="1">
                <a:solidFill>
                  <a:srgbClr val="3B6D11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28650" y="2466975"/>
            <a:ext cx="3314700" cy="95250"/>
          </a:xfrm>
          <a:prstGeom prst="roundRect">
            <a:avLst>
              <a:gd name="adj" fmla="val 50000"/>
            </a:avLst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628650" y="2466975"/>
            <a:ext cx="142875" cy="95250"/>
          </a:xfrm>
          <a:prstGeom prst="roundRect">
            <a:avLst>
              <a:gd name="adj" fmla="val 50000"/>
            </a:avLst>
          </a:prstGeom>
          <a:solidFill>
            <a:srgbClr val="3B6D11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28650" y="2695575"/>
            <a:ext cx="3314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现算边数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2 164 / 43 264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</a:t>
            </a:r>
            <a:r>
              <a:rPr lang="en-US" sz="1050" b="1">
                <a:solidFill>
                  <a:srgbClr val="4A5568"/>
                </a:solidFill>
                <a:latin typeface="Source Han Sans CN"/>
                <a:ea typeface="Source Han Sans CN"/>
              </a:rPr>
              <a:t>5.0%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）；子集构建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66ms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，对比全量预建约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16.8s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381000" y="3629025"/>
            <a:ext cx="3810000" cy="133350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71500" y="3762375"/>
            <a:ext cx="3429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机制：惰性代价表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LazyPairwiseCost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71500" y="4010025"/>
            <a:ext cx="34290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映射协议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按需估算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缓存，一阶段只触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O(n·K + k²)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条边；候选确定后仅对子集精建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个代价矩阵。值与全量建表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逐位一致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。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381000" y="5095875"/>
            <a:ext cx="3810000" cy="1076325"/>
          </a:xfrm>
          <a:prstGeom prst="roundRect">
            <a:avLst>
              <a:gd name="adj" fmla="val 88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571500" y="5219700"/>
            <a:ext cx="3429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无损验证：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7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个实验格与旧代码逐位复现（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bit-exact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）——性能优化不改变任何决策结果，两阶段耗时分解见右图。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4419600" y="1104900"/>
            <a:ext cx="7391400" cy="280035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Id1"/>
          <a:srcRect l="0" t="26" r="0" b="26"/>
          <a:stretch>
            <a:fillRect/>
          </a:stretch>
        </p:blipFill>
        <p:spPr>
          <a:xfrm rot="0" flipH="0" flipV="0">
            <a:off x="4495800" y="1181100"/>
            <a:ext cx="7239000" cy="2647950"/>
          </a:xfrm>
          <a:prstGeom prst="roundRect">
            <a:avLst>
              <a:gd name="adj" fmla="val 2158"/>
            </a:avLst>
          </a:prstGeom>
          <a:ln/>
        </p:spPr>
      </p:pic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419600" y="3981450"/>
            <a:ext cx="7391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耗时分解（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t_hint / t_selection / t_build / t_muas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）：构建与选择阶段开销可忽略，耗时集中在第二阶段求解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4457700" y="4276725"/>
            <a:ext cx="7391400" cy="1390650"/>
          </a:xfrm>
          <a:prstGeom prst="roundRect">
            <a:avLst>
              <a:gd name="adj" fmla="val 547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4457700" y="4276725"/>
            <a:ext cx="7391400" cy="1390650"/>
          </a:xfrm>
          <a:custGeom>
            <a:pathLst>
              <a:path w="776" h="1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2"/>
                </a:lnTo>
                <a:cubicBezTo>
                  <a:pt x="4" y="144"/>
                  <a:pt x="5" y="146"/>
                  <a:pt x="7" y="146"/>
                </a:cubicBezTo>
                <a:cubicBezTo>
                  <a:pt x="3" y="146"/>
                  <a:pt x="0" y="142"/>
                  <a:pt x="0" y="1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648200" y="4410075"/>
            <a:ext cx="6972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设计判断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4648200" y="4657725"/>
            <a:ext cx="69723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瓶颈消除后，选择阶段的职能从「成本控制器」变为「质量控制器」：候选名额不再是耗时瓶颈，真正的代价在第二阶段随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k²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增长的求解——这正是「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k ≈ cap(t)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是甜点、超过后收益速衰」标定结论的机理来源，也解释了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exp02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中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k=40→41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的边际收益骤减。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77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证据边界与下一步计划&lt;/Text&gt;&#10;  &lt;/Box&gt;&#10;  &lt;Text style={{ position: 'absolute', top: 78, left: 60, fontSize: 15, color: '#8B97A8' }}&gt;已成立的是内部有效性；外部有效性是当前最大的证据缺口&lt;/Text&gt;&#10;&#10;  &lt;Box style={{ position: 'absolute', top: 116, left: 40, width: 640, flexDirection: 'column', gap: 14 }}&gt;&#10;    {[&#10;      { t: '外部基线未补——答不了「优于谁」', d: 'baselines 目录全部占位；full MUAS 只是同一求解器的质量上界参照，不是竞品。这是答辩最可能被攻击的点。', c: '#D9534F' },&#10;      { t: '联合域未测——两组实验各覆盖一半工况', d: 'exp01 机多任务少（压缩机制空转）、exp02 任务大但无滚动到达。真实生产是「机队规模 × 任务压力 × Poisson 滚动」叠加：余航程衰减使 cap(t) 逐周期收缩，与任务积压增长的交互从未被测量（exp06 已建设计骨架）。', c: '#D9534F' },&#10;      { t: '标定结论有附加条件', d: 'exp02 为单 seed、40 代轻预算——量的是「吞吐-耗时-质量」曲线形状，不是生产级解质量；生产化（选择数接 cap(t)）须走 exp04 消融评估后落地。', c: '#BA7517' },&#10;    ].map((g) =&gt; (&#10;      &lt;Box key={g.t} style={{ background: '#F7F9FC', border: '1px solid #D6DCE5', borderLeft: '4px solid ' + g.c, borderRadius: 10, padding: '14px 20px' }}&gt;&#10;        &lt;Text style={{ fontSize: 17.5, fontWeight: 'bold', color: '#1A2230' }}&gt;{g.t}&lt;/Text&gt;&#10;        &lt;Text style={{ fontSize: 14, color: '#4A5568', lineHeight: 1.7, marginTop: 6 }}&gt;{g.d}&lt;/Text&gt;&#10;      &lt;/Box&gt;&#10;    ))}&#10;&#10;    &lt;Box style={{ background: '#F0F5FC', borderLeft: '4px solid #1E4FA8', borderRadius: 8, padding: '13px 20px' }}&gt;&#10;      &lt;Text style={{ fontSize: 15.5, fontWeight: 'bold', color: '#0E3F8C', lineHeight: 1.65 }}&gt;&#10;        本方法的定位：本质是「软时间窗带奖励的 VRPTW」——物理违约 0、迟到占 99.98%，说明可行域窄在零迟到而非物理不可行。这决定了外部基线的选型（软时间窗 VRPTW 启发式），与主指标的呈现方式（(完成率, 航程) Pareto 前沿）。&#10;      &lt;/Text&gt;&#10;    &lt;/Box&gt;&#10;  &lt;/Box&gt;&#10;&#10;  &lt;Box style={{ position: 'absolute', top: 116, left: 704, width: 536, height: 534, background: '#F7F9FC', border: '1px solid #D6DCE5', borderRadius: 12, padding: '22px 26px', flexDirection: 'column' }}&gt;&#10;    &lt;Text style={{ fontSize: 20, fontWeight: 'bold', color: '#0E3F8C' }}&gt;下一步计划（按优先级）&lt;/Text&gt;&#10;    &lt;Box style={{ marginTop: 16, flexDirection: 'column', gap: 16, flex: 1 }}&gt;&#10;      {[&#10;        { p: 'P0', tag: '论文前必补', t: '外部基线 + 联合域首轮', d: '贪心构造 + 软时间窗 VRPTW 启发式各一；exp06 联合域首轮（约 40 分钟）验证「积压增长 vs cap(t) 衰减」形态', c: '#D9534F' },&#10;        { p: 'P1', tag: '方法改进', t: '抛光扩域 → 搜索多样性', d: 'polish 邻域扩展（2-opt / 跨机 relocate，过同一修复链）→ 多起点置换（治编码顺序依赖）→ 停滞重启 + 闲置维再 init', c: '#1E4FA8' },&#10;        { p: 'P2', tag: '口径与生产化', t: '标定结论落地与文档化', d: 'mode=primary 生产化走 exp04 消融；max_ratio 与 capability 联动写入文档；主指标按 (完成率, 航程) Pareto 前沿呈现', c: '#5F5E5A' },&#10;      ].map((s) =&gt; (&#10;        &lt;Box key={s.p} style={{ flexDirection: 'row', gap: 14, alignItems: 'flex-start' }}&gt;&#10;          &lt;Box style={{ width: 52, height: 52, borderRadius: 10, background: s.c, alignItems: 'center', justifyContent: 'center' }}&gt;&#10;            &lt;Text style={{ fontSize: 19, fontWeight: 'bold', color: '#FFFFFF' }}&gt;{s.p}&lt;/Text&gt;&#10;          &lt;/Box&gt;&#10;          &lt;Box style={{ flex: 1, flexDirection: 'column' }}&gt;&#10;            &lt;Box style={{ flexDirection: 'row', alignItems: 'center', gap: 10 }}&gt;&#10;              &lt;Text style={{ fontSize: 17, fontWeight: 'bold', color: '#1A2230' }}&gt;{s.t}&lt;/Text&gt;&#10;              &lt;Text style={{ fontSize: 12, fontWeight: 'bold', color: s.c }}&gt;{s.tag}&lt;/Text&gt;&#10;            &lt;/Box&gt;&#10;            &lt;Text style={{ fontSize: 13.5, color: '#4A5568', lineHeight: 1.65, marginTop: 5 }}&gt;{s.d}&lt;/Text&gt;&#10;          &lt;/Box&gt;&#10;        &lt;/Box&gt;&#10;      ))}&#10;    &lt;/Box&gt;&#10;    &lt;Box style={{ background: '#0E3F8C', borderRadius: 8, padding: '12px 18px' }}&gt;&#10;      &lt;Text style={{ fontSize: 15, fontWeight: 'bold', color: '#FFFFFF', lineHeight: 1.6 }}&gt;&#10;        判断：科学故事已成立——分层可扩展有标定曲线、顺序依赖有对症解法；当前优先补外部有效性证据，而非继续改算法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5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3048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证据边界与下一步计划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已成立的是内部有效性；外部有效性是当前最大的证据缺口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419100" y="1104900"/>
            <a:ext cx="6096000" cy="1076325"/>
          </a:xfrm>
          <a:prstGeom prst="roundRect">
            <a:avLst>
              <a:gd name="adj" fmla="val 885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419100" y="1104900"/>
            <a:ext cx="6096000" cy="1076325"/>
          </a:xfrm>
          <a:custGeom>
            <a:pathLst>
              <a:path w="640" h="11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7"/>
                </a:lnTo>
                <a:cubicBezTo>
                  <a:pt x="4" y="110"/>
                  <a:pt x="6" y="112"/>
                  <a:pt x="9" y="113"/>
                </a:cubicBezTo>
                <a:cubicBezTo>
                  <a:pt x="4" y="112"/>
                  <a:pt x="0" y="108"/>
                  <a:pt x="0" y="10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09600" y="1238250"/>
            <a:ext cx="5676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外部基线未补——答不了「优于谁」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09600" y="1495425"/>
            <a:ext cx="5676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baselines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目录全部占位；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full MUAS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只是同一求解器的质量上界参照，不是竞品。这是答辩最可能被攻击的点。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419100" y="2314575"/>
            <a:ext cx="60960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8" name=""/>
          <p:cNvSpPr/>
          <p:nvPr/>
        </p:nvSpPr>
        <p:spPr>
          <a:xfrm rot="0" flipH="0" flipV="0">
            <a:off x="419100" y="2314575"/>
            <a:ext cx="6096000" cy="1343025"/>
          </a:xfrm>
          <a:custGeom>
            <a:pathLst>
              <a:path w="640" h="14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5"/>
                </a:lnTo>
                <a:cubicBezTo>
                  <a:pt x="4" y="138"/>
                  <a:pt x="6" y="140"/>
                  <a:pt x="9" y="141"/>
                </a:cubicBezTo>
                <a:cubicBezTo>
                  <a:pt x="4" y="140"/>
                  <a:pt x="0" y="136"/>
                  <a:pt x="0" y="13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09600" y="2447925"/>
            <a:ext cx="5676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联合域未测——两组实验各覆盖一半工况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09600" y="2705100"/>
            <a:ext cx="56769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exp01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机多任务少（压缩机制空转）、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任务大但无滚动到达。真实生产是「机队规模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任务压力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× Poisson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滚动」叠加：余航程衰减使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cap(t)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逐周期收缩，与任务积压增长的交互从未被测量（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exp06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已建设计骨架）。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419100" y="3790950"/>
            <a:ext cx="6096000" cy="1076325"/>
          </a:xfrm>
          <a:prstGeom prst="roundRect">
            <a:avLst>
              <a:gd name="adj" fmla="val 885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419100" y="3790950"/>
            <a:ext cx="6096000" cy="1076325"/>
          </a:xfrm>
          <a:custGeom>
            <a:pathLst>
              <a:path w="640" h="11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7"/>
                </a:lnTo>
                <a:cubicBezTo>
                  <a:pt x="4" y="110"/>
                  <a:pt x="6" y="112"/>
                  <a:pt x="9" y="113"/>
                </a:cubicBezTo>
                <a:cubicBezTo>
                  <a:pt x="4" y="112"/>
                  <a:pt x="0" y="108"/>
                  <a:pt x="0" y="10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A7517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5676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标定结论有附加条件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09600" y="4181475"/>
            <a:ext cx="5676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为单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seed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代轻预算——量的是「吞吐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-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耗时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-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质量」曲线形状，不是生产级解质量；生产化（选择数接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cap(t)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）须走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exp04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消融评估后落地。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419100" y="5000625"/>
            <a:ext cx="6096000" cy="1133475"/>
          </a:xfrm>
          <a:prstGeom prst="roundRect">
            <a:avLst>
              <a:gd name="adj" fmla="val 672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419100" y="5000625"/>
            <a:ext cx="6096000" cy="1133475"/>
          </a:xfrm>
          <a:custGeom>
            <a:pathLst>
              <a:path w="640" h="11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15"/>
                </a:lnTo>
                <a:cubicBezTo>
                  <a:pt x="4" y="117"/>
                  <a:pt x="5" y="119"/>
                  <a:pt x="7" y="119"/>
                </a:cubicBezTo>
                <a:cubicBezTo>
                  <a:pt x="3" y="119"/>
                  <a:pt x="0" y="115"/>
                  <a:pt x="0" y="11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09600" y="5124450"/>
            <a:ext cx="56769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本方法的定位：本质是「软时间窗带奖励的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VRPTW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」——物理违约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0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、迟到占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99.98%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，说明可行域窄在零迟到而非物理不可行。这决定了外部基线的选型（软时间窗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VRPTW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启发式），与主指标的呈现方式（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(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完成率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,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航程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) Pareto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前沿）。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6705600" y="1104900"/>
            <a:ext cx="5105400" cy="5086350"/>
          </a:xfrm>
          <a:prstGeom prst="roundRect">
            <a:avLst>
              <a:gd name="adj" fmla="val 224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953250" y="1314450"/>
            <a:ext cx="4610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CN"/>
                <a:ea typeface="Source Han Sans CN"/>
              </a:rPr>
              <a:t>下一步计划（按优先级）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953250" y="16954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086600" y="1838325"/>
            <a:ext cx="23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P0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581900" y="1695450"/>
            <a:ext cx="1685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外部基线</a:t>
            </a:r>
            <a:r>
              <a:rPr lang="en-US" sz="12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联合域首轮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9363075" y="172402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D9534F"/>
                </a:solidFill>
                <a:latin typeface="Source Han Sans CN"/>
                <a:ea typeface="Source Han Sans CN"/>
              </a:rPr>
              <a:t>论文前必补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581900" y="1943100"/>
            <a:ext cx="3981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贪心构造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软时间窗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VRPTW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启发式各一；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exp06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联合域首轮（约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40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分钟）验证「积压增长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vs cap(t)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衰减」形态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6953250" y="26098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086600" y="2752725"/>
            <a:ext cx="23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P1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581900" y="2609850"/>
            <a:ext cx="1724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抛光扩域</a:t>
            </a:r>
            <a:r>
              <a:rPr lang="en-US" sz="12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→ </a:t>
            </a: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搜索多样性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9401175" y="26384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1E4FA8"/>
                </a:solidFill>
                <a:latin typeface="Source Han Sans CN"/>
                <a:ea typeface="Source Han Sans CN"/>
              </a:rPr>
              <a:t>方法改进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581900" y="2857500"/>
            <a:ext cx="3981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polish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邻域扩展（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2-opt /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跨机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relocate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，过同一修复链）→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多起点置换（治编码顺序依赖）→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停滞重启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闲置维再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init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6953250" y="35242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5F5E5A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086600" y="3667125"/>
            <a:ext cx="23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P2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581900" y="352425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标定结论落地与文档化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296400" y="35528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F5E5A"/>
                </a:solidFill>
                <a:latin typeface="Source Han Sans CN"/>
                <a:ea typeface="Source Han Sans CN"/>
              </a:rPr>
              <a:t>口径与生产化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581900" y="3771900"/>
            <a:ext cx="3981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mode=primary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生产化走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exp04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消融；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max_ratio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与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capability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联动写入文档；主指标按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(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完成率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,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航程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) Pareto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前沿呈现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953250" y="5200650"/>
            <a:ext cx="4610100" cy="781050"/>
          </a:xfrm>
          <a:prstGeom prst="roundRect">
            <a:avLst>
              <a:gd name="adj" fmla="val 97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124700" y="5314950"/>
            <a:ext cx="4267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判断：科学故事已成立——分层可扩展有标定曲线、顺序依赖有对症解法；当前优先补外部有效性证据，而非继续改算法。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15 / 16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221" name="" descr="&lt;Slide style={{ width: 1280, height: 720, background: '#0E3F8C', position: 'relative', fontFamily: 'Source Han Sans CN, Microsoft YaHei, sans-serif' }}&gt;&#10;  &lt;Box style={{ position: 'absolute', top: 0, left: 0, width: 1280, height: 12, background: '#3D7BD9' }} /&gt;&#10;  &lt;Box style={{ position: 'absolute', bottom: 0, left: 0, width: 1280, height: 12, background: '#3D7BD9' }} /&gt;&#10;&#10;  &lt;Box style={{ position: 'absolute', top: 96, left: 140, width: 1000, flexDirection: 'row', justifyContent: 'center', alignItems: 'center', background: 'rgba(255,255,255,0.08)', borderRadius: 24, border: '1px solid rgba(255,255,255,0.25)', padding: '12px 24px' }}&gt;&#10;    {['01 问题与框架', '02 任务选择', '03 MUAS 与 DMDE', '04 实验与计划'].map((c, i) =&gt; (&#10;      &lt;Box key={c} style={{ flexDirection: 'row', alignItems: 'center' }}&gt;&#10;        {i &gt; 0 &amp;&amp; &lt;Text style={{ fontSize: 15, color: '#85B7EB', margin: '0 16px' }}&gt;·&lt;/Text&gt;}&#10;        &lt;Text style={{ fontSize: 15, fontWeight: 'bold', color: '#FFFFFF' }}&gt;{c}&lt;/Text&gt;&#10;      &lt;/Box&gt;&#10;    ))}&#10;  &lt;/Box&gt;&#10;&#10;  &lt;Box style={{ position: 'absolute', top: 208, left: 100, width: 1080, flexDirection: 'column', alignItems: 'center' }}&gt;&#10;    &lt;Text style={{ fontSize: 16, color: '#85B7EB', letterSpacing: 8 }}&gt;小 结&lt;/Text&gt;&#10;    &lt;Text style={{ fontSize: 42, fontWeight: 'bold', color: '#FFFFFF', textAlign: 'center', lineHeight: 1.55, marginTop: 24 }}&gt;&#10;      分层求解：以能力标定筛选规模&lt;br /&gt;以组合优化保证质量&#10;    &lt;/Text&gt;&#10;    &lt;Box style={{ width: 56, height: 4, background: '#FFC107', marginTop: 30 }} /&gt;&#10;    &lt;Text style={{ fontSize: 18, color: '#DCE7F5', lineHeight: 1.9, marginTop: 28, textAlign: 'center' }}&gt;&#10;      动态任务选择缩空间 · 选择性 MUAS 精优化 · 滚动闭环不丢任务&lt;br /&gt;&#10;      多 seed 阶梯方向一致可复现 · 规模标定支撑架构主张 · 性能瓶颈已无损消除&#10;    &lt;/Text&gt;&#10;  &lt;/Box&gt;&#10;&#10;  &lt;Box style={{ position: 'absolute', bottom: 88, left: 100, width: 1080, flexDirection: 'column', alignItems: 'center' }}&gt;&#10;    &lt;Text style={{ fontSize: 34, fontWeight: 'bold', color: '#FFFFFF' }}&gt;请老师批评指正&lt;/Text&gt;&#10;    &lt;Text style={{ fontSize: 15, color: '#85B7EB', marginTop: 14 }}&gt;&#10;      汇报人：XXX　·　指导教师：XXX　·　2026 年 10 月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0" y="6743700"/>
            <a:ext cx="12192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1333500" y="914400"/>
            <a:ext cx="9525000" cy="400050"/>
          </a:xfrm>
          <a:prstGeom prst="roundRect">
            <a:avLst>
              <a:gd name="adj" fmla="val 5714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581400" y="1028700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01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问题与框架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667250" y="1028700"/>
            <a:ext cx="38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4857750" y="1028700"/>
            <a:ext cx="790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02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任务选择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5800725" y="1028700"/>
            <a:ext cx="38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5991225" y="1028700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03 MUAS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与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DMDE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496175" y="1028700"/>
            <a:ext cx="38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7686675" y="1028700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04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实验与计划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810250" y="1981200"/>
            <a:ext cx="581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小</a:t>
            </a:r>
            <a:r>
              <a:rPr lang="en-US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结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295650" y="2400300"/>
            <a:ext cx="5600700" cy="149542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3150" b="1">
                <a:solidFill>
                  <a:srgbClr val="FFFFFF"/>
                </a:solidFill>
                <a:latin typeface="Source Han Sans CN"/>
                <a:ea typeface="Source Han Sans CN"/>
              </a:rPr>
              <a:t>分层求解：以能力标定筛选规模</a:t>
            </a:r>
            <a:endParaRPr/>
          </a:p>
          <a:p>
            <a:pPr algn="ctr">
              <a:lnSpc>
                <a:spcPct val="155000"/>
              </a:lnSpc>
            </a:pPr>
            <a:r>
              <a:rPr lang="zh-CN" sz="3150" b="1">
                <a:solidFill>
                  <a:srgbClr val="FFFFFF"/>
                </a:solidFill>
                <a:latin typeface="Source Han Sans CN"/>
                <a:ea typeface="Source Han Sans CN"/>
              </a:rPr>
              <a:t>以组合优化保证质量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5829300" y="4181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228975" y="4486275"/>
            <a:ext cx="5743575" cy="790575"/>
          </a:xfrm>
          <a:prstGeom prst="rect"/>
        </p:spPr>
        <p:txBody>
          <a:bodyPr wrap="none" lIns="0" tIns="0" rIns="0" bIns="0"/>
          <a:p>
            <a:pPr algn="ctr">
              <a:lnSpc>
                <a:spcPct val="190000"/>
              </a:lnSpc>
            </a:pP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动态任务选择缩空间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精优化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滚动闭环不丢任务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多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阶梯方向一致可复现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规模标定支撑架构主张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性能瓶颈已无损消除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4962525" y="5324475"/>
            <a:ext cx="2266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Source Han Sans CN"/>
                <a:ea typeface="Source Han Sans CN"/>
              </a:rPr>
              <a:t>请老师批评指正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4400550" y="5848350"/>
            <a:ext cx="3400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汇报人：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XXX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　·　指导教师：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XXX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　·　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2026 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年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10 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月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2026-10-21T00:46:10Z</dcterms:created>
  <dcterms:modified xsi:type="dcterms:W3CDTF">2026-10-21T00:46:10Z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{"AIGC":{"Label":"1","ContentProducer":"00119111010856365494821B355","ProduceID":"01a159fa3706774ba65dc31d75223ae7","ReservedCode1":"","ContentPropagator":"00119111010856365494821B355","PropagateID":"01a159fa3706774ba65dc31d75223ae7","ReservedCode2":""}}</vt:lpwstr>
  </property>
</Properties>
</file>