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docProps/custom.xml" ContentType="application/vnd.openxmlformats-officedocument.custom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0639" autoAdjust="0"/>
    <p:restoredTop sz="55006" autoAdjust="0"/>
  </p:normalViewPr>
  <p:slideViewPr>
    <p:cSldViewPr snapToGrid="0" snapToObjects="1">
      <p:cViewPr varScale="1">
        <p:scale>
          <a:sx n="85" d="100"/>
          <a:sy n="85" d="100"/>
        </p:scale>
        <p:origin x="79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<Relationships xmlns="http://schemas.openxmlformats.org/package/2006/relationships"><Relationship Id="rId15" Type="http://schemas.openxmlformats.org/officeDocument/2006/relationships/slide" Target="slides/slide15.xml" /><Relationship Id="rId0" Type="http://schemas.openxmlformats.org/officeDocument/2006/relationships/slideMaster" Target="slideMasters/slideMaster1.xml" /><Relationship Id="rId14" Type="http://schemas.openxmlformats.org/officeDocument/2006/relationships/slide" Target="slides/slide14.xml" /><Relationship Id="rId1" Type="http://schemas.openxmlformats.org/officeDocument/2006/relationships/slide" Target="slides/slide1.xml" /><Relationship Id="rId17" Type="http://schemas.openxmlformats.org/officeDocument/2006/relationships/presProps" Target="presProps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16" Type="http://schemas.openxmlformats.org/officeDocument/2006/relationships/notesMaster" Target="notesMasters/notesMaster1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Relationship Id="rId2" Type="http://schemas.openxmlformats.org/officeDocument/2006/relationships/slide" Target="slides/slide2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0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p>
            <a:pPr/>
            <a:endParaRPr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pn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pn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4" name="矩形 3"/>
          <p:cNvSpPr/>
          <p:nvPr/>
        </p:nvSpPr>
        <p:spPr>
          <a:xfrm>
            <a:off x="9144000" y="0"/>
            <a:ext cx="3048000" cy="1143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4572000" y="914400"/>
            <a:ext cx="30575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spc="600">
                <a:solidFill>
                  <a:srgbClr val="3D7BD9"/>
                </a:solidFill>
                <a:latin typeface="Source Han Sans CN"/>
                <a:ea typeface="Source Han Sans CN"/>
              </a:rPr>
              <a:t>硕士学位论文</a:t>
            </a:r>
            <a:r>
              <a:rPr lang="en-US" sz="1500" spc="600">
                <a:solidFill>
                  <a:srgbClr val="3D7BD9"/>
                </a:solidFill>
                <a:latin typeface="Source Han Sans CN"/>
                <a:ea typeface="Source Han Sans CN"/>
              </a:rPr>
              <a:t xml:space="preserve"> · </a:t>
            </a:r>
            <a:r>
              <a:rPr lang="zh-CN" sz="1500" spc="600">
                <a:solidFill>
                  <a:srgbClr val="3D7BD9"/>
                </a:solidFill>
                <a:latin typeface="Source Han Sans CN"/>
                <a:ea typeface="Source Han Sans CN"/>
              </a:rPr>
              <a:t>进展汇报</a:t>
            </a:r>
            <a:endParaRPr/>
          </a:p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3238500" y="1352550"/>
            <a:ext cx="5715000" cy="15430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35000"/>
              </a:lnSpc>
            </a:pPr>
            <a:r>
              <a:rPr lang="zh-CN" sz="3750" b="1">
                <a:solidFill>
                  <a:srgbClr val="0E3F8C"/>
                </a:solidFill>
                <a:latin typeface="Source Han Sans CN"/>
                <a:ea typeface="Source Han Sans CN"/>
              </a:rPr>
              <a:t>动态滚动的多机巢多无人机</a:t>
            </a:r>
            <a:endParaRPr/>
          </a:p>
          <a:p>
            <a:pPr algn="ctr">
              <a:lnSpc>
                <a:spcPct val="135000"/>
              </a:lnSpc>
            </a:pPr>
            <a:r>
              <a:rPr lang="zh-CN" sz="3750" b="1">
                <a:solidFill>
                  <a:srgbClr val="0E3F8C"/>
                </a:solidFill>
                <a:latin typeface="Source Han Sans CN"/>
                <a:ea typeface="Source Han Sans CN"/>
              </a:rPr>
              <a:t>协同任务分配方法</a:t>
            </a:r>
            <a:endParaRPr/>
          </a:p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2647950" y="3067050"/>
            <a:ext cx="69056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Source Han Sans CN"/>
                <a:ea typeface="Source Han Sans CN"/>
              </a:rPr>
              <a:t>Dynamic Rolling Multi-Nest Multi-UAV Collaborative Task Allocation: A Hierarchical Framework</a:t>
            </a:r>
            <a:endParaRPr/>
          </a:p>
        </p:txBody>
      </p:sp>
      <p:sp>
        <p:nvSpPr>
          <p:cNvPr id="8" name="矩形: 圆角 7"/>
          <p:cNvSpPr/>
          <p:nvPr/>
        </p:nvSpPr>
        <p:spPr>
          <a:xfrm>
            <a:off x="3771900" y="3486150"/>
            <a:ext cx="2686050" cy="333375"/>
          </a:xfrm>
          <a:prstGeom prst="roundRect">
            <a:avLst>
              <a:gd name="adj" fmla="val 51429"/>
            </a:avLst>
          </a:prstGeom>
          <a:solidFill>
            <a:srgbClr val="E8EFF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3981450" y="3552825"/>
            <a:ext cx="22669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Source Han Sans CN"/>
                <a:ea typeface="Source Han Sans CN"/>
              </a:rPr>
              <a:t>分层求解框架的构建与实验验证</a:t>
            </a:r>
            <a:endParaRPr/>
          </a:p>
        </p:txBody>
      </p:sp>
      <p:sp>
        <p:nvSpPr>
          <p:cNvPr id="10" name="矩形: 圆角 9"/>
          <p:cNvSpPr/>
          <p:nvPr/>
        </p:nvSpPr>
        <p:spPr>
          <a:xfrm>
            <a:off x="6591300" y="3486150"/>
            <a:ext cx="1828800" cy="333375"/>
          </a:xfrm>
          <a:prstGeom prst="roundRect">
            <a:avLst>
              <a:gd name="adj" fmla="val 51429"/>
            </a:avLst>
          </a:prstGeom>
          <a:solidFill>
            <a:srgbClr val="F0F5F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6800850" y="3552825"/>
            <a:ext cx="14097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Source Han Sans CN"/>
                <a:ea typeface="Source Han Sans CN"/>
              </a:rPr>
              <a:t>进展</a:t>
            </a:r>
            <a:r>
              <a:rPr lang="en-US" sz="1275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· </a:t>
            </a:r>
            <a:r>
              <a:rPr lang="zh-CN" sz="1275">
                <a:solidFill>
                  <a:srgbClr val="4A5568"/>
                </a:solidFill>
                <a:latin typeface="Source Han Sans CN"/>
                <a:ea typeface="Source Han Sans CN"/>
              </a:rPr>
              <a:t>结果</a:t>
            </a:r>
            <a:r>
              <a:rPr lang="en-US" sz="1275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· </a:t>
            </a:r>
            <a:r>
              <a:rPr lang="zh-CN" sz="1275">
                <a:solidFill>
                  <a:srgbClr val="4A5568"/>
                </a:solidFill>
                <a:latin typeface="Source Han Sans CN"/>
                <a:ea typeface="Source Han Sans CN"/>
              </a:rPr>
              <a:t>下一步</a:t>
            </a:r>
            <a:endParaRPr/>
          </a:p>
        </p:txBody>
      </p:sp>
      <p:pic>
        <p:nvPicPr>
          <p:cNvPr id="12" name="图形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>
            <a:off x="762000" y="3771900"/>
            <a:ext cx="10668000" cy="2171700"/>
          </a:xfrm>
          <a:prstGeom prst="rect">
            <a:avLst/>
          </a:prstGeom>
          <a:ln/>
        </p:spPr>
      </p:pic>
      <p:sp>
        <p:nvSpPr>
          <p:cNvPr id="13" name="矩形: 圆角 12"/>
          <p:cNvSpPr/>
          <p:nvPr/>
        </p:nvSpPr>
        <p:spPr>
          <a:xfrm>
            <a:off x="7124700" y="4000500"/>
            <a:ext cx="4152900" cy="304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7277100" y="4076700"/>
            <a:ext cx="16002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975">
                <a:solidFill>
                  <a:srgbClr val="FFC107"/>
                </a:solidFill>
                <a:latin typeface="Source Han Sans CN"/>
                <a:ea typeface="Source Han Sans CN"/>
              </a:rPr>
              <a:t>●</a:t>
            </a:r>
            <a:r>
              <a:rPr lang="en-US" sz="975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</a:t>
            </a:r>
            <a:r>
              <a:rPr lang="zh-CN" sz="975">
                <a:solidFill>
                  <a:srgbClr val="4A5568"/>
                </a:solidFill>
                <a:latin typeface="Source Han Sans CN"/>
                <a:ea typeface="Source Han Sans CN"/>
              </a:rPr>
              <a:t>任务（</a:t>
            </a:r>
            <a:r>
              <a:rPr lang="en-US" sz="975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Poisson </a:t>
            </a:r>
            <a:r>
              <a:rPr lang="zh-CN" sz="975">
                <a:solidFill>
                  <a:srgbClr val="4A5568"/>
                </a:solidFill>
                <a:latin typeface="Source Han Sans CN"/>
                <a:ea typeface="Source Han Sans CN"/>
              </a:rPr>
              <a:t>滚动到达）</a:t>
            </a:r>
            <a:endParaRPr/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8972550" y="4076700"/>
            <a:ext cx="1714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Source Han Sans CN"/>
                <a:ea typeface="Source Han Sans CN"/>
              </a:rPr>
              <a:t>– –</a:t>
            </a:r>
            <a:endParaRPr/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9239250" y="4076700"/>
            <a:ext cx="18859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Source Han Sans CN"/>
                <a:ea typeface="Source Han Sans CN"/>
              </a:rPr>
              <a:t>航次（</a:t>
            </a:r>
            <a:r>
              <a:rPr lang="en-US" sz="975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UAV </a:t>
            </a:r>
            <a:r>
              <a:rPr lang="zh-CN" sz="975">
                <a:solidFill>
                  <a:srgbClr val="4A5568"/>
                </a:solidFill>
                <a:latin typeface="Source Han Sans CN"/>
                <a:ea typeface="Source Han Sans CN"/>
              </a:rPr>
              <a:t>起点固定</a:t>
            </a:r>
            <a:r>
              <a:rPr lang="en-US" sz="975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· </a:t>
            </a:r>
            <a:r>
              <a:rPr lang="zh-CN" sz="975">
                <a:solidFill>
                  <a:srgbClr val="4A5568"/>
                </a:solidFill>
                <a:latin typeface="Source Han Sans CN"/>
                <a:ea typeface="Source Han Sans CN"/>
              </a:rPr>
              <a:t>终点可选）</a:t>
            </a:r>
            <a:endParaRPr/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1047750" y="5724525"/>
            <a:ext cx="3143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8B97A8"/>
                </a:solidFill>
                <a:latin typeface="Source Han Sans CN"/>
                <a:ea typeface="Source Han Sans CN"/>
              </a:rPr>
              <a:t>DEM</a:t>
            </a:r>
            <a:endParaRPr/>
          </a:p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1409700" y="5724525"/>
            <a:ext cx="2057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13">
                <a:solidFill>
                  <a:srgbClr val="8B97A8"/>
                </a:solidFill>
                <a:latin typeface="Source Han Sans CN"/>
                <a:ea typeface="Source Han Sans CN"/>
              </a:rPr>
              <a:t>三维地形剖面（垂直切面航程口径）</a:t>
            </a:r>
            <a:endParaRPr/>
          </a:p>
        </p:txBody>
      </p:sp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762000" y="6438900"/>
            <a:ext cx="23145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Source Han Sans CN"/>
                <a:ea typeface="Source Han Sans CN"/>
              </a:rPr>
              <a:t>汇报人：</a:t>
            </a:r>
            <a:r>
              <a:rPr lang="en-US" sz="1200">
                <a:solidFill>
                  <a:srgbClr val="4A5568"/>
                </a:solidFill>
                <a:latin typeface="Source Han Sans CN"/>
                <a:ea typeface="Source Han Sans CN"/>
              </a:rPr>
              <a:t>XXX</a:t>
            </a:r>
            <a:r>
              <a:rPr lang="zh-CN" sz="1200">
                <a:solidFill>
                  <a:srgbClr val="D6DCE5"/>
                </a:solidFill>
                <a:latin typeface="Source Han Sans CN"/>
                <a:ea typeface="Source Han Sans CN"/>
              </a:rPr>
              <a:t>　</a:t>
            </a:r>
            <a:r>
              <a:rPr lang="en-US" sz="1200">
                <a:solidFill>
                  <a:srgbClr val="D6DCE5"/>
                </a:solidFill>
                <a:latin typeface="Source Han Sans CN"/>
                <a:ea typeface="Source Han Sans CN"/>
              </a:rPr>
              <a:t>|</a:t>
            </a:r>
            <a:r>
              <a:rPr lang="zh-CN" sz="1200">
                <a:solidFill>
                  <a:srgbClr val="D6DCE5"/>
                </a:solidFill>
                <a:latin typeface="Source Han Sans CN"/>
                <a:ea typeface="Source Han Sans CN"/>
              </a:rPr>
              <a:t>　</a:t>
            </a:r>
            <a:r>
              <a:rPr lang="zh-CN" sz="1200">
                <a:solidFill>
                  <a:srgbClr val="4A5568"/>
                </a:solidFill>
                <a:latin typeface="Source Han Sans CN"/>
                <a:ea typeface="Source Han Sans CN"/>
              </a:rPr>
              <a:t>指导教师：</a:t>
            </a:r>
            <a:r>
              <a:rPr lang="en-US" sz="1200">
                <a:solidFill>
                  <a:srgbClr val="4A5568"/>
                </a:solidFill>
                <a:latin typeface="Source Han Sans CN"/>
                <a:ea typeface="Source Han Sans CN"/>
              </a:rPr>
              <a:t>XXX</a:t>
            </a:r>
            <a:endParaRPr/>
          </a:p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10448925" y="6438900"/>
            <a:ext cx="9810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2026 </a:t>
            </a:r>
            <a:r>
              <a:rPr lang="zh-CN" sz="1200">
                <a:solidFill>
                  <a:srgbClr val="4A5568"/>
                </a:solidFill>
                <a:latin typeface="Source Han Sans CN"/>
                <a:ea typeface="Source Han Sans CN"/>
              </a:rPr>
              <a:t>年</a:t>
            </a:r>
            <a:r>
              <a:rPr lang="en-US" sz="120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10 </a:t>
            </a:r>
            <a:r>
              <a:rPr lang="zh-CN" sz="1200">
                <a:solidFill>
                  <a:srgbClr val="4A5568"/>
                </a:solidFill>
                <a:latin typeface="Source Han Sans CN"/>
                <a:ea typeface="Source Han Sans CN"/>
              </a:rPr>
              <a:t>月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矩形 2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06" name="矩形 24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07" name="矩形: 圆角 241"/>
          <p:cNvSpPr/>
          <p:nvPr/>
        </p:nvSpPr>
        <p:spPr>
          <a:xfrm>
            <a:off x="381000" y="1047750"/>
            <a:ext cx="3390900" cy="5143500"/>
          </a:xfrm>
          <a:prstGeom prst="roundRect">
            <a:avLst>
              <a:gd name="adj" fmla="val 3371"/>
            </a:avLst>
          </a:prstGeom>
          <a:solidFill>
            <a:srgbClr val="0E3F8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08" name="文本框 242" descr="{&quot;isTemplate&quot;:true,&quot;type&quot;:&quot;text&quot;}"/>
          <p:cNvSpPr txBox="1"/>
          <p:nvPr/>
        </p:nvSpPr>
        <p:spPr>
          <a:xfrm>
            <a:off x="723900" y="1466850"/>
            <a:ext cx="2705100" cy="4381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FFFFFF"/>
                </a:solidFill>
                <a:latin typeface="Source Han Sans CN"/>
                <a:ea typeface="Source Han Sans CN"/>
              </a:rPr>
              <a:t>汇报提纲</a:t>
            </a:r>
            <a:endParaRPr/>
          </a:p>
        </p:txBody>
      </p:sp>
      <p:sp>
        <p:nvSpPr>
          <p:cNvPr id="209" name="文本框 243" descr="{&quot;isTemplate&quot;:true,&quot;type&quot;:&quot;text&quot;}"/>
          <p:cNvSpPr txBox="1"/>
          <p:nvPr/>
        </p:nvSpPr>
        <p:spPr>
          <a:xfrm>
            <a:off x="723900" y="1981200"/>
            <a:ext cx="27051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B5D4F4"/>
                </a:solidFill>
                <a:latin typeface="Source Han Sans CN"/>
                <a:ea typeface="Source Han Sans CN"/>
              </a:rPr>
              <a:t>CONTENTS</a:t>
            </a:r>
            <a:endParaRPr/>
          </a:p>
        </p:txBody>
      </p:sp>
      <p:sp>
        <p:nvSpPr>
          <p:cNvPr id="210" name="矩形 244"/>
          <p:cNvSpPr/>
          <p:nvPr/>
        </p:nvSpPr>
        <p:spPr>
          <a:xfrm>
            <a:off x="723900" y="2343150"/>
            <a:ext cx="419100" cy="2857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11" name="文本框 245" descr="{&quot;isTemplate&quot;:true,&quot;type&quot;:&quot;text&quot;}"/>
          <p:cNvSpPr txBox="1"/>
          <p:nvPr/>
        </p:nvSpPr>
        <p:spPr>
          <a:xfrm>
            <a:off x="723900" y="2638425"/>
            <a:ext cx="2705100" cy="1485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90000"/>
              </a:lnSpc>
            </a:pPr>
            <a:r>
              <a:rPr lang="zh-CN" sz="1275">
                <a:solidFill>
                  <a:srgbClr val="DCE7F5"/>
                </a:solidFill>
                <a:latin typeface="Source Han Sans CN"/>
                <a:ea typeface="Source Han Sans CN"/>
              </a:rPr>
              <a:t>围绕「动态任务池</a:t>
            </a:r>
            <a:r>
              <a:rPr lang="en-US" sz="1275">
                <a:solidFill>
                  <a:srgbClr val="DCE7F5"/>
                </a:solidFill>
                <a:latin typeface="Source Han Sans CN"/>
                <a:ea typeface="Source Han Sans CN"/>
              </a:rPr>
              <a:t xml:space="preserve"> × </a:t>
            </a:r>
            <a:r>
              <a:rPr lang="zh-CN" sz="1275">
                <a:solidFill>
                  <a:srgbClr val="DCE7F5"/>
                </a:solidFill>
                <a:latin typeface="Source Han Sans CN"/>
                <a:ea typeface="Source Han Sans CN"/>
              </a:rPr>
              <a:t>多机巢</a:t>
            </a:r>
            <a:r>
              <a:rPr lang="en-US" sz="1275">
                <a:solidFill>
                  <a:srgbClr val="DCE7F5"/>
                </a:solidFill>
                <a:latin typeface="Source Han Sans CN"/>
                <a:ea typeface="Source Han Sans CN"/>
              </a:rPr>
              <a:t xml:space="preserve"> × </a:t>
            </a:r>
            <a:r>
              <a:rPr lang="zh-CN" sz="1275">
                <a:solidFill>
                  <a:srgbClr val="DCE7F5"/>
                </a:solidFill>
                <a:latin typeface="Source Han Sans CN"/>
                <a:ea typeface="Source Han Sans CN"/>
              </a:rPr>
              <a:t>选择性执行」三个关键词，先讲清问题与方法骨架，再用两组实验支撑核心主张，最后坦诚当前的证据边界。</a:t>
            </a:r>
            <a:endParaRPr/>
          </a:p>
        </p:txBody>
      </p:sp>
      <p:sp>
        <p:nvSpPr>
          <p:cNvPr id="212" name="文本框 246" descr="{&quot;isTemplate&quot;:true,&quot;type&quot;:&quot;text&quot;}"/>
          <p:cNvSpPr txBox="1"/>
          <p:nvPr/>
        </p:nvSpPr>
        <p:spPr>
          <a:xfrm>
            <a:off x="723900" y="4333875"/>
            <a:ext cx="27051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80000"/>
              </a:lnSpc>
            </a:pPr>
            <a:r>
              <a:rPr lang="zh-CN" sz="1050">
                <a:solidFill>
                  <a:srgbClr val="85B7EB"/>
                </a:solidFill>
                <a:latin typeface="Source Han Sans CN"/>
                <a:ea typeface="Source Han Sans CN"/>
              </a:rPr>
              <a:t>汇报约</a:t>
            </a:r>
            <a:r>
              <a:rPr lang="en-US" sz="1050">
                <a:solidFill>
                  <a:srgbClr val="85B7EB"/>
                </a:solidFill>
                <a:latin typeface="Source Han Sans CN"/>
                <a:ea typeface="Source Han Sans CN"/>
              </a:rPr>
              <a:t xml:space="preserve"> 15 </a:t>
            </a:r>
            <a:r>
              <a:rPr lang="zh-CN" sz="1050">
                <a:solidFill>
                  <a:srgbClr val="85B7EB"/>
                </a:solidFill>
                <a:latin typeface="Source Han Sans CN"/>
                <a:ea typeface="Source Han Sans CN"/>
              </a:rPr>
              <a:t>分钟，公式与数据均可回溯到论文第</a:t>
            </a:r>
            <a:r>
              <a:rPr lang="en-US" sz="1050">
                <a:solidFill>
                  <a:srgbClr val="85B7EB"/>
                </a:solidFill>
                <a:latin typeface="Source Han Sans CN"/>
                <a:ea typeface="Source Han Sans CN"/>
              </a:rPr>
              <a:t xml:space="preserve"> 3 </a:t>
            </a:r>
            <a:r>
              <a:rPr lang="zh-CN" sz="1050">
                <a:solidFill>
                  <a:srgbClr val="85B7EB"/>
                </a:solidFill>
                <a:latin typeface="Source Han Sans CN"/>
                <a:ea typeface="Source Han Sans CN"/>
              </a:rPr>
              <a:t>章与实验记录。</a:t>
            </a:r>
            <a:endParaRPr/>
          </a:p>
        </p:txBody>
      </p:sp>
      <p:sp>
        <p:nvSpPr>
          <p:cNvPr id="213" name="矩形: 圆角 247"/>
          <p:cNvSpPr/>
          <p:nvPr/>
        </p:nvSpPr>
        <p:spPr>
          <a:xfrm>
            <a:off x="4114800" y="1047750"/>
            <a:ext cx="7734300" cy="1200150"/>
          </a:xfrm>
          <a:prstGeom prst="roundRect">
            <a:avLst>
              <a:gd name="adj" fmla="val 7937"/>
            </a:avLst>
          </a:prstGeom>
          <a:solidFill>
            <a:srgbClr val="F0F5F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14" name="任意多边形: 形状 248"/>
          <p:cNvSpPr/>
          <p:nvPr/>
        </p:nvSpPr>
        <p:spPr>
          <a:xfrm>
            <a:off x="4114800" y="1047750"/>
            <a:ext cx="7734300" cy="1200150"/>
          </a:xfrm>
          <a:custGeom>
            <a:avLst/>
            <a:gdLst/>
            <a:ahLst/>
            <a:cxnLst/>
            <a:rect l="0" t="0" r="0" b="0"/>
            <a:pathLst>
              <a:path w="812" h="126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20"/>
                </a:lnTo>
                <a:cubicBezTo>
                  <a:pt x="4" y="123"/>
                  <a:pt x="6" y="125"/>
                  <a:pt x="9" y="126"/>
                </a:cubicBezTo>
                <a:cubicBezTo>
                  <a:pt x="4" y="125"/>
                  <a:pt x="0" y="121"/>
                  <a:pt x="0" y="11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15" name="矩形: 圆角 249"/>
          <p:cNvSpPr/>
          <p:nvPr/>
        </p:nvSpPr>
        <p:spPr>
          <a:xfrm>
            <a:off x="4324350" y="1219200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16" name="文本框 250" descr="{&quot;isTemplate&quot;:true,&quot;type&quot;:&quot;text&quot;}"/>
          <p:cNvSpPr txBox="1"/>
          <p:nvPr/>
        </p:nvSpPr>
        <p:spPr>
          <a:xfrm>
            <a:off x="4448175" y="1352550"/>
            <a:ext cx="2667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Source Han Sans CN"/>
                <a:ea typeface="Source Han Sans CN"/>
              </a:rPr>
              <a:t>01</a:t>
            </a:r>
            <a:endParaRPr/>
          </a:p>
        </p:txBody>
      </p:sp>
      <p:sp>
        <p:nvSpPr>
          <p:cNvPr id="217" name="文本框 251" descr="{&quot;isTemplate&quot;:true,&quot;type&quot;:&quot;text&quot;}"/>
          <p:cNvSpPr txBox="1"/>
          <p:nvPr/>
        </p:nvSpPr>
        <p:spPr>
          <a:xfrm>
            <a:off x="5029200" y="1219200"/>
            <a:ext cx="65722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Source Han Sans CN"/>
                <a:ea typeface="Source Han Sans CN"/>
              </a:rPr>
              <a:t>研究问题与总体框架</a:t>
            </a:r>
            <a:r>
              <a:rPr lang="zh-CN" sz="1125">
                <a:solidFill>
                  <a:srgbClr val="3D7BD9"/>
                </a:solidFill>
                <a:latin typeface="Source Han Sans CN"/>
                <a:ea typeface="Source Han Sans CN"/>
              </a:rPr>
              <a:t>　</a:t>
            </a:r>
            <a:r>
              <a:rPr lang="en-US" sz="1125">
                <a:solidFill>
                  <a:srgbClr val="3D7BD9"/>
                </a:solidFill>
                <a:latin typeface="Source Han Sans CN"/>
                <a:ea typeface="Source Han Sans CN"/>
              </a:rPr>
              <a:t>P3–P5</a:t>
            </a:r>
            <a:endParaRPr/>
          </a:p>
        </p:txBody>
      </p:sp>
      <p:sp>
        <p:nvSpPr>
          <p:cNvPr id="218" name="文本框 252" descr="{&quot;isTemplate&quot;:true,&quot;type&quot;:&quot;text&quot;}"/>
          <p:cNvSpPr txBox="1"/>
          <p:nvPr/>
        </p:nvSpPr>
        <p:spPr>
          <a:xfrm>
            <a:off x="5029200" y="1524000"/>
            <a:ext cx="65722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125">
                <a:solidFill>
                  <a:srgbClr val="4A5568"/>
                </a:solidFill>
                <a:latin typeface="Source Han Sans CN"/>
                <a:ea typeface="Source Han Sans CN"/>
              </a:rPr>
              <a:t>任务动态到达与持续滞留、无人机状态动态变化、任务规模与执行能力失配——静态一次性规划失效，引出两阶段分层滚动框架</a:t>
            </a:r>
            <a:endParaRPr/>
          </a:p>
        </p:txBody>
      </p:sp>
      <p:sp>
        <p:nvSpPr>
          <p:cNvPr id="219" name="矩形: 圆角 253"/>
          <p:cNvSpPr/>
          <p:nvPr/>
        </p:nvSpPr>
        <p:spPr>
          <a:xfrm>
            <a:off x="4114800" y="2543175"/>
            <a:ext cx="7734300" cy="923925"/>
          </a:xfrm>
          <a:prstGeom prst="roundRect">
            <a:avLst>
              <a:gd name="adj" fmla="val 10309"/>
            </a:avLst>
          </a:prstGeom>
          <a:solidFill>
            <a:srgbClr val="F0F5F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20" name="任意多边形: 形状 254"/>
          <p:cNvSpPr/>
          <p:nvPr/>
        </p:nvSpPr>
        <p:spPr>
          <a:xfrm>
            <a:off x="4114800" y="2543175"/>
            <a:ext cx="7734300" cy="923925"/>
          </a:xfrm>
          <a:custGeom>
            <a:avLst/>
            <a:gdLst/>
            <a:ahLst/>
            <a:cxnLst/>
            <a:rect l="0" t="0" r="0" b="0"/>
            <a:pathLst>
              <a:path w="812" h="97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91"/>
                </a:lnTo>
                <a:cubicBezTo>
                  <a:pt x="4" y="94"/>
                  <a:pt x="6" y="96"/>
                  <a:pt x="9" y="97"/>
                </a:cubicBezTo>
                <a:cubicBezTo>
                  <a:pt x="4" y="96"/>
                  <a:pt x="0" y="92"/>
                  <a:pt x="0" y="8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21" name="矩形: 圆角 255"/>
          <p:cNvSpPr/>
          <p:nvPr/>
        </p:nvSpPr>
        <p:spPr>
          <a:xfrm>
            <a:off x="4324350" y="2714625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22" name="文本框 256" descr="{&quot;isTemplate&quot;:true,&quot;type&quot;:&quot;text&quot;}"/>
          <p:cNvSpPr txBox="1"/>
          <p:nvPr/>
        </p:nvSpPr>
        <p:spPr>
          <a:xfrm>
            <a:off x="4448175" y="2847975"/>
            <a:ext cx="2667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Source Han Sans CN"/>
                <a:ea typeface="Source Han Sans CN"/>
              </a:rPr>
              <a:t>02</a:t>
            </a:r>
            <a:endParaRPr/>
          </a:p>
        </p:txBody>
      </p:sp>
      <p:sp>
        <p:nvSpPr>
          <p:cNvPr id="223" name="文本框 257" descr="{&quot;isTemplate&quot;:true,&quot;type&quot;:&quot;text&quot;}"/>
          <p:cNvSpPr txBox="1"/>
          <p:nvPr/>
        </p:nvSpPr>
        <p:spPr>
          <a:xfrm>
            <a:off x="5029200" y="2714625"/>
            <a:ext cx="65722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Source Han Sans CN"/>
                <a:ea typeface="Source Han Sans CN"/>
              </a:rPr>
              <a:t>第一阶段：动态任务选择</a:t>
            </a:r>
            <a:r>
              <a:rPr lang="zh-CN" sz="1125">
                <a:solidFill>
                  <a:srgbClr val="3D7BD9"/>
                </a:solidFill>
                <a:latin typeface="Source Han Sans CN"/>
                <a:ea typeface="Source Han Sans CN"/>
              </a:rPr>
              <a:t>　</a:t>
            </a:r>
            <a:r>
              <a:rPr lang="en-US" sz="1125">
                <a:solidFill>
                  <a:srgbClr val="3D7BD9"/>
                </a:solidFill>
                <a:latin typeface="Source Han Sans CN"/>
                <a:ea typeface="Source Han Sans CN"/>
              </a:rPr>
              <a:t>P6–P7</a:t>
            </a:r>
            <a:endParaRPr/>
          </a:p>
        </p:txBody>
      </p:sp>
      <p:sp>
        <p:nvSpPr>
          <p:cNvPr id="224" name="文本框 258" descr="{&quot;isTemplate&quot;:true,&quot;type&quot;:&quot;text&quot;}"/>
          <p:cNvSpPr txBox="1"/>
          <p:nvPr/>
        </p:nvSpPr>
        <p:spPr>
          <a:xfrm>
            <a:off x="5029200" y="3019425"/>
            <a:ext cx="65722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125">
                <a:solidFill>
                  <a:srgbClr val="4A5568"/>
                </a:solidFill>
                <a:latin typeface="Source Han Sans CN"/>
                <a:ea typeface="Source Han Sans CN"/>
              </a:rPr>
              <a:t>基础优先级预筛选</a:t>
            </a:r>
            <a:r>
              <a:rPr lang="en-US" sz="1125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+ </a:t>
            </a:r>
            <a:r>
              <a:rPr lang="zh-CN" sz="1125">
                <a:solidFill>
                  <a:srgbClr val="4A5568"/>
                </a:solidFill>
                <a:latin typeface="Source Han Sans CN"/>
                <a:ea typeface="Source Han Sans CN"/>
              </a:rPr>
              <a:t>边际收益增量选择</a:t>
            </a:r>
            <a:r>
              <a:rPr lang="en-US" sz="1125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+ </a:t>
            </a:r>
            <a:r>
              <a:rPr lang="zh-CN" sz="1125">
                <a:solidFill>
                  <a:srgbClr val="4A5568"/>
                </a:solidFill>
                <a:latin typeface="Source Han Sans CN"/>
                <a:ea typeface="Source Han Sans CN"/>
              </a:rPr>
              <a:t>快速可行性检查，把任务池压缩为规模可控的候选集</a:t>
            </a:r>
            <a:endParaRPr/>
          </a:p>
        </p:txBody>
      </p:sp>
      <p:sp>
        <p:nvSpPr>
          <p:cNvPr id="225" name="矩形: 圆角 259"/>
          <p:cNvSpPr/>
          <p:nvPr/>
        </p:nvSpPr>
        <p:spPr>
          <a:xfrm>
            <a:off x="4114800" y="3771900"/>
            <a:ext cx="7734300" cy="923925"/>
          </a:xfrm>
          <a:prstGeom prst="roundRect">
            <a:avLst>
              <a:gd name="adj" fmla="val 10309"/>
            </a:avLst>
          </a:prstGeom>
          <a:solidFill>
            <a:srgbClr val="F0F5F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26" name="任意多边形: 形状 260"/>
          <p:cNvSpPr/>
          <p:nvPr/>
        </p:nvSpPr>
        <p:spPr>
          <a:xfrm>
            <a:off x="4114800" y="3771900"/>
            <a:ext cx="7734300" cy="923925"/>
          </a:xfrm>
          <a:custGeom>
            <a:avLst/>
            <a:gdLst/>
            <a:ahLst/>
            <a:cxnLst/>
            <a:rect l="0" t="0" r="0" b="0"/>
            <a:pathLst>
              <a:path w="812" h="97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91"/>
                </a:lnTo>
                <a:cubicBezTo>
                  <a:pt x="4" y="94"/>
                  <a:pt x="6" y="96"/>
                  <a:pt x="9" y="97"/>
                </a:cubicBezTo>
                <a:cubicBezTo>
                  <a:pt x="4" y="96"/>
                  <a:pt x="0" y="92"/>
                  <a:pt x="0" y="8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27" name="矩形: 圆角 261"/>
          <p:cNvSpPr/>
          <p:nvPr/>
        </p:nvSpPr>
        <p:spPr>
          <a:xfrm>
            <a:off x="4324350" y="3943350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28" name="文本框 262" descr="{&quot;isTemplate&quot;:true,&quot;type&quot;:&quot;text&quot;}"/>
          <p:cNvSpPr txBox="1"/>
          <p:nvPr/>
        </p:nvSpPr>
        <p:spPr>
          <a:xfrm>
            <a:off x="4448175" y="4076700"/>
            <a:ext cx="2667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Source Han Sans CN"/>
                <a:ea typeface="Source Han Sans CN"/>
              </a:rPr>
              <a:t>03</a:t>
            </a:r>
            <a:endParaRPr/>
          </a:p>
        </p:txBody>
      </p:sp>
      <p:sp>
        <p:nvSpPr>
          <p:cNvPr id="229" name="文本框 263" descr="{&quot;isTemplate&quot;:true,&quot;type&quot;:&quot;text&quot;}"/>
          <p:cNvSpPr txBox="1"/>
          <p:nvPr/>
        </p:nvSpPr>
        <p:spPr>
          <a:xfrm>
            <a:off x="5029200" y="3943350"/>
            <a:ext cx="65722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Source Han Sans CN"/>
                <a:ea typeface="Source Han Sans CN"/>
              </a:rPr>
              <a:t>第二阶段：选择性</a:t>
            </a:r>
            <a:r>
              <a:rPr lang="en-US" sz="1575" b="1">
                <a:solidFill>
                  <a:srgbClr val="1A2230"/>
                </a:solidFill>
                <a:latin typeface="Source Han Sans CN"/>
                <a:ea typeface="Source Han Sans CN"/>
              </a:rPr>
              <a:t xml:space="preserve"> MUAS </a:t>
            </a:r>
            <a:r>
              <a:rPr lang="zh-CN" sz="1575" b="1">
                <a:solidFill>
                  <a:srgbClr val="1A2230"/>
                </a:solidFill>
                <a:latin typeface="Source Han Sans CN"/>
                <a:ea typeface="Source Han Sans CN"/>
              </a:rPr>
              <a:t>与</a:t>
            </a:r>
            <a:r>
              <a:rPr lang="en-US" sz="1575" b="1">
                <a:solidFill>
                  <a:srgbClr val="1A2230"/>
                </a:solidFill>
                <a:latin typeface="Source Han Sans CN"/>
                <a:ea typeface="Source Han Sans CN"/>
              </a:rPr>
              <a:t xml:space="preserve"> DMDE</a:t>
            </a:r>
            <a:r>
              <a:rPr lang="zh-CN" sz="1125">
                <a:solidFill>
                  <a:srgbClr val="3D7BD9"/>
                </a:solidFill>
                <a:latin typeface="Source Han Sans CN"/>
                <a:ea typeface="Source Han Sans CN"/>
              </a:rPr>
              <a:t>　</a:t>
            </a:r>
            <a:r>
              <a:rPr lang="en-US" sz="1125">
                <a:solidFill>
                  <a:srgbClr val="3D7BD9"/>
                </a:solidFill>
                <a:latin typeface="Source Han Sans CN"/>
                <a:ea typeface="Source Han Sans CN"/>
              </a:rPr>
              <a:t>P8–P10</a:t>
            </a:r>
            <a:endParaRPr/>
          </a:p>
        </p:txBody>
      </p:sp>
      <p:sp>
        <p:nvSpPr>
          <p:cNvPr id="230" name="文本框 264" descr="{&quot;isTemplate&quot;:true,&quot;type&quot;:&quot;text&quot;}"/>
          <p:cNvSpPr txBox="1"/>
          <p:nvPr/>
        </p:nvSpPr>
        <p:spPr>
          <a:xfrm>
            <a:off x="5029200" y="4248150"/>
            <a:ext cx="65722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125">
                <a:solidFill>
                  <a:srgbClr val="4A5568"/>
                </a:solidFill>
                <a:latin typeface="Source Han Sans CN"/>
                <a:ea typeface="Source Han Sans CN"/>
              </a:rPr>
              <a:t>多机巢选择性分配的组合优化模型、四层准字典序适应度、改进离散映射差分进化与终点机巢精确求解</a:t>
            </a:r>
            <a:endParaRPr/>
          </a:p>
        </p:txBody>
      </p:sp>
      <p:sp>
        <p:nvSpPr>
          <p:cNvPr id="231" name="矩形: 圆角 265"/>
          <p:cNvSpPr/>
          <p:nvPr/>
        </p:nvSpPr>
        <p:spPr>
          <a:xfrm>
            <a:off x="4114800" y="4991100"/>
            <a:ext cx="7734300" cy="1200150"/>
          </a:xfrm>
          <a:prstGeom prst="roundRect">
            <a:avLst>
              <a:gd name="adj" fmla="val 7937"/>
            </a:avLst>
          </a:prstGeom>
          <a:solidFill>
            <a:srgbClr val="F0F5F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32" name="任意多边形: 形状 266"/>
          <p:cNvSpPr/>
          <p:nvPr/>
        </p:nvSpPr>
        <p:spPr>
          <a:xfrm>
            <a:off x="4114800" y="4991100"/>
            <a:ext cx="7734300" cy="1200150"/>
          </a:xfrm>
          <a:custGeom>
            <a:avLst/>
            <a:gdLst/>
            <a:ahLst/>
            <a:cxnLst/>
            <a:rect l="0" t="0" r="0" b="0"/>
            <a:pathLst>
              <a:path w="812" h="126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20"/>
                </a:lnTo>
                <a:cubicBezTo>
                  <a:pt x="4" y="123"/>
                  <a:pt x="6" y="125"/>
                  <a:pt x="9" y="126"/>
                </a:cubicBezTo>
                <a:cubicBezTo>
                  <a:pt x="4" y="125"/>
                  <a:pt x="0" y="121"/>
                  <a:pt x="0" y="11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33" name="矩形: 圆角 267"/>
          <p:cNvSpPr/>
          <p:nvPr/>
        </p:nvSpPr>
        <p:spPr>
          <a:xfrm>
            <a:off x="4324350" y="5162550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34" name="文本框 268" descr="{&quot;isTemplate&quot;:true,&quot;type&quot;:&quot;text&quot;}"/>
          <p:cNvSpPr txBox="1"/>
          <p:nvPr/>
        </p:nvSpPr>
        <p:spPr>
          <a:xfrm>
            <a:off x="4448175" y="5295900"/>
            <a:ext cx="2667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Source Han Sans CN"/>
                <a:ea typeface="Source Han Sans CN"/>
              </a:rPr>
              <a:t>04</a:t>
            </a:r>
            <a:endParaRPr/>
          </a:p>
        </p:txBody>
      </p:sp>
      <p:sp>
        <p:nvSpPr>
          <p:cNvPr id="235" name="文本框 269" descr="{&quot;isTemplate&quot;:true,&quot;type&quot;:&quot;text&quot;}"/>
          <p:cNvSpPr txBox="1"/>
          <p:nvPr/>
        </p:nvSpPr>
        <p:spPr>
          <a:xfrm>
            <a:off x="5029200" y="5162550"/>
            <a:ext cx="65722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Source Han Sans CN"/>
                <a:ea typeface="Source Han Sans CN"/>
              </a:rPr>
              <a:t>实验验证与下一步</a:t>
            </a:r>
            <a:r>
              <a:rPr lang="zh-CN" sz="1125">
                <a:solidFill>
                  <a:srgbClr val="3D7BD9"/>
                </a:solidFill>
                <a:latin typeface="Source Han Sans CN"/>
                <a:ea typeface="Source Han Sans CN"/>
              </a:rPr>
              <a:t>　</a:t>
            </a:r>
            <a:r>
              <a:rPr lang="en-US" sz="1125">
                <a:solidFill>
                  <a:srgbClr val="3D7BD9"/>
                </a:solidFill>
                <a:latin typeface="Source Han Sans CN"/>
                <a:ea typeface="Source Han Sans CN"/>
              </a:rPr>
              <a:t>P11–P15</a:t>
            </a:r>
            <a:endParaRPr/>
          </a:p>
        </p:txBody>
      </p:sp>
      <p:sp>
        <p:nvSpPr>
          <p:cNvPr id="236" name="文本框 270" descr="{&quot;isTemplate&quot;:true,&quot;type&quot;:&quot;text&quot;}"/>
          <p:cNvSpPr txBox="1"/>
          <p:nvPr/>
        </p:nvSpPr>
        <p:spPr>
          <a:xfrm>
            <a:off x="5029200" y="5467350"/>
            <a:ext cx="65722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exp01 </a:t>
            </a:r>
            <a:r>
              <a:rPr lang="zh-CN" sz="1125">
                <a:solidFill>
                  <a:srgbClr val="4A5568"/>
                </a:solidFill>
                <a:latin typeface="Source Han Sans CN"/>
                <a:ea typeface="Source Han Sans CN"/>
              </a:rPr>
              <a:t>多</a:t>
            </a:r>
            <a:r>
              <a:rPr lang="en-US" sz="1125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seed </a:t>
            </a:r>
            <a:r>
              <a:rPr lang="zh-CN" sz="1125">
                <a:solidFill>
                  <a:srgbClr val="4A5568"/>
                </a:solidFill>
                <a:latin typeface="Source Han Sans CN"/>
                <a:ea typeface="Source Han Sans CN"/>
              </a:rPr>
              <a:t>阶梯（方向一致可复现）、</a:t>
            </a:r>
            <a:r>
              <a:rPr lang="en-US" sz="1125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exp02 </a:t>
            </a:r>
            <a:r>
              <a:rPr lang="zh-CN" sz="1125">
                <a:solidFill>
                  <a:srgbClr val="4A5568"/>
                </a:solidFill>
                <a:latin typeface="Source Han Sans CN"/>
                <a:ea typeface="Source Han Sans CN"/>
              </a:rPr>
              <a:t>规模标定（求解规模与</a:t>
            </a:r>
            <a:r>
              <a:rPr lang="en-US" sz="1125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N </a:t>
            </a:r>
            <a:r>
              <a:rPr lang="zh-CN" sz="1125">
                <a:solidFill>
                  <a:srgbClr val="4A5568"/>
                </a:solidFill>
                <a:latin typeface="Source Han Sans CN"/>
                <a:ea typeface="Source Han Sans CN"/>
              </a:rPr>
              <a:t>解耦）、性能瓶颈消除、证据边界与计划</a:t>
            </a:r>
            <a:endParaRPr/>
          </a:p>
        </p:txBody>
      </p:sp>
      <p:sp>
        <p:nvSpPr>
          <p:cNvPr id="237" name="矩形 271"/>
          <p:cNvSpPr/>
          <p:nvPr/>
        </p:nvSpPr>
        <p:spPr>
          <a:xfrm>
            <a:off x="0" y="6448425"/>
            <a:ext cx="12192000" cy="4095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38" name="任意多边形: 形状 272"/>
          <p:cNvSpPr/>
          <p:nvPr/>
        </p:nvSpPr>
        <p:spPr>
          <a:xfrm>
            <a:off x="0" y="6438900"/>
            <a:ext cx="12192000" cy="419100"/>
          </a:xfrm>
          <a:custGeom>
            <a:avLst/>
            <a:gdLst/>
            <a:ahLst/>
            <a:cxnLst/>
            <a:rect l="0" t="0" r="0" b="0"/>
            <a:pathLst>
              <a:path w="1280" h="4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39" name="文本框 273" descr="{&quot;isTemplate&quot;:true,&quot;type&quot;:&quot;text&quot;}"/>
          <p:cNvSpPr txBox="1"/>
          <p:nvPr/>
        </p:nvSpPr>
        <p:spPr>
          <a:xfrm>
            <a:off x="381000" y="6581775"/>
            <a:ext cx="28289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CN"/>
                <a:ea typeface="Source Han Sans CN"/>
              </a:rPr>
              <a:t>动态滚动的多机巢多无人机协同任务分配</a:t>
            </a:r>
            <a:r>
              <a:rPr lang="en-US" sz="975">
                <a:solidFill>
                  <a:srgbClr val="8B97A8"/>
                </a:solidFill>
                <a:latin typeface="Source Han Sans CN"/>
                <a:ea typeface="Source Han Sans CN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Source Han Sans CN"/>
                <a:ea typeface="Source Han Sans CN"/>
              </a:rPr>
              <a:t>进展汇报</a:t>
            </a:r>
            <a:endParaRPr/>
          </a:p>
        </p:txBody>
      </p:sp>
      <p:sp>
        <p:nvSpPr>
          <p:cNvPr id="240" name="文本框 274" descr="{&quot;isTemplate&quot;:true,&quot;type&quot;:&quot;text&quot;}"/>
          <p:cNvSpPr txBox="1"/>
          <p:nvPr/>
        </p:nvSpPr>
        <p:spPr>
          <a:xfrm>
            <a:off x="11296650" y="6572250"/>
            <a:ext cx="5143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CN"/>
                <a:ea typeface="Source Han Sans CN"/>
              </a:rPr>
              <a:t>02 / 16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2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矩形 2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43" name="矩形 277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44" name="文本框 278" descr="{&quot;isTemplate&quot;:true,&quot;type&quot;:&quot;text&quot;}"/>
          <p:cNvSpPr txBox="1"/>
          <p:nvPr/>
        </p:nvSpPr>
        <p:spPr>
          <a:xfrm>
            <a:off x="7734300" y="1238250"/>
            <a:ext cx="3886200" cy="3771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4750" b="1">
                <a:solidFill>
                  <a:srgbClr val="E8EFF8"/>
                </a:solidFill>
                <a:latin typeface="Source Han Sans CN"/>
                <a:ea typeface="Source Han Sans CN"/>
              </a:rPr>
              <a:t>01</a:t>
            </a:r>
            <a:endParaRPr/>
          </a:p>
        </p:txBody>
      </p:sp>
      <p:sp>
        <p:nvSpPr>
          <p:cNvPr id="245" name="矩形: 圆角 279"/>
          <p:cNvSpPr/>
          <p:nvPr/>
        </p:nvSpPr>
        <p:spPr>
          <a:xfrm>
            <a:off x="9801225" y="4572000"/>
            <a:ext cx="1628775" cy="323850"/>
          </a:xfrm>
          <a:prstGeom prst="roundRect">
            <a:avLst>
              <a:gd name="adj" fmla="val 5294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sp>
        <p:nvSpPr>
          <p:cNvPr id="246" name="文本框 280" descr="{&quot;isTemplate&quot;:true,&quot;type&quot;:&quot;text&quot;}"/>
          <p:cNvSpPr txBox="1"/>
          <p:nvPr/>
        </p:nvSpPr>
        <p:spPr>
          <a:xfrm>
            <a:off x="9972675" y="4648200"/>
            <a:ext cx="12858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Source Han Sans CN"/>
                <a:ea typeface="Source Han Sans CN"/>
              </a:rPr>
              <a:t>任务动态到达与滞留</a:t>
            </a:r>
            <a:endParaRPr/>
          </a:p>
        </p:txBody>
      </p:sp>
      <p:sp>
        <p:nvSpPr>
          <p:cNvPr id="247" name="矩形: 圆角 281"/>
          <p:cNvSpPr/>
          <p:nvPr/>
        </p:nvSpPr>
        <p:spPr>
          <a:xfrm>
            <a:off x="10067925" y="5010150"/>
            <a:ext cx="1362075" cy="323850"/>
          </a:xfrm>
          <a:prstGeom prst="roundRect">
            <a:avLst>
              <a:gd name="adj" fmla="val 5294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sp>
        <p:nvSpPr>
          <p:cNvPr id="248" name="文本框 282" descr="{&quot;isTemplate&quot;:true,&quot;type&quot;:&quot;text&quot;}"/>
          <p:cNvSpPr txBox="1"/>
          <p:nvPr/>
        </p:nvSpPr>
        <p:spPr>
          <a:xfrm>
            <a:off x="10239375" y="5086350"/>
            <a:ext cx="10191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Source Han Sans CN"/>
                <a:ea typeface="Source Han Sans CN"/>
              </a:rPr>
              <a:t>规模—能力失配</a:t>
            </a:r>
            <a:endParaRPr/>
          </a:p>
        </p:txBody>
      </p:sp>
      <p:sp>
        <p:nvSpPr>
          <p:cNvPr id="249" name="矩形: 圆角 283"/>
          <p:cNvSpPr/>
          <p:nvPr/>
        </p:nvSpPr>
        <p:spPr>
          <a:xfrm>
            <a:off x="9801225" y="5448300"/>
            <a:ext cx="1628775" cy="323850"/>
          </a:xfrm>
          <a:prstGeom prst="roundRect">
            <a:avLst>
              <a:gd name="adj" fmla="val 5294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sp>
        <p:nvSpPr>
          <p:cNvPr id="250" name="文本框 284" descr="{&quot;isTemplate&quot;:true,&quot;type&quot;:&quot;text&quot;}"/>
          <p:cNvSpPr txBox="1"/>
          <p:nvPr/>
        </p:nvSpPr>
        <p:spPr>
          <a:xfrm>
            <a:off x="9972675" y="5524500"/>
            <a:ext cx="12858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Source Han Sans CN"/>
                <a:ea typeface="Source Han Sans CN"/>
              </a:rPr>
              <a:t>两阶段分层滚动求解</a:t>
            </a:r>
            <a:endParaRPr/>
          </a:p>
        </p:txBody>
      </p:sp>
      <p:sp>
        <p:nvSpPr>
          <p:cNvPr id="251" name="矩形 285"/>
          <p:cNvSpPr/>
          <p:nvPr/>
        </p:nvSpPr>
        <p:spPr>
          <a:xfrm>
            <a:off x="762000" y="1990725"/>
            <a:ext cx="3810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52" name="文本框 286" descr="{&quot;isTemplate&quot;:true,&quot;type&quot;:&quot;text&quot;}"/>
          <p:cNvSpPr txBox="1"/>
          <p:nvPr/>
        </p:nvSpPr>
        <p:spPr>
          <a:xfrm>
            <a:off x="1276350" y="1905000"/>
            <a:ext cx="14573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spc="375">
                <a:solidFill>
                  <a:srgbClr val="3D7BD9"/>
                </a:solidFill>
                <a:latin typeface="Source Han Sans CN"/>
                <a:ea typeface="Source Han Sans CN"/>
              </a:rPr>
              <a:t>CHAPTER 01</a:t>
            </a:r>
            <a:endParaRPr/>
          </a:p>
        </p:txBody>
      </p:sp>
      <p:sp>
        <p:nvSpPr>
          <p:cNvPr id="253" name="文本框 287" descr="{&quot;isTemplate&quot;:true,&quot;type&quot;:&quot;text&quot;}"/>
          <p:cNvSpPr txBox="1"/>
          <p:nvPr/>
        </p:nvSpPr>
        <p:spPr>
          <a:xfrm>
            <a:off x="762000" y="2276475"/>
            <a:ext cx="72390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0E3F8C"/>
                </a:solidFill>
                <a:latin typeface="Source Han Sans CN"/>
                <a:ea typeface="Source Han Sans CN"/>
              </a:rPr>
              <a:t>研究问题与总体框架</a:t>
            </a:r>
            <a:endParaRPr/>
          </a:p>
        </p:txBody>
      </p:sp>
      <p:sp>
        <p:nvSpPr>
          <p:cNvPr id="254" name="矩形: 圆角 288"/>
          <p:cNvSpPr/>
          <p:nvPr/>
        </p:nvSpPr>
        <p:spPr>
          <a:xfrm>
            <a:off x="762000" y="32099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55" name="文本框 289" descr="{&quot;isTemplate&quot;:true,&quot;type&quot;:&quot;text&quot;}"/>
          <p:cNvSpPr txBox="1"/>
          <p:nvPr/>
        </p:nvSpPr>
        <p:spPr>
          <a:xfrm>
            <a:off x="952500" y="3105150"/>
            <a:ext cx="70485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425">
                <a:solidFill>
                  <a:srgbClr val="1A2230"/>
                </a:solidFill>
                <a:latin typeface="Source Han Sans CN"/>
                <a:ea typeface="Source Han Sans CN"/>
              </a:rPr>
              <a:t>任务</a:t>
            </a:r>
            <a:r>
              <a:rPr lang="zh-CN" sz="1425" b="1">
                <a:solidFill>
                  <a:srgbClr val="1A2230"/>
                </a:solidFill>
                <a:latin typeface="Source Han Sans CN"/>
                <a:ea typeface="Source Han Sans CN"/>
              </a:rPr>
              <a:t>动态到达、持续滞留</a:t>
            </a:r>
            <a:r>
              <a:rPr lang="zh-CN" sz="1425">
                <a:solidFill>
                  <a:srgbClr val="1A2230"/>
                </a:solidFill>
                <a:latin typeface="Source Han Sans CN"/>
                <a:ea typeface="Source Han Sans CN"/>
              </a:rPr>
              <a:t>与无人机</a:t>
            </a:r>
            <a:r>
              <a:rPr lang="zh-CN" sz="1425" b="1">
                <a:solidFill>
                  <a:srgbClr val="1A2230"/>
                </a:solidFill>
                <a:latin typeface="Source Han Sans CN"/>
                <a:ea typeface="Source Han Sans CN"/>
              </a:rPr>
              <a:t>状态动态变化</a:t>
            </a:r>
            <a:r>
              <a:rPr lang="zh-CN" sz="1425">
                <a:solidFill>
                  <a:srgbClr val="1A2230"/>
                </a:solidFill>
                <a:latin typeface="Source Han Sans CN"/>
                <a:ea typeface="Source Han Sans CN"/>
              </a:rPr>
              <a:t>并存，规划必须周期性滚动进行</a:t>
            </a:r>
            <a:endParaRPr/>
          </a:p>
        </p:txBody>
      </p:sp>
      <p:sp>
        <p:nvSpPr>
          <p:cNvPr id="256" name="矩形: 圆角 290"/>
          <p:cNvSpPr/>
          <p:nvPr/>
        </p:nvSpPr>
        <p:spPr>
          <a:xfrm>
            <a:off x="762000" y="3752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57" name="文本框 291" descr="{&quot;isTemplate&quot;:true,&quot;type&quot;:&quot;text&quot;}"/>
          <p:cNvSpPr txBox="1"/>
          <p:nvPr/>
        </p:nvSpPr>
        <p:spPr>
          <a:xfrm>
            <a:off x="952500" y="3648075"/>
            <a:ext cx="70485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425">
                <a:solidFill>
                  <a:srgbClr val="1A2230"/>
                </a:solidFill>
                <a:latin typeface="Source Han Sans CN"/>
                <a:ea typeface="Source Han Sans CN"/>
              </a:rPr>
              <a:t>任务规模与当前执行能力</a:t>
            </a:r>
            <a:r>
              <a:rPr lang="zh-CN" sz="1425" b="1">
                <a:solidFill>
                  <a:srgbClr val="1A2230"/>
                </a:solidFill>
                <a:latin typeface="Source Han Sans CN"/>
                <a:ea typeface="Source Han Sans CN"/>
              </a:rPr>
              <a:t>经常失配</a:t>
            </a:r>
            <a:r>
              <a:rPr lang="zh-CN" sz="1425">
                <a:solidFill>
                  <a:srgbClr val="1A2230"/>
                </a:solidFill>
                <a:latin typeface="Source Han Sans CN"/>
                <a:ea typeface="Source Han Sans CN"/>
              </a:rPr>
              <a:t>——不能全量求解，也不能随意丢弃任务</a:t>
            </a:r>
            <a:endParaRPr/>
          </a:p>
        </p:txBody>
      </p:sp>
      <p:sp>
        <p:nvSpPr>
          <p:cNvPr id="258" name="文本框 292" descr="{&quot;isTemplate&quot;:true,&quot;type&quot;:&quot;text&quot;}"/>
          <p:cNvSpPr txBox="1"/>
          <p:nvPr/>
        </p:nvSpPr>
        <p:spPr>
          <a:xfrm>
            <a:off x="762000" y="4305300"/>
            <a:ext cx="72390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80000"/>
              </a:lnSpc>
            </a:pPr>
            <a:r>
              <a:rPr lang="zh-CN" sz="1200">
                <a:solidFill>
                  <a:srgbClr val="4A5568"/>
                </a:solidFill>
                <a:latin typeface="Source Han Sans CN"/>
                <a:ea typeface="Source Han Sans CN"/>
              </a:rPr>
              <a:t>广域巡检场景中，静态一次性规划无法应对持续到达的任务流。本章先刻画问题特征，再给出「快速任务选择缩空间</a:t>
            </a:r>
            <a:r>
              <a:rPr lang="en-US" sz="120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+ </a:t>
            </a:r>
            <a:r>
              <a:rPr lang="zh-CN" sz="1200">
                <a:solidFill>
                  <a:srgbClr val="4A5568"/>
                </a:solidFill>
                <a:latin typeface="Source Han Sans CN"/>
                <a:ea typeface="Source Han Sans CN"/>
              </a:rPr>
              <a:t>精细</a:t>
            </a:r>
            <a:r>
              <a:rPr lang="en-US" sz="120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MUAS </a:t>
            </a:r>
            <a:r>
              <a:rPr lang="zh-CN" sz="1200">
                <a:solidFill>
                  <a:srgbClr val="4A5568"/>
                </a:solidFill>
                <a:latin typeface="Source Han Sans CN"/>
                <a:ea typeface="Source Han Sans CN"/>
              </a:rPr>
              <a:t>组合优化」的两阶段总体求解框架。</a:t>
            </a:r>
            <a:endParaRPr/>
          </a:p>
        </p:txBody>
      </p:sp>
      <p:sp>
        <p:nvSpPr>
          <p:cNvPr id="259" name="矩形: 圆角 293"/>
          <p:cNvSpPr/>
          <p:nvPr/>
        </p:nvSpPr>
        <p:spPr>
          <a:xfrm>
            <a:off x="762000" y="5200650"/>
            <a:ext cx="1152525" cy="295275"/>
          </a:xfrm>
          <a:prstGeom prst="roundRect">
            <a:avLst>
              <a:gd name="adj" fmla="val 19355"/>
            </a:avLst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60" name="文本框 294" descr="{&quot;isTemplate&quot;:true,&quot;type&quot;:&quot;text&quot;}"/>
          <p:cNvSpPr txBox="1"/>
          <p:nvPr/>
        </p:nvSpPr>
        <p:spPr>
          <a:xfrm>
            <a:off x="914400" y="5267325"/>
            <a:ext cx="847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Source Han Sans CN"/>
                <a:ea typeface="Source Han Sans CN"/>
              </a:rPr>
              <a:t xml:space="preserve">P4 · </a:t>
            </a:r>
            <a:r>
              <a:rPr lang="zh-CN" sz="1050" b="1">
                <a:solidFill>
                  <a:srgbClr val="FFFFFF"/>
                </a:solidFill>
                <a:latin typeface="Source Han Sans CN"/>
                <a:ea typeface="Source Han Sans CN"/>
              </a:rPr>
              <a:t>五大挑战</a:t>
            </a:r>
            <a:endParaRPr/>
          </a:p>
        </p:txBody>
      </p:sp>
      <p:sp>
        <p:nvSpPr>
          <p:cNvPr id="261" name="矩形: 圆角 295"/>
          <p:cNvSpPr/>
          <p:nvPr/>
        </p:nvSpPr>
        <p:spPr>
          <a:xfrm>
            <a:off x="2028825" y="5200650"/>
            <a:ext cx="1419225" cy="295275"/>
          </a:xfrm>
          <a:prstGeom prst="roundRect">
            <a:avLst>
              <a:gd name="adj" fmla="val 19355"/>
            </a:avLst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62" name="文本框 296" descr="{&quot;isTemplate&quot;:true,&quot;type&quot;:&quot;text&quot;}"/>
          <p:cNvSpPr txBox="1"/>
          <p:nvPr/>
        </p:nvSpPr>
        <p:spPr>
          <a:xfrm>
            <a:off x="2181225" y="5267325"/>
            <a:ext cx="11144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Source Han Sans CN"/>
                <a:ea typeface="Source Han Sans CN"/>
              </a:rPr>
              <a:t xml:space="preserve">P5 · </a:t>
            </a:r>
            <a:r>
              <a:rPr lang="zh-CN" sz="1050" b="1">
                <a:solidFill>
                  <a:srgbClr val="FFFFFF"/>
                </a:solidFill>
                <a:latin typeface="Source Han Sans CN"/>
                <a:ea typeface="Source Han Sans CN"/>
              </a:rPr>
              <a:t>总体求解框架</a:t>
            </a:r>
            <a:endParaRPr/>
          </a:p>
        </p:txBody>
      </p:sp>
      <p:sp>
        <p:nvSpPr>
          <p:cNvPr id="263" name="矩形: 圆角 297"/>
          <p:cNvSpPr/>
          <p:nvPr/>
        </p:nvSpPr>
        <p:spPr>
          <a:xfrm>
            <a:off x="762000" y="5857875"/>
            <a:ext cx="476250" cy="276225"/>
          </a:xfrm>
          <a:prstGeom prst="roundRect">
            <a:avLst>
              <a:gd name="adj" fmla="val 48276"/>
            </a:avLst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64" name="文本框 298" descr="{&quot;isTemplate&quot;:true,&quot;type&quot;:&quot;text&quot;}"/>
          <p:cNvSpPr txBox="1"/>
          <p:nvPr/>
        </p:nvSpPr>
        <p:spPr>
          <a:xfrm>
            <a:off x="914400" y="5915025"/>
            <a:ext cx="1714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Source Han Sans CN"/>
                <a:ea typeface="Source Han Sans CN"/>
              </a:rPr>
              <a:t>01</a:t>
            </a:r>
            <a:endParaRPr/>
          </a:p>
        </p:txBody>
      </p:sp>
      <p:sp>
        <p:nvSpPr>
          <p:cNvPr id="265" name="矩形: 圆角 299"/>
          <p:cNvSpPr/>
          <p:nvPr/>
        </p:nvSpPr>
        <p:spPr>
          <a:xfrm>
            <a:off x="1352550" y="5857875"/>
            <a:ext cx="476250" cy="276225"/>
          </a:xfrm>
          <a:prstGeom prst="roundRect">
            <a:avLst>
              <a:gd name="adj" fmla="val 48276"/>
            </a:avLst>
          </a:prstGeom>
          <a:solidFill>
            <a:srgbClr val="F0F5F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66" name="文本框 300" descr="{&quot;isTemplate&quot;:true,&quot;type&quot;:&quot;text&quot;}"/>
          <p:cNvSpPr txBox="1"/>
          <p:nvPr/>
        </p:nvSpPr>
        <p:spPr>
          <a:xfrm>
            <a:off x="1504950" y="5915025"/>
            <a:ext cx="1714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Source Han Sans CN"/>
                <a:ea typeface="Source Han Sans CN"/>
              </a:rPr>
              <a:t>02</a:t>
            </a:r>
            <a:endParaRPr/>
          </a:p>
        </p:txBody>
      </p:sp>
      <p:sp>
        <p:nvSpPr>
          <p:cNvPr id="267" name="矩形: 圆角 301"/>
          <p:cNvSpPr/>
          <p:nvPr/>
        </p:nvSpPr>
        <p:spPr>
          <a:xfrm>
            <a:off x="1943100" y="5857875"/>
            <a:ext cx="476250" cy="276225"/>
          </a:xfrm>
          <a:prstGeom prst="roundRect">
            <a:avLst>
              <a:gd name="adj" fmla="val 48276"/>
            </a:avLst>
          </a:prstGeom>
          <a:solidFill>
            <a:srgbClr val="F0F5F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68" name="文本框 302" descr="{&quot;isTemplate&quot;:true,&quot;type&quot;:&quot;text&quot;}"/>
          <p:cNvSpPr txBox="1"/>
          <p:nvPr/>
        </p:nvSpPr>
        <p:spPr>
          <a:xfrm>
            <a:off x="2095500" y="5915025"/>
            <a:ext cx="1714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Source Han Sans CN"/>
                <a:ea typeface="Source Han Sans CN"/>
              </a:rPr>
              <a:t>03</a:t>
            </a:r>
            <a:endParaRPr/>
          </a:p>
        </p:txBody>
      </p:sp>
      <p:sp>
        <p:nvSpPr>
          <p:cNvPr id="269" name="矩形: 圆角 303"/>
          <p:cNvSpPr/>
          <p:nvPr/>
        </p:nvSpPr>
        <p:spPr>
          <a:xfrm>
            <a:off x="2533650" y="5857875"/>
            <a:ext cx="476250" cy="276225"/>
          </a:xfrm>
          <a:prstGeom prst="roundRect">
            <a:avLst>
              <a:gd name="adj" fmla="val 48276"/>
            </a:avLst>
          </a:prstGeom>
          <a:solidFill>
            <a:srgbClr val="F0F5F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70" name="文本框 304" descr="{&quot;isTemplate&quot;:true,&quot;type&quot;:&quot;text&quot;}"/>
          <p:cNvSpPr txBox="1"/>
          <p:nvPr/>
        </p:nvSpPr>
        <p:spPr>
          <a:xfrm>
            <a:off x="2686050" y="5915025"/>
            <a:ext cx="1714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Source Han Sans CN"/>
                <a:ea typeface="Source Han Sans CN"/>
              </a:rPr>
              <a:t>04</a:t>
            </a:r>
            <a:endParaRPr/>
          </a:p>
        </p:txBody>
      </p:sp>
      <p:sp>
        <p:nvSpPr>
          <p:cNvPr id="271" name="文本框 305" descr="{&quot;isTemplate&quot;:true,&quot;type&quot;:&quot;text&quot;}"/>
          <p:cNvSpPr txBox="1"/>
          <p:nvPr/>
        </p:nvSpPr>
        <p:spPr>
          <a:xfrm>
            <a:off x="3200400" y="5915025"/>
            <a:ext cx="19621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CN"/>
                <a:ea typeface="Source Han Sans CN"/>
              </a:rPr>
              <a:t>研究问题</a:t>
            </a:r>
            <a:r>
              <a:rPr lang="en-US" sz="1050">
                <a:solidFill>
                  <a:srgbClr val="8B97A8"/>
                </a:solidFill>
                <a:latin typeface="Source Han Sans CN"/>
                <a:ea typeface="Source Han Sans CN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Source Han Sans CN"/>
                <a:ea typeface="Source Han Sans CN"/>
              </a:rPr>
              <a:t>方法两阶段</a:t>
            </a:r>
            <a:r>
              <a:rPr lang="en-US" sz="1050">
                <a:solidFill>
                  <a:srgbClr val="8B97A8"/>
                </a:solidFill>
                <a:latin typeface="Source Han Sans CN"/>
                <a:ea typeface="Source Han Sans CN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Source Han Sans CN"/>
                <a:ea typeface="Source Han Sans CN"/>
              </a:rPr>
              <a:t>实验验证</a:t>
            </a:r>
            <a:endParaRPr/>
          </a:p>
        </p:txBody>
      </p:sp>
      <p:sp>
        <p:nvSpPr>
          <p:cNvPr id="272" name="矩形 306"/>
          <p:cNvSpPr/>
          <p:nvPr/>
        </p:nvSpPr>
        <p:spPr>
          <a:xfrm>
            <a:off x="0" y="6448425"/>
            <a:ext cx="12192000" cy="4095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73" name="任意多边形: 形状 307"/>
          <p:cNvSpPr/>
          <p:nvPr/>
        </p:nvSpPr>
        <p:spPr>
          <a:xfrm>
            <a:off x="0" y="6438900"/>
            <a:ext cx="12192000" cy="419100"/>
          </a:xfrm>
          <a:custGeom>
            <a:avLst/>
            <a:gdLst/>
            <a:ahLst/>
            <a:cxnLst/>
            <a:rect l="0" t="0" r="0" b="0"/>
            <a:pathLst>
              <a:path w="1280" h="4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74" name="文本框 308" descr="{&quot;isTemplate&quot;:true,&quot;type&quot;:&quot;text&quot;}"/>
          <p:cNvSpPr txBox="1"/>
          <p:nvPr/>
        </p:nvSpPr>
        <p:spPr>
          <a:xfrm>
            <a:off x="381000" y="6581775"/>
            <a:ext cx="28289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CN"/>
                <a:ea typeface="Source Han Sans CN"/>
              </a:rPr>
              <a:t>动态滚动的多机巢多无人机协同任务分配</a:t>
            </a:r>
            <a:r>
              <a:rPr lang="en-US" sz="975">
                <a:solidFill>
                  <a:srgbClr val="8B97A8"/>
                </a:solidFill>
                <a:latin typeface="Source Han Sans CN"/>
                <a:ea typeface="Source Han Sans CN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Source Han Sans CN"/>
                <a:ea typeface="Source Han Sans CN"/>
              </a:rPr>
              <a:t>进展汇报</a:t>
            </a:r>
            <a:endParaRPr/>
          </a:p>
        </p:txBody>
      </p:sp>
      <p:sp>
        <p:nvSpPr>
          <p:cNvPr id="275" name="文本框 309" descr="{&quot;isTemplate&quot;:true,&quot;type&quot;:&quot;text&quot;}"/>
          <p:cNvSpPr txBox="1"/>
          <p:nvPr/>
        </p:nvSpPr>
        <p:spPr>
          <a:xfrm>
            <a:off x="11296650" y="6572250"/>
            <a:ext cx="5143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CN"/>
                <a:ea typeface="Source Han Sans CN"/>
              </a:rPr>
              <a:t>03 / 16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矩形 3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78" name="矩形 312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79" name="矩形 313"/>
          <p:cNvSpPr/>
          <p:nvPr/>
        </p:nvSpPr>
        <p:spPr>
          <a:xfrm>
            <a:off x="381000" y="31432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80" name="文本框 314" descr="{&quot;isTemplate&quot;:true,&quot;type&quot;:&quot;text&quot;}"/>
          <p:cNvSpPr txBox="1"/>
          <p:nvPr/>
        </p:nvSpPr>
        <p:spPr>
          <a:xfrm>
            <a:off x="571500" y="285750"/>
            <a:ext cx="36576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Source Han Sans CN"/>
                <a:ea typeface="Source Han Sans CN"/>
              </a:rPr>
              <a:t>广域巡检场景下的五大挑战</a:t>
            </a:r>
            <a:endParaRPr/>
          </a:p>
        </p:txBody>
      </p:sp>
      <p:sp>
        <p:nvSpPr>
          <p:cNvPr id="281" name="文本框 315" descr="{&quot;isTemplate&quot;:true,&quot;type&quot;:&quot;text&quot;}"/>
          <p:cNvSpPr txBox="1"/>
          <p:nvPr/>
        </p:nvSpPr>
        <p:spPr>
          <a:xfrm>
            <a:off x="571500" y="742950"/>
            <a:ext cx="38862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Source Han Sans CN"/>
                <a:ea typeface="Source Han Sans CN"/>
              </a:rPr>
              <a:t>静态一次性规划失效——分配决策必须在滚动周期内反复重做</a:t>
            </a:r>
            <a:endParaRPr/>
          </a:p>
        </p:txBody>
      </p:sp>
      <p:sp>
        <p:nvSpPr>
          <p:cNvPr id="282" name="矩形: 圆角 316"/>
          <p:cNvSpPr/>
          <p:nvPr/>
        </p:nvSpPr>
        <p:spPr>
          <a:xfrm>
            <a:off x="381000" y="1104900"/>
            <a:ext cx="6286500" cy="3457575"/>
          </a:xfrm>
          <a:prstGeom prst="roundRect">
            <a:avLst>
              <a:gd name="adj" fmla="val 275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pic>
        <p:nvPicPr>
          <p:cNvPr id="283" name="图片 317"/>
          <p:cNvPicPr>
            <a:picLocks noChangeAspect="1"/>
          </p:cNvPicPr>
          <p:nvPr/>
        </p:nvPicPr>
        <p:blipFill>
          <a:blip r:embed="rId1"/>
          <a:srcRect t="7396" b="7396"/>
          <a:stretch>
            <a:fillRect/>
          </a:stretch>
        </p:blipFill>
        <p:spPr>
          <a:xfrm>
            <a:off x="476250" y="1200150"/>
            <a:ext cx="6076950" cy="3267075"/>
          </a:xfrm>
          <a:prstGeom prst="roundRect">
            <a:avLst>
              <a:gd name="adj" fmla="val 1749"/>
            </a:avLst>
          </a:prstGeom>
          <a:ln/>
        </p:spPr>
      </p:pic>
      <p:sp>
        <p:nvSpPr>
          <p:cNvPr id="284" name="文本框 318" descr="{&quot;isTemplate&quot;:true,&quot;type&quot;:&quot;text&quot;}"/>
          <p:cNvSpPr txBox="1"/>
          <p:nvPr/>
        </p:nvSpPr>
        <p:spPr>
          <a:xfrm>
            <a:off x="381000" y="4676775"/>
            <a:ext cx="6286500" cy="819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左图为本文方法在滚动协议下的一次</a:t>
            </a:r>
            <a:r>
              <a:rPr lang="zh-CN" sz="1050" b="1">
                <a:solidFill>
                  <a:srgbClr val="4A5568"/>
                </a:solidFill>
                <a:latin typeface="Source Han Sans CN"/>
                <a:ea typeface="Source Han Sans CN"/>
              </a:rPr>
              <a:t>真实运行轨迹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（任务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×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周期状态矩阵）：任务陆续到达（灰）→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池内待处理（橙）→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被选择执行并完成（绿）。任务流持续到来、部分任务滞留数个周期，正是右侧五类挑战共同作用的直接体现。</a:t>
            </a:r>
            <a:endParaRPr/>
          </a:p>
        </p:txBody>
      </p:sp>
      <p:sp>
        <p:nvSpPr>
          <p:cNvPr id="285" name="矩形: 圆角 319"/>
          <p:cNvSpPr/>
          <p:nvPr/>
        </p:nvSpPr>
        <p:spPr>
          <a:xfrm>
            <a:off x="6972300" y="1104900"/>
            <a:ext cx="4876800" cy="981075"/>
          </a:xfrm>
          <a:prstGeom prst="roundRect">
            <a:avLst>
              <a:gd name="adj" fmla="val 7767"/>
            </a:avLst>
          </a:prstGeom>
          <a:solidFill>
            <a:srgbClr val="F0F5F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86" name="任意多边形: 形状 320"/>
          <p:cNvSpPr/>
          <p:nvPr/>
        </p:nvSpPr>
        <p:spPr>
          <a:xfrm>
            <a:off x="6972300" y="1104900"/>
            <a:ext cx="4876800" cy="981075"/>
          </a:xfrm>
          <a:custGeom>
            <a:avLst/>
            <a:gdLst/>
            <a:ahLst/>
            <a:cxnLst/>
            <a:rect l="0" t="0" r="0" b="0"/>
            <a:pathLst>
              <a:path w="512" h="103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9"/>
                </a:lnTo>
                <a:cubicBezTo>
                  <a:pt x="4" y="101"/>
                  <a:pt x="5" y="103"/>
                  <a:pt x="7" y="103"/>
                </a:cubicBezTo>
                <a:cubicBezTo>
                  <a:pt x="3" y="103"/>
                  <a:pt x="0" y="99"/>
                  <a:pt x="0" y="9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87" name="矩形: 圆角 321"/>
          <p:cNvSpPr/>
          <p:nvPr/>
        </p:nvSpPr>
        <p:spPr>
          <a:xfrm>
            <a:off x="7124700" y="12192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88" name="文本框 322" descr="{&quot;isTemplate&quot;:true,&quot;type&quot;:&quot;text&quot;}"/>
          <p:cNvSpPr txBox="1"/>
          <p:nvPr/>
        </p:nvSpPr>
        <p:spPr>
          <a:xfrm>
            <a:off x="7219950" y="1266825"/>
            <a:ext cx="952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CN"/>
                <a:ea typeface="Source Han Sans CN"/>
              </a:rPr>
              <a:t>1</a:t>
            </a:r>
            <a:endParaRPr/>
          </a:p>
        </p:txBody>
      </p:sp>
      <p:sp>
        <p:nvSpPr>
          <p:cNvPr id="289" name="文本框 323" descr="{&quot;isTemplate&quot;:true,&quot;type&quot;:&quot;text&quot;}"/>
          <p:cNvSpPr txBox="1"/>
          <p:nvPr/>
        </p:nvSpPr>
        <p:spPr>
          <a:xfrm>
            <a:off x="7543800" y="1219200"/>
            <a:ext cx="4114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Source Han Sans CN"/>
                <a:ea typeface="Source Han Sans CN"/>
              </a:rPr>
              <a:t>任务动态到达与持续滞留</a:t>
            </a:r>
            <a:endParaRPr/>
          </a:p>
        </p:txBody>
      </p:sp>
      <p:sp>
        <p:nvSpPr>
          <p:cNvPr id="290" name="文本框 324" descr="{&quot;isTemplate&quot;:true,&quot;type&quot;:&quot;text&quot;}"/>
          <p:cNvSpPr txBox="1"/>
          <p:nvPr/>
        </p:nvSpPr>
        <p:spPr>
          <a:xfrm>
            <a:off x="7543800" y="1466850"/>
            <a:ext cx="411480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任务池按周期演化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T(t+1)=remain∪new∪release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，滞留任务需要等待补偿，不能静默丢失</a:t>
            </a:r>
            <a:endParaRPr/>
          </a:p>
        </p:txBody>
      </p:sp>
      <p:sp>
        <p:nvSpPr>
          <p:cNvPr id="291" name="矩形: 圆角 325"/>
          <p:cNvSpPr/>
          <p:nvPr/>
        </p:nvSpPr>
        <p:spPr>
          <a:xfrm>
            <a:off x="6972300" y="2190750"/>
            <a:ext cx="4876800" cy="981075"/>
          </a:xfrm>
          <a:prstGeom prst="roundRect">
            <a:avLst>
              <a:gd name="adj" fmla="val 7767"/>
            </a:avLst>
          </a:prstGeom>
          <a:solidFill>
            <a:srgbClr val="F0F5F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92" name="任意多边形: 形状 326"/>
          <p:cNvSpPr/>
          <p:nvPr/>
        </p:nvSpPr>
        <p:spPr>
          <a:xfrm>
            <a:off x="6972300" y="2190750"/>
            <a:ext cx="4876800" cy="981075"/>
          </a:xfrm>
          <a:custGeom>
            <a:avLst/>
            <a:gdLst/>
            <a:ahLst/>
            <a:cxnLst/>
            <a:rect l="0" t="0" r="0" b="0"/>
            <a:pathLst>
              <a:path w="512" h="103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9"/>
                </a:lnTo>
                <a:cubicBezTo>
                  <a:pt x="4" y="101"/>
                  <a:pt x="5" y="103"/>
                  <a:pt x="7" y="103"/>
                </a:cubicBezTo>
                <a:cubicBezTo>
                  <a:pt x="3" y="103"/>
                  <a:pt x="0" y="99"/>
                  <a:pt x="0" y="9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93" name="矩形: 圆角 327"/>
          <p:cNvSpPr/>
          <p:nvPr/>
        </p:nvSpPr>
        <p:spPr>
          <a:xfrm>
            <a:off x="7124700" y="23050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94" name="文本框 328" descr="{&quot;isTemplate&quot;:true,&quot;type&quot;:&quot;text&quot;}"/>
          <p:cNvSpPr txBox="1"/>
          <p:nvPr/>
        </p:nvSpPr>
        <p:spPr>
          <a:xfrm>
            <a:off x="7219950" y="2352675"/>
            <a:ext cx="952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CN"/>
                <a:ea typeface="Source Han Sans CN"/>
              </a:rPr>
              <a:t>2</a:t>
            </a:r>
            <a:endParaRPr/>
          </a:p>
        </p:txBody>
      </p:sp>
      <p:sp>
        <p:nvSpPr>
          <p:cNvPr id="295" name="文本框 329" descr="{&quot;isTemplate&quot;:true,&quot;type&quot;:&quot;text&quot;}"/>
          <p:cNvSpPr txBox="1"/>
          <p:nvPr/>
        </p:nvSpPr>
        <p:spPr>
          <a:xfrm>
            <a:off x="7543800" y="2305050"/>
            <a:ext cx="4114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Source Han Sans CN"/>
                <a:ea typeface="Source Han Sans CN"/>
              </a:rPr>
              <a:t>无人机可用状态动态变化</a:t>
            </a:r>
            <a:endParaRPr/>
          </a:p>
        </p:txBody>
      </p:sp>
      <p:sp>
        <p:nvSpPr>
          <p:cNvPr id="296" name="文本框 330" descr="{&quot;isTemplate&quot;:true,&quot;type&quot;:&quot;text&quot;}"/>
          <p:cNvSpPr txBox="1"/>
          <p:nvPr/>
        </p:nvSpPr>
        <p:spPr>
          <a:xfrm>
            <a:off x="7543800" y="2552700"/>
            <a:ext cx="411480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起降、充电、故障使可用集每周期不同，规划必须基于当前真实状态而非初始快照</a:t>
            </a:r>
            <a:endParaRPr/>
          </a:p>
        </p:txBody>
      </p:sp>
      <p:sp>
        <p:nvSpPr>
          <p:cNvPr id="297" name="矩形: 圆角 331"/>
          <p:cNvSpPr/>
          <p:nvPr/>
        </p:nvSpPr>
        <p:spPr>
          <a:xfrm>
            <a:off x="6972300" y="3286125"/>
            <a:ext cx="4876800" cy="981075"/>
          </a:xfrm>
          <a:prstGeom prst="roundRect">
            <a:avLst>
              <a:gd name="adj" fmla="val 7767"/>
            </a:avLst>
          </a:prstGeom>
          <a:solidFill>
            <a:srgbClr val="F0F5F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98" name="任意多边形: 形状 332"/>
          <p:cNvSpPr/>
          <p:nvPr/>
        </p:nvSpPr>
        <p:spPr>
          <a:xfrm>
            <a:off x="6972300" y="3286125"/>
            <a:ext cx="4876800" cy="981075"/>
          </a:xfrm>
          <a:custGeom>
            <a:avLst/>
            <a:gdLst/>
            <a:ahLst/>
            <a:cxnLst/>
            <a:rect l="0" t="0" r="0" b="0"/>
            <a:pathLst>
              <a:path w="512" h="103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9"/>
                </a:lnTo>
                <a:cubicBezTo>
                  <a:pt x="4" y="101"/>
                  <a:pt x="5" y="103"/>
                  <a:pt x="7" y="103"/>
                </a:cubicBezTo>
                <a:cubicBezTo>
                  <a:pt x="3" y="103"/>
                  <a:pt x="0" y="99"/>
                  <a:pt x="0" y="9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99" name="矩形: 圆角 333"/>
          <p:cNvSpPr/>
          <p:nvPr/>
        </p:nvSpPr>
        <p:spPr>
          <a:xfrm>
            <a:off x="7124700" y="34004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300" name="文本框 334" descr="{&quot;isTemplate&quot;:true,&quot;type&quot;:&quot;text&quot;}"/>
          <p:cNvSpPr txBox="1"/>
          <p:nvPr/>
        </p:nvSpPr>
        <p:spPr>
          <a:xfrm>
            <a:off x="7219950" y="3448050"/>
            <a:ext cx="952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CN"/>
                <a:ea typeface="Source Han Sans CN"/>
              </a:rPr>
              <a:t>3</a:t>
            </a:r>
            <a:endParaRPr/>
          </a:p>
        </p:txBody>
      </p:sp>
      <p:sp>
        <p:nvSpPr>
          <p:cNvPr id="301" name="文本框 335" descr="{&quot;isTemplate&quot;:true,&quot;type&quot;:&quot;text&quot;}"/>
          <p:cNvSpPr txBox="1"/>
          <p:nvPr/>
        </p:nvSpPr>
        <p:spPr>
          <a:xfrm>
            <a:off x="7543800" y="3400425"/>
            <a:ext cx="4114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Source Han Sans CN"/>
                <a:ea typeface="Source Han Sans CN"/>
              </a:rPr>
              <a:t>多机巢起降与终点选择</a:t>
            </a:r>
            <a:endParaRPr/>
          </a:p>
        </p:txBody>
      </p:sp>
      <p:sp>
        <p:nvSpPr>
          <p:cNvPr id="302" name="文本框 336" descr="{&quot;isTemplate&quot;:true,&quot;type&quot;:&quot;text&quot;}"/>
          <p:cNvSpPr txBox="1"/>
          <p:nvPr/>
        </p:nvSpPr>
        <p:spPr>
          <a:xfrm>
            <a:off x="7543800" y="3648075"/>
            <a:ext cx="411480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异源起飞、异巢终止：起点由停靠状态确定，终点机巢是决策变量且受泊位容量约束</a:t>
            </a:r>
            <a:endParaRPr/>
          </a:p>
        </p:txBody>
      </p:sp>
      <p:sp>
        <p:nvSpPr>
          <p:cNvPr id="303" name="矩形: 圆角 337"/>
          <p:cNvSpPr/>
          <p:nvPr/>
        </p:nvSpPr>
        <p:spPr>
          <a:xfrm>
            <a:off x="6972300" y="4371975"/>
            <a:ext cx="4876800" cy="981075"/>
          </a:xfrm>
          <a:prstGeom prst="roundRect">
            <a:avLst>
              <a:gd name="adj" fmla="val 7767"/>
            </a:avLst>
          </a:prstGeom>
          <a:solidFill>
            <a:srgbClr val="F0F5F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304" name="任意多边形: 形状 338"/>
          <p:cNvSpPr/>
          <p:nvPr/>
        </p:nvSpPr>
        <p:spPr>
          <a:xfrm>
            <a:off x="6972300" y="4371975"/>
            <a:ext cx="4876800" cy="981075"/>
          </a:xfrm>
          <a:custGeom>
            <a:avLst/>
            <a:gdLst/>
            <a:ahLst/>
            <a:cxnLst/>
            <a:rect l="0" t="0" r="0" b="0"/>
            <a:pathLst>
              <a:path w="512" h="103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9"/>
                </a:lnTo>
                <a:cubicBezTo>
                  <a:pt x="4" y="101"/>
                  <a:pt x="5" y="103"/>
                  <a:pt x="7" y="103"/>
                </a:cubicBezTo>
                <a:cubicBezTo>
                  <a:pt x="3" y="103"/>
                  <a:pt x="0" y="99"/>
                  <a:pt x="0" y="9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305" name="矩形: 圆角 339"/>
          <p:cNvSpPr/>
          <p:nvPr/>
        </p:nvSpPr>
        <p:spPr>
          <a:xfrm>
            <a:off x="7124700" y="44862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306" name="文本框 340" descr="{&quot;isTemplate&quot;:true,&quot;type&quot;:&quot;text&quot;}"/>
          <p:cNvSpPr txBox="1"/>
          <p:nvPr/>
        </p:nvSpPr>
        <p:spPr>
          <a:xfrm>
            <a:off x="7219950" y="4533900"/>
            <a:ext cx="952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CN"/>
                <a:ea typeface="Source Han Sans CN"/>
              </a:rPr>
              <a:t>4</a:t>
            </a:r>
            <a:endParaRPr/>
          </a:p>
        </p:txBody>
      </p:sp>
      <p:sp>
        <p:nvSpPr>
          <p:cNvPr id="307" name="文本框 341" descr="{&quot;isTemplate&quot;:true,&quot;type&quot;:&quot;text&quot;}"/>
          <p:cNvSpPr txBox="1"/>
          <p:nvPr/>
        </p:nvSpPr>
        <p:spPr>
          <a:xfrm>
            <a:off x="7543800" y="4486275"/>
            <a:ext cx="4114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Source Han Sans CN"/>
                <a:ea typeface="Source Han Sans CN"/>
              </a:rPr>
              <a:t>任务数量与执行能力不匹配</a:t>
            </a:r>
            <a:endParaRPr/>
          </a:p>
        </p:txBody>
      </p:sp>
      <p:sp>
        <p:nvSpPr>
          <p:cNvPr id="308" name="文本框 342" descr="{&quot;isTemplate&quot;:true,&quot;type&quot;:&quot;text&quot;}"/>
          <p:cNvSpPr txBox="1"/>
          <p:nvPr/>
        </p:nvSpPr>
        <p:spPr>
          <a:xfrm>
            <a:off x="7543800" y="4733925"/>
            <a:ext cx="411480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任务数远超单周期能力承载，既不能全量求解，也不能非物理地拒绝任务</a:t>
            </a:r>
            <a:endParaRPr/>
          </a:p>
        </p:txBody>
      </p:sp>
      <p:sp>
        <p:nvSpPr>
          <p:cNvPr id="309" name="矩形: 圆角 343"/>
          <p:cNvSpPr/>
          <p:nvPr/>
        </p:nvSpPr>
        <p:spPr>
          <a:xfrm>
            <a:off x="6972300" y="5457825"/>
            <a:ext cx="4876800" cy="733425"/>
          </a:xfrm>
          <a:prstGeom prst="roundRect">
            <a:avLst>
              <a:gd name="adj" fmla="val 10390"/>
            </a:avLst>
          </a:prstGeom>
          <a:solidFill>
            <a:srgbClr val="F0F5F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310" name="任意多边形: 形状 344"/>
          <p:cNvSpPr/>
          <p:nvPr/>
        </p:nvSpPr>
        <p:spPr>
          <a:xfrm>
            <a:off x="6972300" y="5457825"/>
            <a:ext cx="4876800" cy="733425"/>
          </a:xfrm>
          <a:custGeom>
            <a:avLst/>
            <a:gdLst/>
            <a:ahLst/>
            <a:cxnLst/>
            <a:rect l="0" t="0" r="0" b="0"/>
            <a:pathLst>
              <a:path w="512" h="77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3"/>
                </a:lnTo>
                <a:cubicBezTo>
                  <a:pt x="4" y="75"/>
                  <a:pt x="5" y="77"/>
                  <a:pt x="7" y="77"/>
                </a:cubicBezTo>
                <a:cubicBezTo>
                  <a:pt x="3" y="77"/>
                  <a:pt x="0" y="73"/>
                  <a:pt x="0" y="6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311" name="矩形: 圆角 345"/>
          <p:cNvSpPr/>
          <p:nvPr/>
        </p:nvSpPr>
        <p:spPr>
          <a:xfrm>
            <a:off x="7124700" y="55721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312" name="文本框 346" descr="{&quot;isTemplate&quot;:true,&quot;type&quot;:&quot;text&quot;}"/>
          <p:cNvSpPr txBox="1"/>
          <p:nvPr/>
        </p:nvSpPr>
        <p:spPr>
          <a:xfrm>
            <a:off x="7219950" y="5619750"/>
            <a:ext cx="952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CN"/>
                <a:ea typeface="Source Han Sans CN"/>
              </a:rPr>
              <a:t>5</a:t>
            </a:r>
            <a:endParaRPr/>
          </a:p>
        </p:txBody>
      </p:sp>
      <p:sp>
        <p:nvSpPr>
          <p:cNvPr id="313" name="文本框 347" descr="{&quot;isTemplate&quot;:true,&quot;type&quot;:&quot;text&quot;}"/>
          <p:cNvSpPr txBox="1"/>
          <p:nvPr/>
        </p:nvSpPr>
        <p:spPr>
          <a:xfrm>
            <a:off x="7543800" y="5572125"/>
            <a:ext cx="4114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Source Han Sans CN"/>
                <a:ea typeface="Source Han Sans CN"/>
              </a:rPr>
              <a:t>任务价值与空间执行代价并存</a:t>
            </a:r>
            <a:endParaRPr/>
          </a:p>
        </p:txBody>
      </p:sp>
      <p:sp>
        <p:nvSpPr>
          <p:cNvPr id="314" name="文本框 348" descr="{&quot;isTemplate&quot;:true,&quot;type&quot;:&quot;text&quot;}"/>
          <p:cNvSpPr txBox="1"/>
          <p:nvPr/>
        </p:nvSpPr>
        <p:spPr>
          <a:xfrm>
            <a:off x="7543800" y="5819775"/>
            <a:ext cx="41148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高价值任务可能伴随高三维航程代价，收益与代价必须放在一起权衡</a:t>
            </a:r>
            <a:endParaRPr/>
          </a:p>
        </p:txBody>
      </p:sp>
      <p:sp>
        <p:nvSpPr>
          <p:cNvPr id="315" name="矩形 349"/>
          <p:cNvSpPr/>
          <p:nvPr/>
        </p:nvSpPr>
        <p:spPr>
          <a:xfrm>
            <a:off x="0" y="6448425"/>
            <a:ext cx="12192000" cy="4095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316" name="任意多边形: 形状 350"/>
          <p:cNvSpPr/>
          <p:nvPr/>
        </p:nvSpPr>
        <p:spPr>
          <a:xfrm>
            <a:off x="0" y="6438900"/>
            <a:ext cx="12192000" cy="419100"/>
          </a:xfrm>
          <a:custGeom>
            <a:avLst/>
            <a:gdLst/>
            <a:ahLst/>
            <a:cxnLst/>
            <a:rect l="0" t="0" r="0" b="0"/>
            <a:pathLst>
              <a:path w="1280" h="4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317" name="文本框 351" descr="{&quot;isTemplate&quot;:true,&quot;type&quot;:&quot;text&quot;}"/>
          <p:cNvSpPr txBox="1"/>
          <p:nvPr/>
        </p:nvSpPr>
        <p:spPr>
          <a:xfrm>
            <a:off x="381000" y="6581775"/>
            <a:ext cx="28289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CN"/>
                <a:ea typeface="Source Han Sans CN"/>
              </a:rPr>
              <a:t>动态滚动的多机巢多无人机协同任务分配</a:t>
            </a:r>
            <a:r>
              <a:rPr lang="en-US" sz="975">
                <a:solidFill>
                  <a:srgbClr val="8B97A8"/>
                </a:solidFill>
                <a:latin typeface="Source Han Sans CN"/>
                <a:ea typeface="Source Han Sans CN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Source Han Sans CN"/>
                <a:ea typeface="Source Han Sans CN"/>
              </a:rPr>
              <a:t>进展汇报</a:t>
            </a:r>
            <a:endParaRPr/>
          </a:p>
        </p:txBody>
      </p:sp>
      <p:sp>
        <p:nvSpPr>
          <p:cNvPr id="318" name="文本框 352" descr="{&quot;isTemplate&quot;:true,&quot;type&quot;:&quot;text&quot;}"/>
          <p:cNvSpPr txBox="1"/>
          <p:nvPr/>
        </p:nvSpPr>
        <p:spPr>
          <a:xfrm>
            <a:off x="11296650" y="6572250"/>
            <a:ext cx="5143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CN"/>
                <a:ea typeface="Source Han Sans CN"/>
              </a:rPr>
              <a:t>04 / 16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19" name="" descr="&lt;Slide style={{ width: 1280, height: 720, background: '#FFFFFF', position: 'relative', fontFamily: 'Source Han Sans CN, Microsoft YaHei, sans-serif' }}&gt;&#10;  &lt;Box style={{ position: 'absolute', top: 0, left: 0, width: 1280, height: 12, background: '#1E4FA8' }} /&gt;&#10;  &lt;Box style={{ position: 'absolute', top: 28, left: 40, flexDirection: 'row', alignItems: 'center', gap: 14 }}&gt;&#10;    &lt;Box style={{ width: 6, height: 34, background: '#1E4FA8' }} /&gt;&#10;    &lt;Text style={{ fontSize: 32, fontWeight: 'bold', color: '#0E3F8C' }}&gt;总体求解框架：分层滚动闭环&lt;/Text&gt;&#10;  &lt;/Box&gt;&#10;  &lt;Box style={{ position: 'absolute', top: 74, left: 60, padding: '6px 18px', background: '#0E3F8C', borderRadius: 6 }}&gt;&#10;    &lt;Text style={{ fontSize: 16, fontWeight: 'bold', color: '#FFFFFF' }}&gt;核心主张：快速任务选择缩空间 + 精细 MUAS 组合优化&lt;/Text&gt;&#10;  &lt;/Box&gt;&#10;&#10;  &lt;Box style={{ position: 'absolute', top: 112, left: 60 }}&gt;&#10;    &lt;svg width={1160} height={296} viewBox='0 0 1160 296'&gt;&#10;      &lt;rect x='18' y='102' width='142' height='92' rx='10' fill='#F0F5FC' stroke='#1E4FA8' strokeWidth='1.2' /&gt;&#10;      &lt;text x='89' y='140' font-size='16' font-weight='bold' fill='#0E3F8C' text-anchor='middle'&gt;动态任务池&lt;/text&gt;&#10;      &lt;text x='89' y='166' font-size='13' fill='#4A5568' text-anchor='middle'&gt;滚动到达 · 滞留留池&lt;/text&gt;&#10;      &lt;line x1='160' y1='148' x2='216' y2='148' stroke='#1E4FA8' strokeWidth='1.8' markerEnd='url(#ah1)' /&gt;&#10;      &lt;rect x='220' y='30' width='332' height='236' rx='12' fill='#FFFFFF' stroke='#1E4FA8' strokeWidth='1.2' /&gt;&#10;      &lt;rect x='220' y='30' width='332' height='44' rx='12' fill='#1E4FA8' /&gt;&#10;      &lt;rect x='220' y='58' width='332' height='16' fill='#1E4FA8' /&gt;&#10;      &lt;text x='386' y='58' font-size='16' font-weight='bold' fill='#FFFFFF' text-anchor='middle'&gt;第一阶段 · 动态任务选择&lt;/text&gt;&#10;      &lt;rect x='240' y='86' width='292' height='38' rx='7' fill='#F0F5FC' stroke='#3D7BD9' strokeWidth='0.8' /&gt;&#10;      &lt;text x='386' y='110' font-size='13.5' fill='#1A2230' text-anchor='middle'&gt;① 优先级排序 P_i（五因素）&lt;/text&gt;&#10;      &lt;rect x='240' y='130' width='292' height='38' rx='7' fill='#F0F5FC' stroke='#3D7BD9' strokeWidth='0.8' /&gt;&#10;      &lt;text x='386' y='154' font-size='13.5' fill='#1A2230' text-anchor='middle'&gt;② 规模：n_cand富 / n_sel卡cap&lt;/text&gt;&#10;      &lt;rect x='240' y='174' width='292' height='38' rx='7' fill='#F0F5FC' stroke='#3D7BD9' strokeWidth='0.8' /&gt;&#10;      &lt;text x='386' y='198' font-size='13.5' fill='#1A2230' text-anchor='middle'&gt;③ 边际增益 Δ = ΔB / ΔC&lt;/text&gt;&#10;      &lt;rect x='240' y='218' width='292' height='38' rx='7' fill='#F0F5FC' stroke='#3D7BD9' strokeWidth='0.8' /&gt;&#10;      &lt;text x='386' y='242' font-size='13.5' fill='#1A2230' text-anchor='middle'&gt;两道闸门 prefilter / postcheck&lt;/text&gt;&#10;      &lt;line x1='552' y1='237' x2='606' y2='237' stroke='#1E4FA8' strokeWidth='1.8' markerEnd='url(#ah1)' /&gt;&#10;      &lt;text x='579' y='225' font-size='13' font-weight='bold' fill='#1E4FA8' text-anchor='middle'&gt;选择集&lt;/text&gt;&#10;      &lt;rect x='610' y='30' width='332' height='236' rx='12' fill='#FFFFFF' stroke='#1E4FA8' strokeWidth='1.2' /&gt;&#10;      &lt;rect x='610' y='30' width='332' height='44' rx='12' fill='#0E3F8C' /&gt;&#10;      &lt;rect x='610' y='58' width='332' height='16' fill='#0E3F8C' /&gt;&#10;      &lt;text x='776' y='58' font-size='16' font-weight='bold' fill='#FFFFFF' text-anchor='middle'&gt;第二阶段 · 选择性 MUAS&lt;/text&gt;&#10;      &lt;rect x='630' y='90' width='292' height='44' rx='7' fill='#F0F5FC' stroke='#3D7BD9' strokeWidth='0.8' /&gt;&#10;      &lt;text x='776' y='118' font-size='14' fill='#1A2230' text-anchor='middle'&gt;统一编码 + DMDE 进化搜索&lt;/text&gt;&#10;      &lt;line x1='776' y1='134' x2='776' y2='148' stroke='#3D7BD9' strokeWidth='1.2' markerEnd='url(#ah2)' /&gt;&#10;      &lt;rect x='630' y='148' width='292' height='44' rx='7' fill='#F0F5FC' stroke='#3D7BD9' strokeWidth='0.8' /&gt;&#10;      &lt;text x='776' y='176' font-size='14' fill='#1A2230' text-anchor='middle'&gt;解码 + 可行性修复（Lamarckian 回写）&lt;/text&gt;&#10;      &lt;line x1='776' y1='192' x2='776' y2='206' stroke='#3D7BD9' strokeWidth='1.2' markerEnd='url(#ah2)' /&gt;&#10;      &lt;rect x='630' y='206' width='292' height='44' rx='7' fill='#F0F5FC' stroke='#3D7BD9' strokeWidth='0.8' /&gt;&#10;      &lt;text x='776' y='234' font-size='14' fill='#1A2230' text-anchor='middle'&gt;终点机巢：最小费用流精确求解&lt;/text&gt;&#10;      &lt;line x1='942' y1='148' x2='996' y2='148' stroke='#1E4FA8' strokeWidth='1.8' markerEnd='url(#ah1)' /&gt;&#10;      &lt;rect x='1000' y='102' width='142' height='92' rx='10' fill='#E8EFF8' stroke='#1E4FA8' strokeWidth='1.2' /&gt;&#10;      &lt;text x='1071' y='140' font-size='16' font-weight='bold' fill='#0E3F8C' text-anchor='middle'&gt;执行与反馈&lt;/text&gt;&#10;      &lt;text x='1071' y='166' font-size='13' fill='#4A5568' text-anchor='middle'&gt;状态更新 · 事件重规划&lt;/text&gt;&#10;      &lt;path d='M 1071,194 L 1071,266 L 89,266 L 89,198' fill='none' stroke='#3D7BD9' strokeWidth='1.6' strokeDasharray='7 5' markerEnd='url(#ah1)' /&gt;&#10;      &lt;text x='580' y='286' font-size='14' fill='#3D7BD9' text-anchor='middle'&gt;周期 t+1：任务池更新 T(t+1) = remain ∪ new ∪ release，UAV 状态同步更新&lt;/text&gt;&#10;      &lt;defs&gt;&#10;        &lt;marker id='ah1' viewBox='0 0 10 10' refX='8' refY='5' markerWidth='7' markerHeight='7' orient='auto-start-reverse'&gt;&#10;          &lt;path d='M2 1L8 5L2 9' fill='none' stroke='#1E4FA8' strokeWidth='1.6' strokeLinecap='round' strokeLinejoin='round' /&gt;&#10;        &lt;/marker&gt;&#10;        &lt;marker id='ah2' viewBox='0 0 10 10' refX='8' refY='5' markerWidth='6' markerHeight='6' orient='auto-start-reverse'&gt;&#10;          &lt;path d='M2 1L8 5L2 9' fill='none' stroke='#3D7BD9' strokeWidth='1.4' strokeLinecap='round' strokeLinejoin='round' /&gt;&#10;        &lt;/marker&gt;&#10;      &lt;/defs&gt;&#10;    &lt;/svg&gt;&#10;  &lt;/Box&gt;&#10;&#10;  &lt;Box style={{ position: 'absolute', top: 442, left: 60, width: 1160, flexDirection: 'row', gap: 20 }}&gt;&#10;    {[&#10;      { t: '第一阶段：轻量不构造成组合问题', d: '只为「值得考虑的任务」快速排序与筛选，落选任务留池下周期再评——避免对整个动态任务池做昂贵组合搜索，同时保住与执行代价的联系。', tag: '缩空间' },&#10;      { t: '第二阶段：四类决策联合优化', d: '任务是否执行 y × 归属 x × 访问顺序 π × 终点机巢 z 联合确定；起点固定、终点可选、允许部分空闲——这是多机巢动态滚动的 MTSP 变体。', tag: '精优化' },&#10;      { t: '滚动闭环：能力范围内做更多', d: '完成出池、未选留池、故障释放、新任务到达；迟到不等于废飞，完成口径只认物理约束——保证长程运行下的任务不丢失。', tag: '闭环运行' },&#10;    ].map((c) =&gt; (&#10;      &lt;Box key={c.tag} style={{ flex: 1, background: '#F7F9FC', border: '1px solid #D6DCE5', borderTop: '4px solid #1E4FA8', borderRadius: 10, padding: '14px 18px', flexDirection: 'column' }}&gt;&#10;        &lt;Box style={{ flexDirection: 'row', justifyContent: 'space-between', alignItems: 'center' }}&gt;&#10;          &lt;Text style={{ fontSize: 17, fontWeight: 'bold', color: '#0E3F8C' }}&gt;{c.t}&lt;/Text&gt;&#10;          &lt;Text style={{ fontSize: 13, fontWeight: 'bold', color: '#FFFFFF', background: '#3D7BD9', padding: '3px 10px', borderRadius: 10 }}&gt;{c.tag}&lt;/Text&gt;&#10;        &lt;/Box&gt;&#10;        &lt;Text style={{ fontSize: 14, color: '#4A5568', lineHeight: 1.6, marginTop: 8 }}&gt;{c.d}&lt;/Text&gt;&#10;      &lt;/Box&gt;&#10;    ))}&#10;  &lt;/Box&gt;&#10;&#10;  &lt;Box style={{ position: 'absolute', bottom: 0, left: 0, width: 1280, height: 44, background: '#F7F9FC', flexDirection: 'row', justifyContent: 'space-between', alignItems: 'center', padding: '0 40px', borderTop: '1px solid #E5E7EB' }}&gt;&#10;    &lt;Text style={{ fontSize: 13, color: '#8B97A8' }}&gt;动态滚动的多机巢多无人机协同任务分配 · 进展汇报&lt;/Text&gt;&#10;    &lt;Text style={{ fontSize: 15, color: '#1E4FA8', fontWeight: 'bold' }}&gt;05 / 16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1" name=""/>
          <p:cNvSpPr/>
          <p:nvPr/>
        </p:nvSpPr>
        <p:spPr>
          <a:xfrm rot="0" flipH="0" flipV="0">
            <a:off x="0" y="0"/>
            <a:ext cx="12192000" cy="1143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2" name=""/>
          <p:cNvSpPr/>
          <p:nvPr/>
        </p:nvSpPr>
        <p:spPr>
          <a:xfrm rot="0" flipH="0" flipV="0">
            <a:off x="381000" y="29527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571500" y="266700"/>
            <a:ext cx="39624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Source Han Sans CN"/>
                <a:ea typeface="Source Han Sans CN"/>
              </a:rPr>
              <a:t>总体求解框架：分层滚动闭环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571500" y="704850"/>
            <a:ext cx="4171950" cy="304800"/>
          </a:xfrm>
          <a:prstGeom prst="roundRect">
            <a:avLst>
              <a:gd name="adj" fmla="val 1875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742950" y="762000"/>
            <a:ext cx="3829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Source Han Sans CN"/>
                <a:ea typeface="Source Han Sans CN"/>
              </a:rPr>
              <a:t>核心主张：快速任务选择缩空间</a:t>
            </a:r>
            <a:r>
              <a:rPr lang="en-US" sz="1200" b="1">
                <a:solidFill>
                  <a:srgbClr val="FFFFFF"/>
                </a:solidFill>
                <a:latin typeface="Source Han Sans CN"/>
                <a:ea typeface="Source Han Sans CN"/>
              </a:rPr>
              <a:t xml:space="preserve"> + </a:t>
            </a:r>
            <a:r>
              <a:rPr lang="zh-CN" sz="1200" b="1">
                <a:solidFill>
                  <a:srgbClr val="FFFFFF"/>
                </a:solidFill>
                <a:latin typeface="Source Han Sans CN"/>
                <a:ea typeface="Source Han Sans CN"/>
              </a:rPr>
              <a:t>精细</a:t>
            </a:r>
            <a:r>
              <a:rPr lang="en-US" sz="1200" b="1">
                <a:solidFill>
                  <a:srgbClr val="FFFFFF"/>
                </a:solidFill>
                <a:latin typeface="Source Han Sans CN"/>
                <a:ea typeface="Source Han Sans CN"/>
              </a:rPr>
              <a:t xml:space="preserve"> MUAS </a:t>
            </a:r>
            <a:r>
              <a:rPr lang="zh-CN" sz="1200" b="1">
                <a:solidFill>
                  <a:srgbClr val="FFFFFF"/>
                </a:solidFill>
                <a:latin typeface="Source Han Sans CN"/>
                <a:ea typeface="Source Han Sans CN"/>
              </a:rPr>
              <a:t>组合优化</a:t>
            </a:r>
            <a:endParaRPr/>
          </a:p>
        </p:txBody>
      </p:sp>
      <p:pic>
        <p:nvPicPr>
          <p:cNvPr id="3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1066800"/>
            <a:ext cx="11049000" cy="2819400"/>
          </a:xfrm>
          <a:prstGeom prst="rect">
            <a:avLst/>
          </a:prstGeom>
          <a:ln/>
        </p:spPr>
      </p:pic>
      <p:sp>
        <p:nvSpPr>
          <p:cNvPr id="327" name=""/>
          <p:cNvSpPr/>
          <p:nvPr/>
        </p:nvSpPr>
        <p:spPr>
          <a:xfrm rot="0" flipH="0" flipV="0">
            <a:off x="571500" y="4248150"/>
            <a:ext cx="3552825" cy="1362075"/>
          </a:xfrm>
          <a:prstGeom prst="roundRect">
            <a:avLst>
              <a:gd name="adj" fmla="val 6993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28" name=""/>
          <p:cNvSpPr/>
          <p:nvPr/>
        </p:nvSpPr>
        <p:spPr>
          <a:xfrm rot="0" flipH="0" flipV="0">
            <a:off x="571500" y="4248150"/>
            <a:ext cx="3552825" cy="1362075"/>
          </a:xfrm>
          <a:custGeom>
            <a:pathLst>
              <a:path w="373" h="143">
                <a:moveTo>
                  <a:pt x="363" y="0"/>
                </a:moveTo>
                <a:cubicBezTo>
                  <a:pt x="368" y="0"/>
                  <a:pt x="372" y="4"/>
                  <a:pt x="373" y="8"/>
                </a:cubicBezTo>
                <a:cubicBezTo>
                  <a:pt x="372" y="6"/>
                  <a:pt x="370" y="4"/>
                  <a:pt x="367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3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742950" y="4391025"/>
            <a:ext cx="2428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Source Han Sans CN"/>
                <a:ea typeface="Source Han Sans CN"/>
              </a:rPr>
              <a:t>第一阶段：轻量不构造成组合问题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3390900" y="4381500"/>
            <a:ext cx="561975" cy="209550"/>
          </a:xfrm>
          <a:prstGeom prst="roundRect">
            <a:avLst>
              <a:gd name="adj" fmla="val 45455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3390900" y="4381500"/>
            <a:ext cx="561975" cy="209550"/>
          </a:xfrm>
          <a:prstGeom prst="rect"/>
        </p:spPr>
        <p:txBody>
          <a:bodyPr wrap="none" lIns="71438" tIns="21431" rIns="71438" bIns="21431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highlight>
                  <a:srgbClr val="3D7BD9"/>
                </a:highlight>
                <a:latin typeface="Source Han Sans CN"/>
                <a:ea typeface="Source Han Sans CN"/>
              </a:rPr>
              <a:t>缩空间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742950" y="4667250"/>
            <a:ext cx="3209925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只为「值得考虑的任务」快速排序与筛选，落选任务留池下周期再评——避免对整个动态任务池做昂贵组合搜索，同时保住与执行代价的联系。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4314825" y="4248150"/>
            <a:ext cx="3562350" cy="1362075"/>
          </a:xfrm>
          <a:prstGeom prst="roundRect">
            <a:avLst>
              <a:gd name="adj" fmla="val 6993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34" name=""/>
          <p:cNvSpPr/>
          <p:nvPr/>
        </p:nvSpPr>
        <p:spPr>
          <a:xfrm rot="0" flipH="0" flipV="0">
            <a:off x="4314825" y="4248150"/>
            <a:ext cx="3562350" cy="1362075"/>
          </a:xfrm>
          <a:custGeom>
            <a:pathLst>
              <a:path w="374" h="143">
                <a:moveTo>
                  <a:pt x="364" y="0"/>
                </a:moveTo>
                <a:cubicBezTo>
                  <a:pt x="369" y="0"/>
                  <a:pt x="373" y="4"/>
                  <a:pt x="374" y="8"/>
                </a:cubicBezTo>
                <a:cubicBezTo>
                  <a:pt x="373" y="6"/>
                  <a:pt x="371" y="4"/>
                  <a:pt x="368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4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4486275" y="4391025"/>
            <a:ext cx="2105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Source Han Sans CN"/>
                <a:ea typeface="Source Han Sans CN"/>
              </a:rPr>
              <a:t>第二阶段：四类决策联合优化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7143750" y="4381500"/>
            <a:ext cx="561975" cy="209550"/>
          </a:xfrm>
          <a:prstGeom prst="roundRect">
            <a:avLst>
              <a:gd name="adj" fmla="val 45455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7143750" y="4381500"/>
            <a:ext cx="561975" cy="209550"/>
          </a:xfrm>
          <a:prstGeom prst="rect"/>
        </p:spPr>
        <p:txBody>
          <a:bodyPr wrap="none" lIns="71438" tIns="21431" rIns="71438" bIns="21431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highlight>
                  <a:srgbClr val="3D7BD9"/>
                </a:highlight>
                <a:latin typeface="Source Han Sans CN"/>
                <a:ea typeface="Source Han Sans CN"/>
              </a:rPr>
              <a:t>精优化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4486275" y="4667250"/>
            <a:ext cx="321945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任务是否执行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y ×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归属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x ×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访问顺序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π ×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终点机巢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z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联合确定；起点固定、终点可选、允许部分空闲——这是多机巢动态滚动的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MTSP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变体。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8067675" y="4248150"/>
            <a:ext cx="3552825" cy="1362075"/>
          </a:xfrm>
          <a:prstGeom prst="roundRect">
            <a:avLst>
              <a:gd name="adj" fmla="val 6993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40" name=""/>
          <p:cNvSpPr/>
          <p:nvPr/>
        </p:nvSpPr>
        <p:spPr>
          <a:xfrm rot="0" flipH="0" flipV="0">
            <a:off x="8067675" y="4248150"/>
            <a:ext cx="3552825" cy="1362075"/>
          </a:xfrm>
          <a:custGeom>
            <a:pathLst>
              <a:path w="373" h="143">
                <a:moveTo>
                  <a:pt x="363" y="0"/>
                </a:moveTo>
                <a:cubicBezTo>
                  <a:pt x="368" y="0"/>
                  <a:pt x="372" y="4"/>
                  <a:pt x="373" y="8"/>
                </a:cubicBezTo>
                <a:cubicBezTo>
                  <a:pt x="372" y="6"/>
                  <a:pt x="370" y="4"/>
                  <a:pt x="367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3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8239125" y="4391025"/>
            <a:ext cx="2105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Source Han Sans CN"/>
                <a:ea typeface="Source Han Sans CN"/>
              </a:rPr>
              <a:t>滚动闭环：能力范围内做更多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10763250" y="4381500"/>
            <a:ext cx="685800" cy="209550"/>
          </a:xfrm>
          <a:prstGeom prst="roundRect">
            <a:avLst>
              <a:gd name="adj" fmla="val 45455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10763250" y="4381500"/>
            <a:ext cx="685800" cy="209550"/>
          </a:xfrm>
          <a:prstGeom prst="rect"/>
        </p:spPr>
        <p:txBody>
          <a:bodyPr wrap="none" lIns="71438" tIns="21431" rIns="71438" bIns="21431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highlight>
                  <a:srgbClr val="3D7BD9"/>
                </a:highlight>
                <a:latin typeface="Source Han Sans CN"/>
                <a:ea typeface="Source Han Sans CN"/>
              </a:rPr>
              <a:t>闭环运行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8239125" y="4667250"/>
            <a:ext cx="3209925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完成出池、未选留池、故障释放、新任务到达；迟到不等于废飞，完成口径只认物理约束——保证长程运行下的任务不丢失。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0" y="6448425"/>
            <a:ext cx="12192000" cy="4095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46" name=""/>
          <p:cNvSpPr/>
          <p:nvPr/>
        </p:nvSpPr>
        <p:spPr>
          <a:xfrm rot="0" flipH="0" flipV="0">
            <a:off x="0" y="6438900"/>
            <a:ext cx="12192000" cy="419100"/>
          </a:xfrm>
          <a:custGeom>
            <a:pathLst>
              <a:path w="1280" h="4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381000" y="6581775"/>
            <a:ext cx="2828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CN"/>
                <a:ea typeface="Source Han Sans CN"/>
              </a:rPr>
              <a:t>动态滚动的多机巢多无人机协同任务分配</a:t>
            </a:r>
            <a:r>
              <a:rPr lang="en-US" sz="975">
                <a:solidFill>
                  <a:srgbClr val="8B97A8"/>
                </a:solidFill>
                <a:latin typeface="Source Han Sans CN"/>
                <a:ea typeface="Source Han Sans CN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Source Han Sans CN"/>
                <a:ea typeface="Source Han Sans CN"/>
              </a:rPr>
              <a:t>进展汇报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11296650" y="657225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CN"/>
                <a:ea typeface="Source Han Sans CN"/>
              </a:rPr>
              <a:t>05 / 16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3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0" y="0"/>
            <a:ext cx="12192000" cy="1143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7734300" y="1238250"/>
            <a:ext cx="3886200" cy="3771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750" b="1">
                <a:solidFill>
                  <a:srgbClr val="E8EFF8"/>
                </a:solidFill>
                <a:latin typeface="Source Han Sans CN"/>
                <a:ea typeface="Source Han Sans CN"/>
              </a:rPr>
              <a:t>02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762000" y="1990725"/>
            <a:ext cx="3810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1276350" y="1905000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375">
                <a:solidFill>
                  <a:srgbClr val="3D7BD9"/>
                </a:solidFill>
                <a:latin typeface="Source Han Sans CN"/>
                <a:ea typeface="Source Han Sans CN"/>
              </a:rPr>
              <a:t>CHAPTER 02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762000" y="2276475"/>
            <a:ext cx="72390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0E3F8C"/>
                </a:solidFill>
                <a:latin typeface="Source Han Sans CN"/>
                <a:ea typeface="Source Han Sans CN"/>
              </a:rPr>
              <a:t>第一阶段：动态任务选择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762000" y="32099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952500" y="3105150"/>
            <a:ext cx="7048500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 b="1">
                <a:solidFill>
                  <a:srgbClr val="1A2230"/>
                </a:solidFill>
                <a:latin typeface="Source Han Sans CN"/>
                <a:ea typeface="Source Han Sans CN"/>
              </a:rPr>
              <a:t>不构造成全局组合优化问题</a:t>
            </a:r>
            <a:r>
              <a:rPr lang="zh-CN" sz="1425">
                <a:solidFill>
                  <a:srgbClr val="1A2230"/>
                </a:solidFill>
                <a:latin typeface="Source Han Sans CN"/>
                <a:ea typeface="Source Han Sans CN"/>
              </a:rPr>
              <a:t>——采用轻量化的「预筛选</a:t>
            </a:r>
            <a:r>
              <a:rPr lang="en-US" sz="1425">
                <a:solidFill>
                  <a:srgbClr val="1A2230"/>
                </a:solidFill>
                <a:latin typeface="Source Han Sans CN"/>
                <a:ea typeface="Source Han Sans CN"/>
              </a:rPr>
              <a:t xml:space="preserve"> + </a:t>
            </a:r>
            <a:r>
              <a:rPr lang="zh-CN" sz="1425">
                <a:solidFill>
                  <a:srgbClr val="1A2230"/>
                </a:solidFill>
                <a:latin typeface="Source Han Sans CN"/>
                <a:ea typeface="Source Han Sans CN"/>
              </a:rPr>
              <a:t>增量选择</a:t>
            </a:r>
            <a:r>
              <a:rPr lang="en-US" sz="1425">
                <a:solidFill>
                  <a:srgbClr val="1A2230"/>
                </a:solidFill>
                <a:latin typeface="Source Han Sans CN"/>
                <a:ea typeface="Source Han Sans CN"/>
              </a:rPr>
              <a:t xml:space="preserve"> + </a:t>
            </a:r>
            <a:r>
              <a:rPr lang="zh-CN" sz="1425">
                <a:solidFill>
                  <a:srgbClr val="1A2230"/>
                </a:solidFill>
                <a:latin typeface="Source Han Sans CN"/>
                <a:ea typeface="Source Han Sans CN"/>
              </a:rPr>
              <a:t>可行性检查」三步机制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762000" y="41243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952500" y="4019550"/>
            <a:ext cx="7048500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>
                <a:solidFill>
                  <a:srgbClr val="1A2230"/>
                </a:solidFill>
                <a:latin typeface="Source Han Sans CN"/>
                <a:ea typeface="Source Han Sans CN"/>
              </a:rPr>
              <a:t>候选池与能力</a:t>
            </a:r>
            <a:r>
              <a:rPr lang="zh-CN" sz="1425" b="1">
                <a:solidFill>
                  <a:srgbClr val="1A2230"/>
                </a:solidFill>
                <a:latin typeface="Source Han Sans CN"/>
                <a:ea typeface="Source Han Sans CN"/>
              </a:rPr>
              <a:t>解耦</a:t>
            </a:r>
            <a:r>
              <a:rPr lang="zh-CN" sz="1425">
                <a:solidFill>
                  <a:srgbClr val="1A2230"/>
                </a:solidFill>
                <a:latin typeface="Source Han Sans CN"/>
                <a:ea typeface="Source Han Sans CN"/>
              </a:rPr>
              <a:t>（</a:t>
            </a:r>
            <a:r>
              <a:rPr lang="en-US" sz="1425">
                <a:solidFill>
                  <a:srgbClr val="1A2230"/>
                </a:solidFill>
                <a:latin typeface="Source Han Sans CN"/>
                <a:ea typeface="Source Han Sans CN"/>
              </a:rPr>
              <a:t>n_cand=⌈αK⌉</a:t>
            </a:r>
            <a:r>
              <a:rPr lang="zh-CN" sz="1425">
                <a:solidFill>
                  <a:srgbClr val="1A2230"/>
                </a:solidFill>
                <a:latin typeface="Source Han Sans CN"/>
                <a:ea typeface="Source Han Sans CN"/>
              </a:rPr>
              <a:t>，富）；选择数由</a:t>
            </a:r>
            <a:r>
              <a:rPr lang="en-US" sz="1425">
                <a:solidFill>
                  <a:srgbClr val="1A2230"/>
                </a:solidFill>
                <a:latin typeface="Source Han Sans CN"/>
                <a:ea typeface="Source Han Sans CN"/>
              </a:rPr>
              <a:t xml:space="preserve"> </a:t>
            </a:r>
            <a:r>
              <a:rPr lang="en-US" sz="1425" b="1">
                <a:solidFill>
                  <a:srgbClr val="1A2230"/>
                </a:solidFill>
                <a:latin typeface="Source Han Sans CN"/>
                <a:ea typeface="Source Han Sans CN"/>
              </a:rPr>
              <a:t>cap(t)</a:t>
            </a:r>
            <a:r>
              <a:rPr lang="en-US" sz="1425">
                <a:solidFill>
                  <a:srgbClr val="1A2230"/>
                </a:solidFill>
                <a:latin typeface="Source Han Sans CN"/>
                <a:ea typeface="Source Han Sans CN"/>
              </a:rPr>
              <a:t xml:space="preserve"> </a:t>
            </a:r>
            <a:r>
              <a:rPr lang="zh-CN" sz="1425">
                <a:solidFill>
                  <a:srgbClr val="1A2230"/>
                </a:solidFill>
                <a:latin typeface="Source Han Sans CN"/>
                <a:ea typeface="Source Han Sans CN"/>
              </a:rPr>
              <a:t>卡紧（</a:t>
            </a:r>
            <a:r>
              <a:rPr lang="en-US" sz="1425">
                <a:solidFill>
                  <a:srgbClr val="1A2230"/>
                </a:solidFill>
                <a:latin typeface="Source Han Sans CN"/>
                <a:ea typeface="Source Han Sans CN"/>
              </a:rPr>
              <a:t>n_sel</a:t>
            </a:r>
            <a:r>
              <a:rPr lang="zh-CN" sz="1425">
                <a:solidFill>
                  <a:srgbClr val="1A2230"/>
                </a:solidFill>
                <a:latin typeface="Source Han Sans CN"/>
                <a:ea typeface="Source Han Sans CN"/>
              </a:rPr>
              <a:t>），与后续执行代价保持联系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762000" y="5048250"/>
            <a:ext cx="7239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4A5568"/>
                </a:solidFill>
                <a:latin typeface="Source Han Sans CN"/>
                <a:ea typeface="Source Han Sans CN"/>
              </a:rPr>
              <a:t>该阶段的目的不是直接确定最终执行任务，而是将原始动态任务池缩减为规模可控的候选集合，使后续边际选择与</a:t>
            </a:r>
            <a:r>
              <a:rPr lang="en-US" sz="120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MUAS </a:t>
            </a:r>
            <a:r>
              <a:rPr lang="zh-CN" sz="1200">
                <a:solidFill>
                  <a:srgbClr val="4A5568"/>
                </a:solidFill>
                <a:latin typeface="Source Han Sans CN"/>
                <a:ea typeface="Source Han Sans CN"/>
              </a:rPr>
              <a:t>精细优化无需面对全部任务；落选任务留池、下周期再评。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762000" y="5943600"/>
            <a:ext cx="2352675" cy="295275"/>
          </a:xfrm>
          <a:prstGeom prst="roundRect">
            <a:avLst>
              <a:gd name="adj" fmla="val 19355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914400" y="6010275"/>
            <a:ext cx="2047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Source Han Sans CN"/>
                <a:ea typeface="Source Han Sans CN"/>
              </a:rPr>
              <a:t xml:space="preserve">P7 · </a:t>
            </a:r>
            <a:r>
              <a:rPr lang="zh-CN" sz="1050" b="1">
                <a:solidFill>
                  <a:srgbClr val="FFFFFF"/>
                </a:solidFill>
                <a:latin typeface="Source Han Sans CN"/>
                <a:ea typeface="Source Han Sans CN"/>
              </a:rPr>
              <a:t>优先级预筛选与边际收益选择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10086975" y="4572000"/>
            <a:ext cx="1343025" cy="323850"/>
          </a:xfrm>
          <a:prstGeom prst="roundRect">
            <a:avLst>
              <a:gd name="adj" fmla="val 5294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10258425" y="464820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Source Han Sans CN"/>
                <a:ea typeface="Source Han Sans CN"/>
              </a:rPr>
              <a:t>基础优先级排序</a:t>
            </a:r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10001250" y="5010150"/>
            <a:ext cx="1428750" cy="323850"/>
          </a:xfrm>
          <a:prstGeom prst="roundRect">
            <a:avLst>
              <a:gd name="adj" fmla="val 5294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10172700" y="5086350"/>
            <a:ext cx="1085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Source Han Sans CN"/>
                <a:ea typeface="Source Han Sans CN"/>
              </a:rPr>
              <a:t>能力定规模</a:t>
            </a:r>
            <a:r>
              <a:rPr lang="en-US" sz="1125" b="1">
                <a:solidFill>
                  <a:srgbClr val="1E4FA8"/>
                </a:solidFill>
                <a:latin typeface="Source Han Sans CN"/>
                <a:ea typeface="Source Han Sans CN"/>
              </a:rPr>
              <a:t>(cap)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10229850" y="5448300"/>
            <a:ext cx="1200150" cy="323850"/>
          </a:xfrm>
          <a:prstGeom prst="roundRect">
            <a:avLst>
              <a:gd name="adj" fmla="val 5294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10401300" y="55245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Source Han Sans CN"/>
                <a:ea typeface="Source Han Sans CN"/>
              </a:rPr>
              <a:t>边际增量选择</a:t>
            </a:r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762000" y="5857875"/>
            <a:ext cx="476250" cy="276225"/>
          </a:xfrm>
          <a:prstGeom prst="roundRect">
            <a:avLst>
              <a:gd name="adj" fmla="val 48276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914400" y="5915025"/>
            <a:ext cx="171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Source Han Sans CN"/>
                <a:ea typeface="Source Han Sans CN"/>
              </a:rPr>
              <a:t>01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1352550" y="5857875"/>
            <a:ext cx="476250" cy="276225"/>
          </a:xfrm>
          <a:prstGeom prst="roundRect">
            <a:avLst>
              <a:gd name="adj" fmla="val 48276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1504950" y="5915025"/>
            <a:ext cx="171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Source Han Sans CN"/>
                <a:ea typeface="Source Han Sans CN"/>
              </a:rPr>
              <a:t>02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1943100" y="5857875"/>
            <a:ext cx="476250" cy="276225"/>
          </a:xfrm>
          <a:prstGeom prst="roundRect">
            <a:avLst>
              <a:gd name="adj" fmla="val 48276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2095500" y="5915025"/>
            <a:ext cx="171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Source Han Sans CN"/>
                <a:ea typeface="Source Han Sans CN"/>
              </a:rPr>
              <a:t>03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2533650" y="5857875"/>
            <a:ext cx="476250" cy="276225"/>
          </a:xfrm>
          <a:prstGeom prst="roundRect">
            <a:avLst>
              <a:gd name="adj" fmla="val 48276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2686050" y="5915025"/>
            <a:ext cx="171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Source Han Sans CN"/>
                <a:ea typeface="Source Han Sans CN"/>
              </a:rPr>
              <a:t>04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3200400" y="5915025"/>
            <a:ext cx="1962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CN"/>
                <a:ea typeface="Source Han Sans CN"/>
              </a:rPr>
              <a:t>研究问题</a:t>
            </a:r>
            <a:r>
              <a:rPr lang="en-US" sz="1050">
                <a:solidFill>
                  <a:srgbClr val="8B97A8"/>
                </a:solidFill>
                <a:latin typeface="Source Han Sans CN"/>
                <a:ea typeface="Source Han Sans CN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Source Han Sans CN"/>
                <a:ea typeface="Source Han Sans CN"/>
              </a:rPr>
              <a:t>方法两阶段</a:t>
            </a:r>
            <a:r>
              <a:rPr lang="en-US" sz="1050">
                <a:solidFill>
                  <a:srgbClr val="8B97A8"/>
                </a:solidFill>
                <a:latin typeface="Source Han Sans CN"/>
                <a:ea typeface="Source Han Sans CN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Source Han Sans CN"/>
                <a:ea typeface="Source Han Sans CN"/>
              </a:rPr>
              <a:t>实验验证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0" y="6448425"/>
            <a:ext cx="12192000" cy="4095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0" y="6438900"/>
            <a:ext cx="12192000" cy="419100"/>
          </a:xfrm>
          <a:custGeom>
            <a:pathLst>
              <a:path w="1280" h="4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381000" y="6581775"/>
            <a:ext cx="2828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CN"/>
                <a:ea typeface="Source Han Sans CN"/>
              </a:rPr>
              <a:t>动态滚动的多机巢多无人机协同任务分配</a:t>
            </a:r>
            <a:r>
              <a:rPr lang="en-US" sz="975">
                <a:solidFill>
                  <a:srgbClr val="8B97A8"/>
                </a:solidFill>
                <a:latin typeface="Source Han Sans CN"/>
                <a:ea typeface="Source Han Sans CN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Source Han Sans CN"/>
                <a:ea typeface="Source Han Sans CN"/>
              </a:rPr>
              <a:t>进展汇报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11296650" y="657225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CN"/>
                <a:ea typeface="Source Han Sans CN"/>
              </a:rPr>
              <a:t>06 / 16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382" name="" descr="&lt;Slide style={{ width: 1280, height: 720, background: '#FFFFFF', position: 'relative', fontFamily: 'Source Han Sans CN, Microsoft YaHei, sans-serif' }}&gt;&#10;  &lt;Box style={{ position: 'absolute', top: 0, left: 0, width: 1280, height: 12, background: '#1E4FA8' }} /&gt;&#10;  &lt;Box style={{ position: 'absolute', top: 30, left: 40, flexDirection: 'row', alignItems: 'center', gap: 14 }}&gt;&#10;    &lt;Box style={{ width: 6, height: 34, background: '#1E4FA8' }} /&gt;&#10;    &lt;Text style={{ fontSize: 32, fontWeight: 'bold', color: '#0E3F8C' }}&gt;基础优先级预筛选 + 边际收益增量选择&lt;/Text&gt;&#10;  &lt;/Box&gt;&#10;  &lt;Text style={{ position: 'absolute', top: 78, left: 60, fontSize: 15, color: '#8B97A8' }}&gt;五因素加权排序缩池，边际价值决定「加入当前组合后是否仍值得执行」&lt;/Text&gt;&#10;&#10;  &lt;Box style={{ position: 'absolute', top: 116, left: 40, width: 700, flexDirection: 'column', gap: 16 }}&gt;&#10;    &lt;Box style={{ background: '#F7F9FC', border: '1px solid #D6DCE5', borderRadius: 10, padding: '16px 20px', flexDirection: 'column' }}&gt;&#10;      &lt;Text style={{ fontSize: 19, fontWeight: 'bold', color: '#0E3F8C' }}&gt;① 基础任务优先级（五因素 min-max 归一化加权）&lt;/Text&gt;&#10;      &lt;Box style={{ marginTop: 12, background: '#E8EFF8', borderRadius: 8, padding: '14px 16px', alignItems: 'center' }}&gt;&#10;        &lt;Text style={{ fontSize: 23, fontWeight: 'bold', color: '#0E3F8C' }}&gt;&#10;          P&lt;span style={{ fontSize: 15 }}&gt;i&lt;/span&gt; = w&lt;span style={{ fontSize: 15 }}&gt;r&lt;/span&gt;·R&lt;span style={{ fontSize: 15 }}&gt;i&lt;/span&gt; + w&lt;span style={{ fontSize: 15 }}&gt;u&lt;/span&gt;·U&lt;span style={{ fontSize: 15 }}&gt;i&lt;/span&gt; + w&lt;span style={{ fontSize: 15 }}&gt;w&lt;/span&gt;·W&lt;span style={{ fontSize: 15 }}&gt;i&lt;/span&gt; + w&lt;span style={{ fontSize: 15 }}&gt;s&lt;/span&gt;·G&lt;span style={{ fontSize: 15 }}&gt;i&lt;/span&gt; − w&lt;span style={{ fontSize: 15 }}&gt;c&lt;/span&gt;·C&lt;span style={{ fontSize: 15 }}&gt;i&lt;/span&gt;&#10;        &lt;/Text&gt;&#10;      &lt;/Box&gt;&#10;      &lt;Text style={{ fontSize: 14, color: '#4A5568', lineHeight: 1.7, marginTop: 10 }}&gt;&#10;        五因素均先做 min-max 归一化：收益 R · 时间紧迫度 U · 等待补偿 W = 1−e&lt;sup&gt;−t/τ&lt;/sup&gt;（防长期滞留）· 空间协同增益 G（近邻任务可同机连续执行，聚集是&lt;span style={{ color: '#1E4FA8', fontWeight: 'bold' }}&gt;正因素&lt;/span&gt;）· 粗执行代价 C；权重和为 1，默认 0.30 / 0.25 / 0.15 / 0.15 / 0.15&#10;      &lt;/Text&gt;&#10;    &lt;/Box&gt;&#10;&#10;    &lt;Box style={{ background: '#F7F9FC', border: '1px solid #D6DCE5', borderRadius: 10, padding: '16px 20px', flexDirection: 'column' }}&gt;&#10;      &lt;Text style={{ fontSize: 19, fontWeight: 'bold', color: '#0E3F8C' }}&gt;② 候选池（能力无关）/ 选择数（卡 cap）：机数名额 × 能力上界解耦&lt;/Text&gt;&#10;      &lt;Box style={{ marginTop: 12, background: '#E8EFF8', borderRadius: 8, padding: '12px 16px', flexDirection: 'column', gap: 5, alignItems: 'center' }}&gt;&#10;        &lt;Text style={{ fontSize: 16.5, fontWeight: 'bold', color: '#0E3F8C' }}&gt;&#10;          n_cand = ceil(α·K)（能力无关）　　n_sel = min{&quot;{&quot;}ceil(max_ratio·K), cap(t){&quot;}&quot;}&#10;        &lt;/Text&gt;&#10;        &lt;Text style={{ fontSize: 13, color: '#4A5568' }}&gt;&#10;          cap(t) = floor(B(t) / c_med)；K = 可用无人机数，α = 2.5、max_ratio = 2.0 均为机数倍率&#10;        &lt;/Text&gt;&#10;      &lt;/Box&gt;&#10;      &lt;Text style={{ fontSize: 14, color: '#4A5568', lineHeight: 1.7, marginTop: 10 }}&gt;&#10;        机数名额保护搜索复杂度；能力承载数只计&lt;span style={{ fontWeight: 'bold' }}&gt;可起飞子集&lt;/span&gt;的剩余航程 B(t)——正在充电的机是幻影容量，不计入；紧急/释放任务可绕过名额强制纳入，但仍须过可行性检查&#10;      &lt;/Text&gt;&#10;    &lt;/Box&gt;&#10;&#10;    &lt;Box style={{ background: '#F0F5FC', border: '1px solid #D6DCE5', borderRadius: 10, padding: '12px 20px', flexDirection: 'row', alignItems: 'center', gap: 10 }}&gt;&#10;      &lt;Text style={{ fontSize: 15, fontWeight: 'bold', color: '#0E3F8C' }}&gt;机制串联：&lt;/Text&gt;&#10;      {['按 P_i 排序', 'n_cand 候选(富)', '闸门① prefilter', 'n_sel 边际纳入(紧)', '闸门② postcheck'].map((s, i) =&gt; (&#10;        &lt;Box key={s} style={{ flexDirection: 'row', alignItems: 'center', gap: 10 }}&gt;&#10;          {i &gt; 0 &amp;&amp; &lt;Text style={{ fontSize: 16, color: '#3D7BD9', fontWeight: 'bold' }}&gt;→&lt;/Text&gt;}&#10;          &lt;Box style={{ padding: '6px 12px', background: '#FFFFFF', borderRadius: 14, border: '1px solid #3D7BD9' }}&gt;&#10;            &lt;Text style={{ fontSize: 13, color: '#1E4FA8' }}&gt;{s}&lt;/Text&gt;&#10;          &lt;/Box&gt;&#10;        &lt;/Box&gt;&#10;      ))}&#10;    &lt;/Box&gt;&#10;  &lt;/Box&gt;&#10;&#10;  &lt;Box style={{ position: 'absolute', top: 116, left: 764, width: 476, flexDirection: 'column', gap: 14 }}&gt;&#10;    &lt;Box style={{ background: '#F0F5FC', border: '1px solid #D6DCE5', borderTop: '4px solid #1E4FA8', borderRadius: 10, padding: '14px 20px', flexDirection: 'column' }}&gt;&#10;      &lt;Text style={{ fontSize: 19, fontWeight: 'bold', color: '#0E3F8C' }}&gt;③ 边际收益增量选择&lt;/Text&gt;&#10;      &lt;Box style={{ marginTop: 10, background: '#FFFFFF', borderRadius: 8, padding: '12px 14px', alignItems: 'center' }}&gt;&#10;        &lt;Text style={{ fontSize: 20, fontWeight: 'bold', color: '#0E3F8C' }}&gt;&#10;          Δ&lt;span style={{ fontSize: 13 }}&gt;i&lt;/span&gt; = ΔB&lt;span style={{ fontSize: 13 }}&gt;i&lt;/span&gt; / (ΔC&lt;span style={{ fontSize: 13 }}&gt;i&lt;/span&gt; + ε)&#10;        &lt;/Text&gt;&#10;        &lt;Text style={{ fontSize: 16, color: '#1E4FA8', marginTop: 6 }}&gt;&#10;          ΔC&lt;span style={{ fontSize: 11 }}&gt;i&lt;/span&gt; = min&lt;span style={{ fontSize: 12 }}&gt;{&quot;{&quot;} C&lt;span style={{ fontSize: 10 }}&gt;ai&lt;/span&gt; + C&lt;span style={{ fontSize: 10 }}&gt;ib&lt;/span&gt; − C&lt;span style={{ fontSize: 10 }}&gt;ab&lt;/span&gt; {&quot;}&quot;}&#10;          &lt;/span&gt;（所有锚点对插入，统一 DEM 三维航程）&#10;        &lt;/Text&gt;&#10;      &lt;/Box&gt;&#10;      &lt;Text style={{ fontSize: 14, color: '#4A5568', lineHeight: 1.7, marginTop: 8 }}&gt;&#10;        插入式快速估计：对「已选集合 + 最近机巢」的&lt;span style={{ fontWeight: 'bold' }}&gt;所有锚点对&lt;/span&gt;试接入任务 i，取最小三维航程增量——不预设任何顺序、不求解完整 MUAS，与已选任务空间相近者因增量代价低而胜出&#10;      &lt;/Text&gt;&#10;    &lt;/Box&gt;&#10;&#10;    &lt;Box style={{ background: '#F7F9FC', border: '1px solid #D6DCE5', borderRadius: 10, padding: '13px 20px', flexDirection: 'column' }}&gt;&#10;      &lt;Text style={{ fontSize: 17, fontWeight: 'bold', color: '#0E3F8C' }}&gt;④ 两道可行性闸门（粗粒度，弹回不淘汰）&lt;/Text&gt;&#10;      &lt;Text style={{ fontSize: 14, color: '#4A5568', lineHeight: 1.7, marginTop: 6 }}&gt;&#10;        闸门① prefilter：是否有可用机 · 单任务往返可达 · 三维地形不可达；闸门② postcheck：机群剩余航程预算——仅物理不可行才不进候选，否则留池下周期再评；时间窗迟到由适应度折减、非参选资格&#10;      &lt;/Text&gt;&#10;    &lt;/Box&gt;&#10;&#10;    &lt;Box style={{ background: '#0E3F8C', borderRadius: 10, padding: '14px 20px', flexDirection: 'column' }}&gt;&#10;      &lt;Text style={{ fontSize: 16, fontWeight: 'bold', color: '#FFFFFF', lineHeight: 1.6 }}&gt;&#10;        判断：选择质量与实时性兼得——边际比只依赖代价矩阵查表与插入估计，单周期选择开销可忽略，却保住了「任务 × 组合」的匹配质量。&#10;      &lt;/Text&gt;&#10;    &lt;/Box&gt;&#10;  &lt;/Box&gt;&#10;&#10;  &lt;Box style={{ position: 'absolute', bottom: 0, left: 0, width: 1280, height: 44, background: '#F7F9FC', flexDirection: 'row', justifyContent: 'space-between', alignItems: 'center', padding: '0 40px', borderTop: '1px solid #E5E7EB' }}&gt;&#10;    &lt;Text style={{ fontSize: 13, color: '#8B97A8' }}&gt;动态滚动的多机巢多无人机协同任务分配 · 进展汇报&lt;/Text&gt;&#10;    &lt;Text style={{ fontSize: 15, color: '#1E4FA8', fontWeight: 'bold' }}&gt;07 / 16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4" name=""/>
          <p:cNvSpPr/>
          <p:nvPr/>
        </p:nvSpPr>
        <p:spPr>
          <a:xfrm rot="0" flipH="0" flipV="0">
            <a:off x="0" y="0"/>
            <a:ext cx="12192000" cy="1143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85" name=""/>
          <p:cNvSpPr/>
          <p:nvPr/>
        </p:nvSpPr>
        <p:spPr>
          <a:xfrm rot="0" flipH="0" flipV="0">
            <a:off x="381000" y="31432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571500" y="285750"/>
            <a:ext cx="52959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Source Han Sans CN"/>
                <a:ea typeface="Source Han Sans CN"/>
              </a:rPr>
              <a:t>基础优先级预筛选</a:t>
            </a:r>
            <a:r>
              <a:rPr lang="en-US" sz="2400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+ </a:t>
            </a:r>
            <a:r>
              <a:rPr lang="zh-CN" sz="2400" b="1">
                <a:solidFill>
                  <a:srgbClr val="0E3F8C"/>
                </a:solidFill>
                <a:latin typeface="Source Han Sans CN"/>
                <a:ea typeface="Source Han Sans CN"/>
              </a:rPr>
              <a:t>边际收益增量选择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571500" y="742950"/>
            <a:ext cx="4572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Source Han Sans CN"/>
                <a:ea typeface="Source Han Sans CN"/>
              </a:rPr>
              <a:t>五因素加权排序缩池，边际价值决定「加入当前组合后是否仍值得执行」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381000" y="1104900"/>
            <a:ext cx="6667500" cy="2085975"/>
          </a:xfrm>
          <a:prstGeom prst="roundRect">
            <a:avLst>
              <a:gd name="adj" fmla="val 456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571500" y="1257300"/>
            <a:ext cx="6286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① </a:t>
            </a:r>
            <a:r>
              <a:rPr lang="zh-CN" sz="1425" b="1">
                <a:solidFill>
                  <a:srgbClr val="0E3F8C"/>
                </a:solidFill>
                <a:latin typeface="Source Han Sans CN"/>
                <a:ea typeface="Source Han Sans CN"/>
              </a:rPr>
              <a:t>基础任务优先级（五因素</a:t>
            </a:r>
            <a:r>
              <a:rPr lang="en-US" sz="1425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min-max </a:t>
            </a:r>
            <a:r>
              <a:rPr lang="zh-CN" sz="1425" b="1">
                <a:solidFill>
                  <a:srgbClr val="0E3F8C"/>
                </a:solidFill>
                <a:latin typeface="Source Han Sans CN"/>
                <a:ea typeface="Source Han Sans CN"/>
              </a:rPr>
              <a:t>归一化加权）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571500" y="1590675"/>
            <a:ext cx="6286500" cy="533400"/>
          </a:xfrm>
          <a:prstGeom prst="roundRect">
            <a:avLst>
              <a:gd name="adj" fmla="val 14286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1419225" y="1724025"/>
            <a:ext cx="46005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0E3F8C"/>
                </a:solidFill>
                <a:latin typeface="Source Han Sans CN"/>
                <a:ea typeface="Source Han Sans CN"/>
              </a:rPr>
              <a:t>P</a:t>
            </a:r>
            <a:r>
              <a:rPr lang="en-US" sz="1125" b="1">
                <a:solidFill>
                  <a:srgbClr val="0E3F8C"/>
                </a:solidFill>
                <a:latin typeface="Source Han Sans CN"/>
                <a:ea typeface="Source Han Sans CN"/>
              </a:rPr>
              <a:t>i</a:t>
            </a:r>
            <a:r>
              <a:rPr lang="en-US" sz="1725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= w</a:t>
            </a:r>
            <a:r>
              <a:rPr lang="en-US" sz="1125" b="1">
                <a:solidFill>
                  <a:srgbClr val="0E3F8C"/>
                </a:solidFill>
                <a:latin typeface="Source Han Sans CN"/>
                <a:ea typeface="Source Han Sans CN"/>
              </a:rPr>
              <a:t>r</a:t>
            </a:r>
            <a:r>
              <a:rPr lang="en-US" sz="1725" b="1">
                <a:solidFill>
                  <a:srgbClr val="0E3F8C"/>
                </a:solidFill>
                <a:latin typeface="Source Han Sans CN"/>
                <a:ea typeface="Source Han Sans CN"/>
              </a:rPr>
              <a:t>·R</a:t>
            </a:r>
            <a:r>
              <a:rPr lang="en-US" sz="1125" b="1">
                <a:solidFill>
                  <a:srgbClr val="0E3F8C"/>
                </a:solidFill>
                <a:latin typeface="Source Han Sans CN"/>
                <a:ea typeface="Source Han Sans CN"/>
              </a:rPr>
              <a:t>i</a:t>
            </a:r>
            <a:r>
              <a:rPr lang="en-US" sz="1725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+ w</a:t>
            </a:r>
            <a:r>
              <a:rPr lang="en-US" sz="1125" b="1">
                <a:solidFill>
                  <a:srgbClr val="0E3F8C"/>
                </a:solidFill>
                <a:latin typeface="Source Han Sans CN"/>
                <a:ea typeface="Source Han Sans CN"/>
              </a:rPr>
              <a:t>u</a:t>
            </a:r>
            <a:r>
              <a:rPr lang="en-US" sz="1725" b="1">
                <a:solidFill>
                  <a:srgbClr val="0E3F8C"/>
                </a:solidFill>
                <a:latin typeface="Source Han Sans CN"/>
                <a:ea typeface="Source Han Sans CN"/>
              </a:rPr>
              <a:t>·U</a:t>
            </a:r>
            <a:r>
              <a:rPr lang="en-US" sz="1125" b="1">
                <a:solidFill>
                  <a:srgbClr val="0E3F8C"/>
                </a:solidFill>
                <a:latin typeface="Source Han Sans CN"/>
                <a:ea typeface="Source Han Sans CN"/>
              </a:rPr>
              <a:t>i</a:t>
            </a:r>
            <a:r>
              <a:rPr lang="en-US" sz="1725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+ w</a:t>
            </a:r>
            <a:r>
              <a:rPr lang="en-US" sz="1125" b="1">
                <a:solidFill>
                  <a:srgbClr val="0E3F8C"/>
                </a:solidFill>
                <a:latin typeface="Source Han Sans CN"/>
                <a:ea typeface="Source Han Sans CN"/>
              </a:rPr>
              <a:t>w</a:t>
            </a:r>
            <a:r>
              <a:rPr lang="en-US" sz="1725" b="1">
                <a:solidFill>
                  <a:srgbClr val="0E3F8C"/>
                </a:solidFill>
                <a:latin typeface="Source Han Sans CN"/>
                <a:ea typeface="Source Han Sans CN"/>
              </a:rPr>
              <a:t>·W</a:t>
            </a:r>
            <a:r>
              <a:rPr lang="en-US" sz="1125" b="1">
                <a:solidFill>
                  <a:srgbClr val="0E3F8C"/>
                </a:solidFill>
                <a:latin typeface="Source Han Sans CN"/>
                <a:ea typeface="Source Han Sans CN"/>
              </a:rPr>
              <a:t>i</a:t>
            </a:r>
            <a:r>
              <a:rPr lang="en-US" sz="1725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+ w</a:t>
            </a:r>
            <a:r>
              <a:rPr lang="en-US" sz="1125" b="1">
                <a:solidFill>
                  <a:srgbClr val="0E3F8C"/>
                </a:solidFill>
                <a:latin typeface="Source Han Sans CN"/>
                <a:ea typeface="Source Han Sans CN"/>
              </a:rPr>
              <a:t>s</a:t>
            </a:r>
            <a:r>
              <a:rPr lang="en-US" sz="1725" b="1">
                <a:solidFill>
                  <a:srgbClr val="0E3F8C"/>
                </a:solidFill>
                <a:latin typeface="Source Han Sans CN"/>
                <a:ea typeface="Source Han Sans CN"/>
              </a:rPr>
              <a:t>·G</a:t>
            </a:r>
            <a:r>
              <a:rPr lang="en-US" sz="1125" b="1">
                <a:solidFill>
                  <a:srgbClr val="0E3F8C"/>
                </a:solidFill>
                <a:latin typeface="Source Han Sans CN"/>
                <a:ea typeface="Source Han Sans CN"/>
              </a:rPr>
              <a:t>i</a:t>
            </a:r>
            <a:r>
              <a:rPr lang="en-US" sz="1725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− w</a:t>
            </a:r>
            <a:r>
              <a:rPr lang="en-US" sz="1125" b="1">
                <a:solidFill>
                  <a:srgbClr val="0E3F8C"/>
                </a:solidFill>
                <a:latin typeface="Source Han Sans CN"/>
                <a:ea typeface="Source Han Sans CN"/>
              </a:rPr>
              <a:t>c</a:t>
            </a:r>
            <a:r>
              <a:rPr lang="en-US" sz="1725" b="1">
                <a:solidFill>
                  <a:srgbClr val="0E3F8C"/>
                </a:solidFill>
                <a:latin typeface="Source Han Sans CN"/>
                <a:ea typeface="Source Han Sans CN"/>
              </a:rPr>
              <a:t>·C</a:t>
            </a:r>
            <a:r>
              <a:rPr lang="en-US" sz="1125" b="1">
                <a:solidFill>
                  <a:srgbClr val="0E3F8C"/>
                </a:solidFill>
                <a:latin typeface="Source Han Sans CN"/>
                <a:ea typeface="Source Han Sans CN"/>
              </a:rPr>
              <a:t>i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571500" y="2219325"/>
            <a:ext cx="6286500" cy="819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五因素均先做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min-max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归一化：收益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R ·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时间紧迫度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U ·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等待补偿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W = 1−e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>−t/τ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（防长期滞留）·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空间协同增益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G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（近邻任务可同机连续执行，聚集是</a:t>
            </a:r>
            <a:r>
              <a:rPr lang="zh-CN" sz="1050" b="1">
                <a:solidFill>
                  <a:srgbClr val="1E4FA8"/>
                </a:solidFill>
                <a:latin typeface="Source Han Sans CN"/>
                <a:ea typeface="Source Han Sans CN"/>
              </a:rPr>
              <a:t>正因素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）·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粗执行代价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C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；权重和为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1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，默认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0.30 / 0.25 / 0.15 / 0.15 / 0.15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381000" y="3343275"/>
            <a:ext cx="6667500" cy="19050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571500" y="3495675"/>
            <a:ext cx="6286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② </a:t>
            </a:r>
            <a:r>
              <a:rPr lang="zh-CN" sz="1425" b="1">
                <a:solidFill>
                  <a:srgbClr val="0E3F8C"/>
                </a:solidFill>
                <a:latin typeface="Source Han Sans CN"/>
                <a:ea typeface="Source Han Sans CN"/>
              </a:rPr>
              <a:t>候选池（能力无关）</a:t>
            </a:r>
            <a:r>
              <a:rPr lang="en-US" sz="1425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/ </a:t>
            </a:r>
            <a:r>
              <a:rPr lang="zh-CN" sz="1425" b="1">
                <a:solidFill>
                  <a:srgbClr val="0E3F8C"/>
                </a:solidFill>
                <a:latin typeface="Source Han Sans CN"/>
                <a:ea typeface="Source Han Sans CN"/>
              </a:rPr>
              <a:t>选择数（卡</a:t>
            </a:r>
            <a:r>
              <a:rPr lang="en-US" sz="1425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cap</a:t>
            </a:r>
            <a:r>
              <a:rPr lang="zh-CN" sz="1425" b="1">
                <a:solidFill>
                  <a:srgbClr val="0E3F8C"/>
                </a:solidFill>
                <a:latin typeface="Source Han Sans CN"/>
                <a:ea typeface="Source Han Sans CN"/>
              </a:rPr>
              <a:t>）：机数名额</a:t>
            </a:r>
            <a:r>
              <a:rPr lang="en-US" sz="1425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× </a:t>
            </a:r>
            <a:r>
              <a:rPr lang="zh-CN" sz="1425" b="1">
                <a:solidFill>
                  <a:srgbClr val="0E3F8C"/>
                </a:solidFill>
                <a:latin typeface="Source Han Sans CN"/>
                <a:ea typeface="Source Han Sans CN"/>
              </a:rPr>
              <a:t>能力上界解耦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571500" y="3829050"/>
            <a:ext cx="6286500" cy="619125"/>
          </a:xfrm>
          <a:prstGeom prst="roundRect">
            <a:avLst>
              <a:gd name="adj" fmla="val 12308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904875" y="3943350"/>
            <a:ext cx="5629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0E3F8C"/>
                </a:solidFill>
                <a:latin typeface="Source Han Sans CN"/>
                <a:ea typeface="Source Han Sans CN"/>
              </a:rPr>
              <a:t>n_cand = ceil(α·K)</a:t>
            </a:r>
            <a:r>
              <a:rPr lang="zh-CN" sz="1238" b="1">
                <a:solidFill>
                  <a:srgbClr val="0E3F8C"/>
                </a:solidFill>
                <a:latin typeface="Source Han Sans CN"/>
                <a:ea typeface="Source Han Sans CN"/>
              </a:rPr>
              <a:t>（能力无关）　　</a:t>
            </a:r>
            <a:r>
              <a:rPr lang="en-US" sz="1238" b="1">
                <a:solidFill>
                  <a:srgbClr val="0E3F8C"/>
                </a:solidFill>
                <a:latin typeface="Source Han Sans CN"/>
                <a:ea typeface="Source Han Sans CN"/>
              </a:rPr>
              <a:t>n_sel = min</a:t>
            </a:r>
            <a:r>
              <a:rPr lang="en-US" sz="1238" b="1">
                <a:solidFill>
                  <a:srgbClr val="0E3F8C"/>
                </a:solidFill>
                <a:latin typeface="Source Han Sans CN"/>
                <a:ea typeface="Source Han Sans CN"/>
              </a:rPr>
              <a:t>{</a:t>
            </a:r>
            <a:r>
              <a:rPr lang="en-US" sz="1238" b="1">
                <a:solidFill>
                  <a:srgbClr val="0E3F8C"/>
                </a:solidFill>
                <a:latin typeface="Source Han Sans CN"/>
                <a:ea typeface="Source Han Sans CN"/>
              </a:rPr>
              <a:t>ceil(max_ratio·K), cap(t)</a:t>
            </a:r>
            <a:r>
              <a:rPr lang="en-US" sz="1238" b="1">
                <a:solidFill>
                  <a:srgbClr val="0E3F8C"/>
                </a:solidFill>
                <a:latin typeface="Source Han Sans CN"/>
                <a:ea typeface="Source Han Sans CN"/>
              </a:rPr>
              <a:t>}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1181100" y="4181475"/>
            <a:ext cx="5067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A5568"/>
                </a:solidFill>
                <a:latin typeface="Source Han Sans CN"/>
                <a:ea typeface="Source Han Sans CN"/>
              </a:rPr>
              <a:t>cap(t) = floor(B(t) / c_med)</a:t>
            </a:r>
            <a:r>
              <a:rPr lang="zh-CN" sz="975">
                <a:solidFill>
                  <a:srgbClr val="4A5568"/>
                </a:solidFill>
                <a:latin typeface="Source Han Sans CN"/>
                <a:ea typeface="Source Han Sans CN"/>
              </a:rPr>
              <a:t>；</a:t>
            </a:r>
            <a:r>
              <a:rPr lang="en-US" sz="975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K = </a:t>
            </a:r>
            <a:r>
              <a:rPr lang="zh-CN" sz="975">
                <a:solidFill>
                  <a:srgbClr val="4A5568"/>
                </a:solidFill>
                <a:latin typeface="Source Han Sans CN"/>
                <a:ea typeface="Source Han Sans CN"/>
              </a:rPr>
              <a:t>可用无人机数，α</a:t>
            </a:r>
            <a:r>
              <a:rPr lang="en-US" sz="975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= 2.5</a:t>
            </a:r>
            <a:r>
              <a:rPr lang="zh-CN" sz="975">
                <a:solidFill>
                  <a:srgbClr val="4A5568"/>
                </a:solidFill>
                <a:latin typeface="Source Han Sans CN"/>
                <a:ea typeface="Source Han Sans CN"/>
              </a:rPr>
              <a:t>、</a:t>
            </a:r>
            <a:r>
              <a:rPr lang="en-US" sz="975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max_ratio = 2.0 </a:t>
            </a:r>
            <a:r>
              <a:rPr lang="zh-CN" sz="975">
                <a:solidFill>
                  <a:srgbClr val="4A5568"/>
                </a:solidFill>
                <a:latin typeface="Source Han Sans CN"/>
                <a:ea typeface="Source Han Sans CN"/>
              </a:rPr>
              <a:t>均为机数倍率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571500" y="4543425"/>
            <a:ext cx="6286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机数名额保护搜索复杂度；能力承载数只计</a:t>
            </a:r>
            <a:r>
              <a:rPr lang="zh-CN" sz="1050" b="1">
                <a:solidFill>
                  <a:srgbClr val="4A5568"/>
                </a:solidFill>
                <a:latin typeface="Source Han Sans CN"/>
                <a:ea typeface="Source Han Sans CN"/>
              </a:rPr>
              <a:t>可起飞子集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的剩余航程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B(t)——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正在充电的机是幻影容量，不计入；紧急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>/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释放任务可绕过名额强制纳入，但仍须过可行性检查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381000" y="5400675"/>
            <a:ext cx="6667500" cy="495300"/>
          </a:xfrm>
          <a:prstGeom prst="roundRect">
            <a:avLst>
              <a:gd name="adj" fmla="val 1923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571500" y="55626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Source Han Sans CN"/>
                <a:ea typeface="Source Han Sans CN"/>
              </a:rPr>
              <a:t>机制串联：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1238250" y="5438775"/>
            <a:ext cx="666750" cy="419100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1352550" y="5495925"/>
            <a:ext cx="43815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>
                <a:solidFill>
                  <a:srgbClr val="1E4FA8"/>
                </a:solidFill>
                <a:latin typeface="Source Han Sans CN"/>
                <a:ea typeface="Source Han Sans CN"/>
              </a:rPr>
              <a:t>按</a:t>
            </a:r>
            <a:r>
              <a:rPr lang="en-US" sz="975">
                <a:solidFill>
                  <a:srgbClr val="1E4FA8"/>
                </a:solidFill>
                <a:latin typeface="Source Han Sans CN"/>
                <a:ea typeface="Source Han Sans CN"/>
              </a:rPr>
              <a:t xml:space="preserve"> P_i </a:t>
            </a:r>
            <a:r>
              <a:rPr lang="zh-CN" sz="975">
                <a:solidFill>
                  <a:srgbClr val="1E4FA8"/>
                </a:solidFill>
                <a:latin typeface="Source Han Sans CN"/>
                <a:ea typeface="Source Han Sans CN"/>
              </a:rPr>
              <a:t>排序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2000250" y="5553075"/>
            <a:ext cx="123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3D7BD9"/>
                </a:solidFill>
                <a:latin typeface="Source Han Sans CN"/>
                <a:ea typeface="Source Han Sans CN"/>
              </a:rPr>
              <a:t>→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2219325" y="5438775"/>
            <a:ext cx="885825" cy="419100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2333625" y="5495925"/>
            <a:ext cx="657225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Source Han Sans CN"/>
                <a:ea typeface="Source Han Sans CN"/>
              </a:rPr>
              <a:t xml:space="preserve">n_cand </a:t>
            </a:r>
            <a:r>
              <a:rPr lang="zh-CN" sz="975">
                <a:solidFill>
                  <a:srgbClr val="1E4FA8"/>
                </a:solidFill>
                <a:latin typeface="Source Han Sans CN"/>
                <a:ea typeface="Source Han Sans CN"/>
              </a:rPr>
              <a:t>候选</a:t>
            </a:r>
            <a:r>
              <a:rPr lang="en-US" sz="975">
                <a:solidFill>
                  <a:srgbClr val="1E4FA8"/>
                </a:solidFill>
                <a:latin typeface="Source Han Sans CN"/>
                <a:ea typeface="Source Han Sans CN"/>
              </a:rPr>
              <a:t>(</a:t>
            </a:r>
            <a:r>
              <a:rPr lang="zh-CN" sz="975">
                <a:solidFill>
                  <a:srgbClr val="1E4FA8"/>
                </a:solidFill>
                <a:latin typeface="Source Han Sans CN"/>
                <a:ea typeface="Source Han Sans CN"/>
              </a:rPr>
              <a:t>富</a:t>
            </a:r>
            <a:r>
              <a:rPr lang="en-US" sz="975">
                <a:solidFill>
                  <a:srgbClr val="1E4FA8"/>
                </a:solidFill>
                <a:latin typeface="Source Han Sans CN"/>
                <a:ea typeface="Source Han Sans CN"/>
              </a:rPr>
              <a:t>)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3200400" y="5553075"/>
            <a:ext cx="123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3D7BD9"/>
                </a:solidFill>
                <a:latin typeface="Source Han Sans CN"/>
                <a:ea typeface="Source Han Sans CN"/>
              </a:rPr>
              <a:t>→</a:t>
            </a:r>
            <a:endParaRPr/>
          </a:p>
        </p:txBody>
      </p:sp>
      <p:sp>
        <p:nvSpPr>
          <p:cNvPr id="407" name=""/>
          <p:cNvSpPr/>
          <p:nvPr/>
        </p:nvSpPr>
        <p:spPr>
          <a:xfrm rot="0" flipH="0" flipV="0">
            <a:off x="3419475" y="5438775"/>
            <a:ext cx="857250" cy="419100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3533775" y="5495925"/>
            <a:ext cx="62865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>
                <a:solidFill>
                  <a:srgbClr val="1E4FA8"/>
                </a:solidFill>
                <a:latin typeface="Source Han Sans CN"/>
                <a:ea typeface="Source Han Sans CN"/>
              </a:rPr>
              <a:t>闸门①</a:t>
            </a:r>
            <a:r>
              <a:rPr lang="en-US" sz="975">
                <a:solidFill>
                  <a:srgbClr val="1E4FA8"/>
                </a:solidFill>
                <a:latin typeface="Source Han Sans CN"/>
                <a:ea typeface="Source Han Sans CN"/>
              </a:rPr>
              <a:t xml:space="preserve"> prefilter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4371975" y="5553075"/>
            <a:ext cx="123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3D7BD9"/>
                </a:solidFill>
                <a:latin typeface="Source Han Sans CN"/>
                <a:ea typeface="Source Han Sans CN"/>
              </a:rPr>
              <a:t>→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4591050" y="5438775"/>
            <a:ext cx="990600" cy="419100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4705350" y="5495925"/>
            <a:ext cx="76200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Source Han Sans CN"/>
                <a:ea typeface="Source Han Sans CN"/>
              </a:rPr>
              <a:t xml:space="preserve">n_sel </a:t>
            </a:r>
            <a:r>
              <a:rPr lang="zh-CN" sz="975">
                <a:solidFill>
                  <a:srgbClr val="1E4FA8"/>
                </a:solidFill>
                <a:latin typeface="Source Han Sans CN"/>
                <a:ea typeface="Source Han Sans CN"/>
              </a:rPr>
              <a:t>边际纳入</a:t>
            </a:r>
            <a:r>
              <a:rPr lang="en-US" sz="975">
                <a:solidFill>
                  <a:srgbClr val="1E4FA8"/>
                </a:solidFill>
                <a:latin typeface="Source Han Sans CN"/>
                <a:ea typeface="Source Han Sans CN"/>
              </a:rPr>
              <a:t>(</a:t>
            </a:r>
            <a:r>
              <a:rPr lang="zh-CN" sz="975">
                <a:solidFill>
                  <a:srgbClr val="1E4FA8"/>
                </a:solidFill>
                <a:latin typeface="Source Han Sans CN"/>
                <a:ea typeface="Source Han Sans CN"/>
              </a:rPr>
              <a:t>紧</a:t>
            </a:r>
            <a:r>
              <a:rPr lang="en-US" sz="975">
                <a:solidFill>
                  <a:srgbClr val="1E4FA8"/>
                </a:solidFill>
                <a:latin typeface="Source Han Sans CN"/>
                <a:ea typeface="Source Han Sans CN"/>
              </a:rPr>
              <a:t>)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5676900" y="5553075"/>
            <a:ext cx="123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3D7BD9"/>
                </a:solidFill>
                <a:latin typeface="Source Han Sans CN"/>
                <a:ea typeface="Source Han Sans CN"/>
              </a:rPr>
              <a:t>→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5895975" y="5438775"/>
            <a:ext cx="962025" cy="419100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6010275" y="5495925"/>
            <a:ext cx="733425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>
                <a:solidFill>
                  <a:srgbClr val="1E4FA8"/>
                </a:solidFill>
                <a:latin typeface="Source Han Sans CN"/>
                <a:ea typeface="Source Han Sans CN"/>
              </a:rPr>
              <a:t>闸门②</a:t>
            </a:r>
            <a:r>
              <a:rPr lang="en-US" sz="975">
                <a:solidFill>
                  <a:srgbClr val="1E4FA8"/>
                </a:solidFill>
                <a:latin typeface="Source Han Sans CN"/>
                <a:ea typeface="Source Han Sans CN"/>
              </a:rPr>
              <a:t xml:space="preserve"> postcheck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7277100" y="1143000"/>
            <a:ext cx="4533900" cy="2400300"/>
          </a:xfrm>
          <a:prstGeom prst="roundRect">
            <a:avLst>
              <a:gd name="adj" fmla="val 3968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16" name=""/>
          <p:cNvSpPr/>
          <p:nvPr/>
        </p:nvSpPr>
        <p:spPr>
          <a:xfrm rot="0" flipH="0" flipV="0">
            <a:off x="7277100" y="1143000"/>
            <a:ext cx="4533900" cy="2400300"/>
          </a:xfrm>
          <a:custGeom>
            <a:pathLst>
              <a:path w="476" h="252">
                <a:moveTo>
                  <a:pt x="466" y="0"/>
                </a:moveTo>
                <a:cubicBezTo>
                  <a:pt x="471" y="0"/>
                  <a:pt x="475" y="4"/>
                  <a:pt x="476" y="8"/>
                </a:cubicBezTo>
                <a:cubicBezTo>
                  <a:pt x="475" y="6"/>
                  <a:pt x="473" y="4"/>
                  <a:pt x="470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466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7467600" y="1276350"/>
            <a:ext cx="4152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③ </a:t>
            </a:r>
            <a:r>
              <a:rPr lang="zh-CN" sz="1425" b="1">
                <a:solidFill>
                  <a:srgbClr val="0E3F8C"/>
                </a:solidFill>
                <a:latin typeface="Source Han Sans CN"/>
                <a:ea typeface="Source Han Sans CN"/>
              </a:rPr>
              <a:t>边际收益增量选择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7467600" y="1590675"/>
            <a:ext cx="4152900" cy="885825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8667750" y="1704975"/>
            <a:ext cx="1762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0E3F8C"/>
                </a:solidFill>
                <a:latin typeface="Source Han Sans CN"/>
                <a:ea typeface="Source Han Sans CN"/>
              </a:rPr>
              <a:t>Δ</a:t>
            </a:r>
            <a:r>
              <a:rPr lang="en-US" sz="975" b="1">
                <a:solidFill>
                  <a:srgbClr val="0E3F8C"/>
                </a:solidFill>
                <a:latin typeface="Source Han Sans CN"/>
                <a:ea typeface="Source Han Sans CN"/>
              </a:rPr>
              <a:t>i</a:t>
            </a:r>
            <a:r>
              <a:rPr lang="en-US" sz="1500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= ΔB</a:t>
            </a:r>
            <a:r>
              <a:rPr lang="en-US" sz="975" b="1">
                <a:solidFill>
                  <a:srgbClr val="0E3F8C"/>
                </a:solidFill>
                <a:latin typeface="Source Han Sans CN"/>
                <a:ea typeface="Source Han Sans CN"/>
              </a:rPr>
              <a:t>i</a:t>
            </a:r>
            <a:r>
              <a:rPr lang="en-US" sz="1500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/ (ΔC</a:t>
            </a:r>
            <a:r>
              <a:rPr lang="en-US" sz="975" b="1">
                <a:solidFill>
                  <a:srgbClr val="0E3F8C"/>
                </a:solidFill>
                <a:latin typeface="Source Han Sans CN"/>
                <a:ea typeface="Source Han Sans CN"/>
              </a:rPr>
              <a:t>i</a:t>
            </a:r>
            <a:r>
              <a:rPr lang="en-US" sz="1500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+ ε)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7600950" y="1990725"/>
            <a:ext cx="3886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200">
                <a:solidFill>
                  <a:srgbClr val="1E4FA8"/>
                </a:solidFill>
                <a:latin typeface="Source Han Sans CN"/>
                <a:ea typeface="Source Han Sans CN"/>
              </a:rPr>
              <a:t>ΔC</a:t>
            </a:r>
            <a:r>
              <a:rPr lang="en-US" sz="825">
                <a:solidFill>
                  <a:srgbClr val="1E4FA8"/>
                </a:solidFill>
                <a:latin typeface="Source Han Sans CN"/>
                <a:ea typeface="Source Han Sans CN"/>
              </a:rPr>
              <a:t>i</a:t>
            </a:r>
            <a:r>
              <a:rPr lang="en-US" sz="1200">
                <a:solidFill>
                  <a:srgbClr val="1E4FA8"/>
                </a:solidFill>
                <a:latin typeface="Source Han Sans CN"/>
                <a:ea typeface="Source Han Sans CN"/>
              </a:rPr>
              <a:t xml:space="preserve"> = min</a:t>
            </a:r>
            <a:r>
              <a:rPr lang="en-US" sz="900">
                <a:solidFill>
                  <a:srgbClr val="1E4FA8"/>
                </a:solidFill>
                <a:latin typeface="Source Han Sans CN"/>
                <a:ea typeface="Source Han Sans CN"/>
              </a:rPr>
              <a:t>{</a:t>
            </a:r>
            <a:r>
              <a:rPr lang="en-US" sz="900">
                <a:solidFill>
                  <a:srgbClr val="1E4FA8"/>
                </a:solidFill>
                <a:latin typeface="Source Han Sans CN"/>
                <a:ea typeface="Source Han Sans CN"/>
              </a:rPr>
              <a:t xml:space="preserve"> C</a:t>
            </a:r>
            <a:r>
              <a:rPr lang="en-US" sz="750">
                <a:solidFill>
                  <a:srgbClr val="1E4FA8"/>
                </a:solidFill>
                <a:latin typeface="Source Han Sans CN"/>
                <a:ea typeface="Source Han Sans CN"/>
              </a:rPr>
              <a:t>ai</a:t>
            </a:r>
            <a:r>
              <a:rPr lang="en-US" sz="900">
                <a:solidFill>
                  <a:srgbClr val="1E4FA8"/>
                </a:solidFill>
                <a:latin typeface="Source Han Sans CN"/>
                <a:ea typeface="Source Han Sans CN"/>
              </a:rPr>
              <a:t xml:space="preserve"> + C</a:t>
            </a:r>
            <a:r>
              <a:rPr lang="en-US" sz="750">
                <a:solidFill>
                  <a:srgbClr val="1E4FA8"/>
                </a:solidFill>
                <a:latin typeface="Source Han Sans CN"/>
                <a:ea typeface="Source Han Sans CN"/>
              </a:rPr>
              <a:t>ib</a:t>
            </a:r>
            <a:r>
              <a:rPr lang="en-US" sz="900">
                <a:solidFill>
                  <a:srgbClr val="1E4FA8"/>
                </a:solidFill>
                <a:latin typeface="Source Han Sans CN"/>
                <a:ea typeface="Source Han Sans CN"/>
              </a:rPr>
              <a:t xml:space="preserve"> − C</a:t>
            </a:r>
            <a:r>
              <a:rPr lang="en-US" sz="750">
                <a:solidFill>
                  <a:srgbClr val="1E4FA8"/>
                </a:solidFill>
                <a:latin typeface="Source Han Sans CN"/>
                <a:ea typeface="Source Han Sans CN"/>
              </a:rPr>
              <a:t>ab</a:t>
            </a:r>
            <a:r>
              <a:rPr lang="en-US" sz="900">
                <a:solidFill>
                  <a:srgbClr val="1E4FA8"/>
                </a:solidFill>
                <a:latin typeface="Source Han Sans CN"/>
                <a:ea typeface="Source Han Sans CN"/>
              </a:rPr>
              <a:t xml:space="preserve"> </a:t>
            </a:r>
            <a:r>
              <a:rPr lang="en-US" sz="900">
                <a:solidFill>
                  <a:srgbClr val="1E4FA8"/>
                </a:solidFill>
                <a:latin typeface="Source Han Sans CN"/>
                <a:ea typeface="Source Han Sans CN"/>
              </a:rPr>
              <a:t>}</a:t>
            </a:r>
            <a:r>
              <a:rPr lang="zh-CN" sz="1200">
                <a:solidFill>
                  <a:srgbClr val="1E4FA8"/>
                </a:solidFill>
                <a:latin typeface="Source Han Sans CN"/>
                <a:ea typeface="Source Han Sans CN"/>
              </a:rPr>
              <a:t>（所有锚点对插入，统一</a:t>
            </a:r>
            <a:r>
              <a:rPr lang="en-US" sz="1200">
                <a:solidFill>
                  <a:srgbClr val="1E4FA8"/>
                </a:solidFill>
                <a:latin typeface="Source Han Sans CN"/>
                <a:ea typeface="Source Han Sans CN"/>
              </a:rPr>
              <a:t xml:space="preserve"> DEM </a:t>
            </a:r>
            <a:r>
              <a:rPr lang="zh-CN" sz="1200">
                <a:solidFill>
                  <a:srgbClr val="1E4FA8"/>
                </a:solidFill>
                <a:latin typeface="Source Han Sans CN"/>
                <a:ea typeface="Source Han Sans CN"/>
              </a:rPr>
              <a:t>三维航程）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7467600" y="2552700"/>
            <a:ext cx="4152900" cy="819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插入式快速估计：对「已选集合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+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最近机巢」的</a:t>
            </a:r>
            <a:r>
              <a:rPr lang="zh-CN" sz="1050" b="1">
                <a:solidFill>
                  <a:srgbClr val="4A5568"/>
                </a:solidFill>
                <a:latin typeface="Source Han Sans CN"/>
                <a:ea typeface="Source Han Sans CN"/>
              </a:rPr>
              <a:t>所有锚点对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试接入任务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i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，取最小三维航程增量——不预设任何顺序、不求解完整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MUAS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，与已选任务空间相近者因增量代价低而胜出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7277100" y="3638550"/>
            <a:ext cx="4533900" cy="1323975"/>
          </a:xfrm>
          <a:prstGeom prst="roundRect">
            <a:avLst>
              <a:gd name="adj" fmla="val 719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7467600" y="3762375"/>
            <a:ext cx="4152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④ </a:t>
            </a:r>
            <a:r>
              <a:rPr lang="zh-CN" sz="1275" b="1">
                <a:solidFill>
                  <a:srgbClr val="0E3F8C"/>
                </a:solidFill>
                <a:latin typeface="Source Han Sans CN"/>
                <a:ea typeface="Source Han Sans CN"/>
              </a:rPr>
              <a:t>两道可行性闸门（粗粒度，弹回不淘汰）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7467600" y="4019550"/>
            <a:ext cx="4152900" cy="819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闸门①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prefilter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：是否有可用机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·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单任务往返可达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·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三维地形不可达；闸门②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postcheck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：机群剩余航程预算——仅物理不可行才不进候选，否则留池下周期再评；时间窗迟到由适应度折减、非参选资格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7277100" y="5095875"/>
            <a:ext cx="4533900" cy="1152525"/>
          </a:xfrm>
          <a:prstGeom prst="roundRect">
            <a:avLst>
              <a:gd name="adj" fmla="val 8264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7467600" y="5229225"/>
            <a:ext cx="415290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FFFFFF"/>
                </a:solidFill>
                <a:latin typeface="Source Han Sans CN"/>
                <a:ea typeface="Source Han Sans CN"/>
              </a:rPr>
              <a:t>判断：选择质量与实时性兼得——边际比只依赖代价矩阵查表与插入估计，单周期选择开销可忽略，却保住了「任务</a:t>
            </a:r>
            <a:r>
              <a:rPr lang="en-US" sz="1200" b="1">
                <a:solidFill>
                  <a:srgbClr val="FFFFFF"/>
                </a:solidFill>
                <a:latin typeface="Source Han Sans CN"/>
                <a:ea typeface="Source Han Sans CN"/>
              </a:rPr>
              <a:t xml:space="preserve"> × </a:t>
            </a:r>
            <a:r>
              <a:rPr lang="zh-CN" sz="1200" b="1">
                <a:solidFill>
                  <a:srgbClr val="FFFFFF"/>
                </a:solidFill>
                <a:latin typeface="Source Han Sans CN"/>
                <a:ea typeface="Source Han Sans CN"/>
              </a:rPr>
              <a:t>组合」的匹配质量。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0" y="6448425"/>
            <a:ext cx="12192000" cy="4095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28" name=""/>
          <p:cNvSpPr/>
          <p:nvPr/>
        </p:nvSpPr>
        <p:spPr>
          <a:xfrm rot="0" flipH="0" flipV="0">
            <a:off x="0" y="6438900"/>
            <a:ext cx="12192000" cy="419100"/>
          </a:xfrm>
          <a:custGeom>
            <a:pathLst>
              <a:path w="1280" h="4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381000" y="6581775"/>
            <a:ext cx="2828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CN"/>
                <a:ea typeface="Source Han Sans CN"/>
              </a:rPr>
              <a:t>动态滚动的多机巢多无人机协同任务分配</a:t>
            </a:r>
            <a:r>
              <a:rPr lang="en-US" sz="975">
                <a:solidFill>
                  <a:srgbClr val="8B97A8"/>
                </a:solidFill>
                <a:latin typeface="Source Han Sans CN"/>
                <a:ea typeface="Source Han Sans CN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Source Han Sans CN"/>
                <a:ea typeface="Source Han Sans CN"/>
              </a:rPr>
              <a:t>进展汇报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11296650" y="657225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CN"/>
                <a:ea typeface="Source Han Sans CN"/>
              </a:rPr>
              <a:t>07 / 16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0" y="0"/>
            <a:ext cx="12192000" cy="1143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381000" y="31432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571500" y="285750"/>
            <a:ext cx="46291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Source Han Sans CN"/>
                <a:ea typeface="Source Han Sans CN"/>
              </a:rPr>
              <a:t>改进离散映射差分进化（</a:t>
            </a:r>
            <a:r>
              <a:rPr lang="en-US" sz="2400" b="1">
                <a:solidFill>
                  <a:srgbClr val="0E3F8C"/>
                </a:solidFill>
                <a:latin typeface="Source Han Sans CN"/>
                <a:ea typeface="Source Han Sans CN"/>
              </a:rPr>
              <a:t>DMDE</a:t>
            </a:r>
            <a:r>
              <a:rPr lang="zh-CN" sz="2400" b="1">
                <a:solidFill>
                  <a:srgbClr val="0E3F8C"/>
                </a:solidFill>
                <a:latin typeface="Source Han Sans CN"/>
                <a:ea typeface="Source Han Sans CN"/>
              </a:rPr>
              <a:t>）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571500" y="742950"/>
            <a:ext cx="4962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Source Han Sans CN"/>
                <a:ea typeface="Source Han Sans CN"/>
              </a:rPr>
              <a:t>连续编码承载「</a:t>
            </a:r>
            <a:r>
              <a:rPr lang="en-US" sz="1125">
                <a:solidFill>
                  <a:srgbClr val="8B97A8"/>
                </a:solidFill>
                <a:latin typeface="Source Han Sans CN"/>
                <a:ea typeface="Source Han Sans CN"/>
              </a:rPr>
              <a:t xml:space="preserve">UAV </a:t>
            </a:r>
            <a:r>
              <a:rPr lang="zh-CN" sz="1125">
                <a:solidFill>
                  <a:srgbClr val="8B97A8"/>
                </a:solidFill>
                <a:latin typeface="Source Han Sans CN"/>
                <a:ea typeface="Source Han Sans CN"/>
              </a:rPr>
              <a:t>归属</a:t>
            </a:r>
            <a:r>
              <a:rPr lang="en-US" sz="1125">
                <a:solidFill>
                  <a:srgbClr val="8B97A8"/>
                </a:solidFill>
                <a:latin typeface="Source Han Sans CN"/>
                <a:ea typeface="Source Han Sans CN"/>
              </a:rPr>
              <a:t xml:space="preserve"> + </a:t>
            </a:r>
            <a:r>
              <a:rPr lang="zh-CN" sz="1125">
                <a:solidFill>
                  <a:srgbClr val="8B97A8"/>
                </a:solidFill>
                <a:latin typeface="Source Han Sans CN"/>
                <a:ea typeface="Source Han Sans CN"/>
              </a:rPr>
              <a:t>访问顺序」，差分算子的搜索方向由地理代价引导</a:t>
            </a:r>
            <a:endParaRPr/>
          </a:p>
        </p:txBody>
      </p:sp>
      <p:pic>
        <p:nvPicPr>
          <p:cNvPr id="4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933450"/>
            <a:ext cx="11049000" cy="2400300"/>
          </a:xfrm>
          <a:prstGeom prst="rect">
            <a:avLst/>
          </a:prstGeom>
          <a:ln/>
        </p:spPr>
      </p:pic>
      <p:sp>
        <p:nvSpPr>
          <p:cNvPr id="438" name=""/>
          <p:cNvSpPr/>
          <p:nvPr/>
        </p:nvSpPr>
        <p:spPr>
          <a:xfrm rot="0" flipH="0" flipV="0">
            <a:off x="571500" y="35433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685800" y="36099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CN"/>
                <a:ea typeface="Source Han Sans CN"/>
              </a:rPr>
              <a:t>1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990600" y="360045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Source Han Sans CN"/>
                <a:ea typeface="Source Han Sans CN"/>
              </a:rPr>
              <a:t>首任务匹配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571500" y="3943350"/>
            <a:ext cx="2667000" cy="495300"/>
          </a:xfrm>
          <a:prstGeom prst="rect"/>
        </p:spPr>
        <p:txBody>
          <a:bodyPr wrap="square" lIns="0" tIns="0" rIns="11430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4A5568"/>
                </a:solidFill>
                <a:latin typeface="Source Han Sans CN"/>
                <a:ea typeface="Source Han Sans CN"/>
              </a:rPr>
              <a:t>温度自适应</a:t>
            </a:r>
            <a:r>
              <a:rPr lang="en-US" sz="1013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softmax</a:t>
            </a:r>
            <a:r>
              <a:rPr lang="zh-CN" sz="1013">
                <a:solidFill>
                  <a:srgbClr val="4A5568"/>
                </a:solidFill>
                <a:latin typeface="Source Han Sans CN"/>
                <a:ea typeface="Source Han Sans CN"/>
              </a:rPr>
              <a:t>：早期较大候选集软采样保多样性，随温度衰减收敛为贪心匹配</a:t>
            </a:r>
            <a:endParaRPr/>
          </a:p>
        </p:txBody>
      </p:sp>
      <p:sp>
        <p:nvSpPr>
          <p:cNvPr id="442" name=""/>
          <p:cNvSpPr/>
          <p:nvPr/>
        </p:nvSpPr>
        <p:spPr>
          <a:xfrm rot="0" flipH="0" flipV="0">
            <a:off x="3362325" y="35433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3476625" y="36099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CN"/>
                <a:ea typeface="Source Han Sans CN"/>
              </a:rPr>
              <a:t>2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3781425" y="360045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Source Han Sans CN"/>
                <a:ea typeface="Source Han Sans CN"/>
              </a:rPr>
              <a:t>巡游边匹配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3362325" y="3943350"/>
            <a:ext cx="2543175" cy="742950"/>
          </a:xfrm>
          <a:prstGeom prst="rect"/>
        </p:spPr>
        <p:txBody>
          <a:bodyPr wrap="square" lIns="0" tIns="0" rIns="11430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4A5568"/>
                </a:solidFill>
                <a:latin typeface="Source Han Sans CN"/>
                <a:ea typeface="Source Han Sans CN"/>
              </a:rPr>
              <a:t>按迭代行替换：以已访问任务为新起点行继续匹配——访问顺序真正进入进化搜索空间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6029325" y="35433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6143625" y="36099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CN"/>
                <a:ea typeface="Source Han Sans CN"/>
              </a:rPr>
              <a:t>3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6448425" y="36004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Source Han Sans CN"/>
                <a:ea typeface="Source Han Sans CN"/>
              </a:rPr>
              <a:t>扰动增强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6029325" y="3943350"/>
            <a:ext cx="2543175" cy="495300"/>
          </a:xfrm>
          <a:prstGeom prst="rect"/>
        </p:spPr>
        <p:txBody>
          <a:bodyPr wrap="square" lIns="0" tIns="0" rIns="11430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4A5568"/>
                </a:solidFill>
                <a:latin typeface="Source Han Sans CN"/>
                <a:ea typeface="Source Han Sans CN"/>
              </a:rPr>
              <a:t>匹配后辅以</a:t>
            </a:r>
            <a:r>
              <a:rPr lang="en-US" sz="1013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swap / insert / reverse </a:t>
            </a:r>
            <a:r>
              <a:rPr lang="zh-CN" sz="1013">
                <a:solidFill>
                  <a:srgbClr val="4A5568"/>
                </a:solidFill>
                <a:latin typeface="Source Han Sans CN"/>
                <a:ea typeface="Source Han Sans CN"/>
              </a:rPr>
              <a:t>扰动，跳出局部结构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8696325" y="35433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8810625" y="36099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CN"/>
                <a:ea typeface="Source Han Sans CN"/>
              </a:rPr>
              <a:t>4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9115425" y="360045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Source Han Sans CN"/>
                <a:ea typeface="Source Han Sans CN"/>
              </a:rPr>
              <a:t>段结构规范化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8696325" y="3943350"/>
            <a:ext cx="2543175" cy="742950"/>
          </a:xfrm>
          <a:prstGeom prst="rect"/>
        </p:spPr>
        <p:txBody>
          <a:bodyPr wrap="square" lIns="0" tIns="0" rIns="11430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4A5568"/>
                </a:solidFill>
                <a:latin typeface="Source Han Sans CN"/>
                <a:ea typeface="Source Han Sans CN"/>
              </a:rPr>
              <a:t>重建航次分段：起始基因按</a:t>
            </a:r>
            <a:r>
              <a:rPr lang="en-US" sz="1013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UAV </a:t>
            </a:r>
            <a:r>
              <a:rPr lang="zh-CN" sz="1013">
                <a:solidFill>
                  <a:srgbClr val="4A5568"/>
                </a:solidFill>
                <a:latin typeface="Source Han Sans CN"/>
                <a:ea typeface="Source Han Sans CN"/>
              </a:rPr>
              <a:t>升序、终止基因稳定落段末——保证</a:t>
            </a:r>
            <a:r>
              <a:rPr lang="en-US" sz="1013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SRP </a:t>
            </a:r>
            <a:r>
              <a:rPr lang="zh-CN" sz="1013">
                <a:solidFill>
                  <a:srgbClr val="4A5568"/>
                </a:solidFill>
                <a:latin typeface="Source Han Sans CN"/>
                <a:ea typeface="Source Han Sans CN"/>
              </a:rPr>
              <a:t>不变式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609600" y="4762500"/>
            <a:ext cx="5429250" cy="990600"/>
          </a:xfrm>
          <a:prstGeom prst="roundRect">
            <a:avLst>
              <a:gd name="adj" fmla="val 9615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609600" y="4762500"/>
            <a:ext cx="5429250" cy="990600"/>
          </a:xfrm>
          <a:custGeom>
            <a:pathLst>
              <a:path w="570" h="10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98"/>
                </a:lnTo>
                <a:cubicBezTo>
                  <a:pt x="4" y="101"/>
                  <a:pt x="6" y="103"/>
                  <a:pt x="9" y="104"/>
                </a:cubicBezTo>
                <a:cubicBezTo>
                  <a:pt x="4" y="103"/>
                  <a:pt x="0" y="99"/>
                  <a:pt x="0" y="9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781050" y="4886325"/>
            <a:ext cx="50482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0E3F8C"/>
                </a:solidFill>
                <a:latin typeface="Source Han Sans CN"/>
                <a:ea typeface="Source Han Sans CN"/>
              </a:rPr>
              <a:t>选择性</a:t>
            </a:r>
            <a:r>
              <a:rPr lang="en-US" sz="1163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y=0 </a:t>
            </a:r>
            <a:r>
              <a:rPr lang="zh-CN" sz="1163" b="1">
                <a:solidFill>
                  <a:srgbClr val="0E3F8C"/>
                </a:solidFill>
                <a:latin typeface="Source Han Sans CN"/>
                <a:ea typeface="Source Han Sans CN"/>
              </a:rPr>
              <a:t>的决策位置：不占编码维度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781050" y="5114925"/>
            <a:ext cx="50482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13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DE </a:t>
            </a:r>
            <a:r>
              <a:rPr lang="zh-CN" sz="1013">
                <a:solidFill>
                  <a:srgbClr val="4A5568"/>
                </a:solidFill>
                <a:latin typeface="Source Han Sans CN"/>
                <a:ea typeface="Source Han Sans CN"/>
              </a:rPr>
              <a:t>空间中每个任务都被分配，「暂不执行」由解码后的可行性修复在评估端裁量（航程超限移除），并支持「任务少时并入更少机」的合并修复——空闲机零成本。</a:t>
            </a:r>
            <a:endParaRPr/>
          </a:p>
        </p:txBody>
      </p:sp>
      <p:sp>
        <p:nvSpPr>
          <p:cNvPr id="458" name=""/>
          <p:cNvSpPr/>
          <p:nvPr/>
        </p:nvSpPr>
        <p:spPr>
          <a:xfrm rot="0" flipH="0" flipV="0">
            <a:off x="6229350" y="4762500"/>
            <a:ext cx="5429250" cy="990600"/>
          </a:xfrm>
          <a:prstGeom prst="roundRect">
            <a:avLst>
              <a:gd name="adj" fmla="val 9615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6229350" y="4762500"/>
            <a:ext cx="5429250" cy="990600"/>
          </a:xfrm>
          <a:custGeom>
            <a:pathLst>
              <a:path w="570" h="10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98"/>
                </a:lnTo>
                <a:cubicBezTo>
                  <a:pt x="4" y="101"/>
                  <a:pt x="6" y="103"/>
                  <a:pt x="9" y="104"/>
                </a:cubicBezTo>
                <a:cubicBezTo>
                  <a:pt x="4" y="103"/>
                  <a:pt x="0" y="99"/>
                  <a:pt x="0" y="9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6400800" y="4886325"/>
            <a:ext cx="50482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Lamarckian </a:t>
            </a:r>
            <a:r>
              <a:rPr lang="zh-CN" sz="1163" b="1">
                <a:solidFill>
                  <a:srgbClr val="0E3F8C"/>
                </a:solidFill>
                <a:latin typeface="Source Han Sans CN"/>
                <a:ea typeface="Source Han Sans CN"/>
              </a:rPr>
              <a:t>回写：只回写起始基因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6400800" y="5114925"/>
            <a:ext cx="50482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13">
                <a:solidFill>
                  <a:srgbClr val="4A5568"/>
                </a:solidFill>
                <a:latin typeface="Source Han Sans CN"/>
                <a:ea typeface="Source Han Sans CN"/>
              </a:rPr>
              <a:t>修复解只把首任务写回获胜个体的起始基因，巡游基因原样保留、绝不增删——基因长度恒定，这是「每任务恰出现一次」不变式下可安全落地的关键。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0" y="6448425"/>
            <a:ext cx="12192000" cy="4095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63" name=""/>
          <p:cNvSpPr/>
          <p:nvPr/>
        </p:nvSpPr>
        <p:spPr>
          <a:xfrm rot="0" flipH="0" flipV="0">
            <a:off x="0" y="6438900"/>
            <a:ext cx="12192000" cy="419100"/>
          </a:xfrm>
          <a:custGeom>
            <a:pathLst>
              <a:path w="1280" h="4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381000" y="6581775"/>
            <a:ext cx="2828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CN"/>
                <a:ea typeface="Source Han Sans CN"/>
              </a:rPr>
              <a:t>动态滚动的多机巢多无人机协同任务分配</a:t>
            </a:r>
            <a:r>
              <a:rPr lang="en-US" sz="975">
                <a:solidFill>
                  <a:srgbClr val="8B97A8"/>
                </a:solidFill>
                <a:latin typeface="Source Han Sans CN"/>
                <a:ea typeface="Source Han Sans CN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Source Han Sans CN"/>
                <a:ea typeface="Source Han Sans CN"/>
              </a:rPr>
              <a:t>进展汇报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11296650" y="657225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CN"/>
                <a:ea typeface="Source Han Sans CN"/>
              </a:rPr>
              <a:t>10 / 16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4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矩形 49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468" name="矩形 498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469" name="矩形 499"/>
          <p:cNvSpPr/>
          <p:nvPr/>
        </p:nvSpPr>
        <p:spPr>
          <a:xfrm>
            <a:off x="381000" y="31432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470" name="文本框 500" descr="{&quot;isTemplate&quot;:true,&quot;type&quot;:&quot;text&quot;}"/>
          <p:cNvSpPr txBox="1"/>
          <p:nvPr/>
        </p:nvSpPr>
        <p:spPr>
          <a:xfrm>
            <a:off x="571500" y="285750"/>
            <a:ext cx="54102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Source Han Sans CN"/>
                <a:ea typeface="Source Han Sans CN"/>
              </a:rPr>
              <a:t>选择性多机巢</a:t>
            </a:r>
            <a:r>
              <a:rPr lang="en-US" sz="2400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MUAS </a:t>
            </a:r>
            <a:r>
              <a:rPr lang="zh-CN" sz="2400" b="1">
                <a:solidFill>
                  <a:srgbClr val="0E3F8C"/>
                </a:solidFill>
                <a:latin typeface="Source Han Sans CN"/>
                <a:ea typeface="Source Han Sans CN"/>
              </a:rPr>
              <a:t>优化模型与适应度</a:t>
            </a:r>
            <a:endParaRPr/>
          </a:p>
        </p:txBody>
      </p:sp>
      <p:sp>
        <p:nvSpPr>
          <p:cNvPr id="471" name="文本框 501" descr="{&quot;isTemplate&quot;:true,&quot;type&quot;:&quot;text&quot;}"/>
          <p:cNvSpPr txBox="1"/>
          <p:nvPr/>
        </p:nvSpPr>
        <p:spPr>
          <a:xfrm>
            <a:off x="571500" y="742950"/>
            <a:ext cx="45720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Source Han Sans CN"/>
                <a:ea typeface="Source Han Sans CN"/>
              </a:rPr>
              <a:t>左：论文组合优化模型　右：进化评价的现行生产口径（四层准字典序）</a:t>
            </a:r>
            <a:endParaRPr/>
          </a:p>
        </p:txBody>
      </p:sp>
      <p:sp>
        <p:nvSpPr>
          <p:cNvPr id="472" name="矩形: 圆角 502"/>
          <p:cNvSpPr/>
          <p:nvPr/>
        </p:nvSpPr>
        <p:spPr>
          <a:xfrm>
            <a:off x="381000" y="1104900"/>
            <a:ext cx="5810250" cy="1895475"/>
          </a:xfrm>
          <a:prstGeom prst="roundRect">
            <a:avLst>
              <a:gd name="adj" fmla="val 502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sp>
        <p:nvSpPr>
          <p:cNvPr id="473" name="文本框 503" descr="{&quot;isTemplate&quot;:true,&quot;type&quot;:&quot;text&quot;}"/>
          <p:cNvSpPr txBox="1"/>
          <p:nvPr/>
        </p:nvSpPr>
        <p:spPr>
          <a:xfrm>
            <a:off x="552450" y="1238250"/>
            <a:ext cx="54673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① </a:t>
            </a:r>
            <a:r>
              <a:rPr lang="zh-CN" sz="1350" b="1">
                <a:solidFill>
                  <a:srgbClr val="0E3F8C"/>
                </a:solidFill>
                <a:latin typeface="Source Han Sans CN"/>
                <a:ea typeface="Source Han Sans CN"/>
              </a:rPr>
              <a:t>决策变量与耦合约束</a:t>
            </a:r>
            <a:endParaRPr/>
          </a:p>
        </p:txBody>
      </p:sp>
      <p:sp>
        <p:nvSpPr>
          <p:cNvPr id="474" name="矩形: 圆角 504"/>
          <p:cNvSpPr/>
          <p:nvPr/>
        </p:nvSpPr>
        <p:spPr>
          <a:xfrm>
            <a:off x="552450" y="1543050"/>
            <a:ext cx="5467350" cy="714375"/>
          </a:xfrm>
          <a:prstGeom prst="roundRect">
            <a:avLst>
              <a:gd name="adj" fmla="val 10667"/>
            </a:avLst>
          </a:prstGeom>
          <a:solidFill>
            <a:srgbClr val="E8EFF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475" name="文本框 505" descr="{&quot;isTemplate&quot;:true,&quot;type&quot;:&quot;text&quot;}"/>
          <p:cNvSpPr txBox="1"/>
          <p:nvPr/>
        </p:nvSpPr>
        <p:spPr>
          <a:xfrm>
            <a:off x="685800" y="1657350"/>
            <a:ext cx="52006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Source Han Sans CN"/>
                <a:ea typeface="Source Han Sans CN"/>
              </a:rPr>
              <a:t>y</a:t>
            </a:r>
            <a:r>
              <a:rPr lang="en-US" sz="900" b="1">
                <a:solidFill>
                  <a:srgbClr val="0E3F8C"/>
                </a:solidFill>
                <a:latin typeface="Source Han Sans CN"/>
                <a:ea typeface="Source Han Sans CN"/>
              </a:rPr>
              <a:t>j</a:t>
            </a:r>
            <a:r>
              <a:rPr lang="en-US" sz="1350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∈ {0,1}</a:t>
            </a:r>
            <a:r>
              <a:rPr lang="zh-CN" sz="1350" b="1">
                <a:solidFill>
                  <a:srgbClr val="0E3F8C"/>
                </a:solidFill>
                <a:latin typeface="Source Han Sans CN"/>
                <a:ea typeface="Source Han Sans CN"/>
              </a:rPr>
              <a:t>　</a:t>
            </a:r>
            <a:r>
              <a:rPr lang="en-US" sz="1350" b="1">
                <a:solidFill>
                  <a:srgbClr val="0E3F8C"/>
                </a:solidFill>
                <a:latin typeface="Source Han Sans CN"/>
                <a:ea typeface="Source Han Sans CN"/>
              </a:rPr>
              <a:t>x</a:t>
            </a:r>
            <a:r>
              <a:rPr lang="en-US" sz="900" b="1">
                <a:solidFill>
                  <a:srgbClr val="0E3F8C"/>
                </a:solidFill>
                <a:latin typeface="Source Han Sans CN"/>
                <a:ea typeface="Source Han Sans CN"/>
              </a:rPr>
              <a:t>uj</a:t>
            </a:r>
            <a:r>
              <a:rPr lang="en-US" sz="1350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∈ {0,1}</a:t>
            </a:r>
            <a:r>
              <a:rPr lang="zh-CN" sz="1350" b="1">
                <a:solidFill>
                  <a:srgbClr val="0E3F8C"/>
                </a:solidFill>
                <a:latin typeface="Source Han Sans CN"/>
                <a:ea typeface="Source Han Sans CN"/>
              </a:rPr>
              <a:t>　π</a:t>
            </a:r>
            <a:r>
              <a:rPr lang="en-US" sz="900" b="1">
                <a:solidFill>
                  <a:srgbClr val="0E3F8C"/>
                </a:solidFill>
                <a:latin typeface="Source Han Sans CN"/>
                <a:ea typeface="Source Han Sans CN"/>
              </a:rPr>
              <a:t>u</a:t>
            </a:r>
            <a:r>
              <a:rPr lang="en-US" sz="1350" b="1">
                <a:solidFill>
                  <a:srgbClr val="0E3F8C"/>
                </a:solidFill>
                <a:latin typeface="Source Han Sans CN"/>
                <a:ea typeface="Source Han Sans CN"/>
              </a:rPr>
              <a:t>=(T</a:t>
            </a:r>
            <a:r>
              <a:rPr lang="en-US" sz="900" b="1">
                <a:solidFill>
                  <a:srgbClr val="0E3F8C"/>
                </a:solidFill>
                <a:latin typeface="Source Han Sans CN"/>
                <a:ea typeface="Source Han Sans CN"/>
              </a:rPr>
              <a:t>u1</a:t>
            </a:r>
            <a:r>
              <a:rPr lang="en-US" sz="1350" b="1">
                <a:solidFill>
                  <a:srgbClr val="0E3F8C"/>
                </a:solidFill>
                <a:latin typeface="Source Han Sans CN"/>
                <a:ea typeface="Source Han Sans CN"/>
              </a:rPr>
              <a:t>,…,T</a:t>
            </a:r>
            <a:r>
              <a:rPr lang="en-US" sz="900" b="1">
                <a:solidFill>
                  <a:srgbClr val="0E3F8C"/>
                </a:solidFill>
                <a:latin typeface="Source Han Sans CN"/>
                <a:ea typeface="Source Han Sans CN"/>
              </a:rPr>
              <a:t>un</a:t>
            </a:r>
            <a:r>
              <a:rPr lang="en-US" sz="1350" b="1">
                <a:solidFill>
                  <a:srgbClr val="0E3F8C"/>
                </a:solidFill>
                <a:latin typeface="Source Han Sans CN"/>
                <a:ea typeface="Source Han Sans CN"/>
              </a:rPr>
              <a:t>)</a:t>
            </a:r>
            <a:r>
              <a:rPr lang="zh-CN" sz="1350" b="1">
                <a:solidFill>
                  <a:srgbClr val="0E3F8C"/>
                </a:solidFill>
                <a:latin typeface="Source Han Sans CN"/>
                <a:ea typeface="Source Han Sans CN"/>
              </a:rPr>
              <a:t>　</a:t>
            </a:r>
            <a:r>
              <a:rPr lang="en-US" sz="1350" b="1">
                <a:solidFill>
                  <a:srgbClr val="0E3F8C"/>
                </a:solidFill>
                <a:latin typeface="Source Han Sans CN"/>
                <a:ea typeface="Source Han Sans CN"/>
              </a:rPr>
              <a:t>z</a:t>
            </a:r>
            <a:r>
              <a:rPr lang="en-US" sz="900" b="1">
                <a:solidFill>
                  <a:srgbClr val="0E3F8C"/>
                </a:solidFill>
                <a:latin typeface="Source Han Sans CN"/>
                <a:ea typeface="Source Han Sans CN"/>
              </a:rPr>
              <a:t>ub</a:t>
            </a:r>
            <a:r>
              <a:rPr lang="en-US" sz="1350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∈ {0,1}</a:t>
            </a:r>
            <a:endParaRPr/>
          </a:p>
        </p:txBody>
      </p:sp>
      <p:sp>
        <p:nvSpPr>
          <p:cNvPr id="476" name="文本框 506" descr="{&quot;isTemplate&quot;:true,&quot;type&quot;:&quot;text&quot;}"/>
          <p:cNvSpPr txBox="1"/>
          <p:nvPr/>
        </p:nvSpPr>
        <p:spPr>
          <a:xfrm>
            <a:off x="685800" y="1943100"/>
            <a:ext cx="52006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75">
                <a:solidFill>
                  <a:srgbClr val="1E4FA8"/>
                </a:solidFill>
                <a:latin typeface="Source Han Sans CN"/>
                <a:ea typeface="Source Han Sans CN"/>
              </a:rPr>
              <a:t>Σ</a:t>
            </a:r>
            <a:r>
              <a:rPr lang="en-US" sz="825">
                <a:solidFill>
                  <a:srgbClr val="1E4FA8"/>
                </a:solidFill>
                <a:latin typeface="Source Han Sans CN"/>
                <a:ea typeface="Source Han Sans CN"/>
              </a:rPr>
              <a:t>u</a:t>
            </a:r>
            <a:r>
              <a:rPr lang="en-US" sz="1275">
                <a:solidFill>
                  <a:srgbClr val="1E4FA8"/>
                </a:solidFill>
                <a:latin typeface="Source Han Sans CN"/>
                <a:ea typeface="Source Han Sans CN"/>
              </a:rPr>
              <a:t xml:space="preserve"> x</a:t>
            </a:r>
            <a:r>
              <a:rPr lang="en-US" sz="825">
                <a:solidFill>
                  <a:srgbClr val="1E4FA8"/>
                </a:solidFill>
                <a:latin typeface="Source Han Sans CN"/>
                <a:ea typeface="Source Han Sans CN"/>
              </a:rPr>
              <a:t>uj</a:t>
            </a:r>
            <a:r>
              <a:rPr lang="en-US" sz="1275">
                <a:solidFill>
                  <a:srgbClr val="1E4FA8"/>
                </a:solidFill>
                <a:latin typeface="Source Han Sans CN"/>
                <a:ea typeface="Source Han Sans CN"/>
              </a:rPr>
              <a:t xml:space="preserve"> = y</a:t>
            </a:r>
            <a:r>
              <a:rPr lang="en-US" sz="825">
                <a:solidFill>
                  <a:srgbClr val="1E4FA8"/>
                </a:solidFill>
                <a:latin typeface="Source Han Sans CN"/>
                <a:ea typeface="Source Han Sans CN"/>
              </a:rPr>
              <a:t>j</a:t>
            </a:r>
            <a:r>
              <a:rPr lang="zh-CN" sz="1275">
                <a:solidFill>
                  <a:srgbClr val="1E4FA8"/>
                </a:solidFill>
                <a:latin typeface="Source Han Sans CN"/>
                <a:ea typeface="Source Han Sans CN"/>
              </a:rPr>
              <a:t>　（每任务至多一机；</a:t>
            </a:r>
            <a:r>
              <a:rPr lang="en-US" sz="1275">
                <a:solidFill>
                  <a:srgbClr val="1E4FA8"/>
                </a:solidFill>
                <a:latin typeface="Source Han Sans CN"/>
                <a:ea typeface="Source Han Sans CN"/>
              </a:rPr>
              <a:t xml:space="preserve">y=0 </a:t>
            </a:r>
            <a:r>
              <a:rPr lang="zh-CN" sz="1275">
                <a:solidFill>
                  <a:srgbClr val="1E4FA8"/>
                </a:solidFill>
                <a:latin typeface="Source Han Sans CN"/>
                <a:ea typeface="Source Han Sans CN"/>
              </a:rPr>
              <a:t>即暂不执行）</a:t>
            </a:r>
            <a:endParaRPr/>
          </a:p>
        </p:txBody>
      </p:sp>
      <p:sp>
        <p:nvSpPr>
          <p:cNvPr id="477" name="文本框 507" descr="{&quot;isTemplate&quot;:true,&quot;type&quot;:&quot;text&quot;}"/>
          <p:cNvSpPr txBox="1"/>
          <p:nvPr/>
        </p:nvSpPr>
        <p:spPr>
          <a:xfrm>
            <a:off x="552450" y="2333625"/>
            <a:ext cx="546735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>y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：任务是否执行　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>x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：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>UAV–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任务归属　π：访问顺序　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>z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：终点机巢（起点由停靠状态给定）——允许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n</a:t>
            </a:r>
            <a:r>
              <a:rPr lang="en-US" sz="825">
                <a:solidFill>
                  <a:srgbClr val="4A5568"/>
                </a:solidFill>
                <a:latin typeface="Source Han Sans CN"/>
                <a:ea typeface="Source Han Sans CN"/>
              </a:rPr>
              <a:t>u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>=0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，即部分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UAV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空闲</a:t>
            </a:r>
            <a:endParaRPr/>
          </a:p>
        </p:txBody>
      </p:sp>
      <p:sp>
        <p:nvSpPr>
          <p:cNvPr id="478" name="矩形: 圆角 508"/>
          <p:cNvSpPr/>
          <p:nvPr/>
        </p:nvSpPr>
        <p:spPr>
          <a:xfrm>
            <a:off x="381000" y="3133725"/>
            <a:ext cx="5810250" cy="1628775"/>
          </a:xfrm>
          <a:prstGeom prst="roundRect">
            <a:avLst>
              <a:gd name="adj" fmla="val 584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sp>
        <p:nvSpPr>
          <p:cNvPr id="479" name="文本框 509" descr="{&quot;isTemplate&quot;:true,&quot;type&quot;:&quot;text&quot;}"/>
          <p:cNvSpPr txBox="1"/>
          <p:nvPr/>
        </p:nvSpPr>
        <p:spPr>
          <a:xfrm>
            <a:off x="552450" y="3267075"/>
            <a:ext cx="54673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② </a:t>
            </a:r>
            <a:r>
              <a:rPr lang="zh-CN" sz="1350" b="1">
                <a:solidFill>
                  <a:srgbClr val="0E3F8C"/>
                </a:solidFill>
                <a:latin typeface="Source Han Sans CN"/>
                <a:ea typeface="Source Han Sans CN"/>
              </a:rPr>
              <a:t>双目标：收益最大</a:t>
            </a:r>
            <a:r>
              <a:rPr lang="en-US" sz="1350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× </a:t>
            </a:r>
            <a:r>
              <a:rPr lang="zh-CN" sz="1350" b="1">
                <a:solidFill>
                  <a:srgbClr val="0E3F8C"/>
                </a:solidFill>
                <a:latin typeface="Source Han Sans CN"/>
                <a:ea typeface="Source Han Sans CN"/>
              </a:rPr>
              <a:t>代价最小</a:t>
            </a:r>
            <a:endParaRPr/>
          </a:p>
        </p:txBody>
      </p:sp>
      <p:sp>
        <p:nvSpPr>
          <p:cNvPr id="480" name="矩形: 圆角 510"/>
          <p:cNvSpPr/>
          <p:nvPr/>
        </p:nvSpPr>
        <p:spPr>
          <a:xfrm>
            <a:off x="552450" y="3571875"/>
            <a:ext cx="5467350" cy="447675"/>
          </a:xfrm>
          <a:prstGeom prst="roundRect">
            <a:avLst>
              <a:gd name="adj" fmla="val 17021"/>
            </a:avLst>
          </a:prstGeom>
          <a:solidFill>
            <a:srgbClr val="E8EFF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481" name="文本框 511" descr="{&quot;isTemplate&quot;:true,&quot;type&quot;:&quot;text&quot;}"/>
          <p:cNvSpPr txBox="1"/>
          <p:nvPr/>
        </p:nvSpPr>
        <p:spPr>
          <a:xfrm>
            <a:off x="685800" y="3686175"/>
            <a:ext cx="52006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Source Han Sans CN"/>
                <a:ea typeface="Source Han Sans CN"/>
              </a:rPr>
              <a:t>max F</a:t>
            </a:r>
            <a:r>
              <a:rPr lang="en-US" sz="900" b="1">
                <a:solidFill>
                  <a:srgbClr val="0E3F8C"/>
                </a:solidFill>
                <a:latin typeface="Source Han Sans CN"/>
                <a:ea typeface="Source Han Sans CN"/>
              </a:rPr>
              <a:t>1</a:t>
            </a:r>
            <a:r>
              <a:rPr lang="en-US" sz="1425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= Σ</a:t>
            </a:r>
            <a:r>
              <a:rPr lang="en-US" sz="825" b="1">
                <a:solidFill>
                  <a:srgbClr val="0E3F8C"/>
                </a:solidFill>
                <a:latin typeface="Source Han Sans CN"/>
                <a:ea typeface="Source Han Sans CN"/>
              </a:rPr>
              <a:t>j</a:t>
            </a:r>
            <a:r>
              <a:rPr lang="en-US" sz="1425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R</a:t>
            </a:r>
            <a:r>
              <a:rPr lang="en-US" sz="825" b="1">
                <a:solidFill>
                  <a:srgbClr val="0E3F8C"/>
                </a:solidFill>
                <a:latin typeface="Source Han Sans CN"/>
                <a:ea typeface="Source Han Sans CN"/>
              </a:rPr>
              <a:t>j</a:t>
            </a:r>
            <a:r>
              <a:rPr lang="en-US" sz="1425" b="1">
                <a:solidFill>
                  <a:srgbClr val="0E3F8C"/>
                </a:solidFill>
                <a:latin typeface="Source Han Sans CN"/>
                <a:ea typeface="Source Han Sans CN"/>
              </a:rPr>
              <a:t>(t)·y</a:t>
            </a:r>
            <a:r>
              <a:rPr lang="en-US" sz="825" b="1">
                <a:solidFill>
                  <a:srgbClr val="0E3F8C"/>
                </a:solidFill>
                <a:latin typeface="Source Han Sans CN"/>
                <a:ea typeface="Source Han Sans CN"/>
              </a:rPr>
              <a:t>j</a:t>
            </a:r>
            <a:r>
              <a:rPr lang="zh-CN" sz="1425">
                <a:solidFill>
                  <a:srgbClr val="4A5568"/>
                </a:solidFill>
                <a:latin typeface="Source Han Sans CN"/>
                <a:ea typeface="Source Han Sans CN"/>
              </a:rPr>
              <a:t>　　　</a:t>
            </a:r>
            <a:r>
              <a:rPr lang="en-US" sz="1425" b="1">
                <a:solidFill>
                  <a:srgbClr val="0E3F8C"/>
                </a:solidFill>
                <a:latin typeface="Source Han Sans CN"/>
                <a:ea typeface="Source Han Sans CN"/>
              </a:rPr>
              <a:t>min F</a:t>
            </a:r>
            <a:r>
              <a:rPr lang="en-US" sz="900" b="1">
                <a:solidFill>
                  <a:srgbClr val="0E3F8C"/>
                </a:solidFill>
                <a:latin typeface="Source Han Sans CN"/>
                <a:ea typeface="Source Han Sans CN"/>
              </a:rPr>
              <a:t>2</a:t>
            </a:r>
            <a:r>
              <a:rPr lang="en-US" sz="1425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= C(x, π, z, y)</a:t>
            </a:r>
            <a:endParaRPr/>
          </a:p>
        </p:txBody>
      </p:sp>
      <p:sp>
        <p:nvSpPr>
          <p:cNvPr id="482" name="文本框 512" descr="{&quot;isTemplate&quot;:true,&quot;type&quot;:&quot;text&quot;}"/>
          <p:cNvSpPr txBox="1"/>
          <p:nvPr/>
        </p:nvSpPr>
        <p:spPr>
          <a:xfrm>
            <a:off x="552450" y="4095750"/>
            <a:ext cx="546735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F2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综合三维飞行代价、时间代价与约束惩罚；约束覆盖航程、时间窗、终点可达、机巢容量（末态泊位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=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现有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−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起飞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+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降落）、三维地理与访问顺序</a:t>
            </a:r>
            <a:endParaRPr/>
          </a:p>
        </p:txBody>
      </p:sp>
      <p:sp>
        <p:nvSpPr>
          <p:cNvPr id="483" name="矩形: 圆角 513"/>
          <p:cNvSpPr/>
          <p:nvPr/>
        </p:nvSpPr>
        <p:spPr>
          <a:xfrm>
            <a:off x="381000" y="4895850"/>
            <a:ext cx="5810250" cy="1076325"/>
          </a:xfrm>
          <a:prstGeom prst="roundRect">
            <a:avLst>
              <a:gd name="adj" fmla="val 8850"/>
            </a:avLst>
          </a:prstGeom>
          <a:solidFill>
            <a:srgbClr val="0E3F8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484" name="文本框 514" descr="{&quot;isTemplate&quot;:true,&quot;type&quot;:&quot;text&quot;}"/>
          <p:cNvSpPr txBox="1"/>
          <p:nvPr/>
        </p:nvSpPr>
        <p:spPr>
          <a:xfrm>
            <a:off x="552450" y="5019675"/>
            <a:ext cx="5467350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FFFFFF"/>
                </a:solidFill>
                <a:latin typeface="Source Han Sans CN"/>
                <a:ea typeface="Source Han Sans CN"/>
              </a:rPr>
              <a:t>终点机巢子问题：给定路线后</a:t>
            </a:r>
            <a:r>
              <a:rPr lang="en-US" sz="1125" b="1">
                <a:solidFill>
                  <a:srgbClr val="FFFFFF"/>
                </a:solidFill>
                <a:latin typeface="Source Han Sans CN"/>
                <a:ea typeface="Source Han Sans CN"/>
              </a:rPr>
              <a:t xml:space="preserve"> min Σ c</a:t>
            </a:r>
            <a:r>
              <a:rPr lang="en-US" sz="825" b="1">
                <a:solidFill>
                  <a:srgbClr val="FFFFFF"/>
                </a:solidFill>
                <a:latin typeface="Source Han Sans CN"/>
                <a:ea typeface="Source Han Sans CN"/>
              </a:rPr>
              <a:t>ub</a:t>
            </a:r>
            <a:r>
              <a:rPr lang="en-US" sz="1125" b="1">
                <a:solidFill>
                  <a:srgbClr val="FFFFFF"/>
                </a:solidFill>
                <a:latin typeface="Source Han Sans CN"/>
                <a:ea typeface="Source Han Sans CN"/>
              </a:rPr>
              <a:t>(π</a:t>
            </a:r>
            <a:r>
              <a:rPr lang="en-US" sz="825" b="1">
                <a:solidFill>
                  <a:srgbClr val="FFFFFF"/>
                </a:solidFill>
                <a:latin typeface="Source Han Sans CN"/>
                <a:ea typeface="Source Han Sans CN"/>
              </a:rPr>
              <a:t>u</a:t>
            </a:r>
            <a:r>
              <a:rPr lang="en-US" sz="1125" b="1">
                <a:solidFill>
                  <a:srgbClr val="FFFFFF"/>
                </a:solidFill>
                <a:latin typeface="Source Han Sans CN"/>
                <a:ea typeface="Source Han Sans CN"/>
              </a:rPr>
              <a:t>)·z</a:t>
            </a:r>
            <a:r>
              <a:rPr lang="en-US" sz="825" b="1">
                <a:solidFill>
                  <a:srgbClr val="FFFFFF"/>
                </a:solidFill>
                <a:latin typeface="Source Han Sans CN"/>
                <a:ea typeface="Source Han Sans CN"/>
              </a:rPr>
              <a:t>ub</a:t>
            </a:r>
            <a:r>
              <a:rPr lang="zh-CN" sz="1125" b="1">
                <a:solidFill>
                  <a:srgbClr val="FFFFFF"/>
                </a:solidFill>
                <a:latin typeface="Source Han Sans CN"/>
                <a:ea typeface="Source Han Sans CN"/>
              </a:rPr>
              <a:t>（容量约束），结构是小规模运输问题——用最小费用流</a:t>
            </a:r>
            <a:r>
              <a:rPr lang="zh-CN" sz="1125" b="1">
                <a:solidFill>
                  <a:srgbClr val="FFC107"/>
                </a:solidFill>
                <a:latin typeface="Source Han Sans CN"/>
                <a:ea typeface="Source Han Sans CN"/>
              </a:rPr>
              <a:t>精确求解</a:t>
            </a:r>
            <a:r>
              <a:rPr lang="zh-CN" sz="1125" b="1">
                <a:solidFill>
                  <a:srgbClr val="FFFFFF"/>
                </a:solidFill>
                <a:latin typeface="Source Han Sans CN"/>
                <a:ea typeface="Source Han Sans CN"/>
              </a:rPr>
              <a:t>，联合考虑所有</a:t>
            </a:r>
            <a:r>
              <a:rPr lang="en-US" sz="1125" b="1">
                <a:solidFill>
                  <a:srgbClr val="FFFFFF"/>
                </a:solidFill>
                <a:latin typeface="Source Han Sans CN"/>
                <a:ea typeface="Source Han Sans CN"/>
              </a:rPr>
              <a:t xml:space="preserve"> UAV </a:t>
            </a:r>
            <a:r>
              <a:rPr lang="zh-CN" sz="1125" b="1">
                <a:solidFill>
                  <a:srgbClr val="FFFFFF"/>
                </a:solidFill>
                <a:latin typeface="Source Han Sans CN"/>
                <a:ea typeface="Source Han Sans CN"/>
              </a:rPr>
              <a:t>的终点竞争，返航代价进入完整成本评价。</a:t>
            </a:r>
            <a:endParaRPr/>
          </a:p>
        </p:txBody>
      </p:sp>
      <p:sp>
        <p:nvSpPr>
          <p:cNvPr id="485" name="矩形: 圆角 515"/>
          <p:cNvSpPr/>
          <p:nvPr/>
        </p:nvSpPr>
        <p:spPr>
          <a:xfrm>
            <a:off x="6419850" y="1143000"/>
            <a:ext cx="5391150" cy="2952750"/>
          </a:xfrm>
          <a:prstGeom prst="roundRect">
            <a:avLst>
              <a:gd name="adj" fmla="val 3226"/>
            </a:avLst>
          </a:prstGeom>
          <a:solidFill>
            <a:srgbClr val="F0F5F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486" name="任意多边形: 形状 516"/>
          <p:cNvSpPr/>
          <p:nvPr/>
        </p:nvSpPr>
        <p:spPr>
          <a:xfrm>
            <a:off x="6419850" y="1143000"/>
            <a:ext cx="5391150" cy="2952750"/>
          </a:xfrm>
          <a:custGeom>
            <a:avLst/>
            <a:gdLst/>
            <a:ahLst/>
            <a:cxnLst/>
            <a:rect l="0" t="0" r="0" b="0"/>
            <a:pathLst>
              <a:path w="566" h="310">
                <a:moveTo>
                  <a:pt x="556" y="0"/>
                </a:moveTo>
                <a:cubicBezTo>
                  <a:pt x="561" y="0"/>
                  <a:pt x="565" y="4"/>
                  <a:pt x="566" y="8"/>
                </a:cubicBezTo>
                <a:cubicBezTo>
                  <a:pt x="565" y="6"/>
                  <a:pt x="563" y="4"/>
                  <a:pt x="560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556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487" name="文本框 517" descr="{&quot;isTemplate&quot;:true,&quot;type&quot;:&quot;text&quot;}"/>
          <p:cNvSpPr txBox="1"/>
          <p:nvPr/>
        </p:nvSpPr>
        <p:spPr>
          <a:xfrm>
            <a:off x="6591300" y="1276350"/>
            <a:ext cx="50482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③ </a:t>
            </a:r>
            <a:r>
              <a:rPr lang="zh-CN" sz="1350" b="1">
                <a:solidFill>
                  <a:srgbClr val="0E3F8C"/>
                </a:solidFill>
                <a:latin typeface="Source Han Sans CN"/>
                <a:ea typeface="Source Han Sans CN"/>
              </a:rPr>
              <a:t>进化评价：四层准字典序（生产口径）</a:t>
            </a:r>
            <a:endParaRPr/>
          </a:p>
        </p:txBody>
      </p:sp>
      <p:sp>
        <p:nvSpPr>
          <p:cNvPr id="488" name="矩形: 圆角 518"/>
          <p:cNvSpPr/>
          <p:nvPr/>
        </p:nvSpPr>
        <p:spPr>
          <a:xfrm>
            <a:off x="6591300" y="1581150"/>
            <a:ext cx="50482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489" name="文本框 519" descr="{&quot;isTemplate&quot;:true,&quot;type&quot;:&quot;text&quot;}"/>
          <p:cNvSpPr txBox="1"/>
          <p:nvPr/>
        </p:nvSpPr>
        <p:spPr>
          <a:xfrm>
            <a:off x="6724650" y="1695450"/>
            <a:ext cx="478155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en-US" sz="1275" b="1">
                <a:solidFill>
                  <a:srgbClr val="0E3F8C"/>
                </a:solidFill>
                <a:latin typeface="Source Han Sans CN"/>
                <a:ea typeface="Source Han Sans CN"/>
              </a:rPr>
              <a:t>f = W</a:t>
            </a:r>
            <a:r>
              <a:rPr lang="en-US" sz="825" b="1">
                <a:solidFill>
                  <a:srgbClr val="0E3F8C"/>
                </a:solidFill>
                <a:latin typeface="Source Han Sans CN"/>
                <a:ea typeface="Source Han Sans CN"/>
              </a:rPr>
              <a:t>hard</a:t>
            </a:r>
            <a:r>
              <a:rPr lang="en-US" sz="1275" b="1">
                <a:solidFill>
                  <a:srgbClr val="0E3F8C"/>
                </a:solidFill>
                <a:latin typeface="Source Han Sans CN"/>
                <a:ea typeface="Source Han Sans CN"/>
              </a:rPr>
              <a:t>·n</a:t>
            </a:r>
            <a:r>
              <a:rPr lang="en-US" sz="825" b="1">
                <a:solidFill>
                  <a:srgbClr val="0E3F8C"/>
                </a:solidFill>
                <a:latin typeface="Source Han Sans CN"/>
                <a:ea typeface="Source Han Sans CN"/>
              </a:rPr>
              <a:t>hard</a:t>
            </a:r>
            <a:r>
              <a:rPr lang="en-US" sz="1275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+ w</a:t>
            </a:r>
            <a:r>
              <a:rPr lang="en-US" sz="825" b="1">
                <a:solidFill>
                  <a:srgbClr val="0E3F8C"/>
                </a:solidFill>
                <a:latin typeface="Source Han Sans CN"/>
                <a:ea typeface="Source Han Sans CN"/>
              </a:rPr>
              <a:t>exc</a:t>
            </a:r>
            <a:r>
              <a:rPr lang="en-US" sz="1275" b="1">
                <a:solidFill>
                  <a:srgbClr val="0E3F8C"/>
                </a:solidFill>
                <a:latin typeface="Source Han Sans CN"/>
                <a:ea typeface="Source Han Sans CN"/>
              </a:rPr>
              <a:t>·excess</a:t>
            </a:r>
            <a:r>
              <a:rPr lang="en-US" sz="825" b="1">
                <a:solidFill>
                  <a:srgbClr val="0E3F8C"/>
                </a:solidFill>
                <a:latin typeface="Source Han Sans CN"/>
                <a:ea typeface="Source Han Sans CN"/>
              </a:rPr>
              <a:t>m</a:t>
            </a:r>
            <a:r>
              <a:rPr lang="en-US" sz="1275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− m·F</a:t>
            </a:r>
            <a:r>
              <a:rPr lang="en-US" sz="825" b="1">
                <a:solidFill>
                  <a:srgbClr val="0E3F8C"/>
                </a:solidFill>
                <a:latin typeface="Source Han Sans CN"/>
                <a:ea typeface="Source Han Sans CN"/>
              </a:rPr>
              <a:t>1eff</a:t>
            </a:r>
            <a:r>
              <a:rPr lang="en-US" sz="1275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+ w</a:t>
            </a:r>
            <a:r>
              <a:rPr lang="en-US" sz="825" b="1">
                <a:solidFill>
                  <a:srgbClr val="0E3F8C"/>
                </a:solidFill>
                <a:latin typeface="Source Han Sans CN"/>
                <a:ea typeface="Source Han Sans CN"/>
              </a:rPr>
              <a:t>late</a:t>
            </a:r>
            <a:r>
              <a:rPr lang="en-US" sz="1275" b="1">
                <a:solidFill>
                  <a:srgbClr val="0E3F8C"/>
                </a:solidFill>
                <a:latin typeface="Source Han Sans CN"/>
                <a:ea typeface="Source Han Sans CN"/>
              </a:rPr>
              <a:t>·L</a:t>
            </a:r>
            <a:r>
              <a:rPr lang="en-US" sz="825" b="1">
                <a:solidFill>
                  <a:srgbClr val="0E3F8C"/>
                </a:solidFill>
                <a:latin typeface="Source Han Sans CN"/>
                <a:ea typeface="Source Han Sans CN"/>
              </a:rPr>
              <a:t>tot</a:t>
            </a:r>
            <a:r>
              <a:rPr lang="en-US" sz="1275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+ λ·path + w</a:t>
            </a:r>
            <a:r>
              <a:rPr lang="en-US" sz="825" b="1">
                <a:solidFill>
                  <a:srgbClr val="0E3F8C"/>
                </a:solidFill>
                <a:latin typeface="Source Han Sans CN"/>
                <a:ea typeface="Source Han Sans CN"/>
              </a:rPr>
              <a:t>time</a:t>
            </a:r>
            <a:r>
              <a:rPr lang="en-US" sz="1275" b="1">
                <a:solidFill>
                  <a:srgbClr val="0E3F8C"/>
                </a:solidFill>
                <a:latin typeface="Source Han Sans CN"/>
                <a:ea typeface="Source Han Sans CN"/>
              </a:rPr>
              <a:t>·F</a:t>
            </a:r>
            <a:r>
              <a:rPr lang="en-US" sz="825" b="1">
                <a:solidFill>
                  <a:srgbClr val="0E3F8C"/>
                </a:solidFill>
                <a:latin typeface="Source Han Sans CN"/>
                <a:ea typeface="Source Han Sans CN"/>
              </a:rPr>
              <a:t>3</a:t>
            </a:r>
            <a:endParaRPr/>
          </a:p>
        </p:txBody>
      </p:sp>
      <p:sp>
        <p:nvSpPr>
          <p:cNvPr id="490" name="矩形: 圆角 520"/>
          <p:cNvSpPr/>
          <p:nvPr/>
        </p:nvSpPr>
        <p:spPr>
          <a:xfrm>
            <a:off x="6591300" y="2571750"/>
            <a:ext cx="1104900" cy="200025"/>
          </a:xfrm>
          <a:prstGeom prst="roundRect">
            <a:avLst>
              <a:gd name="adj" fmla="val 19048"/>
            </a:avLst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491" name="文本框 521" descr="{&quot;isTemplate&quot;:true,&quot;type&quot;:&quot;text&quot;}"/>
          <p:cNvSpPr txBox="1"/>
          <p:nvPr/>
        </p:nvSpPr>
        <p:spPr>
          <a:xfrm>
            <a:off x="6657975" y="2600325"/>
            <a:ext cx="9810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Source Han Sans CN"/>
                <a:ea typeface="Source Han Sans CN"/>
              </a:rPr>
              <a:t xml:space="preserve">T0 </a:t>
            </a:r>
            <a:r>
              <a:rPr lang="zh-CN" sz="900" b="1">
                <a:solidFill>
                  <a:srgbClr val="FFFFFF"/>
                </a:solidFill>
                <a:latin typeface="Source Han Sans CN"/>
                <a:ea typeface="Source Han Sans CN"/>
              </a:rPr>
              <a:t>物理违约（硬）</a:t>
            </a:r>
            <a:endParaRPr/>
          </a:p>
        </p:txBody>
      </p:sp>
      <p:sp>
        <p:nvSpPr>
          <p:cNvPr id="492" name="文本框 522" descr="{&quot;isTemplate&quot;:true,&quot;type&quot;:&quot;text&quot;}"/>
          <p:cNvSpPr txBox="1"/>
          <p:nvPr/>
        </p:nvSpPr>
        <p:spPr>
          <a:xfrm>
            <a:off x="7791450" y="2571750"/>
            <a:ext cx="38481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Source Han Sans CN"/>
                <a:ea typeface="Source Han Sans CN"/>
              </a:rPr>
              <a:t>W_hard = κ·m·R_pool</a:t>
            </a:r>
            <a:r>
              <a:rPr lang="zh-CN" sz="975">
                <a:solidFill>
                  <a:srgbClr val="4A5568"/>
                </a:solidFill>
                <a:latin typeface="Source Han Sans CN"/>
                <a:ea typeface="Source Han Sans CN"/>
              </a:rPr>
              <a:t>：任何一次违约压倒全部收益——幽灵交付永不入选</a:t>
            </a:r>
            <a:endParaRPr/>
          </a:p>
        </p:txBody>
      </p:sp>
      <p:sp>
        <p:nvSpPr>
          <p:cNvPr id="493" name="矩形: 圆角 523"/>
          <p:cNvSpPr/>
          <p:nvPr/>
        </p:nvSpPr>
        <p:spPr>
          <a:xfrm>
            <a:off x="6591300" y="3095625"/>
            <a:ext cx="1104900" cy="200025"/>
          </a:xfrm>
          <a:prstGeom prst="roundRect">
            <a:avLst>
              <a:gd name="adj" fmla="val 19048"/>
            </a:avLst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494" name="文本框 524" descr="{&quot;isTemplate&quot;:true,&quot;type&quot;:&quot;text&quot;}"/>
          <p:cNvSpPr txBox="1"/>
          <p:nvPr/>
        </p:nvSpPr>
        <p:spPr>
          <a:xfrm>
            <a:off x="6829425" y="3124200"/>
            <a:ext cx="6381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Source Han Sans CN"/>
                <a:ea typeface="Source Han Sans CN"/>
              </a:rPr>
              <a:t xml:space="preserve">T1 </a:t>
            </a:r>
            <a:r>
              <a:rPr lang="zh-CN" sz="900" b="1">
                <a:solidFill>
                  <a:srgbClr val="FFFFFF"/>
                </a:solidFill>
                <a:latin typeface="Source Han Sans CN"/>
                <a:ea typeface="Source Han Sans CN"/>
              </a:rPr>
              <a:t>交付收益</a:t>
            </a:r>
            <a:endParaRPr/>
          </a:p>
        </p:txBody>
      </p:sp>
      <p:sp>
        <p:nvSpPr>
          <p:cNvPr id="495" name="文本框 525" descr="{&quot;isTemplate&quot;:true,&quot;type&quot;:&quot;text&quot;}"/>
          <p:cNvSpPr txBox="1"/>
          <p:nvPr/>
        </p:nvSpPr>
        <p:spPr>
          <a:xfrm>
            <a:off x="7791450" y="3095625"/>
            <a:ext cx="3848100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F1_eff </a:t>
            </a:r>
            <a:r>
              <a:rPr lang="zh-CN" sz="975">
                <a:solidFill>
                  <a:srgbClr val="4A5568"/>
                </a:solidFill>
                <a:latin typeface="Source Han Sans CN"/>
                <a:ea typeface="Source Han Sans CN"/>
              </a:rPr>
              <a:t>含迟到折减</a:t>
            </a:r>
            <a:r>
              <a:rPr lang="en-US" sz="975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eff = R·max(0, 1−L/W)</a:t>
            </a:r>
            <a:r>
              <a:rPr lang="zh-CN" sz="975">
                <a:solidFill>
                  <a:srgbClr val="4A5568"/>
                </a:solidFill>
                <a:latin typeface="Source Han Sans CN"/>
                <a:ea typeface="Source Han Sans CN"/>
              </a:rPr>
              <a:t>，</a:t>
            </a:r>
            <a:r>
              <a:rPr lang="en-US" sz="975">
                <a:solidFill>
                  <a:srgbClr val="4A5568"/>
                </a:solidFill>
                <a:latin typeface="Source Han Sans CN"/>
                <a:ea typeface="Source Han Sans CN"/>
              </a:rPr>
              <a:t>W=1800s</a:t>
            </a:r>
            <a:endParaRPr/>
          </a:p>
        </p:txBody>
      </p:sp>
      <p:sp>
        <p:nvSpPr>
          <p:cNvPr id="496" name="矩形: 圆角 526"/>
          <p:cNvSpPr/>
          <p:nvPr/>
        </p:nvSpPr>
        <p:spPr>
          <a:xfrm>
            <a:off x="6591300" y="3390900"/>
            <a:ext cx="1104900" cy="200025"/>
          </a:xfrm>
          <a:prstGeom prst="roundRect">
            <a:avLst>
              <a:gd name="adj" fmla="val 19048"/>
            </a:avLst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497" name="文本框 527" descr="{&quot;isTemplate&quot;:true,&quot;type&quot;:&quot;text&quot;}"/>
          <p:cNvSpPr txBox="1"/>
          <p:nvPr/>
        </p:nvSpPr>
        <p:spPr>
          <a:xfrm>
            <a:off x="6772275" y="3419475"/>
            <a:ext cx="7524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Source Han Sans CN"/>
                <a:ea typeface="Source Han Sans CN"/>
              </a:rPr>
              <a:t xml:space="preserve">T2 </a:t>
            </a:r>
            <a:r>
              <a:rPr lang="zh-CN" sz="900" b="1">
                <a:solidFill>
                  <a:srgbClr val="FFFFFF"/>
                </a:solidFill>
                <a:latin typeface="Source Han Sans CN"/>
                <a:ea typeface="Source Han Sans CN"/>
              </a:rPr>
              <a:t>迟到（软）</a:t>
            </a:r>
            <a:endParaRPr/>
          </a:p>
        </p:txBody>
      </p:sp>
      <p:sp>
        <p:nvSpPr>
          <p:cNvPr id="498" name="文本框 528" descr="{&quot;isTemplate&quot;:true,&quot;type&quot;:&quot;text&quot;}"/>
          <p:cNvSpPr txBox="1"/>
          <p:nvPr/>
        </p:nvSpPr>
        <p:spPr>
          <a:xfrm>
            <a:off x="7791450" y="3390900"/>
            <a:ext cx="3848100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Source Han Sans CN"/>
                <a:ea typeface="Source Han Sans CN"/>
              </a:rPr>
              <a:t>0.01/s</a:t>
            </a:r>
            <a:r>
              <a:rPr lang="zh-CN" sz="975">
                <a:solidFill>
                  <a:srgbClr val="4A5568"/>
                </a:solidFill>
                <a:latin typeface="Source Han Sans CN"/>
                <a:ea typeface="Source Han Sans CN"/>
              </a:rPr>
              <a:t>：迟到可接受但计价，只与路径同台竞争</a:t>
            </a:r>
            <a:endParaRPr/>
          </a:p>
        </p:txBody>
      </p:sp>
      <p:sp>
        <p:nvSpPr>
          <p:cNvPr id="499" name="矩形: 圆角 529"/>
          <p:cNvSpPr/>
          <p:nvPr/>
        </p:nvSpPr>
        <p:spPr>
          <a:xfrm>
            <a:off x="6591300" y="3686175"/>
            <a:ext cx="1104900" cy="200025"/>
          </a:xfrm>
          <a:prstGeom prst="roundRect">
            <a:avLst>
              <a:gd name="adj" fmla="val 19048"/>
            </a:avLst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500" name="文本框 530" descr="{&quot;isTemplate&quot;:true,&quot;type&quot;:&quot;text&quot;}"/>
          <p:cNvSpPr txBox="1"/>
          <p:nvPr/>
        </p:nvSpPr>
        <p:spPr>
          <a:xfrm>
            <a:off x="6800850" y="3714750"/>
            <a:ext cx="6953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Source Han Sans CN"/>
                <a:ea typeface="Source Han Sans CN"/>
              </a:rPr>
              <a:t xml:space="preserve">T3 </a:t>
            </a:r>
            <a:r>
              <a:rPr lang="zh-CN" sz="900" b="1">
                <a:solidFill>
                  <a:srgbClr val="FFFFFF"/>
                </a:solidFill>
                <a:latin typeface="Source Han Sans CN"/>
                <a:ea typeface="Source Han Sans CN"/>
              </a:rPr>
              <a:t>航程</a:t>
            </a:r>
            <a:r>
              <a:rPr lang="en-US" sz="900" b="1">
                <a:solidFill>
                  <a:srgbClr val="FFFFFF"/>
                </a:solidFill>
                <a:latin typeface="Source Han Sans CN"/>
                <a:ea typeface="Source Han Sans CN"/>
              </a:rPr>
              <a:t>/</a:t>
            </a:r>
            <a:r>
              <a:rPr lang="zh-CN" sz="900" b="1">
                <a:solidFill>
                  <a:srgbClr val="FFFFFF"/>
                </a:solidFill>
                <a:latin typeface="Source Han Sans CN"/>
                <a:ea typeface="Source Han Sans CN"/>
              </a:rPr>
              <a:t>负载</a:t>
            </a:r>
            <a:endParaRPr/>
          </a:p>
        </p:txBody>
      </p:sp>
      <p:sp>
        <p:nvSpPr>
          <p:cNvPr id="501" name="文本框 531" descr="{&quot;isTemplate&quot;:true,&quot;type&quot;:&quot;text&quot;}"/>
          <p:cNvSpPr txBox="1"/>
          <p:nvPr/>
        </p:nvSpPr>
        <p:spPr>
          <a:xfrm>
            <a:off x="7791450" y="3686175"/>
            <a:ext cx="3848100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Source Han Sans CN"/>
                <a:ea typeface="Source Han Sans CN"/>
              </a:rPr>
              <a:t>λ·path + w_time·F3</a:t>
            </a:r>
            <a:r>
              <a:rPr lang="zh-CN" sz="975">
                <a:solidFill>
                  <a:srgbClr val="4A5568"/>
                </a:solidFill>
                <a:latin typeface="Source Han Sans CN"/>
                <a:ea typeface="Source Han Sans CN"/>
              </a:rPr>
              <a:t>，</a:t>
            </a:r>
            <a:r>
              <a:rPr lang="en-US" sz="975">
                <a:solidFill>
                  <a:srgbClr val="4A5568"/>
                </a:solidFill>
                <a:latin typeface="Source Han Sans CN"/>
                <a:ea typeface="Source Han Sans CN"/>
              </a:rPr>
              <a:t>F3 = max_u T_u</a:t>
            </a:r>
            <a:r>
              <a:rPr lang="zh-CN" sz="975">
                <a:solidFill>
                  <a:srgbClr val="4A5568"/>
                </a:solidFill>
                <a:latin typeface="Source Han Sans CN"/>
                <a:ea typeface="Source Han Sans CN"/>
              </a:rPr>
              <a:t>（最坏机时间）</a:t>
            </a:r>
            <a:endParaRPr/>
          </a:p>
        </p:txBody>
      </p:sp>
      <p:sp>
        <p:nvSpPr>
          <p:cNvPr id="502" name="矩形: 圆角 532"/>
          <p:cNvSpPr/>
          <p:nvPr/>
        </p:nvSpPr>
        <p:spPr>
          <a:xfrm>
            <a:off x="6419850" y="4191000"/>
            <a:ext cx="5391150" cy="1314450"/>
          </a:xfrm>
          <a:prstGeom prst="roundRect">
            <a:avLst>
              <a:gd name="adj" fmla="val 724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sp>
        <p:nvSpPr>
          <p:cNvPr id="503" name="文本框 533" descr="{&quot;isTemplate&quot;:true,&quot;type&quot;:&quot;text&quot;}"/>
          <p:cNvSpPr txBox="1"/>
          <p:nvPr/>
        </p:nvSpPr>
        <p:spPr>
          <a:xfrm>
            <a:off x="6591300" y="4314825"/>
            <a:ext cx="50482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Source Han Sans CN"/>
                <a:ea typeface="Source Han Sans CN"/>
              </a:rPr>
              <a:t>设计判断</a:t>
            </a:r>
            <a:endParaRPr/>
          </a:p>
        </p:txBody>
      </p:sp>
      <p:sp>
        <p:nvSpPr>
          <p:cNvPr id="504" name="文本框 534" descr="{&quot;isTemplate&quot;:true,&quot;type&quot;:&quot;text&quot;}"/>
          <p:cNvSpPr txBox="1"/>
          <p:nvPr/>
        </p:nvSpPr>
        <p:spPr>
          <a:xfrm>
            <a:off x="6591300" y="4562475"/>
            <a:ext cx="5048250" cy="819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单标量适应度保持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DMDE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选择机制不变（与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Zhao Ming 2017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同构）；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T0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是</a:t>
            </a:r>
            <a:r>
              <a:rPr lang="zh-CN" sz="1050" b="1">
                <a:solidFill>
                  <a:srgbClr val="4A5568"/>
                </a:solidFill>
                <a:latin typeface="Source Han Sans CN"/>
                <a:ea typeface="Source Han Sans CN"/>
              </a:rPr>
              <a:t>护栏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——探针显示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22423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次评估物理违约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0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次，「可行域窄」窄在零迟到而非物理不可行；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T1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折减回答「迟到算不算完成」的语义问题。</a:t>
            </a:r>
            <a:endParaRPr/>
          </a:p>
        </p:txBody>
      </p:sp>
      <p:sp>
        <p:nvSpPr>
          <p:cNvPr id="505" name="矩形 535"/>
          <p:cNvSpPr/>
          <p:nvPr/>
        </p:nvSpPr>
        <p:spPr>
          <a:xfrm>
            <a:off x="0" y="6448425"/>
            <a:ext cx="12192000" cy="4095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506" name="任意多边形: 形状 536"/>
          <p:cNvSpPr/>
          <p:nvPr/>
        </p:nvSpPr>
        <p:spPr>
          <a:xfrm>
            <a:off x="0" y="6438900"/>
            <a:ext cx="12192000" cy="419100"/>
          </a:xfrm>
          <a:custGeom>
            <a:avLst/>
            <a:gdLst/>
            <a:ahLst/>
            <a:cxnLst/>
            <a:rect l="0" t="0" r="0" b="0"/>
            <a:pathLst>
              <a:path w="1280" h="4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507" name="文本框 537" descr="{&quot;isTemplate&quot;:true,&quot;type&quot;:&quot;text&quot;}"/>
          <p:cNvSpPr txBox="1"/>
          <p:nvPr/>
        </p:nvSpPr>
        <p:spPr>
          <a:xfrm>
            <a:off x="381000" y="6581775"/>
            <a:ext cx="28289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CN"/>
                <a:ea typeface="Source Han Sans CN"/>
              </a:rPr>
              <a:t>动态滚动的多机巢多无人机协同任务分配</a:t>
            </a:r>
            <a:r>
              <a:rPr lang="en-US" sz="975">
                <a:solidFill>
                  <a:srgbClr val="8B97A8"/>
                </a:solidFill>
                <a:latin typeface="Source Han Sans CN"/>
                <a:ea typeface="Source Han Sans CN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Source Han Sans CN"/>
                <a:ea typeface="Source Han Sans CN"/>
              </a:rPr>
              <a:t>进展汇报</a:t>
            </a:r>
            <a:endParaRPr/>
          </a:p>
        </p:txBody>
      </p:sp>
      <p:sp>
        <p:nvSpPr>
          <p:cNvPr id="508" name="文本框 538" descr="{&quot;isTemplate&quot;:true,&quot;type&quot;:&quot;text&quot;}"/>
          <p:cNvSpPr txBox="1"/>
          <p:nvPr/>
        </p:nvSpPr>
        <p:spPr>
          <a:xfrm>
            <a:off x="11296650" y="6572250"/>
            <a:ext cx="5143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CN"/>
                <a:ea typeface="Source Han Sans CN"/>
              </a:rPr>
              <a:t>09 / 16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5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3" name="矩形 57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4" name="文本框 58" descr="{&quot;isTemplate&quot;:true,&quot;type&quot;:&quot;text&quot;}"/>
          <p:cNvSpPr txBox="1"/>
          <p:nvPr/>
        </p:nvSpPr>
        <p:spPr>
          <a:xfrm>
            <a:off x="7734300" y="1238250"/>
            <a:ext cx="3886200" cy="3771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4750" b="1">
                <a:solidFill>
                  <a:srgbClr val="E8EFF8"/>
                </a:solidFill>
                <a:latin typeface="Source Han Sans CN"/>
                <a:ea typeface="Source Han Sans CN"/>
              </a:rPr>
              <a:t>04</a:t>
            </a:r>
            <a:endParaRPr/>
          </a:p>
        </p:txBody>
      </p:sp>
      <p:sp>
        <p:nvSpPr>
          <p:cNvPr id="25" name="矩形 59"/>
          <p:cNvSpPr/>
          <p:nvPr/>
        </p:nvSpPr>
        <p:spPr>
          <a:xfrm>
            <a:off x="762000" y="1990725"/>
            <a:ext cx="3810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6" name="文本框 60" descr="{&quot;isTemplate&quot;:true,&quot;type&quot;:&quot;text&quot;}"/>
          <p:cNvSpPr txBox="1"/>
          <p:nvPr/>
        </p:nvSpPr>
        <p:spPr>
          <a:xfrm>
            <a:off x="1276350" y="1905000"/>
            <a:ext cx="14573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spc="375">
                <a:solidFill>
                  <a:srgbClr val="3D7BD9"/>
                </a:solidFill>
                <a:latin typeface="Source Han Sans CN"/>
                <a:ea typeface="Source Han Sans CN"/>
              </a:rPr>
              <a:t>CHAPTER 04</a:t>
            </a:r>
            <a:endParaRPr/>
          </a:p>
        </p:txBody>
      </p:sp>
      <p:sp>
        <p:nvSpPr>
          <p:cNvPr id="27" name="文本框 61" descr="{&quot;isTemplate&quot;:true,&quot;type&quot;:&quot;text&quot;}"/>
          <p:cNvSpPr txBox="1"/>
          <p:nvPr/>
        </p:nvSpPr>
        <p:spPr>
          <a:xfrm>
            <a:off x="762000" y="2276475"/>
            <a:ext cx="72390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0E3F8C"/>
                </a:solidFill>
                <a:latin typeface="Source Han Sans CN"/>
                <a:ea typeface="Source Han Sans CN"/>
              </a:rPr>
              <a:t>实验验证与下一步</a:t>
            </a:r>
            <a:endParaRPr/>
          </a:p>
        </p:txBody>
      </p:sp>
      <p:sp>
        <p:nvSpPr>
          <p:cNvPr id="28" name="矩形: 圆角 62"/>
          <p:cNvSpPr/>
          <p:nvPr/>
        </p:nvSpPr>
        <p:spPr>
          <a:xfrm>
            <a:off x="762000" y="32099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9" name="文本框 63" descr="{&quot;isTemplate&quot;:true,&quot;type&quot;:&quot;text&quot;}"/>
          <p:cNvSpPr txBox="1"/>
          <p:nvPr/>
        </p:nvSpPr>
        <p:spPr>
          <a:xfrm>
            <a:off x="952500" y="3105150"/>
            <a:ext cx="70485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en-US" sz="1425">
                <a:solidFill>
                  <a:srgbClr val="1A2230"/>
                </a:solidFill>
                <a:latin typeface="Source Han Sans CN"/>
                <a:ea typeface="Source Han Sans CN"/>
              </a:rPr>
              <a:t xml:space="preserve">exp01 </a:t>
            </a:r>
            <a:r>
              <a:rPr lang="zh-CN" sz="1425">
                <a:solidFill>
                  <a:srgbClr val="1A2230"/>
                </a:solidFill>
                <a:latin typeface="Source Han Sans CN"/>
                <a:ea typeface="Source Han Sans CN"/>
              </a:rPr>
              <a:t>多</a:t>
            </a:r>
            <a:r>
              <a:rPr lang="en-US" sz="1425">
                <a:solidFill>
                  <a:srgbClr val="1A2230"/>
                </a:solidFill>
                <a:latin typeface="Source Han Sans CN"/>
                <a:ea typeface="Source Han Sans CN"/>
              </a:rPr>
              <a:t xml:space="preserve"> seed </a:t>
            </a:r>
            <a:r>
              <a:rPr lang="zh-CN" sz="1425">
                <a:solidFill>
                  <a:srgbClr val="1A2230"/>
                </a:solidFill>
                <a:latin typeface="Source Han Sans CN"/>
                <a:ea typeface="Source Han Sans CN"/>
              </a:rPr>
              <a:t>阶梯：改进方向</a:t>
            </a:r>
            <a:r>
              <a:rPr lang="en-US" sz="1425">
                <a:solidFill>
                  <a:srgbClr val="1A2230"/>
                </a:solidFill>
                <a:latin typeface="Source Han Sans CN"/>
                <a:ea typeface="Source Han Sans CN"/>
              </a:rPr>
              <a:t xml:space="preserve"> </a:t>
            </a:r>
            <a:r>
              <a:rPr lang="en-US" sz="1425" b="1">
                <a:solidFill>
                  <a:srgbClr val="1A2230"/>
                </a:solidFill>
                <a:latin typeface="Source Han Sans CN"/>
                <a:ea typeface="Source Han Sans CN"/>
              </a:rPr>
              <a:t xml:space="preserve">3/3 seed </a:t>
            </a:r>
            <a:r>
              <a:rPr lang="zh-CN" sz="1425" b="1">
                <a:solidFill>
                  <a:srgbClr val="1A2230"/>
                </a:solidFill>
                <a:latin typeface="Source Han Sans CN"/>
                <a:ea typeface="Source Han Sans CN"/>
              </a:rPr>
              <a:t>一致</a:t>
            </a:r>
            <a:r>
              <a:rPr lang="zh-CN" sz="1425">
                <a:solidFill>
                  <a:srgbClr val="1A2230"/>
                </a:solidFill>
                <a:latin typeface="Source Han Sans CN"/>
                <a:ea typeface="Source Han Sans CN"/>
              </a:rPr>
              <a:t>、可逐位复现，幅度</a:t>
            </a:r>
            <a:r>
              <a:rPr lang="en-US" sz="1425">
                <a:solidFill>
                  <a:srgbClr val="1A2230"/>
                </a:solidFill>
                <a:latin typeface="Source Han Sans CN"/>
                <a:ea typeface="Source Han Sans CN"/>
              </a:rPr>
              <a:t xml:space="preserve"> seed-dependent</a:t>
            </a:r>
            <a:endParaRPr/>
          </a:p>
        </p:txBody>
      </p:sp>
      <p:sp>
        <p:nvSpPr>
          <p:cNvPr id="30" name="矩形: 圆角 64"/>
          <p:cNvSpPr/>
          <p:nvPr/>
        </p:nvSpPr>
        <p:spPr>
          <a:xfrm>
            <a:off x="762000" y="3752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31" name="文本框 65" descr="{&quot;isTemplate&quot;:true,&quot;type&quot;:&quot;text&quot;}"/>
          <p:cNvSpPr txBox="1"/>
          <p:nvPr/>
        </p:nvSpPr>
        <p:spPr>
          <a:xfrm>
            <a:off x="952500" y="3648075"/>
            <a:ext cx="70485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en-US" sz="1425">
                <a:solidFill>
                  <a:srgbClr val="1A2230"/>
                </a:solidFill>
                <a:latin typeface="Source Han Sans CN"/>
                <a:ea typeface="Source Han Sans CN"/>
              </a:rPr>
              <a:t xml:space="preserve">exp02 </a:t>
            </a:r>
            <a:r>
              <a:rPr lang="zh-CN" sz="1425">
                <a:solidFill>
                  <a:srgbClr val="1A2230"/>
                </a:solidFill>
                <a:latin typeface="Source Han Sans CN"/>
                <a:ea typeface="Source Han Sans CN"/>
              </a:rPr>
              <a:t>规模标定：</a:t>
            </a:r>
            <a:r>
              <a:rPr lang="zh-CN" sz="1425" b="1">
                <a:solidFill>
                  <a:srgbClr val="1A2230"/>
                </a:solidFill>
                <a:latin typeface="Source Han Sans CN"/>
                <a:ea typeface="Source Han Sans CN"/>
              </a:rPr>
              <a:t>求解规模与任务规模</a:t>
            </a:r>
            <a:r>
              <a:rPr lang="en-US" sz="1425" b="1">
                <a:solidFill>
                  <a:srgbClr val="1A2230"/>
                </a:solidFill>
                <a:latin typeface="Source Han Sans CN"/>
                <a:ea typeface="Source Han Sans CN"/>
              </a:rPr>
              <a:t xml:space="preserve"> N </a:t>
            </a:r>
            <a:r>
              <a:rPr lang="zh-CN" sz="1425" b="1">
                <a:solidFill>
                  <a:srgbClr val="1A2230"/>
                </a:solidFill>
                <a:latin typeface="Source Han Sans CN"/>
                <a:ea typeface="Source Han Sans CN"/>
              </a:rPr>
              <a:t>解耦</a:t>
            </a:r>
            <a:r>
              <a:rPr lang="zh-CN" sz="1425">
                <a:solidFill>
                  <a:srgbClr val="1A2230"/>
                </a:solidFill>
                <a:latin typeface="Source Han Sans CN"/>
                <a:ea typeface="Source Han Sans CN"/>
              </a:rPr>
              <a:t>，瓶颈定位到选择名额而非候选比例</a:t>
            </a:r>
            <a:endParaRPr/>
          </a:p>
        </p:txBody>
      </p:sp>
      <p:sp>
        <p:nvSpPr>
          <p:cNvPr id="32" name="文本框 66" descr="{&quot;isTemplate&quot;:true,&quot;type&quot;:&quot;text&quot;}"/>
          <p:cNvSpPr txBox="1"/>
          <p:nvPr/>
        </p:nvSpPr>
        <p:spPr>
          <a:xfrm>
            <a:off x="762000" y="4305300"/>
            <a:ext cx="72390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80000"/>
              </a:lnSpc>
            </a:pPr>
            <a:r>
              <a:rPr lang="zh-CN" sz="1200">
                <a:solidFill>
                  <a:srgbClr val="4A5568"/>
                </a:solidFill>
                <a:latin typeface="Source Han Sans CN"/>
                <a:ea typeface="Source Han Sans CN"/>
              </a:rPr>
              <a:t>评估口径：长程滚动</a:t>
            </a:r>
            <a:r>
              <a:rPr lang="en-US" sz="120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24 </a:t>
            </a:r>
            <a:r>
              <a:rPr lang="zh-CN" sz="1200">
                <a:solidFill>
                  <a:srgbClr val="4A5568"/>
                </a:solidFill>
                <a:latin typeface="Source Han Sans CN"/>
                <a:ea typeface="Source Han Sans CN"/>
              </a:rPr>
              <a:t>周期、</a:t>
            </a:r>
            <a:r>
              <a:rPr lang="en-US" sz="120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Poisson λ=5 </a:t>
            </a:r>
            <a:r>
              <a:rPr lang="zh-CN" sz="1200">
                <a:solidFill>
                  <a:srgbClr val="4A5568"/>
                </a:solidFill>
                <a:latin typeface="Source Han Sans CN"/>
                <a:ea typeface="Source Han Sans CN"/>
              </a:rPr>
              <a:t>到达；「任务不被完成只有物理约束被违反」——完成只认物理约束，迟到计奖励折减而非废飞。所有数字来自实验</a:t>
            </a:r>
            <a:r>
              <a:rPr lang="en-US" sz="120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metrics </a:t>
            </a:r>
            <a:r>
              <a:rPr lang="zh-CN" sz="1200">
                <a:solidFill>
                  <a:srgbClr val="4A5568"/>
                </a:solidFill>
                <a:latin typeface="Source Han Sans CN"/>
                <a:ea typeface="Source Han Sans CN"/>
              </a:rPr>
              <a:t>原始记录，可复现。</a:t>
            </a:r>
            <a:endParaRPr/>
          </a:p>
        </p:txBody>
      </p:sp>
      <p:sp>
        <p:nvSpPr>
          <p:cNvPr id="33" name="矩形: 圆角 67"/>
          <p:cNvSpPr/>
          <p:nvPr/>
        </p:nvSpPr>
        <p:spPr>
          <a:xfrm>
            <a:off x="762000" y="5200650"/>
            <a:ext cx="1104900" cy="295275"/>
          </a:xfrm>
          <a:prstGeom prst="roundRect">
            <a:avLst>
              <a:gd name="adj" fmla="val 19355"/>
            </a:avLst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34" name="文本框 68" descr="{&quot;isTemplate&quot;:true,&quot;type&quot;:&quot;text&quot;}"/>
          <p:cNvSpPr txBox="1"/>
          <p:nvPr/>
        </p:nvSpPr>
        <p:spPr>
          <a:xfrm>
            <a:off x="914400" y="5267325"/>
            <a:ext cx="800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Source Han Sans CN"/>
                <a:ea typeface="Source Han Sans CN"/>
              </a:rPr>
              <a:t>P12 · exp01</a:t>
            </a:r>
            <a:endParaRPr/>
          </a:p>
        </p:txBody>
      </p:sp>
      <p:sp>
        <p:nvSpPr>
          <p:cNvPr id="35" name="矩形: 圆角 69"/>
          <p:cNvSpPr/>
          <p:nvPr/>
        </p:nvSpPr>
        <p:spPr>
          <a:xfrm>
            <a:off x="1981200" y="5200650"/>
            <a:ext cx="1104900" cy="295275"/>
          </a:xfrm>
          <a:prstGeom prst="roundRect">
            <a:avLst>
              <a:gd name="adj" fmla="val 19355"/>
            </a:avLst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36" name="文本框 70" descr="{&quot;isTemplate&quot;:true,&quot;type&quot;:&quot;text&quot;}"/>
          <p:cNvSpPr txBox="1"/>
          <p:nvPr/>
        </p:nvSpPr>
        <p:spPr>
          <a:xfrm>
            <a:off x="2133600" y="5267325"/>
            <a:ext cx="800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Source Han Sans CN"/>
                <a:ea typeface="Source Han Sans CN"/>
              </a:rPr>
              <a:t>P13 · exp02</a:t>
            </a:r>
            <a:endParaRPr/>
          </a:p>
        </p:txBody>
      </p:sp>
      <p:sp>
        <p:nvSpPr>
          <p:cNvPr id="37" name="矩形: 圆角 71"/>
          <p:cNvSpPr/>
          <p:nvPr/>
        </p:nvSpPr>
        <p:spPr>
          <a:xfrm>
            <a:off x="3200400" y="5200650"/>
            <a:ext cx="1228725" cy="295275"/>
          </a:xfrm>
          <a:prstGeom prst="roundRect">
            <a:avLst>
              <a:gd name="adj" fmla="val 19355"/>
            </a:avLst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38" name="文本框 72" descr="{&quot;isTemplate&quot;:true,&quot;type&quot;:&quot;text&quot;}"/>
          <p:cNvSpPr txBox="1"/>
          <p:nvPr/>
        </p:nvSpPr>
        <p:spPr>
          <a:xfrm>
            <a:off x="3352800" y="5267325"/>
            <a:ext cx="9239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Source Han Sans CN"/>
                <a:ea typeface="Source Han Sans CN"/>
              </a:rPr>
              <a:t xml:space="preserve">P14 · </a:t>
            </a:r>
            <a:r>
              <a:rPr lang="zh-CN" sz="1050" b="1">
                <a:solidFill>
                  <a:srgbClr val="FFFFFF"/>
                </a:solidFill>
                <a:latin typeface="Source Han Sans CN"/>
                <a:ea typeface="Source Han Sans CN"/>
              </a:rPr>
              <a:t>性能瓶颈</a:t>
            </a:r>
            <a:endParaRPr/>
          </a:p>
        </p:txBody>
      </p:sp>
      <p:sp>
        <p:nvSpPr>
          <p:cNvPr id="39" name="矩形: 圆角 73"/>
          <p:cNvSpPr/>
          <p:nvPr/>
        </p:nvSpPr>
        <p:spPr>
          <a:xfrm>
            <a:off x="4543425" y="5200650"/>
            <a:ext cx="1362075" cy="295275"/>
          </a:xfrm>
          <a:prstGeom prst="roundRect">
            <a:avLst>
              <a:gd name="adj" fmla="val 19355"/>
            </a:avLst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40" name="文本框 74" descr="{&quot;isTemplate&quot;:true,&quot;type&quot;:&quot;text&quot;}"/>
          <p:cNvSpPr txBox="1"/>
          <p:nvPr/>
        </p:nvSpPr>
        <p:spPr>
          <a:xfrm>
            <a:off x="4695825" y="5267325"/>
            <a:ext cx="10572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Source Han Sans CN"/>
                <a:ea typeface="Source Han Sans CN"/>
              </a:rPr>
              <a:t xml:space="preserve">P15 · </a:t>
            </a:r>
            <a:r>
              <a:rPr lang="zh-CN" sz="1050" b="1">
                <a:solidFill>
                  <a:srgbClr val="FFFFFF"/>
                </a:solidFill>
                <a:latin typeface="Source Han Sans CN"/>
                <a:ea typeface="Source Han Sans CN"/>
              </a:rPr>
              <a:t>边界与计划</a:t>
            </a:r>
            <a:endParaRPr/>
          </a:p>
        </p:txBody>
      </p:sp>
      <p:sp>
        <p:nvSpPr>
          <p:cNvPr id="41" name="矩形: 圆角 75"/>
          <p:cNvSpPr/>
          <p:nvPr/>
        </p:nvSpPr>
        <p:spPr>
          <a:xfrm>
            <a:off x="9763125" y="4572000"/>
            <a:ext cx="1666875" cy="323850"/>
          </a:xfrm>
          <a:prstGeom prst="roundRect">
            <a:avLst>
              <a:gd name="adj" fmla="val 5294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sp>
        <p:nvSpPr>
          <p:cNvPr id="42" name="文本框 76" descr="{&quot;isTemplate&quot;:true,&quot;type&quot;:&quot;text&quot;}"/>
          <p:cNvSpPr txBox="1"/>
          <p:nvPr/>
        </p:nvSpPr>
        <p:spPr>
          <a:xfrm>
            <a:off x="9934575" y="4648200"/>
            <a:ext cx="13239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Source Han Sans CN"/>
                <a:ea typeface="Source Han Sans CN"/>
              </a:rPr>
              <a:t>按时率</a:t>
            </a:r>
            <a:r>
              <a:rPr lang="en-US" sz="1125" b="1">
                <a:solidFill>
                  <a:srgbClr val="1E4FA8"/>
                </a:solidFill>
                <a:latin typeface="Source Han Sans CN"/>
                <a:ea typeface="Source Han Sans CN"/>
              </a:rPr>
              <a:t xml:space="preserve"> 93.3% ± 3.6</a:t>
            </a:r>
            <a:endParaRPr/>
          </a:p>
        </p:txBody>
      </p:sp>
      <p:sp>
        <p:nvSpPr>
          <p:cNvPr id="43" name="矩形: 圆角 77"/>
          <p:cNvSpPr/>
          <p:nvPr/>
        </p:nvSpPr>
        <p:spPr>
          <a:xfrm>
            <a:off x="9772650" y="5010150"/>
            <a:ext cx="1657350" cy="323850"/>
          </a:xfrm>
          <a:prstGeom prst="roundRect">
            <a:avLst>
              <a:gd name="adj" fmla="val 5294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sp>
        <p:nvSpPr>
          <p:cNvPr id="44" name="文本框 78" descr="{&quot;isTemplate&quot;:true,&quot;type&quot;:&quot;text&quot;}"/>
          <p:cNvSpPr txBox="1"/>
          <p:nvPr/>
        </p:nvSpPr>
        <p:spPr>
          <a:xfrm>
            <a:off x="9944100" y="5086350"/>
            <a:ext cx="13144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Source Han Sans CN"/>
                <a:ea typeface="Source Han Sans CN"/>
              </a:rPr>
              <a:t>完成</a:t>
            </a:r>
            <a:r>
              <a:rPr lang="en-US" sz="1125" b="1">
                <a:solidFill>
                  <a:srgbClr val="1E4FA8"/>
                </a:solidFill>
                <a:latin typeface="Source Han Sans CN"/>
                <a:ea typeface="Source Han Sans CN"/>
              </a:rPr>
              <a:t xml:space="preserve"> 60/60 · </a:t>
            </a:r>
            <a:r>
              <a:rPr lang="zh-CN" sz="1125" b="1">
                <a:solidFill>
                  <a:srgbClr val="1E4FA8"/>
                </a:solidFill>
                <a:latin typeface="Source Han Sans CN"/>
                <a:ea typeface="Source Han Sans CN"/>
              </a:rPr>
              <a:t>废飞</a:t>
            </a:r>
            <a:r>
              <a:rPr lang="en-US" sz="1125" b="1">
                <a:solidFill>
                  <a:srgbClr val="1E4FA8"/>
                </a:solidFill>
                <a:latin typeface="Source Han Sans CN"/>
                <a:ea typeface="Source Han Sans CN"/>
              </a:rPr>
              <a:t xml:space="preserve"> 0</a:t>
            </a:r>
            <a:endParaRPr/>
          </a:p>
        </p:txBody>
      </p:sp>
      <p:sp>
        <p:nvSpPr>
          <p:cNvPr id="45" name="矩形: 圆角 79"/>
          <p:cNvSpPr/>
          <p:nvPr/>
        </p:nvSpPr>
        <p:spPr>
          <a:xfrm>
            <a:off x="9877425" y="5448300"/>
            <a:ext cx="1552575" cy="323850"/>
          </a:xfrm>
          <a:prstGeom prst="roundRect">
            <a:avLst>
              <a:gd name="adj" fmla="val 5294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sp>
        <p:nvSpPr>
          <p:cNvPr id="46" name="文本框 80" descr="{&quot;isTemplate&quot;:true,&quot;type&quot;:&quot;text&quot;}"/>
          <p:cNvSpPr txBox="1"/>
          <p:nvPr/>
        </p:nvSpPr>
        <p:spPr>
          <a:xfrm>
            <a:off x="10048875" y="5524500"/>
            <a:ext cx="12096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Source Han Sans CN"/>
                <a:ea typeface="Source Han Sans CN"/>
              </a:rPr>
              <a:t>求解规模与</a:t>
            </a:r>
            <a:r>
              <a:rPr lang="en-US" sz="1125" b="1">
                <a:solidFill>
                  <a:srgbClr val="1E4FA8"/>
                </a:solidFill>
                <a:latin typeface="Source Han Sans CN"/>
                <a:ea typeface="Source Han Sans CN"/>
              </a:rPr>
              <a:t xml:space="preserve"> N </a:t>
            </a:r>
            <a:r>
              <a:rPr lang="zh-CN" sz="1125" b="1">
                <a:solidFill>
                  <a:srgbClr val="1E4FA8"/>
                </a:solidFill>
                <a:latin typeface="Source Han Sans CN"/>
                <a:ea typeface="Source Han Sans CN"/>
              </a:rPr>
              <a:t>解耦</a:t>
            </a:r>
            <a:endParaRPr/>
          </a:p>
        </p:txBody>
      </p:sp>
      <p:sp>
        <p:nvSpPr>
          <p:cNvPr id="47" name="矩形: 圆角 81"/>
          <p:cNvSpPr/>
          <p:nvPr/>
        </p:nvSpPr>
        <p:spPr>
          <a:xfrm>
            <a:off x="762000" y="5857875"/>
            <a:ext cx="476250" cy="276225"/>
          </a:xfrm>
          <a:prstGeom prst="roundRect">
            <a:avLst>
              <a:gd name="adj" fmla="val 48276"/>
            </a:avLst>
          </a:prstGeom>
          <a:solidFill>
            <a:srgbClr val="F0F5F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48" name="文本框 82" descr="{&quot;isTemplate&quot;:true,&quot;type&quot;:&quot;text&quot;}"/>
          <p:cNvSpPr txBox="1"/>
          <p:nvPr/>
        </p:nvSpPr>
        <p:spPr>
          <a:xfrm>
            <a:off x="914400" y="5915025"/>
            <a:ext cx="1714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Source Han Sans CN"/>
                <a:ea typeface="Source Han Sans CN"/>
              </a:rPr>
              <a:t>01</a:t>
            </a:r>
            <a:endParaRPr/>
          </a:p>
        </p:txBody>
      </p:sp>
      <p:sp>
        <p:nvSpPr>
          <p:cNvPr id="49" name="矩形: 圆角 83"/>
          <p:cNvSpPr/>
          <p:nvPr/>
        </p:nvSpPr>
        <p:spPr>
          <a:xfrm>
            <a:off x="1352550" y="5857875"/>
            <a:ext cx="476250" cy="276225"/>
          </a:xfrm>
          <a:prstGeom prst="roundRect">
            <a:avLst>
              <a:gd name="adj" fmla="val 48276"/>
            </a:avLst>
          </a:prstGeom>
          <a:solidFill>
            <a:srgbClr val="F0F5F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50" name="文本框 84" descr="{&quot;isTemplate&quot;:true,&quot;type&quot;:&quot;text&quot;}"/>
          <p:cNvSpPr txBox="1"/>
          <p:nvPr/>
        </p:nvSpPr>
        <p:spPr>
          <a:xfrm>
            <a:off x="1504950" y="5915025"/>
            <a:ext cx="1714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Source Han Sans CN"/>
                <a:ea typeface="Source Han Sans CN"/>
              </a:rPr>
              <a:t>02</a:t>
            </a:r>
            <a:endParaRPr/>
          </a:p>
        </p:txBody>
      </p:sp>
      <p:sp>
        <p:nvSpPr>
          <p:cNvPr id="51" name="矩形: 圆角 85"/>
          <p:cNvSpPr/>
          <p:nvPr/>
        </p:nvSpPr>
        <p:spPr>
          <a:xfrm>
            <a:off x="1943100" y="5857875"/>
            <a:ext cx="476250" cy="276225"/>
          </a:xfrm>
          <a:prstGeom prst="roundRect">
            <a:avLst>
              <a:gd name="adj" fmla="val 48276"/>
            </a:avLst>
          </a:prstGeom>
          <a:solidFill>
            <a:srgbClr val="F0F5F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52" name="文本框 86" descr="{&quot;isTemplate&quot;:true,&quot;type&quot;:&quot;text&quot;}"/>
          <p:cNvSpPr txBox="1"/>
          <p:nvPr/>
        </p:nvSpPr>
        <p:spPr>
          <a:xfrm>
            <a:off x="2095500" y="5915025"/>
            <a:ext cx="1714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Source Han Sans CN"/>
                <a:ea typeface="Source Han Sans CN"/>
              </a:rPr>
              <a:t>03</a:t>
            </a:r>
            <a:endParaRPr/>
          </a:p>
        </p:txBody>
      </p:sp>
      <p:sp>
        <p:nvSpPr>
          <p:cNvPr id="53" name="矩形: 圆角 87"/>
          <p:cNvSpPr/>
          <p:nvPr/>
        </p:nvSpPr>
        <p:spPr>
          <a:xfrm>
            <a:off x="2533650" y="5857875"/>
            <a:ext cx="476250" cy="276225"/>
          </a:xfrm>
          <a:prstGeom prst="roundRect">
            <a:avLst>
              <a:gd name="adj" fmla="val 48276"/>
            </a:avLst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54" name="文本框 88" descr="{&quot;isTemplate&quot;:true,&quot;type&quot;:&quot;text&quot;}"/>
          <p:cNvSpPr txBox="1"/>
          <p:nvPr/>
        </p:nvSpPr>
        <p:spPr>
          <a:xfrm>
            <a:off x="2686050" y="5915025"/>
            <a:ext cx="1714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Source Han Sans CN"/>
                <a:ea typeface="Source Han Sans CN"/>
              </a:rPr>
              <a:t>04</a:t>
            </a:r>
            <a:endParaRPr/>
          </a:p>
        </p:txBody>
      </p:sp>
      <p:sp>
        <p:nvSpPr>
          <p:cNvPr id="55" name="文本框 89" descr="{&quot;isTemplate&quot;:true,&quot;type&quot;:&quot;text&quot;}"/>
          <p:cNvSpPr txBox="1"/>
          <p:nvPr/>
        </p:nvSpPr>
        <p:spPr>
          <a:xfrm>
            <a:off x="3200400" y="5915025"/>
            <a:ext cx="19621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CN"/>
                <a:ea typeface="Source Han Sans CN"/>
              </a:rPr>
              <a:t>研究问题</a:t>
            </a:r>
            <a:r>
              <a:rPr lang="en-US" sz="1050">
                <a:solidFill>
                  <a:srgbClr val="8B97A8"/>
                </a:solidFill>
                <a:latin typeface="Source Han Sans CN"/>
                <a:ea typeface="Source Han Sans CN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Source Han Sans CN"/>
                <a:ea typeface="Source Han Sans CN"/>
              </a:rPr>
              <a:t>方法两阶段</a:t>
            </a:r>
            <a:r>
              <a:rPr lang="en-US" sz="1050">
                <a:solidFill>
                  <a:srgbClr val="8B97A8"/>
                </a:solidFill>
                <a:latin typeface="Source Han Sans CN"/>
                <a:ea typeface="Source Han Sans CN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Source Han Sans CN"/>
                <a:ea typeface="Source Han Sans CN"/>
              </a:rPr>
              <a:t>实验验证</a:t>
            </a:r>
            <a:endParaRPr/>
          </a:p>
        </p:txBody>
      </p:sp>
      <p:sp>
        <p:nvSpPr>
          <p:cNvPr id="56" name="矩形 90"/>
          <p:cNvSpPr/>
          <p:nvPr/>
        </p:nvSpPr>
        <p:spPr>
          <a:xfrm>
            <a:off x="0" y="6448425"/>
            <a:ext cx="12192000" cy="4095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57" name="任意多边形: 形状 91"/>
          <p:cNvSpPr/>
          <p:nvPr/>
        </p:nvSpPr>
        <p:spPr>
          <a:xfrm>
            <a:off x="0" y="6438900"/>
            <a:ext cx="12192000" cy="419100"/>
          </a:xfrm>
          <a:custGeom>
            <a:avLst/>
            <a:gdLst/>
            <a:ahLst/>
            <a:cxnLst/>
            <a:rect l="0" t="0" r="0" b="0"/>
            <a:pathLst>
              <a:path w="1280" h="4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58" name="文本框 92" descr="{&quot;isTemplate&quot;:true,&quot;type&quot;:&quot;text&quot;}"/>
          <p:cNvSpPr txBox="1"/>
          <p:nvPr/>
        </p:nvSpPr>
        <p:spPr>
          <a:xfrm>
            <a:off x="381000" y="6581775"/>
            <a:ext cx="28289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CN"/>
                <a:ea typeface="Source Han Sans CN"/>
              </a:rPr>
              <a:t>动态滚动的多机巢多无人机协同任务分配</a:t>
            </a:r>
            <a:r>
              <a:rPr lang="en-US" sz="975">
                <a:solidFill>
                  <a:srgbClr val="8B97A8"/>
                </a:solidFill>
                <a:latin typeface="Source Han Sans CN"/>
                <a:ea typeface="Source Han Sans CN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Source Han Sans CN"/>
                <a:ea typeface="Source Han Sans CN"/>
              </a:rPr>
              <a:t>进展汇报</a:t>
            </a:r>
            <a:endParaRPr/>
          </a:p>
        </p:txBody>
      </p:sp>
      <p:sp>
        <p:nvSpPr>
          <p:cNvPr id="59" name="文本框 93" descr="{&quot;isTemplate&quot;:true,&quot;type&quot;:&quot;text&quot;}"/>
          <p:cNvSpPr txBox="1"/>
          <p:nvPr/>
        </p:nvSpPr>
        <p:spPr>
          <a:xfrm>
            <a:off x="11296650" y="6572250"/>
            <a:ext cx="5143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CN"/>
                <a:ea typeface="Source Han Sans CN"/>
              </a:rPr>
              <a:t>11 / 16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9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62" name="矩形 96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63" name="矩形 97"/>
          <p:cNvSpPr/>
          <p:nvPr/>
        </p:nvSpPr>
        <p:spPr>
          <a:xfrm>
            <a:off x="381000" y="31432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64" name="文本框 98" descr="{&quot;isTemplate&quot;:true,&quot;type&quot;:&quot;text&quot;}"/>
          <p:cNvSpPr txBox="1"/>
          <p:nvPr/>
        </p:nvSpPr>
        <p:spPr>
          <a:xfrm>
            <a:off x="571500" y="285750"/>
            <a:ext cx="6753225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Source Han Sans CN"/>
                <a:ea typeface="Source Han Sans CN"/>
              </a:rPr>
              <a:t>exp01</a:t>
            </a:r>
            <a:r>
              <a:rPr lang="zh-CN" sz="2400" b="1">
                <a:solidFill>
                  <a:srgbClr val="0E3F8C"/>
                </a:solidFill>
                <a:latin typeface="Source Han Sans CN"/>
                <a:ea typeface="Source Han Sans CN"/>
              </a:rPr>
              <a:t>：多</a:t>
            </a:r>
            <a:r>
              <a:rPr lang="en-US" sz="2400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seed </a:t>
            </a:r>
            <a:r>
              <a:rPr lang="zh-CN" sz="2400" b="1">
                <a:solidFill>
                  <a:srgbClr val="0E3F8C"/>
                </a:solidFill>
                <a:latin typeface="Source Han Sans CN"/>
                <a:ea typeface="Source Han Sans CN"/>
              </a:rPr>
              <a:t>阶梯——改进方向一致且可复现</a:t>
            </a:r>
            <a:endParaRPr/>
          </a:p>
        </p:txBody>
      </p:sp>
      <p:sp>
        <p:nvSpPr>
          <p:cNvPr id="65" name="文本框 99" descr="{&quot;isTemplate&quot;:true,&quot;type&quot;:&quot;text&quot;}"/>
          <p:cNvSpPr txBox="1"/>
          <p:nvPr/>
        </p:nvSpPr>
        <p:spPr>
          <a:xfrm>
            <a:off x="571500" y="742950"/>
            <a:ext cx="438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Source Han Sans CN"/>
                <a:ea typeface="Source Han Sans CN"/>
              </a:rPr>
              <a:t>长程滚动</a:t>
            </a:r>
            <a:r>
              <a:rPr lang="en-US" sz="1125">
                <a:solidFill>
                  <a:srgbClr val="8B97A8"/>
                </a:solidFill>
                <a:latin typeface="Source Han Sans CN"/>
                <a:ea typeface="Source Han Sans CN"/>
              </a:rPr>
              <a:t xml:space="preserve"> 24 </a:t>
            </a:r>
            <a:r>
              <a:rPr lang="zh-CN" sz="1125">
                <a:solidFill>
                  <a:srgbClr val="8B97A8"/>
                </a:solidFill>
                <a:latin typeface="Source Han Sans CN"/>
                <a:ea typeface="Source Han Sans CN"/>
              </a:rPr>
              <a:t>周期</a:t>
            </a:r>
            <a:r>
              <a:rPr lang="en-US" sz="1125">
                <a:solidFill>
                  <a:srgbClr val="8B97A8"/>
                </a:solidFill>
                <a:latin typeface="Source Han Sans CN"/>
                <a:ea typeface="Source Han Sans CN"/>
              </a:rPr>
              <a:t xml:space="preserve"> · Poisson λ=5 · 3 seed </a:t>
            </a:r>
            <a:r>
              <a:rPr lang="zh-CN" sz="1125">
                <a:solidFill>
                  <a:srgbClr val="8B97A8"/>
                </a:solidFill>
                <a:latin typeface="Source Han Sans CN"/>
                <a:ea typeface="Source Han Sans CN"/>
              </a:rPr>
              <a:t>全新复跑（当前代码版本）</a:t>
            </a:r>
            <a:endParaRPr/>
          </a:p>
        </p:txBody>
      </p:sp>
      <p:sp>
        <p:nvSpPr>
          <p:cNvPr id="66" name="矩形: 圆角 100"/>
          <p:cNvSpPr/>
          <p:nvPr/>
        </p:nvSpPr>
        <p:spPr>
          <a:xfrm>
            <a:off x="381000" y="1104900"/>
            <a:ext cx="3619500" cy="5086350"/>
          </a:xfrm>
          <a:prstGeom prst="roundRect">
            <a:avLst>
              <a:gd name="adj" fmla="val 3158"/>
            </a:avLst>
          </a:prstGeom>
          <a:solidFill>
            <a:srgbClr val="0E3F8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67" name="文本框 101" descr="{&quot;isTemplate&quot;:true,&quot;type&quot;:&quot;text&quot;}"/>
          <p:cNvSpPr txBox="1"/>
          <p:nvPr/>
        </p:nvSpPr>
        <p:spPr>
          <a:xfrm>
            <a:off x="666750" y="1428750"/>
            <a:ext cx="30480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85B7EB"/>
                </a:solidFill>
                <a:latin typeface="Source Han Sans CN"/>
                <a:ea typeface="Source Han Sans CN"/>
              </a:rPr>
              <a:t>按时率（</a:t>
            </a:r>
            <a:r>
              <a:rPr lang="en-US" sz="1125" spc="150">
                <a:solidFill>
                  <a:srgbClr val="85B7EB"/>
                </a:solidFill>
                <a:latin typeface="Source Han Sans CN"/>
                <a:ea typeface="Source Han Sans CN"/>
              </a:rPr>
              <a:t xml:space="preserve">memetic </a:t>
            </a:r>
            <a:r>
              <a:rPr lang="zh-CN" sz="1125" spc="150">
                <a:solidFill>
                  <a:srgbClr val="85B7EB"/>
                </a:solidFill>
                <a:latin typeface="Source Han Sans CN"/>
                <a:ea typeface="Source Han Sans CN"/>
              </a:rPr>
              <a:t>口径，</a:t>
            </a:r>
            <a:r>
              <a:rPr lang="en-US" sz="1125" spc="150">
                <a:solidFill>
                  <a:srgbClr val="85B7EB"/>
                </a:solidFill>
                <a:latin typeface="Source Han Sans CN"/>
                <a:ea typeface="Source Han Sans CN"/>
              </a:rPr>
              <a:t>n=3</a:t>
            </a:r>
            <a:r>
              <a:rPr lang="zh-CN" sz="1125" spc="150">
                <a:solidFill>
                  <a:srgbClr val="85B7EB"/>
                </a:solidFill>
                <a:latin typeface="Source Han Sans CN"/>
                <a:ea typeface="Source Han Sans CN"/>
              </a:rPr>
              <a:t>）</a:t>
            </a:r>
            <a:endParaRPr/>
          </a:p>
        </p:txBody>
      </p:sp>
      <p:sp>
        <p:nvSpPr>
          <p:cNvPr id="68" name="文本框 102" descr="{&quot;isTemplate&quot;:true,&quot;type&quot;:&quot;text&quot;}"/>
          <p:cNvSpPr txBox="1"/>
          <p:nvPr/>
        </p:nvSpPr>
        <p:spPr>
          <a:xfrm>
            <a:off x="666750" y="1657350"/>
            <a:ext cx="3048000" cy="1028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4999"/>
              </a:lnSpc>
            </a:pPr>
            <a:r>
              <a:rPr lang="en-US" sz="5850" b="1">
                <a:solidFill>
                  <a:srgbClr val="FFFFFF"/>
                </a:solidFill>
                <a:latin typeface="Source Han Sans CN"/>
                <a:ea typeface="Source Han Sans CN"/>
              </a:rPr>
              <a:t>93.3</a:t>
            </a:r>
            <a:r>
              <a:rPr lang="en-US" sz="2550" b="1">
                <a:solidFill>
                  <a:srgbClr val="FFFFFF"/>
                </a:solidFill>
                <a:latin typeface="Source Han Sans CN"/>
                <a:ea typeface="Source Han Sans CN"/>
              </a:rPr>
              <a:t>%</a:t>
            </a:r>
            <a:endParaRPr/>
          </a:p>
        </p:txBody>
      </p:sp>
      <p:sp>
        <p:nvSpPr>
          <p:cNvPr id="69" name="文本框 103" descr="{&quot;isTemplate&quot;:true,&quot;type&quot;:&quot;text&quot;}"/>
          <p:cNvSpPr txBox="1"/>
          <p:nvPr/>
        </p:nvSpPr>
        <p:spPr>
          <a:xfrm>
            <a:off x="666750" y="2705100"/>
            <a:ext cx="30480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>
                <a:solidFill>
                  <a:srgbClr val="B5D4F4"/>
                </a:solidFill>
                <a:latin typeface="Source Han Sans CN"/>
                <a:ea typeface="Source Han Sans CN"/>
              </a:rPr>
              <a:t>± 3.6</a:t>
            </a:r>
            <a:r>
              <a:rPr lang="zh-CN" sz="1275">
                <a:solidFill>
                  <a:srgbClr val="B5D4F4"/>
                </a:solidFill>
                <a:latin typeface="Source Han Sans CN"/>
                <a:ea typeface="Source Han Sans CN"/>
              </a:rPr>
              <a:t>（</a:t>
            </a:r>
            <a:r>
              <a:rPr lang="en-US" sz="1275">
                <a:solidFill>
                  <a:srgbClr val="B5D4F4"/>
                </a:solidFill>
                <a:latin typeface="Source Han Sans CN"/>
                <a:ea typeface="Source Han Sans CN"/>
              </a:rPr>
              <a:t>83.9 → 91.7 → 93.3</a:t>
            </a:r>
            <a:r>
              <a:rPr lang="zh-CN" sz="1275">
                <a:solidFill>
                  <a:srgbClr val="B5D4F4"/>
                </a:solidFill>
                <a:latin typeface="Source Han Sans CN"/>
                <a:ea typeface="Source Han Sans CN"/>
              </a:rPr>
              <a:t>）</a:t>
            </a:r>
            <a:endParaRPr/>
          </a:p>
        </p:txBody>
      </p:sp>
      <p:sp>
        <p:nvSpPr>
          <p:cNvPr id="70" name="矩形 104"/>
          <p:cNvSpPr/>
          <p:nvPr/>
        </p:nvSpPr>
        <p:spPr>
          <a:xfrm>
            <a:off x="666750" y="3114675"/>
            <a:ext cx="419100" cy="2857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71" name="文本框 105" descr="{&quot;isTemplate&quot;:true,&quot;type&quot;:&quot;text&quot;}"/>
          <p:cNvSpPr txBox="1"/>
          <p:nvPr/>
        </p:nvSpPr>
        <p:spPr>
          <a:xfrm>
            <a:off x="666750" y="3371850"/>
            <a:ext cx="533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B5D4F4"/>
                </a:solidFill>
                <a:latin typeface="Source Han Sans CN"/>
                <a:ea typeface="Source Han Sans CN"/>
              </a:rPr>
              <a:t>任务完成</a:t>
            </a:r>
            <a:endParaRPr/>
          </a:p>
        </p:txBody>
      </p:sp>
      <p:sp>
        <p:nvSpPr>
          <p:cNvPr id="72" name="文本框 106" descr="{&quot;isTemplate&quot;:true,&quot;type&quot;:&quot;text&quot;}"/>
          <p:cNvSpPr txBox="1"/>
          <p:nvPr/>
        </p:nvSpPr>
        <p:spPr>
          <a:xfrm>
            <a:off x="2466975" y="3352800"/>
            <a:ext cx="12477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Source Han Sans CN"/>
                <a:ea typeface="Source Han Sans CN"/>
              </a:rPr>
              <a:t>60 / 60 = 100%</a:t>
            </a:r>
            <a:endParaRPr/>
          </a:p>
        </p:txBody>
      </p:sp>
      <p:sp>
        <p:nvSpPr>
          <p:cNvPr id="73" name="文本框 107" descr="{&quot;isTemplate&quot;:true,&quot;type&quot;:&quot;text&quot;}"/>
          <p:cNvSpPr txBox="1"/>
          <p:nvPr/>
        </p:nvSpPr>
        <p:spPr>
          <a:xfrm>
            <a:off x="666750" y="3705225"/>
            <a:ext cx="11620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B5D4F4"/>
                </a:solidFill>
                <a:latin typeface="Source Han Sans CN"/>
                <a:ea typeface="Source Han Sans CN"/>
              </a:rPr>
              <a:t>废飞</a:t>
            </a:r>
            <a:r>
              <a:rPr lang="en-US" sz="1050">
                <a:solidFill>
                  <a:srgbClr val="B5D4F4"/>
                </a:solidFill>
                <a:latin typeface="Source Han Sans CN"/>
                <a:ea typeface="Source Han Sans CN"/>
              </a:rPr>
              <a:t xml:space="preserve"> · </a:t>
            </a:r>
            <a:r>
              <a:rPr lang="zh-CN" sz="1050">
                <a:solidFill>
                  <a:srgbClr val="B5D4F4"/>
                </a:solidFill>
                <a:latin typeface="Source Han Sans CN"/>
                <a:ea typeface="Source Han Sans CN"/>
              </a:rPr>
              <a:t>淘汰</a:t>
            </a:r>
            <a:r>
              <a:rPr lang="en-US" sz="1050">
                <a:solidFill>
                  <a:srgbClr val="B5D4F4"/>
                </a:solidFill>
                <a:latin typeface="Source Han Sans CN"/>
                <a:ea typeface="Source Han Sans CN"/>
              </a:rPr>
              <a:t xml:space="preserve"> · </a:t>
            </a:r>
            <a:r>
              <a:rPr lang="zh-CN" sz="1050">
                <a:solidFill>
                  <a:srgbClr val="B5D4F4"/>
                </a:solidFill>
                <a:latin typeface="Source Han Sans CN"/>
                <a:ea typeface="Source Han Sans CN"/>
              </a:rPr>
              <a:t>不可达</a:t>
            </a:r>
            <a:endParaRPr/>
          </a:p>
        </p:txBody>
      </p:sp>
      <p:sp>
        <p:nvSpPr>
          <p:cNvPr id="74" name="文本框 108" descr="{&quot;isTemplate&quot;:true,&quot;type&quot;:&quot;text&quot;}"/>
          <p:cNvSpPr txBox="1"/>
          <p:nvPr/>
        </p:nvSpPr>
        <p:spPr>
          <a:xfrm>
            <a:off x="3076575" y="3686175"/>
            <a:ext cx="6381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Source Han Sans CN"/>
                <a:ea typeface="Source Han Sans CN"/>
              </a:rPr>
              <a:t>全部为</a:t>
            </a:r>
            <a:r>
              <a:rPr lang="en-US" sz="1275" b="1">
                <a:solidFill>
                  <a:srgbClr val="FFFFFF"/>
                </a:solidFill>
                <a:latin typeface="Source Han Sans CN"/>
                <a:ea typeface="Source Han Sans CN"/>
              </a:rPr>
              <a:t xml:space="preserve"> 0</a:t>
            </a:r>
            <a:endParaRPr/>
          </a:p>
        </p:txBody>
      </p:sp>
      <p:sp>
        <p:nvSpPr>
          <p:cNvPr id="75" name="文本框 109" descr="{&quot;isTemplate&quot;:true,&quot;type&quot;:&quot;text&quot;}"/>
          <p:cNvSpPr txBox="1"/>
          <p:nvPr/>
        </p:nvSpPr>
        <p:spPr>
          <a:xfrm>
            <a:off x="666750" y="4038600"/>
            <a:ext cx="16383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B5D4F4"/>
                </a:solidFill>
                <a:latin typeface="Source Han Sans CN"/>
                <a:ea typeface="Source Han Sans CN"/>
              </a:rPr>
              <a:t>物理违约（</a:t>
            </a:r>
            <a:r>
              <a:rPr lang="en-US" sz="1050">
                <a:solidFill>
                  <a:srgbClr val="B5D4F4"/>
                </a:solidFill>
                <a:latin typeface="Source Han Sans CN"/>
                <a:ea typeface="Source Han Sans CN"/>
              </a:rPr>
              <a:t xml:space="preserve">22423 </a:t>
            </a:r>
            <a:r>
              <a:rPr lang="zh-CN" sz="1050">
                <a:solidFill>
                  <a:srgbClr val="B5D4F4"/>
                </a:solidFill>
                <a:latin typeface="Source Han Sans CN"/>
                <a:ea typeface="Source Han Sans CN"/>
              </a:rPr>
              <a:t>次评估）</a:t>
            </a:r>
            <a:endParaRPr/>
          </a:p>
        </p:txBody>
      </p:sp>
      <p:sp>
        <p:nvSpPr>
          <p:cNvPr id="76" name="文本框 110" descr="{&quot;isTemplate&quot;:true,&quot;type&quot;:&quot;text&quot;}"/>
          <p:cNvSpPr txBox="1"/>
          <p:nvPr/>
        </p:nvSpPr>
        <p:spPr>
          <a:xfrm>
            <a:off x="3400425" y="4019550"/>
            <a:ext cx="3143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Source Han Sans CN"/>
                <a:ea typeface="Source Han Sans CN"/>
              </a:rPr>
              <a:t xml:space="preserve">0 </a:t>
            </a:r>
            <a:r>
              <a:rPr lang="zh-CN" sz="1275" b="1">
                <a:solidFill>
                  <a:srgbClr val="FFFFFF"/>
                </a:solidFill>
                <a:latin typeface="Source Han Sans CN"/>
                <a:ea typeface="Source Han Sans CN"/>
              </a:rPr>
              <a:t>次</a:t>
            </a:r>
            <a:endParaRPr/>
          </a:p>
        </p:txBody>
      </p:sp>
      <p:sp>
        <p:nvSpPr>
          <p:cNvPr id="77" name="文本框 111" descr="{&quot;isTemplate&quot;:true,&quot;type&quot;:&quot;text&quot;}"/>
          <p:cNvSpPr txBox="1"/>
          <p:nvPr/>
        </p:nvSpPr>
        <p:spPr>
          <a:xfrm>
            <a:off x="666750" y="4371975"/>
            <a:ext cx="800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B5D4F4"/>
                </a:solidFill>
                <a:latin typeface="Source Han Sans CN"/>
                <a:ea typeface="Source Han Sans CN"/>
              </a:rPr>
              <a:t>平均迟到深度</a:t>
            </a:r>
            <a:endParaRPr/>
          </a:p>
        </p:txBody>
      </p:sp>
      <p:sp>
        <p:nvSpPr>
          <p:cNvPr id="78" name="文本框 112" descr="{&quot;isTemplate&quot;:true,&quot;type&quot;:&quot;text&quot;}"/>
          <p:cNvSpPr txBox="1"/>
          <p:nvPr/>
        </p:nvSpPr>
        <p:spPr>
          <a:xfrm>
            <a:off x="2486025" y="4352925"/>
            <a:ext cx="12287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Source Han Sans CN"/>
                <a:ea typeface="Source Han Sans CN"/>
              </a:rPr>
              <a:t>575 s</a:t>
            </a:r>
            <a:r>
              <a:rPr lang="zh-CN" sz="1275" b="1">
                <a:solidFill>
                  <a:srgbClr val="FFFFFF"/>
                </a:solidFill>
                <a:latin typeface="Source Han Sans CN"/>
                <a:ea typeface="Source Han Sans CN"/>
              </a:rPr>
              <a:t>（−</a:t>
            </a:r>
            <a:r>
              <a:rPr lang="en-US" sz="1275" b="1">
                <a:solidFill>
                  <a:srgbClr val="FFFFFF"/>
                </a:solidFill>
                <a:latin typeface="Source Han Sans CN"/>
                <a:ea typeface="Source Han Sans CN"/>
              </a:rPr>
              <a:t>22%</a:t>
            </a:r>
            <a:r>
              <a:rPr lang="zh-CN" sz="1275" b="1">
                <a:solidFill>
                  <a:srgbClr val="FFFFFF"/>
                </a:solidFill>
                <a:latin typeface="Source Han Sans CN"/>
                <a:ea typeface="Source Han Sans CN"/>
              </a:rPr>
              <a:t>）</a:t>
            </a:r>
            <a:endParaRPr/>
          </a:p>
        </p:txBody>
      </p:sp>
      <p:sp>
        <p:nvSpPr>
          <p:cNvPr id="79" name="文本框 113" descr="{&quot;isTemplate&quot;:true,&quot;type&quot;:&quot;text&quot;}"/>
          <p:cNvSpPr txBox="1"/>
          <p:nvPr/>
        </p:nvSpPr>
        <p:spPr>
          <a:xfrm>
            <a:off x="666750" y="4800600"/>
            <a:ext cx="3048000" cy="819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050">
                <a:solidFill>
                  <a:srgbClr val="DCE7F5"/>
                </a:solidFill>
                <a:latin typeface="Source Han Sans CN"/>
                <a:ea typeface="Source Han Sans CN"/>
              </a:rPr>
              <a:t>「不被完成只有物理约束被违反」在全部</a:t>
            </a:r>
            <a:r>
              <a:rPr lang="en-US" sz="1050">
                <a:solidFill>
                  <a:srgbClr val="DCE7F5"/>
                </a:solidFill>
                <a:latin typeface="Source Han Sans CN"/>
                <a:ea typeface="Source Han Sans CN"/>
              </a:rPr>
              <a:t xml:space="preserve"> 9 </a:t>
            </a:r>
            <a:r>
              <a:rPr lang="zh-CN" sz="1050">
                <a:solidFill>
                  <a:srgbClr val="DCE7F5"/>
                </a:solidFill>
                <a:latin typeface="Source Han Sans CN"/>
                <a:ea typeface="Source Han Sans CN"/>
              </a:rPr>
              <a:t>个实验格成立：能力范围内解决更多当下的任务，而非凑完成率。</a:t>
            </a:r>
            <a:endParaRPr/>
          </a:p>
        </p:txBody>
      </p:sp>
      <p:graphicFrame>
        <p:nvGraphicFramePr>
          <p:cNvPr id="80" name="表格 114"/>
          <p:cNvGraphicFramePr/>
          <p:nvPr/>
        </p:nvGraphicFramePr>
        <p:xfrm>
          <a:off x="4229100" y="1104900"/>
          <a:ext cx="7581899" cy="2393379"/>
        </p:xfrm>
        <a:graphic>
          <a:graphicData uri="http://schemas.openxmlformats.org/drawingml/2006/table">
            <a:tbl>
              <a:tblPr/>
              <a:tblGrid>
                <a:gridCol w="2501520">
                  <a:extLst>
                    <a:ext uri="{9D8B030D-6E8A-4147-A177-3AD203B41FA5}">
                      <a16:colId val="1"/>
                    </a:ext>
                  </a:extLst>
                </a:gridCol>
                <a:gridCol w="1141419">
                  <a:extLst>
                    <a:ext uri="{9D8B030D-6E8A-4147-A177-3AD203B41FA5}">
                      <a16:colId val="2"/>
                    </a:ext>
                  </a:extLst>
                </a:gridCol>
                <a:gridCol w="1008075">
                  <a:extLst>
                    <a:ext uri="{9D8B030D-6E8A-4147-A177-3AD203B41FA5}">
                      <a16:colId val="3"/>
                    </a:ext>
                  </a:extLst>
                </a:gridCol>
                <a:gridCol w="1088081">
                  <a:extLst>
                    <a:ext uri="{9D8B030D-6E8A-4147-A177-3AD203B41FA5}">
                      <a16:colId val="4"/>
                    </a:ext>
                  </a:extLst>
                </a:gridCol>
                <a:gridCol w="728054">
                  <a:extLst>
                    <a:ext uri="{9D8B030D-6E8A-4147-A177-3AD203B41FA5}">
                      <a16:colId val="5"/>
                    </a:ext>
                  </a:extLst>
                </a:gridCol>
                <a:gridCol w="1114750">
                  <a:extLst>
                    <a:ext uri="{9D8B030D-6E8A-4147-A177-3AD203B41FA5}">
                      <a16:colId val="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配置（3 seed 均值±std）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按时率 %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迟到数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平均迟到 s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总奖励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总航程 km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N 无抛光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83.9 ± 2.1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9.7 ± 1.2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736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309.8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1723.7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P 生产（+polish）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91.7 ± 3.6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5.0 ± 2.2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732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318.1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1693.0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M memetic（M1）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93.3 ± 3.6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4.0 ± 2.2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575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319.7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1662.9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3B6D11"/>
                          </a:solidFill>
                          <a:latin typeface="Microsoft YaHei"/>
                          <a:ea typeface="Microsoft YaHei"/>
                        </a:rPr>
                        <a:t>P − N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3B6D11"/>
                          </a:solidFill>
                          <a:latin typeface="Microsoft YaHei"/>
                          <a:ea typeface="Microsoft YaHei"/>
                        </a:rPr>
                        <a:t>+7.8 pp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3B6D11"/>
                          </a:solidFill>
                          <a:latin typeface="Microsoft YaHei"/>
                          <a:ea typeface="Microsoft YaHei"/>
                        </a:rPr>
                        <a:t>−4.7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B6D11"/>
                          </a:solidFill>
                          <a:latin typeface="Microsoft YaHei"/>
                          <a:ea typeface="Microsoft YaHei"/>
                        </a:rPr>
                        <a:t>−4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B6D11"/>
                          </a:solidFill>
                          <a:latin typeface="Microsoft YaHei"/>
                          <a:ea typeface="Microsoft YaHei"/>
                        </a:rPr>
                        <a:t>+8.3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B6D11"/>
                          </a:solidFill>
                          <a:latin typeface="Microsoft YaHei"/>
                          <a:ea typeface="Microsoft YaHei"/>
                        </a:rPr>
                        <a:t>−30.7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3B6D11"/>
                          </a:solidFill>
                          <a:latin typeface="Microsoft YaHei"/>
                          <a:ea typeface="Microsoft YaHei"/>
                        </a:rPr>
                        <a:t>M − P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3B6D11"/>
                          </a:solidFill>
                          <a:latin typeface="Microsoft YaHei"/>
                          <a:ea typeface="Microsoft YaHei"/>
                        </a:rPr>
                        <a:t>+1.7 pp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3B6D11"/>
                          </a:solidFill>
                          <a:latin typeface="Microsoft YaHei"/>
                          <a:ea typeface="Microsoft YaHei"/>
                        </a:rPr>
                        <a:t>−1.0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B6D11"/>
                          </a:solidFill>
                          <a:latin typeface="Microsoft YaHei"/>
                          <a:ea typeface="Microsoft YaHei"/>
                        </a:rPr>
                        <a:t>−157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B6D11"/>
                          </a:solidFill>
                          <a:latin typeface="Microsoft YaHei"/>
                          <a:ea typeface="Microsoft YaHei"/>
                        </a:rPr>
                        <a:t>+1.6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B6D11"/>
                          </a:solidFill>
                          <a:latin typeface="Microsoft YaHei"/>
                          <a:ea typeface="Microsoft YaHei"/>
                        </a:rPr>
                        <a:t>−30.1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81" name="矩形: 圆角 115"/>
          <p:cNvSpPr/>
          <p:nvPr/>
        </p:nvSpPr>
        <p:spPr>
          <a:xfrm>
            <a:off x="4229100" y="3543300"/>
            <a:ext cx="7581900" cy="1400175"/>
          </a:xfrm>
          <a:prstGeom prst="roundRect">
            <a:avLst>
              <a:gd name="adj" fmla="val 680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sp>
        <p:nvSpPr>
          <p:cNvPr id="82" name="文本框 116" descr="{&quot;isTemplate&quot;:true,&quot;type&quot;:&quot;text&quot;}"/>
          <p:cNvSpPr txBox="1"/>
          <p:nvPr/>
        </p:nvSpPr>
        <p:spPr>
          <a:xfrm>
            <a:off x="4400550" y="3676650"/>
            <a:ext cx="7239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Source Han Sans CN"/>
                <a:ea typeface="Source Han Sans CN"/>
              </a:rPr>
              <a:t>每</a:t>
            </a:r>
            <a:r>
              <a:rPr lang="en-US" sz="1200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seed </a:t>
            </a:r>
            <a:r>
              <a:rPr lang="zh-CN" sz="1200" b="1">
                <a:solidFill>
                  <a:srgbClr val="0E3F8C"/>
                </a:solidFill>
                <a:latin typeface="Source Han Sans CN"/>
                <a:ea typeface="Source Han Sans CN"/>
              </a:rPr>
              <a:t>增益：方向</a:t>
            </a:r>
            <a:r>
              <a:rPr lang="en-US" sz="1200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3/3 </a:t>
            </a:r>
            <a:r>
              <a:rPr lang="zh-CN" sz="1200" b="1">
                <a:solidFill>
                  <a:srgbClr val="0E3F8C"/>
                </a:solidFill>
                <a:latin typeface="Source Han Sans CN"/>
                <a:ea typeface="Source Han Sans CN"/>
              </a:rPr>
              <a:t>一致，幅度差</a:t>
            </a:r>
            <a:r>
              <a:rPr lang="en-US" sz="1200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4 </a:t>
            </a:r>
            <a:r>
              <a:rPr lang="zh-CN" sz="1200" b="1">
                <a:solidFill>
                  <a:srgbClr val="0E3F8C"/>
                </a:solidFill>
                <a:latin typeface="Source Han Sans CN"/>
                <a:ea typeface="Source Han Sans CN"/>
              </a:rPr>
              <a:t>倍</a:t>
            </a:r>
            <a:endParaRPr/>
          </a:p>
        </p:txBody>
      </p:sp>
      <p:sp>
        <p:nvSpPr>
          <p:cNvPr id="83" name="文本框 117" descr="{&quot;isTemplate&quot;:true,&quot;type&quot;:&quot;text&quot;}"/>
          <p:cNvSpPr txBox="1"/>
          <p:nvPr/>
        </p:nvSpPr>
        <p:spPr>
          <a:xfrm>
            <a:off x="4400550" y="3924300"/>
            <a:ext cx="723900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5000"/>
              </a:lnSpc>
            </a:pP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>s42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：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polish </a:t>
            </a:r>
            <a:r>
              <a:rPr lang="en-US" sz="1050" b="1">
                <a:solidFill>
                  <a:srgbClr val="1E4FA8"/>
                </a:solidFill>
                <a:latin typeface="Source Han Sans CN"/>
                <a:ea typeface="Source Han Sans CN"/>
              </a:rPr>
              <a:t>+6.7pp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、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>memetic +3.3pp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；　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>s43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：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>+13.3pp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、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>+1.7pp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；　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>s44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：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>+3.3pp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、</a:t>
            </a:r>
            <a:r>
              <a:rPr lang="en-US" sz="1050" b="1">
                <a:solidFill>
                  <a:srgbClr val="D9534F"/>
                </a:solidFill>
                <a:latin typeface="Source Han Sans CN"/>
                <a:ea typeface="Source Han Sans CN"/>
              </a:rPr>
              <a:t>+0.0pp</a:t>
            </a:r>
            <a:endParaRPr/>
          </a:p>
        </p:txBody>
      </p:sp>
      <p:sp>
        <p:nvSpPr>
          <p:cNvPr id="84" name="文本框 118" descr="{&quot;isTemplate&quot;:true,&quot;type&quot;:&quot;text&quot;}"/>
          <p:cNvSpPr txBox="1"/>
          <p:nvPr/>
        </p:nvSpPr>
        <p:spPr>
          <a:xfrm>
            <a:off x="4400550" y="4248150"/>
            <a:ext cx="72390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5000"/>
              </a:lnSpc>
            </a:pP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s44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零增益机制已定性：单任务周期无路由改进空间，档案增益只降路径、被持平规则拒收——论文按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seed-dependent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报区间「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>+0~+3.3pp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，均值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+1.7pp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」，不报单点。</a:t>
            </a:r>
            <a:endParaRPr/>
          </a:p>
        </p:txBody>
      </p:sp>
      <p:sp>
        <p:nvSpPr>
          <p:cNvPr id="85" name="矩形: 圆角 119"/>
          <p:cNvSpPr/>
          <p:nvPr/>
        </p:nvSpPr>
        <p:spPr>
          <a:xfrm>
            <a:off x="4267200" y="5076825"/>
            <a:ext cx="7581900" cy="781050"/>
          </a:xfrm>
          <a:prstGeom prst="roundRect">
            <a:avLst>
              <a:gd name="adj" fmla="val 9756"/>
            </a:avLst>
          </a:prstGeom>
          <a:solidFill>
            <a:srgbClr val="F0F5F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86" name="任意多边形: 形状 120"/>
          <p:cNvSpPr/>
          <p:nvPr/>
        </p:nvSpPr>
        <p:spPr>
          <a:xfrm>
            <a:off x="4267200" y="5076825"/>
            <a:ext cx="7581900" cy="781050"/>
          </a:xfrm>
          <a:custGeom>
            <a:avLst/>
            <a:gdLst/>
            <a:ahLst/>
            <a:cxnLst/>
            <a:rect l="0" t="0" r="0" b="0"/>
            <a:pathLst>
              <a:path w="796" h="8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8"/>
                </a:lnTo>
                <a:cubicBezTo>
                  <a:pt x="4" y="80"/>
                  <a:pt x="5" y="82"/>
                  <a:pt x="7" y="82"/>
                </a:cubicBezTo>
                <a:cubicBezTo>
                  <a:pt x="3" y="82"/>
                  <a:pt x="0" y="78"/>
                  <a:pt x="0" y="7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87" name="文本框 121" descr="{&quot;isTemplate&quot;:true,&quot;type&quot;:&quot;text&quot;}"/>
          <p:cNvSpPr txBox="1"/>
          <p:nvPr/>
        </p:nvSpPr>
        <p:spPr>
          <a:xfrm>
            <a:off x="4438650" y="5191125"/>
            <a:ext cx="72009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0E3F8C"/>
                </a:solidFill>
                <a:latin typeface="Source Han Sans CN"/>
                <a:ea typeface="Source Han Sans CN"/>
              </a:rPr>
              <a:t>判断：抛光与</a:t>
            </a:r>
            <a:r>
              <a:rPr lang="en-US" sz="1125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memetic </a:t>
            </a:r>
            <a:r>
              <a:rPr lang="zh-CN" sz="1125" b="1">
                <a:solidFill>
                  <a:srgbClr val="0E3F8C"/>
                </a:solidFill>
                <a:latin typeface="Source Han Sans CN"/>
                <a:ea typeface="Source Han Sans CN"/>
              </a:rPr>
              <a:t>的改进不是单</a:t>
            </a:r>
            <a:r>
              <a:rPr lang="en-US" sz="1125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seed </a:t>
            </a:r>
            <a:r>
              <a:rPr lang="zh-CN" sz="1125" b="1">
                <a:solidFill>
                  <a:srgbClr val="0E3F8C"/>
                </a:solidFill>
                <a:latin typeface="Source Han Sans CN"/>
                <a:ea typeface="Source Han Sans CN"/>
              </a:rPr>
              <a:t>巧合——方向全部一致；同时幅度依赖</a:t>
            </a:r>
            <a:r>
              <a:rPr lang="en-US" sz="1125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seed</a:t>
            </a:r>
            <a:r>
              <a:rPr lang="zh-CN" sz="1125" b="1">
                <a:solidFill>
                  <a:srgbClr val="0E3F8C"/>
                </a:solidFill>
                <a:latin typeface="Source Han Sans CN"/>
                <a:ea typeface="Source Han Sans CN"/>
              </a:rPr>
              <a:t>，说明「后验抛光能修多少」取决于</a:t>
            </a:r>
            <a:r>
              <a:rPr lang="en-US" sz="1125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DMDE </a:t>
            </a:r>
            <a:r>
              <a:rPr lang="zh-CN" sz="1125" b="1">
                <a:solidFill>
                  <a:srgbClr val="0E3F8C"/>
                </a:solidFill>
                <a:latin typeface="Source Han Sans CN"/>
                <a:ea typeface="Source Han Sans CN"/>
              </a:rPr>
              <a:t>收敛解离局部最优的距离。</a:t>
            </a:r>
            <a:endParaRPr/>
          </a:p>
        </p:txBody>
      </p:sp>
      <p:sp>
        <p:nvSpPr>
          <p:cNvPr id="88" name="矩形 122"/>
          <p:cNvSpPr/>
          <p:nvPr/>
        </p:nvSpPr>
        <p:spPr>
          <a:xfrm>
            <a:off x="0" y="6448425"/>
            <a:ext cx="12192000" cy="4095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89" name="任意多边形: 形状 123"/>
          <p:cNvSpPr/>
          <p:nvPr/>
        </p:nvSpPr>
        <p:spPr>
          <a:xfrm>
            <a:off x="0" y="6438900"/>
            <a:ext cx="12192000" cy="419100"/>
          </a:xfrm>
          <a:custGeom>
            <a:avLst/>
            <a:gdLst/>
            <a:ahLst/>
            <a:cxnLst/>
            <a:rect l="0" t="0" r="0" b="0"/>
            <a:pathLst>
              <a:path w="1280" h="4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90" name="文本框 124" descr="{&quot;isTemplate&quot;:true,&quot;type&quot;:&quot;text&quot;}"/>
          <p:cNvSpPr txBox="1"/>
          <p:nvPr/>
        </p:nvSpPr>
        <p:spPr>
          <a:xfrm>
            <a:off x="381000" y="6581775"/>
            <a:ext cx="28289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CN"/>
                <a:ea typeface="Source Han Sans CN"/>
              </a:rPr>
              <a:t>动态滚动的多机巢多无人机协同任务分配</a:t>
            </a:r>
            <a:r>
              <a:rPr lang="en-US" sz="975">
                <a:solidFill>
                  <a:srgbClr val="8B97A8"/>
                </a:solidFill>
                <a:latin typeface="Source Han Sans CN"/>
                <a:ea typeface="Source Han Sans CN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Source Han Sans CN"/>
                <a:ea typeface="Source Han Sans CN"/>
              </a:rPr>
              <a:t>进展汇报</a:t>
            </a:r>
            <a:endParaRPr/>
          </a:p>
        </p:txBody>
      </p:sp>
      <p:sp>
        <p:nvSpPr>
          <p:cNvPr id="91" name="文本框 125" descr="{&quot;isTemplate&quot;:true,&quot;type&quot;:&quot;text&quot;}"/>
          <p:cNvSpPr txBox="1"/>
          <p:nvPr/>
        </p:nvSpPr>
        <p:spPr>
          <a:xfrm>
            <a:off x="11296650" y="6572250"/>
            <a:ext cx="5143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CN"/>
                <a:ea typeface="Source Han Sans CN"/>
              </a:rPr>
              <a:t>12 / 16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矩形 1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94" name="矩形 128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95" name="矩形 129"/>
          <p:cNvSpPr/>
          <p:nvPr/>
        </p:nvSpPr>
        <p:spPr>
          <a:xfrm>
            <a:off x="381000" y="31432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96" name="文本框 130" descr="{&quot;isTemplate&quot;:true,&quot;type&quot;:&quot;text&quot;}"/>
          <p:cNvSpPr txBox="1"/>
          <p:nvPr/>
        </p:nvSpPr>
        <p:spPr>
          <a:xfrm>
            <a:off x="571500" y="285750"/>
            <a:ext cx="691515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Source Han Sans CN"/>
                <a:ea typeface="Source Han Sans CN"/>
              </a:rPr>
              <a:t>exp02</a:t>
            </a:r>
            <a:r>
              <a:rPr lang="zh-CN" sz="2400" b="1">
                <a:solidFill>
                  <a:srgbClr val="0E3F8C"/>
                </a:solidFill>
                <a:latin typeface="Source Han Sans CN"/>
                <a:ea typeface="Source Han Sans CN"/>
              </a:rPr>
              <a:t>：规模标定——求解规模与任务规模</a:t>
            </a:r>
            <a:r>
              <a:rPr lang="en-US" sz="2400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N </a:t>
            </a:r>
            <a:r>
              <a:rPr lang="zh-CN" sz="2400" b="1">
                <a:solidFill>
                  <a:srgbClr val="0E3F8C"/>
                </a:solidFill>
                <a:latin typeface="Source Han Sans CN"/>
                <a:ea typeface="Source Han Sans CN"/>
              </a:rPr>
              <a:t>解耦</a:t>
            </a:r>
            <a:endParaRPr/>
          </a:p>
        </p:txBody>
      </p:sp>
      <p:sp>
        <p:nvSpPr>
          <p:cNvPr id="97" name="文本框 131" descr="{&quot;isTemplate&quot;:true,&quot;type&quot;:&quot;text&quot;}"/>
          <p:cNvSpPr txBox="1"/>
          <p:nvPr/>
        </p:nvSpPr>
        <p:spPr>
          <a:xfrm>
            <a:off x="571500" y="742950"/>
            <a:ext cx="64103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CN"/>
                <a:ea typeface="Source Han Sans CN"/>
              </a:rPr>
              <a:t xml:space="preserve">17 </a:t>
            </a:r>
            <a:r>
              <a:rPr lang="zh-CN" sz="1125">
                <a:solidFill>
                  <a:srgbClr val="8B97A8"/>
                </a:solidFill>
                <a:latin typeface="Source Han Sans CN"/>
                <a:ea typeface="Source Han Sans CN"/>
              </a:rPr>
              <a:t>格变体扫描（</a:t>
            </a:r>
            <a:r>
              <a:rPr lang="en-US" sz="1125">
                <a:solidFill>
                  <a:srgbClr val="8B97A8"/>
                </a:solidFill>
                <a:latin typeface="Source Han Sans CN"/>
                <a:ea typeface="Source Han Sans CN"/>
              </a:rPr>
              <a:t xml:space="preserve">N = 50 / 100 / 200 × </a:t>
            </a:r>
            <a:r>
              <a:rPr lang="zh-CN" sz="1125">
                <a:solidFill>
                  <a:srgbClr val="8B97A8"/>
                </a:solidFill>
                <a:latin typeface="Source Han Sans CN"/>
                <a:ea typeface="Source Han Sans CN"/>
              </a:rPr>
              <a:t>名额族与能力族），下图为「吞吐—耗时—质量」权衡核心图</a:t>
            </a:r>
            <a:endParaRPr/>
          </a:p>
        </p:txBody>
      </p:sp>
      <p:sp>
        <p:nvSpPr>
          <p:cNvPr id="98" name="矩形: 圆角 132"/>
          <p:cNvSpPr/>
          <p:nvPr/>
        </p:nvSpPr>
        <p:spPr>
          <a:xfrm>
            <a:off x="571500" y="1066800"/>
            <a:ext cx="11049000" cy="4524375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pic>
        <p:nvPicPr>
          <p:cNvPr id="99" name="图片 133"/>
          <p:cNvPicPr>
            <a:picLocks noChangeAspect="1"/>
          </p:cNvPicPr>
          <p:nvPr/>
        </p:nvPicPr>
        <p:blipFill>
          <a:blip r:embed="rId1"/>
          <a:srcRect l="4" r="4"/>
          <a:stretch>
            <a:fillRect/>
          </a:stretch>
        </p:blipFill>
        <p:spPr>
          <a:xfrm>
            <a:off x="647700" y="1143000"/>
            <a:ext cx="10896600" cy="4371975"/>
          </a:xfrm>
          <a:prstGeom prst="roundRect">
            <a:avLst>
              <a:gd name="adj" fmla="val 1307"/>
            </a:avLst>
          </a:prstGeom>
          <a:ln/>
        </p:spPr>
      </p:pic>
      <p:sp>
        <p:nvSpPr>
          <p:cNvPr id="100" name="矩形: 圆角 134"/>
          <p:cNvSpPr/>
          <p:nvPr/>
        </p:nvSpPr>
        <p:spPr>
          <a:xfrm>
            <a:off x="571500" y="5638800"/>
            <a:ext cx="11049000" cy="600075"/>
          </a:xfrm>
          <a:prstGeom prst="roundRect">
            <a:avLst>
              <a:gd name="adj" fmla="val 15873"/>
            </a:avLst>
          </a:prstGeom>
          <a:solidFill>
            <a:srgbClr val="0E3F8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01" name="文本框 135" descr="{&quot;isTemplate&quot;:true,&quot;type&quot;:&quot;text&quot;}"/>
          <p:cNvSpPr txBox="1"/>
          <p:nvPr/>
        </p:nvSpPr>
        <p:spPr>
          <a:xfrm>
            <a:off x="781050" y="5772150"/>
            <a:ext cx="55245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425" b="1">
                <a:solidFill>
                  <a:srgbClr val="FFFFFF"/>
                </a:solidFill>
                <a:latin typeface="Source Han Sans CN"/>
                <a:ea typeface="Source Han Sans CN"/>
              </a:rPr>
              <a:t>核心结论：把筛选交给能力标定</a:t>
            </a:r>
            <a:r>
              <a:rPr lang="en-US" sz="1425" b="1">
                <a:solidFill>
                  <a:srgbClr val="FFFFFF"/>
                </a:solidFill>
                <a:latin typeface="Source Han Sans CN"/>
                <a:ea typeface="Source Han Sans CN"/>
              </a:rPr>
              <a:t xml:space="preserve"> cap(t)</a:t>
            </a:r>
            <a:r>
              <a:rPr lang="zh-CN" sz="1425" b="1">
                <a:solidFill>
                  <a:srgbClr val="FFFFFF"/>
                </a:solidFill>
                <a:latin typeface="Source Han Sans CN"/>
                <a:ea typeface="Source Han Sans CN"/>
              </a:rPr>
              <a:t>，求解规模恒定——二阶段耗时与任务规模</a:t>
            </a:r>
            <a:r>
              <a:rPr lang="en-US" sz="1425" b="1">
                <a:solidFill>
                  <a:srgbClr val="FFFFFF"/>
                </a:solidFill>
                <a:latin typeface="Source Han Sans CN"/>
                <a:ea typeface="Source Han Sans CN"/>
              </a:rPr>
              <a:t xml:space="preserve"> N </a:t>
            </a:r>
            <a:r>
              <a:rPr lang="zh-CN" sz="1425" b="1">
                <a:solidFill>
                  <a:srgbClr val="FFFFFF"/>
                </a:solidFill>
                <a:latin typeface="Source Han Sans CN"/>
                <a:ea typeface="Source Han Sans CN"/>
              </a:rPr>
              <a:t>无关</a:t>
            </a:r>
            <a:endParaRPr/>
          </a:p>
        </p:txBody>
      </p:sp>
      <p:sp>
        <p:nvSpPr>
          <p:cNvPr id="102" name="矩形: 圆角 136"/>
          <p:cNvSpPr/>
          <p:nvPr/>
        </p:nvSpPr>
        <p:spPr>
          <a:xfrm>
            <a:off x="6477000" y="5791200"/>
            <a:ext cx="1257300" cy="295275"/>
          </a:xfrm>
          <a:prstGeom prst="roundRect">
            <a:avLst>
              <a:gd name="adj" fmla="val 45161"/>
            </a:avLst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03" name="文本框 137" descr="{&quot;isTemplate&quot;:true,&quot;type&quot;:&quot;text&quot;}"/>
          <p:cNvSpPr txBox="1"/>
          <p:nvPr/>
        </p:nvSpPr>
        <p:spPr>
          <a:xfrm>
            <a:off x="6610350" y="5857875"/>
            <a:ext cx="9906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FFFFF"/>
                </a:solidFill>
                <a:latin typeface="Source Han Sans CN"/>
                <a:ea typeface="Source Han Sans CN"/>
              </a:rPr>
              <a:t>候选</a:t>
            </a:r>
            <a:r>
              <a:rPr lang="en-US" sz="1013" b="1">
                <a:solidFill>
                  <a:srgbClr val="FFFFFF"/>
                </a:solidFill>
                <a:latin typeface="Source Han Sans CN"/>
                <a:ea typeface="Source Han Sans CN"/>
              </a:rPr>
              <a:t xml:space="preserve"> k </a:t>
            </a:r>
            <a:r>
              <a:rPr lang="zh-CN" sz="1013" b="1">
                <a:solidFill>
                  <a:srgbClr val="FFFFFF"/>
                </a:solidFill>
                <a:latin typeface="Source Han Sans CN"/>
                <a:ea typeface="Source Han Sans CN"/>
              </a:rPr>
              <a:t>与</a:t>
            </a:r>
            <a:r>
              <a:rPr lang="en-US" sz="1013" b="1">
                <a:solidFill>
                  <a:srgbClr val="FFFFFF"/>
                </a:solidFill>
                <a:latin typeface="Source Han Sans CN"/>
                <a:ea typeface="Source Han Sans CN"/>
              </a:rPr>
              <a:t xml:space="preserve"> N </a:t>
            </a:r>
            <a:r>
              <a:rPr lang="zh-CN" sz="1013" b="1">
                <a:solidFill>
                  <a:srgbClr val="FFFFFF"/>
                </a:solidFill>
                <a:latin typeface="Source Han Sans CN"/>
                <a:ea typeface="Source Han Sans CN"/>
              </a:rPr>
              <a:t>无关</a:t>
            </a:r>
            <a:endParaRPr/>
          </a:p>
        </p:txBody>
      </p:sp>
      <p:sp>
        <p:nvSpPr>
          <p:cNvPr id="104" name="矩形: 圆角 138"/>
          <p:cNvSpPr/>
          <p:nvPr/>
        </p:nvSpPr>
        <p:spPr>
          <a:xfrm>
            <a:off x="7905750" y="5791200"/>
            <a:ext cx="1524000" cy="295275"/>
          </a:xfrm>
          <a:prstGeom prst="roundRect">
            <a:avLst>
              <a:gd name="adj" fmla="val 45161"/>
            </a:avLst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05" name="文本框 139" descr="{&quot;isTemplate&quot;:true,&quot;type&quot;:&quot;text&quot;}"/>
          <p:cNvSpPr txBox="1"/>
          <p:nvPr/>
        </p:nvSpPr>
        <p:spPr>
          <a:xfrm>
            <a:off x="8039100" y="5857875"/>
            <a:ext cx="12573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FFFFFF"/>
                </a:solidFill>
                <a:latin typeface="Source Han Sans CN"/>
                <a:ea typeface="Source Han Sans CN"/>
              </a:rPr>
              <a:t xml:space="preserve">k=16 </a:t>
            </a:r>
            <a:r>
              <a:rPr lang="zh-CN" sz="1013" b="1">
                <a:solidFill>
                  <a:srgbClr val="FFFFFF"/>
                </a:solidFill>
                <a:latin typeface="Source Han Sans CN"/>
                <a:ea typeface="Source Han Sans CN"/>
              </a:rPr>
              <a:t>时</a:t>
            </a:r>
            <a:r>
              <a:rPr lang="en-US" sz="1013" b="1">
                <a:solidFill>
                  <a:srgbClr val="FFFFFF"/>
                </a:solidFill>
                <a:latin typeface="Source Han Sans CN"/>
                <a:ea typeface="Source Han Sans CN"/>
              </a:rPr>
              <a:t xml:space="preserve"> 25.0~25.3s</a:t>
            </a:r>
            <a:endParaRPr/>
          </a:p>
        </p:txBody>
      </p:sp>
      <p:sp>
        <p:nvSpPr>
          <p:cNvPr id="106" name="矩形: 圆角 140"/>
          <p:cNvSpPr/>
          <p:nvPr/>
        </p:nvSpPr>
        <p:spPr>
          <a:xfrm>
            <a:off x="9601200" y="5791200"/>
            <a:ext cx="1809750" cy="295275"/>
          </a:xfrm>
          <a:prstGeom prst="roundRect">
            <a:avLst>
              <a:gd name="adj" fmla="val 45161"/>
            </a:avLst>
          </a:prstGeom>
          <a:solidFill>
            <a:srgbClr val="FFC107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07" name="文本框 141" descr="{&quot;isTemplate&quot;:true,&quot;type&quot;:&quot;text&quot;}"/>
          <p:cNvSpPr txBox="1"/>
          <p:nvPr/>
        </p:nvSpPr>
        <p:spPr>
          <a:xfrm>
            <a:off x="9734550" y="5857875"/>
            <a:ext cx="15430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F1 </a:t>
            </a:r>
            <a:r>
              <a:rPr lang="zh-CN" sz="1013" b="1">
                <a:solidFill>
                  <a:srgbClr val="0E3F8C"/>
                </a:solidFill>
                <a:latin typeface="Source Han Sans CN"/>
                <a:ea typeface="Source Han Sans CN"/>
              </a:rPr>
              <a:t>保全量</a:t>
            </a:r>
            <a:r>
              <a:rPr lang="en-US" sz="1013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93.5% / 83.4%</a:t>
            </a:r>
            <a:endParaRPr/>
          </a:p>
        </p:txBody>
      </p:sp>
      <p:sp>
        <p:nvSpPr>
          <p:cNvPr id="108" name="矩形 142"/>
          <p:cNvSpPr/>
          <p:nvPr/>
        </p:nvSpPr>
        <p:spPr>
          <a:xfrm>
            <a:off x="0" y="6448425"/>
            <a:ext cx="12192000" cy="4095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09" name="任意多边形: 形状 143"/>
          <p:cNvSpPr/>
          <p:nvPr/>
        </p:nvSpPr>
        <p:spPr>
          <a:xfrm>
            <a:off x="0" y="6438900"/>
            <a:ext cx="12192000" cy="419100"/>
          </a:xfrm>
          <a:custGeom>
            <a:avLst/>
            <a:gdLst/>
            <a:ahLst/>
            <a:cxnLst/>
            <a:rect l="0" t="0" r="0" b="0"/>
            <a:pathLst>
              <a:path w="1280" h="4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10" name="文本框 144" descr="{&quot;isTemplate&quot;:true,&quot;type&quot;:&quot;text&quot;}"/>
          <p:cNvSpPr txBox="1"/>
          <p:nvPr/>
        </p:nvSpPr>
        <p:spPr>
          <a:xfrm>
            <a:off x="381000" y="6581775"/>
            <a:ext cx="28289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CN"/>
                <a:ea typeface="Source Han Sans CN"/>
              </a:rPr>
              <a:t>动态滚动的多机巢多无人机协同任务分配</a:t>
            </a:r>
            <a:r>
              <a:rPr lang="en-US" sz="975">
                <a:solidFill>
                  <a:srgbClr val="8B97A8"/>
                </a:solidFill>
                <a:latin typeface="Source Han Sans CN"/>
                <a:ea typeface="Source Han Sans CN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Source Han Sans CN"/>
                <a:ea typeface="Source Han Sans CN"/>
              </a:rPr>
              <a:t>进展汇报</a:t>
            </a:r>
            <a:endParaRPr/>
          </a:p>
        </p:txBody>
      </p:sp>
      <p:sp>
        <p:nvSpPr>
          <p:cNvPr id="111" name="文本框 145" descr="{&quot;isTemplate&quot;:true,&quot;type&quot;:&quot;text&quot;}"/>
          <p:cNvSpPr txBox="1"/>
          <p:nvPr/>
        </p:nvSpPr>
        <p:spPr>
          <a:xfrm>
            <a:off x="11296650" y="6572250"/>
            <a:ext cx="5143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CN"/>
                <a:ea typeface="Source Han Sans CN"/>
              </a:rPr>
              <a:t>13 / 16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矩形 1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14" name="矩形 148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15" name="矩形 149"/>
          <p:cNvSpPr/>
          <p:nvPr/>
        </p:nvSpPr>
        <p:spPr>
          <a:xfrm>
            <a:off x="381000" y="31432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16" name="文本框 150" descr="{&quot;isTemplate&quot;:true,&quot;type&quot;:&quot;text&quot;}"/>
          <p:cNvSpPr txBox="1"/>
          <p:nvPr/>
        </p:nvSpPr>
        <p:spPr>
          <a:xfrm>
            <a:off x="571500" y="285750"/>
            <a:ext cx="54864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Source Han Sans CN"/>
                <a:ea typeface="Source Han Sans CN"/>
              </a:rPr>
              <a:t>性能瓶颈定位与消除：代价矩阵延迟构建</a:t>
            </a:r>
            <a:endParaRPr/>
          </a:p>
        </p:txBody>
      </p:sp>
      <p:sp>
        <p:nvSpPr>
          <p:cNvPr id="117" name="文本框 151" descr="{&quot;isTemplate&quot;:true,&quot;type&quot;:&quot;text&quot;}"/>
          <p:cNvSpPr txBox="1"/>
          <p:nvPr/>
        </p:nvSpPr>
        <p:spPr>
          <a:xfrm>
            <a:off x="571500" y="742950"/>
            <a:ext cx="44672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Source Han Sans CN"/>
                <a:ea typeface="Source Han Sans CN"/>
              </a:rPr>
              <a:t>一阶段前不再对全量任务建</a:t>
            </a:r>
            <a:r>
              <a:rPr lang="en-US" sz="1125">
                <a:solidFill>
                  <a:srgbClr val="8B97A8"/>
                </a:solidFill>
                <a:latin typeface="Source Han Sans CN"/>
                <a:ea typeface="Source Han Sans CN"/>
              </a:rPr>
              <a:t xml:space="preserve"> O(n²) </a:t>
            </a:r>
            <a:r>
              <a:rPr lang="zh-CN" sz="1125">
                <a:solidFill>
                  <a:srgbClr val="8B97A8"/>
                </a:solidFill>
                <a:latin typeface="Source Han Sans CN"/>
                <a:ea typeface="Source Han Sans CN"/>
              </a:rPr>
              <a:t>矩阵——惰性代价表按需估算并缓存</a:t>
            </a:r>
            <a:endParaRPr/>
          </a:p>
        </p:txBody>
      </p:sp>
      <p:sp>
        <p:nvSpPr>
          <p:cNvPr id="118" name="矩形: 圆角 152"/>
          <p:cNvSpPr/>
          <p:nvPr/>
        </p:nvSpPr>
        <p:spPr>
          <a:xfrm>
            <a:off x="381000" y="1104900"/>
            <a:ext cx="3810000" cy="2371725"/>
          </a:xfrm>
          <a:prstGeom prst="roundRect">
            <a:avLst>
              <a:gd name="adj" fmla="val 4819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sp>
        <p:nvSpPr>
          <p:cNvPr id="119" name="文本框 153" descr="{&quot;isTemplate&quot;:true,&quot;type&quot;:&quot;text&quot;}"/>
          <p:cNvSpPr txBox="1"/>
          <p:nvPr/>
        </p:nvSpPr>
        <p:spPr>
          <a:xfrm>
            <a:off x="628650" y="1333500"/>
            <a:ext cx="33147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O(n²) </a:t>
            </a:r>
            <a:r>
              <a:rPr lang="zh-CN" sz="1125">
                <a:solidFill>
                  <a:srgbClr val="4A5568"/>
                </a:solidFill>
                <a:latin typeface="Source Han Sans CN"/>
                <a:ea typeface="Source Han Sans CN"/>
              </a:rPr>
              <a:t>矩阵构建占端到端比例（</a:t>
            </a:r>
            <a:r>
              <a:rPr lang="en-US" sz="1125">
                <a:solidFill>
                  <a:srgbClr val="4A5568"/>
                </a:solidFill>
                <a:latin typeface="Source Han Sans CN"/>
                <a:ea typeface="Source Han Sans CN"/>
              </a:rPr>
              <a:t>N=200</a:t>
            </a:r>
            <a:r>
              <a:rPr lang="zh-CN" sz="1125">
                <a:solidFill>
                  <a:srgbClr val="4A5568"/>
                </a:solidFill>
                <a:latin typeface="Source Han Sans CN"/>
                <a:ea typeface="Source Han Sans CN"/>
              </a:rPr>
              <a:t>）</a:t>
            </a:r>
            <a:endParaRPr/>
          </a:p>
        </p:txBody>
      </p:sp>
      <p:sp>
        <p:nvSpPr>
          <p:cNvPr id="120" name="文本框 154" descr="{&quot;isTemplate&quot;:true,&quot;type&quot;:&quot;text&quot;}"/>
          <p:cNvSpPr txBox="1"/>
          <p:nvPr/>
        </p:nvSpPr>
        <p:spPr>
          <a:xfrm>
            <a:off x="628650" y="1600200"/>
            <a:ext cx="1495425" cy="714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D9534F"/>
                </a:solidFill>
                <a:latin typeface="Source Han Sans CN"/>
                <a:ea typeface="Source Han Sans CN"/>
              </a:rPr>
              <a:t>85.6</a:t>
            </a:r>
            <a:r>
              <a:rPr lang="en-US" sz="1950" b="1">
                <a:solidFill>
                  <a:srgbClr val="D9534F"/>
                </a:solidFill>
                <a:latin typeface="Source Han Sans CN"/>
                <a:ea typeface="Source Han Sans CN"/>
              </a:rPr>
              <a:t>%</a:t>
            </a:r>
            <a:endParaRPr/>
          </a:p>
        </p:txBody>
      </p:sp>
      <p:sp>
        <p:nvSpPr>
          <p:cNvPr id="121" name="文本框 155" descr="{&quot;isTemplate&quot;:true,&quot;type&quot;:&quot;text&quot;}"/>
          <p:cNvSpPr txBox="1"/>
          <p:nvPr/>
        </p:nvSpPr>
        <p:spPr>
          <a:xfrm>
            <a:off x="2257425" y="1914525"/>
            <a:ext cx="285750" cy="400050"/>
          </a:xfrm>
          <a:prstGeom prst="rect">
            <a:avLst/>
          </a:prstGeom>
        </p:spPr>
        <p:txBody>
          <a:bodyPr wrap="none" lIns="0" tIns="0" rIns="0" bIns="42863"/>
          <a:lstStyle/>
          <a:p>
            <a:pPr>
              <a:lnSpc>
                <a:spcPct val="100000"/>
              </a:lnSpc>
            </a:pPr>
            <a:r>
              <a:rPr sz="2250">
                <a:solidFill>
                  <a:srgbClr val="8B97A8"/>
                </a:solidFill>
                <a:latin typeface="Source Han Sans CN"/>
                <a:ea typeface="Source Han Sans CN"/>
              </a:rPr>
              <a:t>→</a:t>
            </a:r>
            <a:endParaRPr/>
          </a:p>
        </p:txBody>
      </p:sp>
      <p:sp>
        <p:nvSpPr>
          <p:cNvPr id="122" name="文本框 156" descr="{&quot;isTemplate&quot;:true,&quot;type&quot;:&quot;text&quot;}"/>
          <p:cNvSpPr txBox="1"/>
          <p:nvPr/>
        </p:nvSpPr>
        <p:spPr>
          <a:xfrm>
            <a:off x="2676525" y="1600200"/>
            <a:ext cx="1133475" cy="714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3B6D11"/>
                </a:solidFill>
                <a:latin typeface="Source Han Sans CN"/>
                <a:ea typeface="Source Han Sans CN"/>
              </a:rPr>
              <a:t>3.7</a:t>
            </a:r>
            <a:r>
              <a:rPr lang="en-US" sz="1950" b="1">
                <a:solidFill>
                  <a:srgbClr val="3B6D11"/>
                </a:solidFill>
                <a:latin typeface="Source Han Sans CN"/>
                <a:ea typeface="Source Han Sans CN"/>
              </a:rPr>
              <a:t>%</a:t>
            </a:r>
            <a:endParaRPr/>
          </a:p>
        </p:txBody>
      </p:sp>
      <p:sp>
        <p:nvSpPr>
          <p:cNvPr id="123" name="矩形: 圆角 157"/>
          <p:cNvSpPr/>
          <p:nvPr/>
        </p:nvSpPr>
        <p:spPr>
          <a:xfrm>
            <a:off x="628650" y="2466975"/>
            <a:ext cx="3314700" cy="95250"/>
          </a:xfrm>
          <a:prstGeom prst="roundRect">
            <a:avLst>
              <a:gd name="adj" fmla="val 50000"/>
            </a:avLst>
          </a:prstGeom>
          <a:solidFill>
            <a:srgbClr val="D6DCE5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24" name="矩形: 圆角 158"/>
          <p:cNvSpPr/>
          <p:nvPr/>
        </p:nvSpPr>
        <p:spPr>
          <a:xfrm>
            <a:off x="628650" y="2466975"/>
            <a:ext cx="142875" cy="95250"/>
          </a:xfrm>
          <a:prstGeom prst="roundRect">
            <a:avLst>
              <a:gd name="adj" fmla="val 50000"/>
            </a:avLst>
          </a:prstGeom>
          <a:solidFill>
            <a:srgbClr val="3B6D11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25" name="文本框 159" descr="{&quot;isTemplate&quot;:true,&quot;type&quot;:&quot;text&quot;}"/>
          <p:cNvSpPr txBox="1"/>
          <p:nvPr/>
        </p:nvSpPr>
        <p:spPr>
          <a:xfrm>
            <a:off x="628650" y="2695575"/>
            <a:ext cx="33147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现算边数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2 164 / 43 264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（</a:t>
            </a:r>
            <a:r>
              <a:rPr lang="en-US" sz="1050" b="1">
                <a:solidFill>
                  <a:srgbClr val="4A5568"/>
                </a:solidFill>
                <a:latin typeface="Source Han Sans CN"/>
                <a:ea typeface="Source Han Sans CN"/>
              </a:rPr>
              <a:t>5.0%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）；子集构建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66ms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，对比全量预建约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16.8s</a:t>
            </a:r>
            <a:endParaRPr/>
          </a:p>
        </p:txBody>
      </p:sp>
      <p:sp>
        <p:nvSpPr>
          <p:cNvPr id="126" name="矩形: 圆角 160"/>
          <p:cNvSpPr/>
          <p:nvPr/>
        </p:nvSpPr>
        <p:spPr>
          <a:xfrm>
            <a:off x="381000" y="3629025"/>
            <a:ext cx="3810000" cy="1333500"/>
          </a:xfrm>
          <a:prstGeom prst="roundRect">
            <a:avLst>
              <a:gd name="adj" fmla="val 714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sp>
        <p:nvSpPr>
          <p:cNvPr id="127" name="文本框 161" descr="{&quot;isTemplate&quot;:true,&quot;type&quot;:&quot;text&quot;}"/>
          <p:cNvSpPr txBox="1"/>
          <p:nvPr/>
        </p:nvSpPr>
        <p:spPr>
          <a:xfrm>
            <a:off x="571500" y="3762375"/>
            <a:ext cx="3429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Source Han Sans CN"/>
                <a:ea typeface="Source Han Sans CN"/>
              </a:rPr>
              <a:t>机制：惰性代价表</a:t>
            </a:r>
            <a:r>
              <a:rPr lang="en-US" sz="1200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LazyPairwiseCost</a:t>
            </a:r>
            <a:endParaRPr/>
          </a:p>
        </p:txBody>
      </p:sp>
      <p:sp>
        <p:nvSpPr>
          <p:cNvPr id="128" name="文本框 162" descr="{&quot;isTemplate&quot;:true,&quot;type&quot;:&quot;text&quot;}"/>
          <p:cNvSpPr txBox="1"/>
          <p:nvPr/>
        </p:nvSpPr>
        <p:spPr>
          <a:xfrm>
            <a:off x="571500" y="4010025"/>
            <a:ext cx="3429000" cy="819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映射协议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+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按需估算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+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缓存，一阶段只触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O(n·K + k²)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条边；候选确定后仅对子集精建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4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个代价矩阵。值与全量建表</a:t>
            </a:r>
            <a:r>
              <a:rPr lang="zh-CN" sz="1050" b="1">
                <a:solidFill>
                  <a:srgbClr val="4A5568"/>
                </a:solidFill>
                <a:latin typeface="Source Han Sans CN"/>
                <a:ea typeface="Source Han Sans CN"/>
              </a:rPr>
              <a:t>逐位一致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。</a:t>
            </a:r>
            <a:endParaRPr/>
          </a:p>
        </p:txBody>
      </p:sp>
      <p:sp>
        <p:nvSpPr>
          <p:cNvPr id="129" name="矩形: 圆角 163"/>
          <p:cNvSpPr/>
          <p:nvPr/>
        </p:nvSpPr>
        <p:spPr>
          <a:xfrm>
            <a:off x="381000" y="5095875"/>
            <a:ext cx="3810000" cy="1076325"/>
          </a:xfrm>
          <a:prstGeom prst="roundRect">
            <a:avLst>
              <a:gd name="adj" fmla="val 8850"/>
            </a:avLst>
          </a:prstGeom>
          <a:solidFill>
            <a:srgbClr val="0E3F8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30" name="文本框 164" descr="{&quot;isTemplate&quot;:true,&quot;type&quot;:&quot;text&quot;}"/>
          <p:cNvSpPr txBox="1"/>
          <p:nvPr/>
        </p:nvSpPr>
        <p:spPr>
          <a:xfrm>
            <a:off x="571500" y="5219700"/>
            <a:ext cx="3429000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FFFFFF"/>
                </a:solidFill>
                <a:latin typeface="Source Han Sans CN"/>
                <a:ea typeface="Source Han Sans CN"/>
              </a:rPr>
              <a:t>无损验证：</a:t>
            </a:r>
            <a:r>
              <a:rPr lang="en-US" sz="1125" b="1">
                <a:solidFill>
                  <a:srgbClr val="FFFFFF"/>
                </a:solidFill>
                <a:latin typeface="Source Han Sans CN"/>
                <a:ea typeface="Source Han Sans CN"/>
              </a:rPr>
              <a:t xml:space="preserve">7 </a:t>
            </a:r>
            <a:r>
              <a:rPr lang="zh-CN" sz="1125" b="1">
                <a:solidFill>
                  <a:srgbClr val="FFFFFF"/>
                </a:solidFill>
                <a:latin typeface="Source Han Sans CN"/>
                <a:ea typeface="Source Han Sans CN"/>
              </a:rPr>
              <a:t>个实验格与旧代码逐位复现（</a:t>
            </a:r>
            <a:r>
              <a:rPr lang="en-US" sz="1125" b="1">
                <a:solidFill>
                  <a:srgbClr val="FFFFFF"/>
                </a:solidFill>
                <a:latin typeface="Source Han Sans CN"/>
                <a:ea typeface="Source Han Sans CN"/>
              </a:rPr>
              <a:t>bit-exact</a:t>
            </a:r>
            <a:r>
              <a:rPr lang="zh-CN" sz="1125" b="1">
                <a:solidFill>
                  <a:srgbClr val="FFFFFF"/>
                </a:solidFill>
                <a:latin typeface="Source Han Sans CN"/>
                <a:ea typeface="Source Han Sans CN"/>
              </a:rPr>
              <a:t>）——性能优化不改变任何决策结果，两阶段耗时分解见右图。</a:t>
            </a:r>
            <a:endParaRPr/>
          </a:p>
        </p:txBody>
      </p:sp>
      <p:sp>
        <p:nvSpPr>
          <p:cNvPr id="131" name="矩形: 圆角 165"/>
          <p:cNvSpPr/>
          <p:nvPr/>
        </p:nvSpPr>
        <p:spPr>
          <a:xfrm>
            <a:off x="4419600" y="1104900"/>
            <a:ext cx="7391400" cy="2800350"/>
          </a:xfrm>
          <a:prstGeom prst="roundRect">
            <a:avLst>
              <a:gd name="adj" fmla="val 340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pic>
        <p:nvPicPr>
          <p:cNvPr id="132" name="图片 166"/>
          <p:cNvPicPr>
            <a:picLocks noChangeAspect="1"/>
          </p:cNvPicPr>
          <p:nvPr/>
        </p:nvPicPr>
        <p:blipFill>
          <a:blip r:embed="rId1"/>
          <a:srcRect t="26" b="26"/>
          <a:stretch>
            <a:fillRect/>
          </a:stretch>
        </p:blipFill>
        <p:spPr>
          <a:xfrm>
            <a:off x="4495800" y="1181100"/>
            <a:ext cx="7239000" cy="2647950"/>
          </a:xfrm>
          <a:prstGeom prst="roundRect">
            <a:avLst>
              <a:gd name="adj" fmla="val 2158"/>
            </a:avLst>
          </a:prstGeom>
          <a:ln/>
        </p:spPr>
      </p:pic>
      <p:sp>
        <p:nvSpPr>
          <p:cNvPr id="133" name="文本框 167" descr="{&quot;isTemplate&quot;:true,&quot;type&quot;:&quot;text&quot;}"/>
          <p:cNvSpPr txBox="1"/>
          <p:nvPr/>
        </p:nvSpPr>
        <p:spPr>
          <a:xfrm>
            <a:off x="4419600" y="3981450"/>
            <a:ext cx="7391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CN"/>
                <a:ea typeface="Source Han Sans CN"/>
              </a:rPr>
              <a:t>耗时分解（</a:t>
            </a:r>
            <a:r>
              <a:rPr lang="en-US" sz="1050">
                <a:solidFill>
                  <a:srgbClr val="8B97A8"/>
                </a:solidFill>
                <a:latin typeface="Source Han Sans CN"/>
                <a:ea typeface="Source Han Sans CN"/>
              </a:rPr>
              <a:t>t_hint / t_selection / t_build / t_muas</a:t>
            </a:r>
            <a:r>
              <a:rPr lang="zh-CN" sz="1050">
                <a:solidFill>
                  <a:srgbClr val="8B97A8"/>
                </a:solidFill>
                <a:latin typeface="Source Han Sans CN"/>
                <a:ea typeface="Source Han Sans CN"/>
              </a:rPr>
              <a:t>）：构建与选择阶段开销可忽略，耗时集中在第二阶段求解</a:t>
            </a:r>
            <a:endParaRPr/>
          </a:p>
        </p:txBody>
      </p:sp>
      <p:sp>
        <p:nvSpPr>
          <p:cNvPr id="134" name="矩形: 圆角 168"/>
          <p:cNvSpPr/>
          <p:nvPr/>
        </p:nvSpPr>
        <p:spPr>
          <a:xfrm>
            <a:off x="4457700" y="4276725"/>
            <a:ext cx="7391400" cy="1390650"/>
          </a:xfrm>
          <a:prstGeom prst="roundRect">
            <a:avLst>
              <a:gd name="adj" fmla="val 5479"/>
            </a:avLst>
          </a:prstGeom>
          <a:solidFill>
            <a:srgbClr val="F7F9F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35" name="任意多边形: 形状 169"/>
          <p:cNvSpPr/>
          <p:nvPr/>
        </p:nvSpPr>
        <p:spPr>
          <a:xfrm>
            <a:off x="4457700" y="4276725"/>
            <a:ext cx="7391400" cy="1390650"/>
          </a:xfrm>
          <a:custGeom>
            <a:avLst/>
            <a:gdLst/>
            <a:ahLst/>
            <a:cxnLst/>
            <a:rect l="0" t="0" r="0" b="0"/>
            <a:pathLst>
              <a:path w="776" h="146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42"/>
                </a:lnTo>
                <a:cubicBezTo>
                  <a:pt x="4" y="144"/>
                  <a:pt x="5" y="146"/>
                  <a:pt x="7" y="146"/>
                </a:cubicBezTo>
                <a:cubicBezTo>
                  <a:pt x="3" y="146"/>
                  <a:pt x="0" y="142"/>
                  <a:pt x="0" y="13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36" name="文本框 170" descr="{&quot;isTemplate&quot;:true,&quot;type&quot;:&quot;text&quot;}"/>
          <p:cNvSpPr txBox="1"/>
          <p:nvPr/>
        </p:nvSpPr>
        <p:spPr>
          <a:xfrm>
            <a:off x="4648200" y="4410075"/>
            <a:ext cx="69723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Source Han Sans CN"/>
                <a:ea typeface="Source Han Sans CN"/>
              </a:rPr>
              <a:t>设计判断</a:t>
            </a:r>
            <a:endParaRPr/>
          </a:p>
        </p:txBody>
      </p:sp>
      <p:sp>
        <p:nvSpPr>
          <p:cNvPr id="137" name="文本框 171" descr="{&quot;isTemplate&quot;:true,&quot;type&quot;:&quot;text&quot;}"/>
          <p:cNvSpPr txBox="1"/>
          <p:nvPr/>
        </p:nvSpPr>
        <p:spPr>
          <a:xfrm>
            <a:off x="4648200" y="4657725"/>
            <a:ext cx="6972300" cy="876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5000"/>
              </a:lnSpc>
            </a:pPr>
            <a:r>
              <a:rPr lang="zh-CN" sz="1088">
                <a:solidFill>
                  <a:srgbClr val="4A5568"/>
                </a:solidFill>
                <a:latin typeface="Source Han Sans CN"/>
                <a:ea typeface="Source Han Sans CN"/>
              </a:rPr>
              <a:t>瓶颈消除后，选择阶段的职能从「成本控制器」变为「质量控制器」：候选名额不再是耗时瓶颈，真正的代价在第二阶段随</a:t>
            </a:r>
            <a:r>
              <a:rPr lang="en-US" sz="1088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k² </a:t>
            </a:r>
            <a:r>
              <a:rPr lang="zh-CN" sz="1088">
                <a:solidFill>
                  <a:srgbClr val="4A5568"/>
                </a:solidFill>
                <a:latin typeface="Source Han Sans CN"/>
                <a:ea typeface="Source Han Sans CN"/>
              </a:rPr>
              <a:t>增长的求解——这正是「</a:t>
            </a:r>
            <a:r>
              <a:rPr lang="en-US" sz="1088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k ≈ cap(t) </a:t>
            </a:r>
            <a:r>
              <a:rPr lang="zh-CN" sz="1088">
                <a:solidFill>
                  <a:srgbClr val="4A5568"/>
                </a:solidFill>
                <a:latin typeface="Source Han Sans CN"/>
                <a:ea typeface="Source Han Sans CN"/>
              </a:rPr>
              <a:t>是甜点、超过后收益速衰」标定结论的机理来源，也解释了</a:t>
            </a:r>
            <a:r>
              <a:rPr lang="en-US" sz="1088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exp02 </a:t>
            </a:r>
            <a:r>
              <a:rPr lang="zh-CN" sz="1088">
                <a:solidFill>
                  <a:srgbClr val="4A5568"/>
                </a:solidFill>
                <a:latin typeface="Source Han Sans CN"/>
                <a:ea typeface="Source Han Sans CN"/>
              </a:rPr>
              <a:t>中</a:t>
            </a:r>
            <a:r>
              <a:rPr lang="en-US" sz="1088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k=40→41 </a:t>
            </a:r>
            <a:r>
              <a:rPr lang="zh-CN" sz="1088">
                <a:solidFill>
                  <a:srgbClr val="4A5568"/>
                </a:solidFill>
                <a:latin typeface="Source Han Sans CN"/>
                <a:ea typeface="Source Han Sans CN"/>
              </a:rPr>
              <a:t>的边际收益骤减。</a:t>
            </a:r>
            <a:endParaRPr/>
          </a:p>
        </p:txBody>
      </p:sp>
      <p:sp>
        <p:nvSpPr>
          <p:cNvPr id="138" name="矩形 172"/>
          <p:cNvSpPr/>
          <p:nvPr/>
        </p:nvSpPr>
        <p:spPr>
          <a:xfrm>
            <a:off x="0" y="6448425"/>
            <a:ext cx="12192000" cy="4095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39" name="任意多边形: 形状 173"/>
          <p:cNvSpPr/>
          <p:nvPr/>
        </p:nvSpPr>
        <p:spPr>
          <a:xfrm>
            <a:off x="0" y="6438900"/>
            <a:ext cx="12192000" cy="419100"/>
          </a:xfrm>
          <a:custGeom>
            <a:avLst/>
            <a:gdLst/>
            <a:ahLst/>
            <a:cxnLst/>
            <a:rect l="0" t="0" r="0" b="0"/>
            <a:pathLst>
              <a:path w="1280" h="4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40" name="文本框 174" descr="{&quot;isTemplate&quot;:true,&quot;type&quot;:&quot;text&quot;}"/>
          <p:cNvSpPr txBox="1"/>
          <p:nvPr/>
        </p:nvSpPr>
        <p:spPr>
          <a:xfrm>
            <a:off x="381000" y="6581775"/>
            <a:ext cx="28289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CN"/>
                <a:ea typeface="Source Han Sans CN"/>
              </a:rPr>
              <a:t>动态滚动的多机巢多无人机协同任务分配</a:t>
            </a:r>
            <a:r>
              <a:rPr lang="en-US" sz="975">
                <a:solidFill>
                  <a:srgbClr val="8B97A8"/>
                </a:solidFill>
                <a:latin typeface="Source Han Sans CN"/>
                <a:ea typeface="Source Han Sans CN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Source Han Sans CN"/>
                <a:ea typeface="Source Han Sans CN"/>
              </a:rPr>
              <a:t>进展汇报</a:t>
            </a:r>
            <a:endParaRPr/>
          </a:p>
        </p:txBody>
      </p:sp>
      <p:sp>
        <p:nvSpPr>
          <p:cNvPr id="141" name="文本框 175" descr="{&quot;isTemplate&quot;:true,&quot;type&quot;:&quot;text&quot;}"/>
          <p:cNvSpPr txBox="1"/>
          <p:nvPr/>
        </p:nvSpPr>
        <p:spPr>
          <a:xfrm>
            <a:off x="11296650" y="6572250"/>
            <a:ext cx="5143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CN"/>
                <a:ea typeface="Source Han Sans CN"/>
              </a:rPr>
              <a:t>14 / 16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矩形 17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44" name="矩形 178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45" name="矩形 179"/>
          <p:cNvSpPr/>
          <p:nvPr/>
        </p:nvSpPr>
        <p:spPr>
          <a:xfrm>
            <a:off x="381000" y="31432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46" name="文本框 180" descr="{&quot;isTemplate&quot;:true,&quot;type&quot;:&quot;text&quot;}"/>
          <p:cNvSpPr txBox="1"/>
          <p:nvPr/>
        </p:nvSpPr>
        <p:spPr>
          <a:xfrm>
            <a:off x="571500" y="285750"/>
            <a:ext cx="3048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Source Han Sans CN"/>
                <a:ea typeface="Source Han Sans CN"/>
              </a:rPr>
              <a:t>证据边界与下一步计划</a:t>
            </a:r>
            <a:endParaRPr/>
          </a:p>
        </p:txBody>
      </p:sp>
      <p:sp>
        <p:nvSpPr>
          <p:cNvPr id="147" name="文本框 181" descr="{&quot;isTemplate&quot;:true,&quot;type&quot;:&quot;text&quot;}"/>
          <p:cNvSpPr txBox="1"/>
          <p:nvPr/>
        </p:nvSpPr>
        <p:spPr>
          <a:xfrm>
            <a:off x="571500" y="742950"/>
            <a:ext cx="37147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Source Han Sans CN"/>
                <a:ea typeface="Source Han Sans CN"/>
              </a:rPr>
              <a:t>已成立的是内部有效性；外部有效性是当前最大的证据缺口</a:t>
            </a:r>
            <a:endParaRPr/>
          </a:p>
        </p:txBody>
      </p:sp>
      <p:sp>
        <p:nvSpPr>
          <p:cNvPr id="148" name="矩形: 圆角 182"/>
          <p:cNvSpPr/>
          <p:nvPr/>
        </p:nvSpPr>
        <p:spPr>
          <a:xfrm>
            <a:off x="419100" y="1104900"/>
            <a:ext cx="6096000" cy="1076325"/>
          </a:xfrm>
          <a:prstGeom prst="roundRect">
            <a:avLst>
              <a:gd name="adj" fmla="val 8850"/>
            </a:avLst>
          </a:prstGeom>
          <a:solidFill>
            <a:srgbClr val="F7F9F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49" name="任意多边形: 形状 183"/>
          <p:cNvSpPr/>
          <p:nvPr/>
        </p:nvSpPr>
        <p:spPr>
          <a:xfrm>
            <a:off x="419100" y="1104900"/>
            <a:ext cx="6096000" cy="1076325"/>
          </a:xfrm>
          <a:custGeom>
            <a:avLst/>
            <a:gdLst/>
            <a:ahLst/>
            <a:cxnLst/>
            <a:rect l="0" t="0" r="0" b="0"/>
            <a:pathLst>
              <a:path w="640" h="113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07"/>
                </a:lnTo>
                <a:cubicBezTo>
                  <a:pt x="4" y="110"/>
                  <a:pt x="6" y="112"/>
                  <a:pt x="9" y="113"/>
                </a:cubicBezTo>
                <a:cubicBezTo>
                  <a:pt x="4" y="112"/>
                  <a:pt x="0" y="108"/>
                  <a:pt x="0" y="103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50" name="文本框 184" descr="{&quot;isTemplate&quot;:true,&quot;type&quot;:&quot;text&quot;}"/>
          <p:cNvSpPr txBox="1"/>
          <p:nvPr/>
        </p:nvSpPr>
        <p:spPr>
          <a:xfrm>
            <a:off x="609600" y="1238250"/>
            <a:ext cx="56769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13" b="1">
                <a:solidFill>
                  <a:srgbClr val="1A2230"/>
                </a:solidFill>
                <a:latin typeface="Source Han Sans CN"/>
                <a:ea typeface="Source Han Sans CN"/>
              </a:rPr>
              <a:t>外部基线未补——答不了「优于谁」</a:t>
            </a:r>
            <a:endParaRPr/>
          </a:p>
        </p:txBody>
      </p:sp>
      <p:sp>
        <p:nvSpPr>
          <p:cNvPr id="151" name="文本框 185" descr="{&quot;isTemplate&quot;:true,&quot;type&quot;:&quot;text&quot;}"/>
          <p:cNvSpPr txBox="1"/>
          <p:nvPr/>
        </p:nvSpPr>
        <p:spPr>
          <a:xfrm>
            <a:off x="609600" y="1495425"/>
            <a:ext cx="56769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baselines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目录全部占位；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full MUAS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只是同一求解器的质量上界参照，不是竞品。这是答辩最可能被攻击的点。</a:t>
            </a:r>
            <a:endParaRPr/>
          </a:p>
        </p:txBody>
      </p:sp>
      <p:sp>
        <p:nvSpPr>
          <p:cNvPr id="152" name="矩形: 圆角 186"/>
          <p:cNvSpPr/>
          <p:nvPr/>
        </p:nvSpPr>
        <p:spPr>
          <a:xfrm>
            <a:off x="419100" y="2314575"/>
            <a:ext cx="6096000" cy="1343025"/>
          </a:xfrm>
          <a:prstGeom prst="roundRect">
            <a:avLst>
              <a:gd name="adj" fmla="val 7092"/>
            </a:avLst>
          </a:prstGeom>
          <a:solidFill>
            <a:srgbClr val="F7F9F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53" name="任意多边形: 形状 187"/>
          <p:cNvSpPr/>
          <p:nvPr/>
        </p:nvSpPr>
        <p:spPr>
          <a:xfrm>
            <a:off x="419100" y="2314575"/>
            <a:ext cx="6096000" cy="1343025"/>
          </a:xfrm>
          <a:custGeom>
            <a:avLst/>
            <a:gdLst/>
            <a:ahLst/>
            <a:cxnLst/>
            <a:rect l="0" t="0" r="0" b="0"/>
            <a:pathLst>
              <a:path w="640" h="141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35"/>
                </a:lnTo>
                <a:cubicBezTo>
                  <a:pt x="4" y="138"/>
                  <a:pt x="6" y="140"/>
                  <a:pt x="9" y="141"/>
                </a:cubicBezTo>
                <a:cubicBezTo>
                  <a:pt x="4" y="140"/>
                  <a:pt x="0" y="136"/>
                  <a:pt x="0" y="13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54" name="文本框 188" descr="{&quot;isTemplate&quot;:true,&quot;type&quot;:&quot;text&quot;}"/>
          <p:cNvSpPr txBox="1"/>
          <p:nvPr/>
        </p:nvSpPr>
        <p:spPr>
          <a:xfrm>
            <a:off x="609600" y="2447925"/>
            <a:ext cx="56769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13" b="1">
                <a:solidFill>
                  <a:srgbClr val="1A2230"/>
                </a:solidFill>
                <a:latin typeface="Source Han Sans CN"/>
                <a:ea typeface="Source Han Sans CN"/>
              </a:rPr>
              <a:t>联合域未测——两组实验各覆盖一半工况</a:t>
            </a:r>
            <a:endParaRPr/>
          </a:p>
        </p:txBody>
      </p:sp>
      <p:sp>
        <p:nvSpPr>
          <p:cNvPr id="155" name="文本框 189" descr="{&quot;isTemplate&quot;:true,&quot;type&quot;:&quot;text&quot;}"/>
          <p:cNvSpPr txBox="1"/>
          <p:nvPr/>
        </p:nvSpPr>
        <p:spPr>
          <a:xfrm>
            <a:off x="609600" y="2705100"/>
            <a:ext cx="5676900" cy="819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exp01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机多任务少（压缩机制空转）、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exp02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任务大但无滚动到达。真实生产是「机队规模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×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任务压力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× Poisson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滚动」叠加：余航程衰减使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cap(t)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逐周期收缩，与任务积压增长的交互从未被测量（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exp06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已建设计骨架）。</a:t>
            </a:r>
            <a:endParaRPr/>
          </a:p>
        </p:txBody>
      </p:sp>
      <p:sp>
        <p:nvSpPr>
          <p:cNvPr id="156" name="矩形: 圆角 190"/>
          <p:cNvSpPr/>
          <p:nvPr/>
        </p:nvSpPr>
        <p:spPr>
          <a:xfrm>
            <a:off x="419100" y="3790950"/>
            <a:ext cx="6096000" cy="1076325"/>
          </a:xfrm>
          <a:prstGeom prst="roundRect">
            <a:avLst>
              <a:gd name="adj" fmla="val 8850"/>
            </a:avLst>
          </a:prstGeom>
          <a:solidFill>
            <a:srgbClr val="F7F9F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57" name="任意多边形: 形状 191"/>
          <p:cNvSpPr/>
          <p:nvPr/>
        </p:nvSpPr>
        <p:spPr>
          <a:xfrm>
            <a:off x="419100" y="3790950"/>
            <a:ext cx="6096000" cy="1076325"/>
          </a:xfrm>
          <a:custGeom>
            <a:avLst/>
            <a:gdLst/>
            <a:ahLst/>
            <a:cxnLst/>
            <a:rect l="0" t="0" r="0" b="0"/>
            <a:pathLst>
              <a:path w="640" h="113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07"/>
                </a:lnTo>
                <a:cubicBezTo>
                  <a:pt x="4" y="110"/>
                  <a:pt x="6" y="112"/>
                  <a:pt x="9" y="113"/>
                </a:cubicBezTo>
                <a:cubicBezTo>
                  <a:pt x="4" y="112"/>
                  <a:pt x="0" y="108"/>
                  <a:pt x="0" y="103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BA7517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58" name="文本框 192" descr="{&quot;isTemplate&quot;:true,&quot;type&quot;:&quot;text&quot;}"/>
          <p:cNvSpPr txBox="1"/>
          <p:nvPr/>
        </p:nvSpPr>
        <p:spPr>
          <a:xfrm>
            <a:off x="609600" y="3924300"/>
            <a:ext cx="56769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13" b="1">
                <a:solidFill>
                  <a:srgbClr val="1A2230"/>
                </a:solidFill>
                <a:latin typeface="Source Han Sans CN"/>
                <a:ea typeface="Source Han Sans CN"/>
              </a:rPr>
              <a:t>标定结论有附加条件</a:t>
            </a:r>
            <a:endParaRPr/>
          </a:p>
        </p:txBody>
      </p:sp>
      <p:sp>
        <p:nvSpPr>
          <p:cNvPr id="159" name="文本框 193" descr="{&quot;isTemplate&quot;:true,&quot;type&quot;:&quot;text&quot;}"/>
          <p:cNvSpPr txBox="1"/>
          <p:nvPr/>
        </p:nvSpPr>
        <p:spPr>
          <a:xfrm>
            <a:off x="609600" y="4181475"/>
            <a:ext cx="56769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exp02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为单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seed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、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40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代轻预算——量的是「吞吐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>-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耗时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>-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质量」曲线形状，不是生产级解质量；生产化（选择数接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cap(t)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）须走</a:t>
            </a:r>
            <a:r>
              <a:rPr lang="en-US" sz="1050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exp04 </a:t>
            </a:r>
            <a:r>
              <a:rPr lang="zh-CN" sz="1050">
                <a:solidFill>
                  <a:srgbClr val="4A5568"/>
                </a:solidFill>
                <a:latin typeface="Source Han Sans CN"/>
                <a:ea typeface="Source Han Sans CN"/>
              </a:rPr>
              <a:t>消融评估后落地。</a:t>
            </a:r>
            <a:endParaRPr/>
          </a:p>
        </p:txBody>
      </p:sp>
      <p:sp>
        <p:nvSpPr>
          <p:cNvPr id="160" name="矩形: 圆角 194"/>
          <p:cNvSpPr/>
          <p:nvPr/>
        </p:nvSpPr>
        <p:spPr>
          <a:xfrm>
            <a:off x="419100" y="5000625"/>
            <a:ext cx="6096000" cy="1133475"/>
          </a:xfrm>
          <a:prstGeom prst="roundRect">
            <a:avLst>
              <a:gd name="adj" fmla="val 6723"/>
            </a:avLst>
          </a:prstGeom>
          <a:solidFill>
            <a:srgbClr val="F0F5F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61" name="任意多边形: 形状 195"/>
          <p:cNvSpPr/>
          <p:nvPr/>
        </p:nvSpPr>
        <p:spPr>
          <a:xfrm>
            <a:off x="419100" y="5000625"/>
            <a:ext cx="6096000" cy="1133475"/>
          </a:xfrm>
          <a:custGeom>
            <a:avLst/>
            <a:gdLst/>
            <a:ahLst/>
            <a:cxnLst/>
            <a:rect l="0" t="0" r="0" b="0"/>
            <a:pathLst>
              <a:path w="640" h="119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15"/>
                </a:lnTo>
                <a:cubicBezTo>
                  <a:pt x="4" y="117"/>
                  <a:pt x="5" y="119"/>
                  <a:pt x="7" y="119"/>
                </a:cubicBezTo>
                <a:cubicBezTo>
                  <a:pt x="3" y="119"/>
                  <a:pt x="0" y="115"/>
                  <a:pt x="0" y="11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62" name="文本框 196" descr="{&quot;isTemplate&quot;:true,&quot;type&quot;:&quot;text&quot;}"/>
          <p:cNvSpPr txBox="1"/>
          <p:nvPr/>
        </p:nvSpPr>
        <p:spPr>
          <a:xfrm>
            <a:off x="609600" y="5124450"/>
            <a:ext cx="5676900" cy="885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zh-CN" sz="1163" b="1">
                <a:solidFill>
                  <a:srgbClr val="0E3F8C"/>
                </a:solidFill>
                <a:latin typeface="Source Han Sans CN"/>
                <a:ea typeface="Source Han Sans CN"/>
              </a:rPr>
              <a:t>本方法的定位：本质是「软时间窗带奖励的</a:t>
            </a:r>
            <a:r>
              <a:rPr lang="en-US" sz="1163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VRPTW</a:t>
            </a:r>
            <a:r>
              <a:rPr lang="zh-CN" sz="1163" b="1">
                <a:solidFill>
                  <a:srgbClr val="0E3F8C"/>
                </a:solidFill>
                <a:latin typeface="Source Han Sans CN"/>
                <a:ea typeface="Source Han Sans CN"/>
              </a:rPr>
              <a:t>」——物理违约</a:t>
            </a:r>
            <a:r>
              <a:rPr lang="en-US" sz="1163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0</a:t>
            </a:r>
            <a:r>
              <a:rPr lang="zh-CN" sz="1163" b="1">
                <a:solidFill>
                  <a:srgbClr val="0E3F8C"/>
                </a:solidFill>
                <a:latin typeface="Source Han Sans CN"/>
                <a:ea typeface="Source Han Sans CN"/>
              </a:rPr>
              <a:t>、迟到占</a:t>
            </a:r>
            <a:r>
              <a:rPr lang="en-US" sz="1163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99.98%</a:t>
            </a:r>
            <a:r>
              <a:rPr lang="zh-CN" sz="1163" b="1">
                <a:solidFill>
                  <a:srgbClr val="0E3F8C"/>
                </a:solidFill>
                <a:latin typeface="Source Han Sans CN"/>
                <a:ea typeface="Source Han Sans CN"/>
              </a:rPr>
              <a:t>，说明可行域窄在零迟到而非物理不可行。这决定了外部基线的选型（软时间窗</a:t>
            </a:r>
            <a:r>
              <a:rPr lang="en-US" sz="1163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 VRPTW </a:t>
            </a:r>
            <a:r>
              <a:rPr lang="zh-CN" sz="1163" b="1">
                <a:solidFill>
                  <a:srgbClr val="0E3F8C"/>
                </a:solidFill>
                <a:latin typeface="Source Han Sans CN"/>
                <a:ea typeface="Source Han Sans CN"/>
              </a:rPr>
              <a:t>启发式），与主指标的呈现方式（</a:t>
            </a:r>
            <a:r>
              <a:rPr lang="en-US" sz="1163" b="1">
                <a:solidFill>
                  <a:srgbClr val="0E3F8C"/>
                </a:solidFill>
                <a:latin typeface="Source Han Sans CN"/>
                <a:ea typeface="Source Han Sans CN"/>
              </a:rPr>
              <a:t>(</a:t>
            </a:r>
            <a:r>
              <a:rPr lang="zh-CN" sz="1163" b="1">
                <a:solidFill>
                  <a:srgbClr val="0E3F8C"/>
                </a:solidFill>
                <a:latin typeface="Source Han Sans CN"/>
                <a:ea typeface="Source Han Sans CN"/>
              </a:rPr>
              <a:t>完成率</a:t>
            </a:r>
            <a:r>
              <a:rPr lang="en-US" sz="1163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, </a:t>
            </a:r>
            <a:r>
              <a:rPr lang="zh-CN" sz="1163" b="1">
                <a:solidFill>
                  <a:srgbClr val="0E3F8C"/>
                </a:solidFill>
                <a:latin typeface="Source Han Sans CN"/>
                <a:ea typeface="Source Han Sans CN"/>
              </a:rPr>
              <a:t>航程</a:t>
            </a:r>
            <a:r>
              <a:rPr lang="en-US" sz="1163" b="1">
                <a:solidFill>
                  <a:srgbClr val="0E3F8C"/>
                </a:solidFill>
                <a:latin typeface="Source Han Sans CN"/>
                <a:ea typeface="Source Han Sans CN"/>
              </a:rPr>
              <a:t xml:space="preserve">) Pareto </a:t>
            </a:r>
            <a:r>
              <a:rPr lang="zh-CN" sz="1163" b="1">
                <a:solidFill>
                  <a:srgbClr val="0E3F8C"/>
                </a:solidFill>
                <a:latin typeface="Source Han Sans CN"/>
                <a:ea typeface="Source Han Sans CN"/>
              </a:rPr>
              <a:t>前沿）。</a:t>
            </a:r>
            <a:endParaRPr/>
          </a:p>
        </p:txBody>
      </p:sp>
      <p:sp>
        <p:nvSpPr>
          <p:cNvPr id="163" name="矩形: 圆角 197"/>
          <p:cNvSpPr/>
          <p:nvPr/>
        </p:nvSpPr>
        <p:spPr>
          <a:xfrm>
            <a:off x="6705600" y="1104900"/>
            <a:ext cx="5105400" cy="5086350"/>
          </a:xfrm>
          <a:prstGeom prst="roundRect">
            <a:avLst>
              <a:gd name="adj" fmla="val 224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sp>
        <p:nvSpPr>
          <p:cNvPr id="164" name="文本框 198" descr="{&quot;isTemplate&quot;:true,&quot;type&quot;:&quot;text&quot;}"/>
          <p:cNvSpPr txBox="1"/>
          <p:nvPr/>
        </p:nvSpPr>
        <p:spPr>
          <a:xfrm>
            <a:off x="6953250" y="1314450"/>
            <a:ext cx="46101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Source Han Sans CN"/>
                <a:ea typeface="Source Han Sans CN"/>
              </a:rPr>
              <a:t>下一步计划（按优先级）</a:t>
            </a:r>
            <a:endParaRPr/>
          </a:p>
        </p:txBody>
      </p:sp>
      <p:sp>
        <p:nvSpPr>
          <p:cNvPr id="165" name="矩形: 圆角 199"/>
          <p:cNvSpPr/>
          <p:nvPr/>
        </p:nvSpPr>
        <p:spPr>
          <a:xfrm>
            <a:off x="6953250" y="169545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D9534F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66" name="文本框 200" descr="{&quot;isTemplate&quot;:true,&quot;type&quot;:&quot;text&quot;}"/>
          <p:cNvSpPr txBox="1"/>
          <p:nvPr/>
        </p:nvSpPr>
        <p:spPr>
          <a:xfrm>
            <a:off x="7086600" y="1838325"/>
            <a:ext cx="23812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Source Han Sans CN"/>
                <a:ea typeface="Source Han Sans CN"/>
              </a:rPr>
              <a:t>P0</a:t>
            </a:r>
            <a:endParaRPr/>
          </a:p>
        </p:txBody>
      </p:sp>
      <p:sp>
        <p:nvSpPr>
          <p:cNvPr id="167" name="文本框 201" descr="{&quot;isTemplate&quot;:true,&quot;type&quot;:&quot;text&quot;}"/>
          <p:cNvSpPr txBox="1"/>
          <p:nvPr/>
        </p:nvSpPr>
        <p:spPr>
          <a:xfrm>
            <a:off x="7581900" y="1695450"/>
            <a:ext cx="16859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Source Han Sans CN"/>
                <a:ea typeface="Source Han Sans CN"/>
              </a:rPr>
              <a:t>外部基线</a:t>
            </a:r>
            <a:r>
              <a:rPr lang="en-US" sz="1275" b="1">
                <a:solidFill>
                  <a:srgbClr val="1A2230"/>
                </a:solidFill>
                <a:latin typeface="Source Han Sans CN"/>
                <a:ea typeface="Source Han Sans CN"/>
              </a:rPr>
              <a:t xml:space="preserve"> + </a:t>
            </a:r>
            <a:r>
              <a:rPr lang="zh-CN" sz="1275" b="1">
                <a:solidFill>
                  <a:srgbClr val="1A2230"/>
                </a:solidFill>
                <a:latin typeface="Source Han Sans CN"/>
                <a:ea typeface="Source Han Sans CN"/>
              </a:rPr>
              <a:t>联合域首轮</a:t>
            </a:r>
            <a:endParaRPr/>
          </a:p>
        </p:txBody>
      </p:sp>
      <p:sp>
        <p:nvSpPr>
          <p:cNvPr id="168" name="文本框 202" descr="{&quot;isTemplate&quot;:true,&quot;type&quot;:&quot;text&quot;}"/>
          <p:cNvSpPr txBox="1"/>
          <p:nvPr/>
        </p:nvSpPr>
        <p:spPr>
          <a:xfrm>
            <a:off x="9363075" y="1724025"/>
            <a:ext cx="5715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D9534F"/>
                </a:solidFill>
                <a:latin typeface="Source Han Sans CN"/>
                <a:ea typeface="Source Han Sans CN"/>
              </a:rPr>
              <a:t>论文前必补</a:t>
            </a:r>
            <a:endParaRPr/>
          </a:p>
        </p:txBody>
      </p:sp>
      <p:sp>
        <p:nvSpPr>
          <p:cNvPr id="169" name="文本框 203" descr="{&quot;isTemplate&quot;:true,&quot;type&quot;:&quot;text&quot;}"/>
          <p:cNvSpPr txBox="1"/>
          <p:nvPr/>
        </p:nvSpPr>
        <p:spPr>
          <a:xfrm>
            <a:off x="7581900" y="1943100"/>
            <a:ext cx="39814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zh-CN" sz="1013">
                <a:solidFill>
                  <a:srgbClr val="4A5568"/>
                </a:solidFill>
                <a:latin typeface="Source Han Sans CN"/>
                <a:ea typeface="Source Han Sans CN"/>
              </a:rPr>
              <a:t>贪心构造</a:t>
            </a:r>
            <a:r>
              <a:rPr lang="en-US" sz="1013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+ </a:t>
            </a:r>
            <a:r>
              <a:rPr lang="zh-CN" sz="1013">
                <a:solidFill>
                  <a:srgbClr val="4A5568"/>
                </a:solidFill>
                <a:latin typeface="Source Han Sans CN"/>
                <a:ea typeface="Source Han Sans CN"/>
              </a:rPr>
              <a:t>软时间窗</a:t>
            </a:r>
            <a:r>
              <a:rPr lang="en-US" sz="1013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VRPTW </a:t>
            </a:r>
            <a:r>
              <a:rPr lang="zh-CN" sz="1013">
                <a:solidFill>
                  <a:srgbClr val="4A5568"/>
                </a:solidFill>
                <a:latin typeface="Source Han Sans CN"/>
                <a:ea typeface="Source Han Sans CN"/>
              </a:rPr>
              <a:t>启发式各一；</a:t>
            </a:r>
            <a:r>
              <a:rPr lang="en-US" sz="1013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exp06 </a:t>
            </a:r>
            <a:r>
              <a:rPr lang="zh-CN" sz="1013">
                <a:solidFill>
                  <a:srgbClr val="4A5568"/>
                </a:solidFill>
                <a:latin typeface="Source Han Sans CN"/>
                <a:ea typeface="Source Han Sans CN"/>
              </a:rPr>
              <a:t>联合域首轮（约</a:t>
            </a:r>
            <a:r>
              <a:rPr lang="en-US" sz="1013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40 </a:t>
            </a:r>
            <a:r>
              <a:rPr lang="zh-CN" sz="1013">
                <a:solidFill>
                  <a:srgbClr val="4A5568"/>
                </a:solidFill>
                <a:latin typeface="Source Han Sans CN"/>
                <a:ea typeface="Source Han Sans CN"/>
              </a:rPr>
              <a:t>分钟）验证「积压增长</a:t>
            </a:r>
            <a:r>
              <a:rPr lang="en-US" sz="1013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vs cap(t) </a:t>
            </a:r>
            <a:r>
              <a:rPr lang="zh-CN" sz="1013">
                <a:solidFill>
                  <a:srgbClr val="4A5568"/>
                </a:solidFill>
                <a:latin typeface="Source Han Sans CN"/>
                <a:ea typeface="Source Han Sans CN"/>
              </a:rPr>
              <a:t>衰减」形态</a:t>
            </a:r>
            <a:endParaRPr/>
          </a:p>
        </p:txBody>
      </p:sp>
      <p:sp>
        <p:nvSpPr>
          <p:cNvPr id="170" name="矩形: 圆角 204"/>
          <p:cNvSpPr/>
          <p:nvPr/>
        </p:nvSpPr>
        <p:spPr>
          <a:xfrm>
            <a:off x="6953250" y="260985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1E4FA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71" name="文本框 205" descr="{&quot;isTemplate&quot;:true,&quot;type&quot;:&quot;text&quot;}"/>
          <p:cNvSpPr txBox="1"/>
          <p:nvPr/>
        </p:nvSpPr>
        <p:spPr>
          <a:xfrm>
            <a:off x="7086600" y="2752725"/>
            <a:ext cx="23812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Source Han Sans CN"/>
                <a:ea typeface="Source Han Sans CN"/>
              </a:rPr>
              <a:t>P1</a:t>
            </a:r>
            <a:endParaRPr/>
          </a:p>
        </p:txBody>
      </p:sp>
      <p:sp>
        <p:nvSpPr>
          <p:cNvPr id="172" name="文本框 206" descr="{&quot;isTemplate&quot;:true,&quot;type&quot;:&quot;text&quot;}"/>
          <p:cNvSpPr txBox="1"/>
          <p:nvPr/>
        </p:nvSpPr>
        <p:spPr>
          <a:xfrm>
            <a:off x="7581900" y="2609850"/>
            <a:ext cx="17240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Source Han Sans CN"/>
                <a:ea typeface="Source Han Sans CN"/>
              </a:rPr>
              <a:t>抛光扩域</a:t>
            </a:r>
            <a:r>
              <a:rPr lang="en-US" sz="1275" b="1">
                <a:solidFill>
                  <a:srgbClr val="1A2230"/>
                </a:solidFill>
                <a:latin typeface="Source Han Sans CN"/>
                <a:ea typeface="Source Han Sans CN"/>
              </a:rPr>
              <a:t xml:space="preserve"> → </a:t>
            </a:r>
            <a:r>
              <a:rPr lang="zh-CN" sz="1275" b="1">
                <a:solidFill>
                  <a:srgbClr val="1A2230"/>
                </a:solidFill>
                <a:latin typeface="Source Han Sans CN"/>
                <a:ea typeface="Source Han Sans CN"/>
              </a:rPr>
              <a:t>搜索多样性</a:t>
            </a:r>
            <a:endParaRPr/>
          </a:p>
        </p:txBody>
      </p:sp>
      <p:sp>
        <p:nvSpPr>
          <p:cNvPr id="173" name="文本框 207" descr="{&quot;isTemplate&quot;:true,&quot;type&quot;:&quot;text&quot;}"/>
          <p:cNvSpPr txBox="1"/>
          <p:nvPr/>
        </p:nvSpPr>
        <p:spPr>
          <a:xfrm>
            <a:off x="9401175" y="2638425"/>
            <a:ext cx="4572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E4FA8"/>
                </a:solidFill>
                <a:latin typeface="Source Han Sans CN"/>
                <a:ea typeface="Source Han Sans CN"/>
              </a:rPr>
              <a:t>方法改进</a:t>
            </a:r>
            <a:endParaRPr/>
          </a:p>
        </p:txBody>
      </p:sp>
      <p:sp>
        <p:nvSpPr>
          <p:cNvPr id="174" name="文本框 208" descr="{&quot;isTemplate&quot;:true,&quot;type&quot;:&quot;text&quot;}"/>
          <p:cNvSpPr txBox="1"/>
          <p:nvPr/>
        </p:nvSpPr>
        <p:spPr>
          <a:xfrm>
            <a:off x="7581900" y="2857500"/>
            <a:ext cx="39814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en-US" sz="1013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polish </a:t>
            </a:r>
            <a:r>
              <a:rPr lang="zh-CN" sz="1013">
                <a:solidFill>
                  <a:srgbClr val="4A5568"/>
                </a:solidFill>
                <a:latin typeface="Source Han Sans CN"/>
                <a:ea typeface="Source Han Sans CN"/>
              </a:rPr>
              <a:t>邻域扩展（</a:t>
            </a:r>
            <a:r>
              <a:rPr lang="en-US" sz="1013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2-opt / </a:t>
            </a:r>
            <a:r>
              <a:rPr lang="zh-CN" sz="1013">
                <a:solidFill>
                  <a:srgbClr val="4A5568"/>
                </a:solidFill>
                <a:latin typeface="Source Han Sans CN"/>
                <a:ea typeface="Source Han Sans CN"/>
              </a:rPr>
              <a:t>跨机</a:t>
            </a:r>
            <a:r>
              <a:rPr lang="en-US" sz="1013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relocate</a:t>
            </a:r>
            <a:r>
              <a:rPr lang="zh-CN" sz="1013">
                <a:solidFill>
                  <a:srgbClr val="4A5568"/>
                </a:solidFill>
                <a:latin typeface="Source Han Sans CN"/>
                <a:ea typeface="Source Han Sans CN"/>
              </a:rPr>
              <a:t>，过同一修复链）→</a:t>
            </a:r>
            <a:r>
              <a:rPr lang="en-US" sz="1013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</a:t>
            </a:r>
            <a:r>
              <a:rPr lang="zh-CN" sz="1013">
                <a:solidFill>
                  <a:srgbClr val="4A5568"/>
                </a:solidFill>
                <a:latin typeface="Source Han Sans CN"/>
                <a:ea typeface="Source Han Sans CN"/>
              </a:rPr>
              <a:t>多起点置换（治编码顺序依赖）→</a:t>
            </a:r>
            <a:r>
              <a:rPr lang="en-US" sz="1013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</a:t>
            </a:r>
            <a:r>
              <a:rPr lang="zh-CN" sz="1013">
                <a:solidFill>
                  <a:srgbClr val="4A5568"/>
                </a:solidFill>
                <a:latin typeface="Source Han Sans CN"/>
                <a:ea typeface="Source Han Sans CN"/>
              </a:rPr>
              <a:t>停滞重启</a:t>
            </a:r>
            <a:r>
              <a:rPr lang="en-US" sz="1013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+ </a:t>
            </a:r>
            <a:r>
              <a:rPr lang="zh-CN" sz="1013">
                <a:solidFill>
                  <a:srgbClr val="4A5568"/>
                </a:solidFill>
                <a:latin typeface="Source Han Sans CN"/>
                <a:ea typeface="Source Han Sans CN"/>
              </a:rPr>
              <a:t>闲置维再</a:t>
            </a:r>
            <a:r>
              <a:rPr lang="en-US" sz="1013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init</a:t>
            </a:r>
            <a:endParaRPr/>
          </a:p>
        </p:txBody>
      </p:sp>
      <p:sp>
        <p:nvSpPr>
          <p:cNvPr id="175" name="矩形: 圆角 209"/>
          <p:cNvSpPr/>
          <p:nvPr/>
        </p:nvSpPr>
        <p:spPr>
          <a:xfrm>
            <a:off x="6953250" y="352425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5F5E5A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76" name="文本框 210" descr="{&quot;isTemplate&quot;:true,&quot;type&quot;:&quot;text&quot;}"/>
          <p:cNvSpPr txBox="1"/>
          <p:nvPr/>
        </p:nvSpPr>
        <p:spPr>
          <a:xfrm>
            <a:off x="7086600" y="3667125"/>
            <a:ext cx="23812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Source Han Sans CN"/>
                <a:ea typeface="Source Han Sans CN"/>
              </a:rPr>
              <a:t>P2</a:t>
            </a:r>
            <a:endParaRPr/>
          </a:p>
        </p:txBody>
      </p:sp>
      <p:sp>
        <p:nvSpPr>
          <p:cNvPr id="177" name="文本框 211" descr="{&quot;isTemplate&quot;:true,&quot;type&quot;:&quot;text&quot;}"/>
          <p:cNvSpPr txBox="1"/>
          <p:nvPr/>
        </p:nvSpPr>
        <p:spPr>
          <a:xfrm>
            <a:off x="7581900" y="3524250"/>
            <a:ext cx="1619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Source Han Sans CN"/>
                <a:ea typeface="Source Han Sans CN"/>
              </a:rPr>
              <a:t>标定结论落地与文档化</a:t>
            </a:r>
            <a:endParaRPr/>
          </a:p>
        </p:txBody>
      </p:sp>
      <p:sp>
        <p:nvSpPr>
          <p:cNvPr id="178" name="文本框 212" descr="{&quot;isTemplate&quot;:true,&quot;type&quot;:&quot;text&quot;}"/>
          <p:cNvSpPr txBox="1"/>
          <p:nvPr/>
        </p:nvSpPr>
        <p:spPr>
          <a:xfrm>
            <a:off x="9296400" y="3552825"/>
            <a:ext cx="6858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5F5E5A"/>
                </a:solidFill>
                <a:latin typeface="Source Han Sans CN"/>
                <a:ea typeface="Source Han Sans CN"/>
              </a:rPr>
              <a:t>口径与生产化</a:t>
            </a:r>
            <a:endParaRPr/>
          </a:p>
        </p:txBody>
      </p:sp>
      <p:sp>
        <p:nvSpPr>
          <p:cNvPr id="179" name="文本框 213" descr="{&quot;isTemplate&quot;:true,&quot;type&quot;:&quot;text&quot;}"/>
          <p:cNvSpPr txBox="1"/>
          <p:nvPr/>
        </p:nvSpPr>
        <p:spPr>
          <a:xfrm>
            <a:off x="7581900" y="3771900"/>
            <a:ext cx="39814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en-US" sz="1013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mode=primary </a:t>
            </a:r>
            <a:r>
              <a:rPr lang="zh-CN" sz="1013">
                <a:solidFill>
                  <a:srgbClr val="4A5568"/>
                </a:solidFill>
                <a:latin typeface="Source Han Sans CN"/>
                <a:ea typeface="Source Han Sans CN"/>
              </a:rPr>
              <a:t>生产化走</a:t>
            </a:r>
            <a:r>
              <a:rPr lang="en-US" sz="1013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exp04 </a:t>
            </a:r>
            <a:r>
              <a:rPr lang="zh-CN" sz="1013">
                <a:solidFill>
                  <a:srgbClr val="4A5568"/>
                </a:solidFill>
                <a:latin typeface="Source Han Sans CN"/>
                <a:ea typeface="Source Han Sans CN"/>
              </a:rPr>
              <a:t>消融；</a:t>
            </a:r>
            <a:r>
              <a:rPr lang="en-US" sz="1013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max_ratio </a:t>
            </a:r>
            <a:r>
              <a:rPr lang="zh-CN" sz="1013">
                <a:solidFill>
                  <a:srgbClr val="4A5568"/>
                </a:solidFill>
                <a:latin typeface="Source Han Sans CN"/>
                <a:ea typeface="Source Han Sans CN"/>
              </a:rPr>
              <a:t>与</a:t>
            </a:r>
            <a:r>
              <a:rPr lang="en-US" sz="1013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capability </a:t>
            </a:r>
            <a:r>
              <a:rPr lang="zh-CN" sz="1013">
                <a:solidFill>
                  <a:srgbClr val="4A5568"/>
                </a:solidFill>
                <a:latin typeface="Source Han Sans CN"/>
                <a:ea typeface="Source Han Sans CN"/>
              </a:rPr>
              <a:t>联动写入文档；主指标按</a:t>
            </a:r>
            <a:r>
              <a:rPr lang="en-US" sz="1013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 (</a:t>
            </a:r>
            <a:r>
              <a:rPr lang="zh-CN" sz="1013">
                <a:solidFill>
                  <a:srgbClr val="4A5568"/>
                </a:solidFill>
                <a:latin typeface="Source Han Sans CN"/>
                <a:ea typeface="Source Han Sans CN"/>
              </a:rPr>
              <a:t>完成率</a:t>
            </a:r>
            <a:r>
              <a:rPr lang="en-US" sz="1013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, </a:t>
            </a:r>
            <a:r>
              <a:rPr lang="zh-CN" sz="1013">
                <a:solidFill>
                  <a:srgbClr val="4A5568"/>
                </a:solidFill>
                <a:latin typeface="Source Han Sans CN"/>
                <a:ea typeface="Source Han Sans CN"/>
              </a:rPr>
              <a:t>航程</a:t>
            </a:r>
            <a:r>
              <a:rPr lang="en-US" sz="1013">
                <a:solidFill>
                  <a:srgbClr val="4A5568"/>
                </a:solidFill>
                <a:latin typeface="Source Han Sans CN"/>
                <a:ea typeface="Source Han Sans CN"/>
              </a:rPr>
              <a:t xml:space="preserve">) Pareto </a:t>
            </a:r>
            <a:r>
              <a:rPr lang="zh-CN" sz="1013">
                <a:solidFill>
                  <a:srgbClr val="4A5568"/>
                </a:solidFill>
                <a:latin typeface="Source Han Sans CN"/>
                <a:ea typeface="Source Han Sans CN"/>
              </a:rPr>
              <a:t>前沿呈现</a:t>
            </a:r>
            <a:endParaRPr/>
          </a:p>
        </p:txBody>
      </p:sp>
      <p:sp>
        <p:nvSpPr>
          <p:cNvPr id="180" name="矩形: 圆角 214"/>
          <p:cNvSpPr/>
          <p:nvPr/>
        </p:nvSpPr>
        <p:spPr>
          <a:xfrm>
            <a:off x="6953250" y="5200650"/>
            <a:ext cx="4610100" cy="781050"/>
          </a:xfrm>
          <a:prstGeom prst="roundRect">
            <a:avLst>
              <a:gd name="adj" fmla="val 9756"/>
            </a:avLst>
          </a:prstGeom>
          <a:solidFill>
            <a:srgbClr val="0E3F8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81" name="文本框 215" descr="{&quot;isTemplate&quot;:true,&quot;type&quot;:&quot;text&quot;}"/>
          <p:cNvSpPr txBox="1"/>
          <p:nvPr/>
        </p:nvSpPr>
        <p:spPr>
          <a:xfrm>
            <a:off x="7124700" y="5314950"/>
            <a:ext cx="42672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FFFFFF"/>
                </a:solidFill>
                <a:latin typeface="Source Han Sans CN"/>
                <a:ea typeface="Source Han Sans CN"/>
              </a:rPr>
              <a:t>判断：科学故事已成立——分层可扩展有标定曲线、顺序依赖有对症解法；当前优先补外部有效性证据，而非继续改算法。</a:t>
            </a:r>
            <a:endParaRPr/>
          </a:p>
        </p:txBody>
      </p:sp>
      <p:sp>
        <p:nvSpPr>
          <p:cNvPr id="182" name="矩形 216"/>
          <p:cNvSpPr/>
          <p:nvPr/>
        </p:nvSpPr>
        <p:spPr>
          <a:xfrm>
            <a:off x="0" y="6448425"/>
            <a:ext cx="12192000" cy="4095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83" name="任意多边形: 形状 217"/>
          <p:cNvSpPr/>
          <p:nvPr/>
        </p:nvSpPr>
        <p:spPr>
          <a:xfrm>
            <a:off x="0" y="6438900"/>
            <a:ext cx="12192000" cy="419100"/>
          </a:xfrm>
          <a:custGeom>
            <a:avLst/>
            <a:gdLst/>
            <a:ahLst/>
            <a:cxnLst/>
            <a:rect l="0" t="0" r="0" b="0"/>
            <a:pathLst>
              <a:path w="1280" h="4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84" name="文本框 218" descr="{&quot;isTemplate&quot;:true,&quot;type&quot;:&quot;text&quot;}"/>
          <p:cNvSpPr txBox="1"/>
          <p:nvPr/>
        </p:nvSpPr>
        <p:spPr>
          <a:xfrm>
            <a:off x="381000" y="6581775"/>
            <a:ext cx="28289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CN"/>
                <a:ea typeface="Source Han Sans CN"/>
              </a:rPr>
              <a:t>动态滚动的多机巢多无人机协同任务分配</a:t>
            </a:r>
            <a:r>
              <a:rPr lang="en-US" sz="975">
                <a:solidFill>
                  <a:srgbClr val="8B97A8"/>
                </a:solidFill>
                <a:latin typeface="Source Han Sans CN"/>
                <a:ea typeface="Source Han Sans CN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Source Han Sans CN"/>
                <a:ea typeface="Source Han Sans CN"/>
              </a:rPr>
              <a:t>进展汇报</a:t>
            </a:r>
            <a:endParaRPr/>
          </a:p>
        </p:txBody>
      </p:sp>
      <p:sp>
        <p:nvSpPr>
          <p:cNvPr id="185" name="文本框 219" descr="{&quot;isTemplate&quot;:true,&quot;type&quot;:&quot;text&quot;}"/>
          <p:cNvSpPr txBox="1"/>
          <p:nvPr/>
        </p:nvSpPr>
        <p:spPr>
          <a:xfrm>
            <a:off x="11296650" y="6572250"/>
            <a:ext cx="5143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CN"/>
                <a:ea typeface="Source Han Sans CN"/>
              </a:rPr>
              <a:t>15 / 16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矩形 2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88" name="矩形 222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89" name="矩形 223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90" name="矩形: 圆角 224"/>
          <p:cNvSpPr/>
          <p:nvPr/>
        </p:nvSpPr>
        <p:spPr>
          <a:xfrm>
            <a:off x="1333500" y="914400"/>
            <a:ext cx="9525000" cy="400050"/>
          </a:xfrm>
          <a:prstGeom prst="roundRect">
            <a:avLst>
              <a:gd name="adj" fmla="val 5714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sp>
        <p:nvSpPr>
          <p:cNvPr id="191" name="文本框 225" descr="{&quot;isTemplate&quot;:true,&quot;type&quot;:&quot;text&quot;}"/>
          <p:cNvSpPr txBox="1"/>
          <p:nvPr/>
        </p:nvSpPr>
        <p:spPr>
          <a:xfrm>
            <a:off x="3581400" y="1028700"/>
            <a:ext cx="9334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Source Han Sans CN"/>
                <a:ea typeface="Source Han Sans CN"/>
              </a:rPr>
              <a:t xml:space="preserve">01 </a:t>
            </a:r>
            <a:r>
              <a:rPr lang="zh-CN" sz="1125" b="1">
                <a:solidFill>
                  <a:srgbClr val="FFFFFF"/>
                </a:solidFill>
                <a:latin typeface="Source Han Sans CN"/>
                <a:ea typeface="Source Han Sans CN"/>
              </a:rPr>
              <a:t>问题与框架</a:t>
            </a:r>
            <a:endParaRPr/>
          </a:p>
        </p:txBody>
      </p:sp>
      <p:sp>
        <p:nvSpPr>
          <p:cNvPr id="192" name="文本框 226" descr="{&quot;isTemplate&quot;:true,&quot;type&quot;:&quot;text&quot;}"/>
          <p:cNvSpPr txBox="1"/>
          <p:nvPr/>
        </p:nvSpPr>
        <p:spPr>
          <a:xfrm>
            <a:off x="4667250" y="1028700"/>
            <a:ext cx="381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125">
                <a:solidFill>
                  <a:srgbClr val="85B7EB"/>
                </a:solidFill>
                <a:latin typeface="Source Han Sans CN"/>
                <a:ea typeface="Source Han Sans CN"/>
              </a:rPr>
              <a:t>·</a:t>
            </a:r>
            <a:endParaRPr/>
          </a:p>
        </p:txBody>
      </p:sp>
      <p:sp>
        <p:nvSpPr>
          <p:cNvPr id="193" name="文本框 227" descr="{&quot;isTemplate&quot;:true,&quot;type&quot;:&quot;text&quot;}"/>
          <p:cNvSpPr txBox="1"/>
          <p:nvPr/>
        </p:nvSpPr>
        <p:spPr>
          <a:xfrm>
            <a:off x="4857750" y="1028700"/>
            <a:ext cx="7905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Source Han Sans CN"/>
                <a:ea typeface="Source Han Sans CN"/>
              </a:rPr>
              <a:t xml:space="preserve">02 </a:t>
            </a:r>
            <a:r>
              <a:rPr lang="zh-CN" sz="1125" b="1">
                <a:solidFill>
                  <a:srgbClr val="FFFFFF"/>
                </a:solidFill>
                <a:latin typeface="Source Han Sans CN"/>
                <a:ea typeface="Source Han Sans CN"/>
              </a:rPr>
              <a:t>任务选择</a:t>
            </a:r>
            <a:endParaRPr/>
          </a:p>
        </p:txBody>
      </p:sp>
      <p:sp>
        <p:nvSpPr>
          <p:cNvPr id="194" name="文本框 228" descr="{&quot;isTemplate&quot;:true,&quot;type&quot;:&quot;text&quot;}"/>
          <p:cNvSpPr txBox="1"/>
          <p:nvPr/>
        </p:nvSpPr>
        <p:spPr>
          <a:xfrm>
            <a:off x="5800725" y="1028700"/>
            <a:ext cx="381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125">
                <a:solidFill>
                  <a:srgbClr val="85B7EB"/>
                </a:solidFill>
                <a:latin typeface="Source Han Sans CN"/>
                <a:ea typeface="Source Han Sans CN"/>
              </a:rPr>
              <a:t>·</a:t>
            </a:r>
            <a:endParaRPr/>
          </a:p>
        </p:txBody>
      </p:sp>
      <p:sp>
        <p:nvSpPr>
          <p:cNvPr id="195" name="文本框 229" descr="{&quot;isTemplate&quot;:true,&quot;type&quot;:&quot;text&quot;}"/>
          <p:cNvSpPr txBox="1"/>
          <p:nvPr/>
        </p:nvSpPr>
        <p:spPr>
          <a:xfrm>
            <a:off x="5991225" y="1028700"/>
            <a:ext cx="13525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Source Han Sans CN"/>
                <a:ea typeface="Source Han Sans CN"/>
              </a:rPr>
              <a:t xml:space="preserve">03 MUAS </a:t>
            </a:r>
            <a:r>
              <a:rPr lang="zh-CN" sz="1125" b="1">
                <a:solidFill>
                  <a:srgbClr val="FFFFFF"/>
                </a:solidFill>
                <a:latin typeface="Source Han Sans CN"/>
                <a:ea typeface="Source Han Sans CN"/>
              </a:rPr>
              <a:t>与</a:t>
            </a:r>
            <a:r>
              <a:rPr lang="en-US" sz="1125" b="1">
                <a:solidFill>
                  <a:srgbClr val="FFFFFF"/>
                </a:solidFill>
                <a:latin typeface="Source Han Sans CN"/>
                <a:ea typeface="Source Han Sans CN"/>
              </a:rPr>
              <a:t xml:space="preserve"> DMDE</a:t>
            </a:r>
            <a:endParaRPr/>
          </a:p>
        </p:txBody>
      </p:sp>
      <p:sp>
        <p:nvSpPr>
          <p:cNvPr id="196" name="文本框 230" descr="{&quot;isTemplate&quot;:true,&quot;type&quot;:&quot;text&quot;}"/>
          <p:cNvSpPr txBox="1"/>
          <p:nvPr/>
        </p:nvSpPr>
        <p:spPr>
          <a:xfrm>
            <a:off x="7496175" y="1028700"/>
            <a:ext cx="381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125">
                <a:solidFill>
                  <a:srgbClr val="85B7EB"/>
                </a:solidFill>
                <a:latin typeface="Source Han Sans CN"/>
                <a:ea typeface="Source Han Sans CN"/>
              </a:rPr>
              <a:t>·</a:t>
            </a:r>
            <a:endParaRPr/>
          </a:p>
        </p:txBody>
      </p:sp>
      <p:sp>
        <p:nvSpPr>
          <p:cNvPr id="197" name="文本框 231" descr="{&quot;isTemplate&quot;:true,&quot;type&quot;:&quot;text&quot;}"/>
          <p:cNvSpPr txBox="1"/>
          <p:nvPr/>
        </p:nvSpPr>
        <p:spPr>
          <a:xfrm>
            <a:off x="7686675" y="1028700"/>
            <a:ext cx="9334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Source Han Sans CN"/>
                <a:ea typeface="Source Han Sans CN"/>
              </a:rPr>
              <a:t xml:space="preserve">04 </a:t>
            </a:r>
            <a:r>
              <a:rPr lang="zh-CN" sz="1125" b="1">
                <a:solidFill>
                  <a:srgbClr val="FFFFFF"/>
                </a:solidFill>
                <a:latin typeface="Source Han Sans CN"/>
                <a:ea typeface="Source Han Sans CN"/>
              </a:rPr>
              <a:t>实验与计划</a:t>
            </a:r>
            <a:endParaRPr/>
          </a:p>
        </p:txBody>
      </p:sp>
      <p:sp>
        <p:nvSpPr>
          <p:cNvPr id="198" name="文本框 232" descr="{&quot;isTemplate&quot;:true,&quot;type&quot;:&quot;text&quot;}"/>
          <p:cNvSpPr txBox="1"/>
          <p:nvPr/>
        </p:nvSpPr>
        <p:spPr>
          <a:xfrm>
            <a:off x="5810250" y="1981200"/>
            <a:ext cx="5810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600">
                <a:solidFill>
                  <a:srgbClr val="85B7EB"/>
                </a:solidFill>
                <a:latin typeface="Source Han Sans CN"/>
                <a:ea typeface="Source Han Sans CN"/>
              </a:rPr>
              <a:t>小</a:t>
            </a:r>
            <a:r>
              <a:rPr lang="en-US" sz="1200" spc="600">
                <a:solidFill>
                  <a:srgbClr val="85B7EB"/>
                </a:solidFill>
                <a:latin typeface="Source Han Sans CN"/>
                <a:ea typeface="Source Han Sans CN"/>
              </a:rPr>
              <a:t xml:space="preserve"> </a:t>
            </a:r>
            <a:r>
              <a:rPr lang="zh-CN" sz="1200" spc="600">
                <a:solidFill>
                  <a:srgbClr val="85B7EB"/>
                </a:solidFill>
                <a:latin typeface="Source Han Sans CN"/>
                <a:ea typeface="Source Han Sans CN"/>
              </a:rPr>
              <a:t>结</a:t>
            </a:r>
            <a:endParaRPr/>
          </a:p>
        </p:txBody>
      </p:sp>
      <p:sp>
        <p:nvSpPr>
          <p:cNvPr id="199" name="文本框 233" descr="{&quot;isTemplate&quot;:true,&quot;type&quot;:&quot;text&quot;}"/>
          <p:cNvSpPr txBox="1"/>
          <p:nvPr/>
        </p:nvSpPr>
        <p:spPr>
          <a:xfrm>
            <a:off x="3295650" y="2400300"/>
            <a:ext cx="5600700" cy="14954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55000"/>
              </a:lnSpc>
            </a:pPr>
            <a:r>
              <a:rPr lang="zh-CN" sz="3150" b="1">
                <a:solidFill>
                  <a:srgbClr val="FFFFFF"/>
                </a:solidFill>
                <a:latin typeface="Source Han Sans CN"/>
                <a:ea typeface="Source Han Sans CN"/>
              </a:rPr>
              <a:t>分层求解：以能力标定筛选规模</a:t>
            </a:r>
            <a:endParaRPr/>
          </a:p>
          <a:p>
            <a:pPr algn="ctr">
              <a:lnSpc>
                <a:spcPct val="155000"/>
              </a:lnSpc>
            </a:pPr>
            <a:r>
              <a:rPr lang="zh-CN" sz="3150" b="1">
                <a:solidFill>
                  <a:srgbClr val="FFFFFF"/>
                </a:solidFill>
                <a:latin typeface="Source Han Sans CN"/>
                <a:ea typeface="Source Han Sans CN"/>
              </a:rPr>
              <a:t>以组合优化保证质量</a:t>
            </a:r>
            <a:endParaRPr/>
          </a:p>
        </p:txBody>
      </p:sp>
      <p:sp>
        <p:nvSpPr>
          <p:cNvPr id="200" name="矩形 234"/>
          <p:cNvSpPr/>
          <p:nvPr/>
        </p:nvSpPr>
        <p:spPr>
          <a:xfrm>
            <a:off x="5829300" y="4181475"/>
            <a:ext cx="5334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01" name="文本框 235" descr="{&quot;isTemplate&quot;:true,&quot;type&quot;:&quot;text&quot;}"/>
          <p:cNvSpPr txBox="1"/>
          <p:nvPr/>
        </p:nvSpPr>
        <p:spPr>
          <a:xfrm>
            <a:off x="3228975" y="4486275"/>
            <a:ext cx="5743575" cy="7905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90000"/>
              </a:lnSpc>
            </a:pPr>
            <a:r>
              <a:rPr lang="zh-CN" sz="1350">
                <a:solidFill>
                  <a:srgbClr val="DCE7F5"/>
                </a:solidFill>
                <a:latin typeface="Source Han Sans CN"/>
                <a:ea typeface="Source Han Sans CN"/>
              </a:rPr>
              <a:t>动态任务选择缩空间</a:t>
            </a:r>
            <a:r>
              <a:rPr lang="en-US" sz="1350">
                <a:solidFill>
                  <a:srgbClr val="DCE7F5"/>
                </a:solidFill>
                <a:latin typeface="Source Han Sans CN"/>
                <a:ea typeface="Source Han Sans CN"/>
              </a:rPr>
              <a:t xml:space="preserve"> · </a:t>
            </a:r>
            <a:r>
              <a:rPr lang="zh-CN" sz="1350">
                <a:solidFill>
                  <a:srgbClr val="DCE7F5"/>
                </a:solidFill>
                <a:latin typeface="Source Han Sans CN"/>
                <a:ea typeface="Source Han Sans CN"/>
              </a:rPr>
              <a:t>选择性</a:t>
            </a:r>
            <a:r>
              <a:rPr lang="en-US" sz="1350">
                <a:solidFill>
                  <a:srgbClr val="DCE7F5"/>
                </a:solidFill>
                <a:latin typeface="Source Han Sans CN"/>
                <a:ea typeface="Source Han Sans CN"/>
              </a:rPr>
              <a:t xml:space="preserve"> MUAS </a:t>
            </a:r>
            <a:r>
              <a:rPr lang="zh-CN" sz="1350">
                <a:solidFill>
                  <a:srgbClr val="DCE7F5"/>
                </a:solidFill>
                <a:latin typeface="Source Han Sans CN"/>
                <a:ea typeface="Source Han Sans CN"/>
              </a:rPr>
              <a:t>精优化</a:t>
            </a:r>
            <a:r>
              <a:rPr lang="en-US" sz="1350">
                <a:solidFill>
                  <a:srgbClr val="DCE7F5"/>
                </a:solidFill>
                <a:latin typeface="Source Han Sans CN"/>
                <a:ea typeface="Source Han Sans CN"/>
              </a:rPr>
              <a:t xml:space="preserve"> · </a:t>
            </a:r>
            <a:r>
              <a:rPr lang="zh-CN" sz="1350">
                <a:solidFill>
                  <a:srgbClr val="DCE7F5"/>
                </a:solidFill>
                <a:latin typeface="Source Han Sans CN"/>
                <a:ea typeface="Source Han Sans CN"/>
              </a:rPr>
              <a:t>滚动闭环不丢任务</a:t>
            </a:r>
            <a:endParaRPr/>
          </a:p>
          <a:p>
            <a:pPr algn="ctr">
              <a:lnSpc>
                <a:spcPct val="190000"/>
              </a:lnSpc>
            </a:pPr>
            <a:r>
              <a:rPr lang="zh-CN" sz="1350">
                <a:solidFill>
                  <a:srgbClr val="DCE7F5"/>
                </a:solidFill>
                <a:latin typeface="Source Han Sans CN"/>
                <a:ea typeface="Source Han Sans CN"/>
              </a:rPr>
              <a:t>多</a:t>
            </a:r>
            <a:r>
              <a:rPr lang="en-US" sz="1350">
                <a:solidFill>
                  <a:srgbClr val="DCE7F5"/>
                </a:solidFill>
                <a:latin typeface="Source Han Sans CN"/>
                <a:ea typeface="Source Han Sans CN"/>
              </a:rPr>
              <a:t xml:space="preserve"> seed </a:t>
            </a:r>
            <a:r>
              <a:rPr lang="zh-CN" sz="1350">
                <a:solidFill>
                  <a:srgbClr val="DCE7F5"/>
                </a:solidFill>
                <a:latin typeface="Source Han Sans CN"/>
                <a:ea typeface="Source Han Sans CN"/>
              </a:rPr>
              <a:t>阶梯方向一致可复现</a:t>
            </a:r>
            <a:r>
              <a:rPr lang="en-US" sz="1350">
                <a:solidFill>
                  <a:srgbClr val="DCE7F5"/>
                </a:solidFill>
                <a:latin typeface="Source Han Sans CN"/>
                <a:ea typeface="Source Han Sans CN"/>
              </a:rPr>
              <a:t xml:space="preserve"> · </a:t>
            </a:r>
            <a:r>
              <a:rPr lang="zh-CN" sz="1350">
                <a:solidFill>
                  <a:srgbClr val="DCE7F5"/>
                </a:solidFill>
                <a:latin typeface="Source Han Sans CN"/>
                <a:ea typeface="Source Han Sans CN"/>
              </a:rPr>
              <a:t>规模标定支撑架构主张</a:t>
            </a:r>
            <a:r>
              <a:rPr lang="en-US" sz="1350">
                <a:solidFill>
                  <a:srgbClr val="DCE7F5"/>
                </a:solidFill>
                <a:latin typeface="Source Han Sans CN"/>
                <a:ea typeface="Source Han Sans CN"/>
              </a:rPr>
              <a:t xml:space="preserve"> · </a:t>
            </a:r>
            <a:r>
              <a:rPr lang="zh-CN" sz="1350">
                <a:solidFill>
                  <a:srgbClr val="DCE7F5"/>
                </a:solidFill>
                <a:latin typeface="Source Han Sans CN"/>
                <a:ea typeface="Source Han Sans CN"/>
              </a:rPr>
              <a:t>性能瓶颈已无损消除</a:t>
            </a:r>
            <a:endParaRPr/>
          </a:p>
        </p:txBody>
      </p:sp>
      <p:sp>
        <p:nvSpPr>
          <p:cNvPr id="202" name="文本框 236" descr="{&quot;isTemplate&quot;:true,&quot;type&quot;:&quot;text&quot;}"/>
          <p:cNvSpPr txBox="1"/>
          <p:nvPr/>
        </p:nvSpPr>
        <p:spPr>
          <a:xfrm>
            <a:off x="4962525" y="5324475"/>
            <a:ext cx="22669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Source Han Sans CN"/>
                <a:ea typeface="Source Han Sans CN"/>
              </a:rPr>
              <a:t>请老师批评指正</a:t>
            </a:r>
            <a:endParaRPr/>
          </a:p>
        </p:txBody>
      </p:sp>
      <p:sp>
        <p:nvSpPr>
          <p:cNvPr id="203" name="文本框 237" descr="{&quot;isTemplate&quot;:true,&quot;type&quot;:&quot;text&quot;}"/>
          <p:cNvSpPr txBox="1"/>
          <p:nvPr/>
        </p:nvSpPr>
        <p:spPr>
          <a:xfrm>
            <a:off x="4400550" y="5848350"/>
            <a:ext cx="34004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85B7EB"/>
                </a:solidFill>
                <a:latin typeface="Source Han Sans CN"/>
                <a:ea typeface="Source Han Sans CN"/>
              </a:rPr>
              <a:t>汇报人：</a:t>
            </a:r>
            <a:r>
              <a:rPr lang="en-US" sz="1125">
                <a:solidFill>
                  <a:srgbClr val="85B7EB"/>
                </a:solidFill>
                <a:latin typeface="Source Han Sans CN"/>
                <a:ea typeface="Source Han Sans CN"/>
              </a:rPr>
              <a:t>XXX</a:t>
            </a:r>
            <a:r>
              <a:rPr lang="zh-CN" sz="1125">
                <a:solidFill>
                  <a:srgbClr val="85B7EB"/>
                </a:solidFill>
                <a:latin typeface="Source Han Sans CN"/>
                <a:ea typeface="Source Han Sans CN"/>
              </a:rPr>
              <a:t>　·　指导教师：</a:t>
            </a:r>
            <a:r>
              <a:rPr lang="en-US" sz="1125">
                <a:solidFill>
                  <a:srgbClr val="85B7EB"/>
                </a:solidFill>
                <a:latin typeface="Source Han Sans CN"/>
                <a:ea typeface="Source Han Sans CN"/>
              </a:rPr>
              <a:t>XXX</a:t>
            </a:r>
            <a:r>
              <a:rPr lang="zh-CN" sz="1125">
                <a:solidFill>
                  <a:srgbClr val="85B7EB"/>
                </a:solidFill>
                <a:latin typeface="Source Han Sans CN"/>
                <a:ea typeface="Source Han Sans CN"/>
              </a:rPr>
              <a:t>　·　</a:t>
            </a:r>
            <a:r>
              <a:rPr lang="en-US" sz="1125">
                <a:solidFill>
                  <a:srgbClr val="85B7EB"/>
                </a:solidFill>
                <a:latin typeface="Source Han Sans CN"/>
                <a:ea typeface="Source Han Sans CN"/>
              </a:rPr>
              <a:t xml:space="preserve">2026 </a:t>
            </a:r>
            <a:r>
              <a:rPr lang="zh-CN" sz="1125">
                <a:solidFill>
                  <a:srgbClr val="85B7EB"/>
                </a:solidFill>
                <a:latin typeface="Source Han Sans CN"/>
                <a:ea typeface="Source Han Sans CN"/>
              </a:rPr>
              <a:t>年</a:t>
            </a:r>
            <a:r>
              <a:rPr lang="en-US" sz="1125">
                <a:solidFill>
                  <a:srgbClr val="85B7EB"/>
                </a:solidFill>
                <a:latin typeface="Source Han Sans CN"/>
                <a:ea typeface="Source Han Sans CN"/>
              </a:rPr>
              <a:t xml:space="preserve"> 10 </a:t>
            </a:r>
            <a:r>
              <a:rPr lang="zh-CN" sz="1125">
                <a:solidFill>
                  <a:srgbClr val="85B7EB"/>
                </a:solidFill>
                <a:latin typeface="Source Han Sans CN"/>
                <a:ea typeface="Source Han Sans CN"/>
              </a:rPr>
              <a:t>月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2026-10-21T17:02:08Z</dcterms:created>
  <dcterms:modified xsi:type="dcterms:W3CDTF">2026-10-21T17:02:08Z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{"AIGC":{"Label":"1","ContentProducer":"00119111010856365494821B355","ProduceID":"01a159fa3706774ba65dc31d75223ae7","ReservedCode1":"","ContentPropagator":"00119111010856365494821B355","PropagateID":"01a159fa3706774ba65dc31d75223ae7","ReservedCode2":""}}</vt:lpwstr>
  </property>
</Properties>
</file>