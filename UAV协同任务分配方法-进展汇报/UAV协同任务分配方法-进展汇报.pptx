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2.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71" r:id="rId22"/>
    <p:sldId id="264" r:id="rId10"/>
    <p:sldId id="263" r:id="rId9"/>
    <p:sldId id="265" r:id="rId11"/>
    <p:sldId id="266" r:id="rId12"/>
    <p:sldId id="267" r:id="rId13"/>
    <p:sldId id="268" r:id="rId14"/>
    <p:sldId id="269" r:id="rId15"/>
    <p:sldId id="270"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639" autoAdjust="0"/>
    <p:restoredTop sz="55006" autoAdjust="0"/>
  </p:normalViewPr>
  <p:slideViewPr>
    <p:cSldViewPr snapToGrid="0" snapToObjects="1">
      <p:cViewPr varScale="1">
        <p:scale>
          <a:sx n="85" d="100"/>
          <a:sy n="85" d="100"/>
        </p:scale>
        <p:origin x="586" y="58"/>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10.xml"/><Relationship Id="rId10" Type="http://schemas.openxmlformats.org/officeDocument/2006/relationships/slide" Target="slides/slide9.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a:p>
        </p:txBody>
      </p:sp>
      <p:sp>
        <p:nvSpPr>
          <p:cNvPr id="3" name="备注占位符 2"/>
          <p:cNvSpPr>
            <a:spLocks noGrp="1"/>
          </p:cNvSpPr>
          <p:nvPr>
            <p:ph type="body" idx="1"/>
          </p:nvPr>
        </p:nvSpPr>
        <p:spPr>
          <a:xfrm>
            <a:off x="685800" y="5867400"/>
            <a:ext cx="5486400" cy="4800600"/>
          </a:xfrm>
          <a:prstGeom prst="rect">
            <a:avLst/>
          </a:prstGeom>
        </p:spPr>
        <p:txBody>
          <a:bodyPr/>
          <a:lstStyle/>
          <a:p>
            <a:endParaRPr lang="zh-CN" alt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1"/>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5.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7.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0"/>
            <a:ext cx="12192000" cy="6858000"/>
          </a:xfrm>
          <a:prstGeom prst="rect">
            <a:avLst/>
          </a:prstGeom>
          <a:solidFill>
            <a:srgbClr val="FFFFFF"/>
          </a:solidFill>
          <a:ln/>
        </p:spPr>
        <p:txBody>
          <a:bodyPr/>
          <a:lstStyle/>
          <a:p>
            <a:endParaRPr/>
          </a:p>
        </p:txBody>
      </p:sp>
      <p:sp>
        <p:nvSpPr>
          <p:cNvPr id="3" name="矩形 2"/>
          <p:cNvSpPr/>
          <p:nvPr/>
        </p:nvSpPr>
        <p:spPr>
          <a:xfrm>
            <a:off x="0" y="0"/>
            <a:ext cx="9144000" cy="114300"/>
          </a:xfrm>
          <a:prstGeom prst="rect">
            <a:avLst/>
          </a:prstGeom>
          <a:solidFill>
            <a:srgbClr val="1E4FA8"/>
          </a:solidFill>
          <a:ln/>
        </p:spPr>
        <p:txBody>
          <a:bodyPr/>
          <a:lstStyle/>
          <a:p>
            <a:endParaRPr/>
          </a:p>
        </p:txBody>
      </p:sp>
      <p:sp>
        <p:nvSpPr>
          <p:cNvPr id="4" name="矩形 3"/>
          <p:cNvSpPr/>
          <p:nvPr/>
        </p:nvSpPr>
        <p:spPr>
          <a:xfrm>
            <a:off x="9144000" y="0"/>
            <a:ext cx="3048000" cy="114300"/>
          </a:xfrm>
          <a:prstGeom prst="rect">
            <a:avLst/>
          </a:prstGeom>
          <a:solidFill>
            <a:srgbClr val="3D7BD9"/>
          </a:solidFill>
          <a:ln/>
        </p:spPr>
        <p:txBody>
          <a:bodyPr/>
          <a:lstStyle/>
          <a:p>
            <a:endParaRPr/>
          </a:p>
        </p:txBody>
      </p:sp>
      <p:sp>
        <p:nvSpPr>
          <p:cNvPr id="5" name="文本框 4" descr="{&quot;isTemplate&quot;:true,&quot;type&quot;:&quot;text&quot;}"/>
          <p:cNvSpPr txBox="1"/>
          <p:nvPr/>
        </p:nvSpPr>
        <p:spPr>
          <a:xfrm>
            <a:off x="4572000" y="914400"/>
            <a:ext cx="3057525" cy="228600"/>
          </a:xfrm>
          <a:prstGeom prst="rect">
            <a:avLst/>
          </a:prstGeom>
        </p:spPr>
        <p:txBody>
          <a:bodyPr wrap="none" lIns="0" tIns="0" rIns="0" bIns="0"/>
          <a:lstStyle/>
          <a:p>
            <a:pPr>
              <a:lnSpc>
                <a:spcPct val="100000"/>
              </a:lnSpc>
            </a:pPr>
            <a:r>
              <a:rPr lang="zh-CN" sz="1500" spc="600">
                <a:solidFill>
                  <a:srgbClr val="3D7BD9"/>
                </a:solidFill>
                <a:latin typeface="Source Han Sans CN"/>
                <a:ea typeface="Source Han Sans CN"/>
              </a:rPr>
              <a:t>硕士学位论文</a:t>
            </a:r>
            <a:r>
              <a:rPr lang="en-US" sz="1500" spc="600">
                <a:solidFill>
                  <a:srgbClr val="3D7BD9"/>
                </a:solidFill>
                <a:latin typeface="Source Han Sans CN"/>
                <a:ea typeface="Source Han Sans CN"/>
              </a:rPr>
              <a:t> · </a:t>
            </a:r>
            <a:r>
              <a:rPr lang="zh-CN" sz="1500" spc="600">
                <a:solidFill>
                  <a:srgbClr val="3D7BD9"/>
                </a:solidFill>
                <a:latin typeface="Source Han Sans CN"/>
                <a:ea typeface="Source Han Sans CN"/>
              </a:rPr>
              <a:t>进展汇报</a:t>
            </a:r>
            <a:endParaRPr/>
          </a:p>
        </p:txBody>
      </p:sp>
      <p:sp>
        <p:nvSpPr>
          <p:cNvPr id="6" name="文本框 5" descr="{&quot;isTemplate&quot;:true,&quot;type&quot;:&quot;text&quot;}"/>
          <p:cNvSpPr txBox="1"/>
          <p:nvPr/>
        </p:nvSpPr>
        <p:spPr>
          <a:xfrm>
            <a:off x="3238500" y="1352550"/>
            <a:ext cx="5715000" cy="1543050"/>
          </a:xfrm>
          <a:prstGeom prst="rect">
            <a:avLst/>
          </a:prstGeom>
        </p:spPr>
        <p:txBody>
          <a:bodyPr wrap="none" lIns="0" tIns="0" rIns="0" bIns="0"/>
          <a:lstStyle/>
          <a:p>
            <a:pPr algn="ctr">
              <a:lnSpc>
                <a:spcPct val="135000"/>
              </a:lnSpc>
            </a:pPr>
            <a:r>
              <a:rPr lang="zh-CN" sz="3750" b="1">
                <a:solidFill>
                  <a:srgbClr val="0E3F8C"/>
                </a:solidFill>
                <a:latin typeface="Source Han Sans CN"/>
                <a:ea typeface="Source Han Sans CN"/>
              </a:rPr>
              <a:t>动态滚动的多机巢多无人机</a:t>
            </a:r>
            <a:endParaRPr/>
          </a:p>
          <a:p>
            <a:pPr algn="ctr">
              <a:lnSpc>
                <a:spcPct val="135000"/>
              </a:lnSpc>
            </a:pPr>
            <a:r>
              <a:rPr lang="zh-CN" sz="3750" b="1">
                <a:solidFill>
                  <a:srgbClr val="0E3F8C"/>
                </a:solidFill>
                <a:latin typeface="Source Han Sans CN"/>
                <a:ea typeface="Source Han Sans CN"/>
              </a:rPr>
              <a:t>协同任务分配方法</a:t>
            </a:r>
            <a:endParaRPr/>
          </a:p>
        </p:txBody>
      </p:sp>
      <p:sp>
        <p:nvSpPr>
          <p:cNvPr id="7" name="文本框 6" descr="{&quot;isTemplate&quot;:true,&quot;type&quot;:&quot;text&quot;}"/>
          <p:cNvSpPr txBox="1"/>
          <p:nvPr/>
        </p:nvSpPr>
        <p:spPr>
          <a:xfrm>
            <a:off x="2647950" y="3067050"/>
            <a:ext cx="6905625" cy="190500"/>
          </a:xfrm>
          <a:prstGeom prst="rect">
            <a:avLst/>
          </a:prstGeom>
        </p:spPr>
        <p:txBody>
          <a:bodyPr wrap="none" lIns="0" tIns="0" rIns="0" bIns="0"/>
          <a:lstStyle/>
          <a:p>
            <a:pPr algn="ctr">
              <a:lnSpc>
                <a:spcPct val="100000"/>
              </a:lnSpc>
            </a:pPr>
            <a:r>
              <a:rPr lang="en-US" sz="1200">
                <a:solidFill>
                  <a:srgbClr val="8B97A8"/>
                </a:solidFill>
                <a:latin typeface="Source Han Sans CN"/>
                <a:ea typeface="Source Han Sans CN"/>
              </a:rPr>
              <a:t>Dynamic Rolling Multi-Nest Multi-UAV Collaborative Task Allocation: A Hierarchical Framework</a:t>
            </a:r>
            <a:endParaRPr/>
          </a:p>
        </p:txBody>
      </p:sp>
      <p:sp>
        <p:nvSpPr>
          <p:cNvPr id="8" name="矩形: 圆角 7"/>
          <p:cNvSpPr/>
          <p:nvPr/>
        </p:nvSpPr>
        <p:spPr>
          <a:xfrm>
            <a:off x="3771900" y="3486150"/>
            <a:ext cx="2686050" cy="333375"/>
          </a:xfrm>
          <a:prstGeom prst="roundRect">
            <a:avLst>
              <a:gd name="adj" fmla="val 51429"/>
            </a:avLst>
          </a:prstGeom>
          <a:solidFill>
            <a:srgbClr val="E8EFF8"/>
          </a:solidFill>
          <a:ln/>
        </p:spPr>
        <p:txBody>
          <a:bodyPr/>
          <a:lstStyle/>
          <a:p>
            <a:endParaRPr/>
          </a:p>
        </p:txBody>
      </p:sp>
      <p:sp>
        <p:nvSpPr>
          <p:cNvPr id="9" name="文本框 8" descr="{&quot;isTemplate&quot;:true,&quot;type&quot;:&quot;text&quot;}"/>
          <p:cNvSpPr txBox="1"/>
          <p:nvPr/>
        </p:nvSpPr>
        <p:spPr>
          <a:xfrm>
            <a:off x="3981450" y="3552825"/>
            <a:ext cx="2266950" cy="200025"/>
          </a:xfrm>
          <a:prstGeom prst="rect">
            <a:avLst/>
          </a:prstGeom>
        </p:spPr>
        <p:txBody>
          <a:bodyPr wrap="none" lIns="0" tIns="0" rIns="0" bIns="0"/>
          <a:lstStyle/>
          <a:p>
            <a:pPr>
              <a:lnSpc>
                <a:spcPct val="100000"/>
              </a:lnSpc>
            </a:pPr>
            <a:r>
              <a:rPr lang="zh-CN" sz="1275" b="1">
                <a:solidFill>
                  <a:srgbClr val="1E4FA8"/>
                </a:solidFill>
                <a:latin typeface="Source Han Sans CN"/>
                <a:ea typeface="Source Han Sans CN"/>
              </a:rPr>
              <a:t>分层求解框架的构建与实验验证</a:t>
            </a:r>
            <a:endParaRPr/>
          </a:p>
        </p:txBody>
      </p:sp>
      <p:sp>
        <p:nvSpPr>
          <p:cNvPr id="10" name="矩形: 圆角 9"/>
          <p:cNvSpPr/>
          <p:nvPr/>
        </p:nvSpPr>
        <p:spPr>
          <a:xfrm>
            <a:off x="6591300" y="3486150"/>
            <a:ext cx="1828800" cy="333375"/>
          </a:xfrm>
          <a:prstGeom prst="roundRect">
            <a:avLst>
              <a:gd name="adj" fmla="val 51429"/>
            </a:avLst>
          </a:prstGeom>
          <a:solidFill>
            <a:srgbClr val="F0F5FC"/>
          </a:solidFill>
          <a:ln/>
        </p:spPr>
        <p:txBody>
          <a:bodyPr/>
          <a:lstStyle/>
          <a:p>
            <a:endParaRPr/>
          </a:p>
        </p:txBody>
      </p:sp>
      <p:sp>
        <p:nvSpPr>
          <p:cNvPr id="11" name="文本框 10" descr="{&quot;isTemplate&quot;:true,&quot;type&quot;:&quot;text&quot;}"/>
          <p:cNvSpPr txBox="1"/>
          <p:nvPr/>
        </p:nvSpPr>
        <p:spPr>
          <a:xfrm>
            <a:off x="6800850" y="3552825"/>
            <a:ext cx="1409700" cy="200025"/>
          </a:xfrm>
          <a:prstGeom prst="rect">
            <a:avLst/>
          </a:prstGeom>
        </p:spPr>
        <p:txBody>
          <a:bodyPr wrap="none" lIns="0" tIns="0" rIns="0" bIns="0"/>
          <a:lstStyle/>
          <a:p>
            <a:pPr>
              <a:lnSpc>
                <a:spcPct val="100000"/>
              </a:lnSpc>
            </a:pPr>
            <a:r>
              <a:rPr lang="zh-CN" sz="1275">
                <a:solidFill>
                  <a:srgbClr val="4A5568"/>
                </a:solidFill>
                <a:latin typeface="Source Han Sans CN"/>
                <a:ea typeface="Source Han Sans CN"/>
              </a:rPr>
              <a:t>进展</a:t>
            </a:r>
            <a:r>
              <a:rPr lang="en-US" sz="1275">
                <a:solidFill>
                  <a:srgbClr val="4A5568"/>
                </a:solidFill>
                <a:latin typeface="Source Han Sans CN"/>
                <a:ea typeface="Source Han Sans CN"/>
              </a:rPr>
              <a:t> · </a:t>
            </a:r>
            <a:r>
              <a:rPr lang="zh-CN" sz="1275">
                <a:solidFill>
                  <a:srgbClr val="4A5568"/>
                </a:solidFill>
                <a:latin typeface="Source Han Sans CN"/>
                <a:ea typeface="Source Han Sans CN"/>
              </a:rPr>
              <a:t>结果</a:t>
            </a:r>
            <a:r>
              <a:rPr lang="en-US" sz="1275">
                <a:solidFill>
                  <a:srgbClr val="4A5568"/>
                </a:solidFill>
                <a:latin typeface="Source Han Sans CN"/>
                <a:ea typeface="Source Han Sans CN"/>
              </a:rPr>
              <a:t> · </a:t>
            </a:r>
            <a:r>
              <a:rPr lang="zh-CN" sz="1275">
                <a:solidFill>
                  <a:srgbClr val="4A5568"/>
                </a:solidFill>
                <a:latin typeface="Source Han Sans CN"/>
                <a:ea typeface="Source Han Sans CN"/>
              </a:rPr>
              <a:t>下一步</a:t>
            </a:r>
            <a:endParaRPr/>
          </a:p>
        </p:txBody>
      </p:sp>
      <p:pic>
        <p:nvPicPr>
          <p:cNvPr id="12" name="图形 11"/>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62000" y="3771900"/>
            <a:ext cx="10668000" cy="2171700"/>
          </a:xfrm>
          <a:prstGeom prst="rect">
            <a:avLst/>
          </a:prstGeom>
          <a:ln/>
        </p:spPr>
      </p:pic>
      <p:sp>
        <p:nvSpPr>
          <p:cNvPr id="13" name="矩形: 圆角 12"/>
          <p:cNvSpPr/>
          <p:nvPr/>
        </p:nvSpPr>
        <p:spPr>
          <a:xfrm>
            <a:off x="7124700" y="4000500"/>
            <a:ext cx="4152900" cy="304800"/>
          </a:xfrm>
          <a:prstGeom prst="roundRect">
            <a:avLst>
              <a:gd name="adj" fmla="val 25000"/>
            </a:avLst>
          </a:prstGeom>
          <a:solidFill>
            <a:srgbClr val="FFFFFF"/>
          </a:solidFill>
          <a:ln w="12700">
            <a:solidFill>
              <a:srgbClr val="D6DCE5"/>
            </a:solidFill>
            <a:prstDash val="solid"/>
          </a:ln>
        </p:spPr>
        <p:txBody>
          <a:bodyPr/>
          <a:lstStyle/>
          <a:p>
            <a:endParaRPr/>
          </a:p>
        </p:txBody>
      </p:sp>
      <p:sp>
        <p:nvSpPr>
          <p:cNvPr id="14" name="文本框 13" descr="{&quot;isTemplate&quot;:true,&quot;type&quot;:&quot;text&quot;}"/>
          <p:cNvSpPr txBox="1"/>
          <p:nvPr/>
        </p:nvSpPr>
        <p:spPr>
          <a:xfrm>
            <a:off x="7277100" y="4076700"/>
            <a:ext cx="1600200" cy="152400"/>
          </a:xfrm>
          <a:prstGeom prst="rect">
            <a:avLst/>
          </a:prstGeom>
        </p:spPr>
        <p:txBody>
          <a:bodyPr wrap="none" lIns="0" tIns="0" rIns="0" bIns="0"/>
          <a:lstStyle/>
          <a:p>
            <a:pPr>
              <a:lnSpc>
                <a:spcPct val="100000"/>
              </a:lnSpc>
            </a:pPr>
            <a:r>
              <a:rPr sz="975">
                <a:solidFill>
                  <a:srgbClr val="FFC107"/>
                </a:solidFill>
                <a:latin typeface="Source Han Sans CN"/>
                <a:ea typeface="Source Han Sans CN"/>
              </a:rPr>
              <a:t>●</a:t>
            </a:r>
            <a:r>
              <a:rPr lang="en-US" sz="975">
                <a:solidFill>
                  <a:srgbClr val="4A5568"/>
                </a:solidFill>
                <a:latin typeface="Source Han Sans CN"/>
                <a:ea typeface="Source Han Sans CN"/>
              </a:rPr>
              <a:t> </a:t>
            </a:r>
            <a:r>
              <a:rPr lang="zh-CN" sz="975">
                <a:solidFill>
                  <a:srgbClr val="4A5568"/>
                </a:solidFill>
                <a:latin typeface="Source Han Sans CN"/>
                <a:ea typeface="Source Han Sans CN"/>
              </a:rPr>
              <a:t>任务（</a:t>
            </a:r>
            <a:r>
              <a:rPr lang="en-US" sz="975">
                <a:solidFill>
                  <a:srgbClr val="4A5568"/>
                </a:solidFill>
                <a:latin typeface="Source Han Sans CN"/>
                <a:ea typeface="Source Han Sans CN"/>
              </a:rPr>
              <a:t>Poisson </a:t>
            </a:r>
            <a:r>
              <a:rPr lang="zh-CN" sz="975">
                <a:solidFill>
                  <a:srgbClr val="4A5568"/>
                </a:solidFill>
                <a:latin typeface="Source Han Sans CN"/>
                <a:ea typeface="Source Han Sans CN"/>
              </a:rPr>
              <a:t>滚动到达）</a:t>
            </a:r>
            <a:endParaRPr/>
          </a:p>
        </p:txBody>
      </p:sp>
      <p:sp>
        <p:nvSpPr>
          <p:cNvPr id="15" name="文本框 14" descr="{&quot;isTemplate&quot;:true,&quot;type&quot;:&quot;text&quot;}"/>
          <p:cNvSpPr txBox="1"/>
          <p:nvPr/>
        </p:nvSpPr>
        <p:spPr>
          <a:xfrm>
            <a:off x="8972550" y="4076700"/>
            <a:ext cx="171450" cy="152400"/>
          </a:xfrm>
          <a:prstGeom prst="rect">
            <a:avLst/>
          </a:prstGeom>
        </p:spPr>
        <p:txBody>
          <a:bodyPr wrap="none" lIns="0" tIns="0" rIns="0" bIns="0"/>
          <a:lstStyle/>
          <a:p>
            <a:pPr>
              <a:lnSpc>
                <a:spcPct val="100000"/>
              </a:lnSpc>
            </a:pPr>
            <a:r>
              <a:rPr lang="en-US" sz="975" b="1">
                <a:solidFill>
                  <a:srgbClr val="1E4FA8"/>
                </a:solidFill>
                <a:latin typeface="Source Han Sans CN"/>
                <a:ea typeface="Source Han Sans CN"/>
              </a:rPr>
              <a:t>– –</a:t>
            </a:r>
            <a:endParaRPr/>
          </a:p>
        </p:txBody>
      </p:sp>
      <p:sp>
        <p:nvSpPr>
          <p:cNvPr id="16" name="文本框 15" descr="{&quot;isTemplate&quot;:true,&quot;type&quot;:&quot;text&quot;}"/>
          <p:cNvSpPr txBox="1"/>
          <p:nvPr/>
        </p:nvSpPr>
        <p:spPr>
          <a:xfrm>
            <a:off x="9239250" y="4076700"/>
            <a:ext cx="1885950" cy="152400"/>
          </a:xfrm>
          <a:prstGeom prst="rect">
            <a:avLst/>
          </a:prstGeom>
        </p:spPr>
        <p:txBody>
          <a:bodyPr wrap="none" lIns="0" tIns="0" rIns="0" bIns="0"/>
          <a:lstStyle/>
          <a:p>
            <a:pPr>
              <a:lnSpc>
                <a:spcPct val="100000"/>
              </a:lnSpc>
            </a:pPr>
            <a:r>
              <a:rPr lang="zh-CN" sz="975">
                <a:solidFill>
                  <a:srgbClr val="4A5568"/>
                </a:solidFill>
                <a:latin typeface="Source Han Sans CN"/>
                <a:ea typeface="Source Han Sans CN"/>
              </a:rPr>
              <a:t>航次（</a:t>
            </a:r>
            <a:r>
              <a:rPr lang="en-US" sz="975">
                <a:solidFill>
                  <a:srgbClr val="4A5568"/>
                </a:solidFill>
                <a:latin typeface="Source Han Sans CN"/>
                <a:ea typeface="Source Han Sans CN"/>
              </a:rPr>
              <a:t>UAV </a:t>
            </a:r>
            <a:r>
              <a:rPr lang="zh-CN" sz="975">
                <a:solidFill>
                  <a:srgbClr val="4A5568"/>
                </a:solidFill>
                <a:latin typeface="Source Han Sans CN"/>
                <a:ea typeface="Source Han Sans CN"/>
              </a:rPr>
              <a:t>起点固定</a:t>
            </a:r>
            <a:r>
              <a:rPr lang="en-US" sz="975">
                <a:solidFill>
                  <a:srgbClr val="4A5568"/>
                </a:solidFill>
                <a:latin typeface="Source Han Sans CN"/>
                <a:ea typeface="Source Han Sans CN"/>
              </a:rPr>
              <a:t> · </a:t>
            </a:r>
            <a:r>
              <a:rPr lang="zh-CN" sz="975">
                <a:solidFill>
                  <a:srgbClr val="4A5568"/>
                </a:solidFill>
                <a:latin typeface="Source Han Sans CN"/>
                <a:ea typeface="Source Han Sans CN"/>
              </a:rPr>
              <a:t>终点可选）</a:t>
            </a:r>
            <a:endParaRPr/>
          </a:p>
        </p:txBody>
      </p:sp>
      <p:sp>
        <p:nvSpPr>
          <p:cNvPr id="17" name="文本框 16" descr="{&quot;isTemplate&quot;:true,&quot;type&quot;:&quot;text&quot;}"/>
          <p:cNvSpPr txBox="1"/>
          <p:nvPr/>
        </p:nvSpPr>
        <p:spPr>
          <a:xfrm>
            <a:off x="1047750" y="5724525"/>
            <a:ext cx="314325" cy="161925"/>
          </a:xfrm>
          <a:prstGeom prst="rect">
            <a:avLst/>
          </a:prstGeom>
        </p:spPr>
        <p:txBody>
          <a:bodyPr wrap="none" lIns="0" tIns="0" rIns="0" bIns="0"/>
          <a:lstStyle/>
          <a:p>
            <a:pPr>
              <a:lnSpc>
                <a:spcPct val="100000"/>
              </a:lnSpc>
            </a:pPr>
            <a:r>
              <a:rPr lang="en-US" sz="1013" b="1">
                <a:solidFill>
                  <a:srgbClr val="8B97A8"/>
                </a:solidFill>
                <a:latin typeface="Source Han Sans CN"/>
                <a:ea typeface="Source Han Sans CN"/>
              </a:rPr>
              <a:t>DEM</a:t>
            </a:r>
            <a:endParaRPr/>
          </a:p>
        </p:txBody>
      </p:sp>
      <p:sp>
        <p:nvSpPr>
          <p:cNvPr id="18" name="文本框 17" descr="{&quot;isTemplate&quot;:true,&quot;type&quot;:&quot;text&quot;}"/>
          <p:cNvSpPr txBox="1"/>
          <p:nvPr/>
        </p:nvSpPr>
        <p:spPr>
          <a:xfrm>
            <a:off x="1409700" y="5724525"/>
            <a:ext cx="2057400" cy="161925"/>
          </a:xfrm>
          <a:prstGeom prst="rect">
            <a:avLst/>
          </a:prstGeom>
        </p:spPr>
        <p:txBody>
          <a:bodyPr wrap="none" lIns="0" tIns="0" rIns="0" bIns="0"/>
          <a:lstStyle/>
          <a:p>
            <a:pPr>
              <a:lnSpc>
                <a:spcPct val="100000"/>
              </a:lnSpc>
            </a:pPr>
            <a:r>
              <a:rPr lang="zh-CN" sz="1013">
                <a:solidFill>
                  <a:srgbClr val="8B97A8"/>
                </a:solidFill>
                <a:latin typeface="Source Han Sans CN"/>
                <a:ea typeface="Source Han Sans CN"/>
              </a:rPr>
              <a:t>三维地形剖面（垂直切面航程口径）</a:t>
            </a:r>
            <a:endParaRPr/>
          </a:p>
        </p:txBody>
      </p:sp>
      <p:sp>
        <p:nvSpPr>
          <p:cNvPr id="19" name="文本框 18" descr="{&quot;isTemplate&quot;:true,&quot;type&quot;:&quot;text&quot;}"/>
          <p:cNvSpPr txBox="1"/>
          <p:nvPr/>
        </p:nvSpPr>
        <p:spPr>
          <a:xfrm>
            <a:off x="762000" y="6438900"/>
            <a:ext cx="2314575" cy="190500"/>
          </a:xfrm>
          <a:prstGeom prst="rect">
            <a:avLst/>
          </a:prstGeom>
        </p:spPr>
        <p:txBody>
          <a:bodyPr wrap="none" lIns="0" tIns="0" rIns="0" bIns="0"/>
          <a:lstStyle/>
          <a:p>
            <a:pPr>
              <a:lnSpc>
                <a:spcPct val="100000"/>
              </a:lnSpc>
            </a:pPr>
            <a:r>
              <a:rPr lang="zh-CN" sz="1200">
                <a:solidFill>
                  <a:srgbClr val="4A5568"/>
                </a:solidFill>
                <a:latin typeface="Source Han Sans CN"/>
                <a:ea typeface="Source Han Sans CN"/>
              </a:rPr>
              <a:t>汇报人：</a:t>
            </a:r>
            <a:r>
              <a:rPr lang="en-US" sz="1200">
                <a:solidFill>
                  <a:srgbClr val="4A5568"/>
                </a:solidFill>
                <a:latin typeface="Source Han Sans CN"/>
                <a:ea typeface="Source Han Sans CN"/>
              </a:rPr>
              <a:t>XXX</a:t>
            </a:r>
            <a:r>
              <a:rPr lang="zh-CN" sz="1200">
                <a:solidFill>
                  <a:srgbClr val="D6DCE5"/>
                </a:solidFill>
                <a:latin typeface="Source Han Sans CN"/>
                <a:ea typeface="Source Han Sans CN"/>
              </a:rPr>
              <a:t>　</a:t>
            </a:r>
            <a:r>
              <a:rPr lang="en-US" sz="1200">
                <a:solidFill>
                  <a:srgbClr val="D6DCE5"/>
                </a:solidFill>
                <a:latin typeface="Source Han Sans CN"/>
                <a:ea typeface="Source Han Sans CN"/>
              </a:rPr>
              <a:t>|</a:t>
            </a:r>
            <a:r>
              <a:rPr lang="zh-CN" sz="1200">
                <a:solidFill>
                  <a:srgbClr val="D6DCE5"/>
                </a:solidFill>
                <a:latin typeface="Source Han Sans CN"/>
                <a:ea typeface="Source Han Sans CN"/>
              </a:rPr>
              <a:t>　</a:t>
            </a:r>
            <a:r>
              <a:rPr lang="zh-CN" sz="1200">
                <a:solidFill>
                  <a:srgbClr val="4A5568"/>
                </a:solidFill>
                <a:latin typeface="Source Han Sans CN"/>
                <a:ea typeface="Source Han Sans CN"/>
              </a:rPr>
              <a:t>指导教师：</a:t>
            </a:r>
            <a:r>
              <a:rPr lang="en-US" sz="1200">
                <a:solidFill>
                  <a:srgbClr val="4A5568"/>
                </a:solidFill>
                <a:latin typeface="Source Han Sans CN"/>
                <a:ea typeface="Source Han Sans CN"/>
              </a:rPr>
              <a:t>XXX</a:t>
            </a:r>
            <a:endParaRPr/>
          </a:p>
        </p:txBody>
      </p:sp>
      <p:sp>
        <p:nvSpPr>
          <p:cNvPr id="20" name="文本框 19" descr="{&quot;isTemplate&quot;:true,&quot;type&quot;:&quot;text&quot;}"/>
          <p:cNvSpPr txBox="1"/>
          <p:nvPr/>
        </p:nvSpPr>
        <p:spPr>
          <a:xfrm>
            <a:off x="10448925" y="6438900"/>
            <a:ext cx="981075" cy="190500"/>
          </a:xfrm>
          <a:prstGeom prst="rect">
            <a:avLst/>
          </a:prstGeom>
        </p:spPr>
        <p:txBody>
          <a:bodyPr wrap="none" lIns="0" tIns="0" rIns="0" bIns="0"/>
          <a:lstStyle/>
          <a:p>
            <a:pPr>
              <a:lnSpc>
                <a:spcPct val="100000"/>
              </a:lnSpc>
            </a:pPr>
            <a:r>
              <a:rPr lang="en-US" sz="1200">
                <a:solidFill>
                  <a:srgbClr val="4A5568"/>
                </a:solidFill>
                <a:latin typeface="Source Han Sans CN"/>
                <a:ea typeface="Source Han Sans CN"/>
              </a:rPr>
              <a:t>2026 </a:t>
            </a:r>
            <a:r>
              <a:rPr lang="zh-CN" sz="1200">
                <a:solidFill>
                  <a:srgbClr val="4A5568"/>
                </a:solidFill>
                <a:latin typeface="Source Han Sans CN"/>
                <a:ea typeface="Source Han Sans CN"/>
              </a:rPr>
              <a:t>年</a:t>
            </a:r>
            <a:r>
              <a:rPr lang="en-US" sz="1200">
                <a:solidFill>
                  <a:srgbClr val="4A5568"/>
                </a:solidFill>
                <a:latin typeface="Source Han Sans CN"/>
                <a:ea typeface="Source Han Sans CN"/>
              </a:rPr>
              <a:t> 10 </a:t>
            </a:r>
            <a:r>
              <a:rPr lang="zh-CN" sz="1200">
                <a:solidFill>
                  <a:srgbClr val="4A5568"/>
                </a:solidFill>
                <a:latin typeface="Source Han Sans CN"/>
                <a:ea typeface="Source Han Sans CN"/>
              </a:rPr>
              <a:t>月</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 name="矩形 239"/>
          <p:cNvSpPr/>
          <p:nvPr/>
        </p:nvSpPr>
        <p:spPr>
          <a:xfrm>
            <a:off x="0" y="0"/>
            <a:ext cx="12192000" cy="6858000"/>
          </a:xfrm>
          <a:prstGeom prst="rect">
            <a:avLst/>
          </a:prstGeom>
          <a:solidFill>
            <a:srgbClr val="FFFFFF"/>
          </a:solidFill>
          <a:ln/>
        </p:spPr>
        <p:txBody>
          <a:bodyPr/>
          <a:lstStyle/>
          <a:p>
            <a:endParaRPr/>
          </a:p>
        </p:txBody>
      </p:sp>
      <p:sp>
        <p:nvSpPr>
          <p:cNvPr id="206" name="矩形 240"/>
          <p:cNvSpPr/>
          <p:nvPr/>
        </p:nvSpPr>
        <p:spPr>
          <a:xfrm>
            <a:off x="0" y="0"/>
            <a:ext cx="12192000" cy="114300"/>
          </a:xfrm>
          <a:prstGeom prst="rect">
            <a:avLst/>
          </a:prstGeom>
          <a:solidFill>
            <a:srgbClr val="1E4FA8"/>
          </a:solidFill>
          <a:ln/>
        </p:spPr>
        <p:txBody>
          <a:bodyPr/>
          <a:lstStyle/>
          <a:p>
            <a:endParaRPr/>
          </a:p>
        </p:txBody>
      </p:sp>
      <p:sp>
        <p:nvSpPr>
          <p:cNvPr id="207" name="矩形: 圆角 241"/>
          <p:cNvSpPr/>
          <p:nvPr/>
        </p:nvSpPr>
        <p:spPr>
          <a:xfrm>
            <a:off x="381000" y="1047750"/>
            <a:ext cx="3390900" cy="5143500"/>
          </a:xfrm>
          <a:prstGeom prst="roundRect">
            <a:avLst>
              <a:gd name="adj" fmla="val 3371"/>
            </a:avLst>
          </a:prstGeom>
          <a:solidFill>
            <a:srgbClr val="0E3F8C"/>
          </a:solidFill>
          <a:ln/>
        </p:spPr>
        <p:txBody>
          <a:bodyPr/>
          <a:lstStyle/>
          <a:p>
            <a:endParaRPr/>
          </a:p>
        </p:txBody>
      </p:sp>
      <p:sp>
        <p:nvSpPr>
          <p:cNvPr id="208" name="文本框 242" descr="{&quot;isTemplate&quot;:true,&quot;type&quot;:&quot;text&quot;}"/>
          <p:cNvSpPr txBox="1"/>
          <p:nvPr/>
        </p:nvSpPr>
        <p:spPr>
          <a:xfrm>
            <a:off x="723900" y="1466850"/>
            <a:ext cx="2705100" cy="438150"/>
          </a:xfrm>
          <a:prstGeom prst="rect">
            <a:avLst/>
          </a:prstGeom>
        </p:spPr>
        <p:txBody>
          <a:bodyPr wrap="none" lIns="0" tIns="0" rIns="0" bIns="0"/>
          <a:lstStyle/>
          <a:p>
            <a:pPr>
              <a:lnSpc>
                <a:spcPct val="100000"/>
              </a:lnSpc>
            </a:pPr>
            <a:r>
              <a:rPr lang="zh-CN" sz="2850" b="1">
                <a:solidFill>
                  <a:srgbClr val="FFFFFF"/>
                </a:solidFill>
                <a:latin typeface="Source Han Sans CN"/>
                <a:ea typeface="Source Han Sans CN"/>
              </a:rPr>
              <a:t>汇报提纲</a:t>
            </a:r>
            <a:endParaRPr/>
          </a:p>
        </p:txBody>
      </p:sp>
      <p:sp>
        <p:nvSpPr>
          <p:cNvPr id="209" name="文本框 243" descr="{&quot;isTemplate&quot;:true,&quot;type&quot;:&quot;text&quot;}"/>
          <p:cNvSpPr txBox="1"/>
          <p:nvPr/>
        </p:nvSpPr>
        <p:spPr>
          <a:xfrm>
            <a:off x="723900" y="1981200"/>
            <a:ext cx="2705100" cy="171450"/>
          </a:xfrm>
          <a:prstGeom prst="rect">
            <a:avLst/>
          </a:prstGeom>
        </p:spPr>
        <p:txBody>
          <a:bodyPr wrap="none" lIns="0" tIns="0" rIns="0" bIns="0"/>
          <a:lstStyle/>
          <a:p>
            <a:pPr>
              <a:lnSpc>
                <a:spcPct val="100000"/>
              </a:lnSpc>
            </a:pPr>
            <a:r>
              <a:rPr lang="en-US" sz="1125" spc="300">
                <a:solidFill>
                  <a:srgbClr val="B5D4F4"/>
                </a:solidFill>
                <a:latin typeface="Source Han Sans CN"/>
                <a:ea typeface="Source Han Sans CN"/>
              </a:rPr>
              <a:t>CONTENTS</a:t>
            </a:r>
            <a:endParaRPr/>
          </a:p>
        </p:txBody>
      </p:sp>
      <p:sp>
        <p:nvSpPr>
          <p:cNvPr id="210" name="矩形 244"/>
          <p:cNvSpPr/>
          <p:nvPr/>
        </p:nvSpPr>
        <p:spPr>
          <a:xfrm>
            <a:off x="723900" y="2343150"/>
            <a:ext cx="419100" cy="28575"/>
          </a:xfrm>
          <a:prstGeom prst="rect">
            <a:avLst/>
          </a:prstGeom>
          <a:solidFill>
            <a:srgbClr val="FFC107"/>
          </a:solidFill>
          <a:ln/>
        </p:spPr>
        <p:txBody>
          <a:bodyPr/>
          <a:lstStyle/>
          <a:p>
            <a:endParaRPr/>
          </a:p>
        </p:txBody>
      </p:sp>
      <p:sp>
        <p:nvSpPr>
          <p:cNvPr id="211" name="文本框 245" descr="{&quot;isTemplate&quot;:true,&quot;type&quot;:&quot;text&quot;}"/>
          <p:cNvSpPr txBox="1"/>
          <p:nvPr/>
        </p:nvSpPr>
        <p:spPr>
          <a:xfrm>
            <a:off x="723900" y="2638425"/>
            <a:ext cx="2705100" cy="1485900"/>
          </a:xfrm>
          <a:prstGeom prst="rect">
            <a:avLst/>
          </a:prstGeom>
        </p:spPr>
        <p:txBody>
          <a:bodyPr wrap="square" lIns="0" tIns="0" rIns="0" bIns="0">
            <a:normAutofit/>
          </a:bodyPr>
          <a:lstStyle/>
          <a:p>
            <a:pPr>
              <a:lnSpc>
                <a:spcPct val="190000"/>
              </a:lnSpc>
            </a:pPr>
            <a:r>
              <a:rPr lang="zh-CN" sz="1275">
                <a:solidFill>
                  <a:srgbClr val="DCE7F5"/>
                </a:solidFill>
                <a:latin typeface="Source Han Sans CN"/>
                <a:ea typeface="Source Han Sans CN"/>
              </a:rPr>
              <a:t>围绕「动态任务池</a:t>
            </a:r>
            <a:r>
              <a:rPr lang="en-US" sz="1275">
                <a:solidFill>
                  <a:srgbClr val="DCE7F5"/>
                </a:solidFill>
                <a:latin typeface="Source Han Sans CN"/>
                <a:ea typeface="Source Han Sans CN"/>
              </a:rPr>
              <a:t> × </a:t>
            </a:r>
            <a:r>
              <a:rPr lang="zh-CN" sz="1275">
                <a:solidFill>
                  <a:srgbClr val="DCE7F5"/>
                </a:solidFill>
                <a:latin typeface="Source Han Sans CN"/>
                <a:ea typeface="Source Han Sans CN"/>
              </a:rPr>
              <a:t>多机巢</a:t>
            </a:r>
            <a:r>
              <a:rPr lang="en-US" sz="1275">
                <a:solidFill>
                  <a:srgbClr val="DCE7F5"/>
                </a:solidFill>
                <a:latin typeface="Source Han Sans CN"/>
                <a:ea typeface="Source Han Sans CN"/>
              </a:rPr>
              <a:t> × </a:t>
            </a:r>
            <a:r>
              <a:rPr lang="zh-CN" sz="1275">
                <a:solidFill>
                  <a:srgbClr val="DCE7F5"/>
                </a:solidFill>
                <a:latin typeface="Source Han Sans CN"/>
                <a:ea typeface="Source Han Sans CN"/>
              </a:rPr>
              <a:t>选择性执行」三个关键词，先讲清问题与方法骨架，再用两组实验支撑核心主张，最后坦诚当前的证据边界。</a:t>
            </a:r>
            <a:endParaRPr/>
          </a:p>
        </p:txBody>
      </p:sp>
      <p:sp>
        <p:nvSpPr>
          <p:cNvPr id="212" name="文本框 246" descr="{&quot;isTemplate&quot;:true,&quot;type&quot;:&quot;text&quot;}"/>
          <p:cNvSpPr txBox="1"/>
          <p:nvPr/>
        </p:nvSpPr>
        <p:spPr>
          <a:xfrm>
            <a:off x="723900" y="4333875"/>
            <a:ext cx="2705100" cy="581025"/>
          </a:xfrm>
          <a:prstGeom prst="rect">
            <a:avLst/>
          </a:prstGeom>
        </p:spPr>
        <p:txBody>
          <a:bodyPr wrap="square" lIns="0" tIns="0" rIns="0" bIns="0">
            <a:normAutofit/>
          </a:bodyPr>
          <a:lstStyle/>
          <a:p>
            <a:pPr>
              <a:lnSpc>
                <a:spcPct val="180000"/>
              </a:lnSpc>
            </a:pPr>
            <a:r>
              <a:rPr lang="zh-CN" sz="1050">
                <a:solidFill>
                  <a:srgbClr val="85B7EB"/>
                </a:solidFill>
                <a:latin typeface="Source Han Sans CN"/>
                <a:ea typeface="Source Han Sans CN"/>
              </a:rPr>
              <a:t>汇报约</a:t>
            </a:r>
            <a:r>
              <a:rPr lang="en-US" sz="1050">
                <a:solidFill>
                  <a:srgbClr val="85B7EB"/>
                </a:solidFill>
                <a:latin typeface="Source Han Sans CN"/>
                <a:ea typeface="Source Han Sans CN"/>
              </a:rPr>
              <a:t> 15 </a:t>
            </a:r>
            <a:r>
              <a:rPr lang="zh-CN" sz="1050">
                <a:solidFill>
                  <a:srgbClr val="85B7EB"/>
                </a:solidFill>
                <a:latin typeface="Source Han Sans CN"/>
                <a:ea typeface="Source Han Sans CN"/>
              </a:rPr>
              <a:t>分钟，公式与数据均可回溯到论文第</a:t>
            </a:r>
            <a:r>
              <a:rPr lang="en-US" sz="1050">
                <a:solidFill>
                  <a:srgbClr val="85B7EB"/>
                </a:solidFill>
                <a:latin typeface="Source Han Sans CN"/>
                <a:ea typeface="Source Han Sans CN"/>
              </a:rPr>
              <a:t> 3 </a:t>
            </a:r>
            <a:r>
              <a:rPr lang="zh-CN" sz="1050">
                <a:solidFill>
                  <a:srgbClr val="85B7EB"/>
                </a:solidFill>
                <a:latin typeface="Source Han Sans CN"/>
                <a:ea typeface="Source Han Sans CN"/>
              </a:rPr>
              <a:t>章与实验记录。</a:t>
            </a:r>
            <a:endParaRPr/>
          </a:p>
        </p:txBody>
      </p:sp>
      <p:sp>
        <p:nvSpPr>
          <p:cNvPr id="213" name="矩形: 圆角 247"/>
          <p:cNvSpPr/>
          <p:nvPr/>
        </p:nvSpPr>
        <p:spPr>
          <a:xfrm>
            <a:off x="4114800" y="1047750"/>
            <a:ext cx="7734300" cy="1200150"/>
          </a:xfrm>
          <a:prstGeom prst="roundRect">
            <a:avLst>
              <a:gd name="adj" fmla="val 7937"/>
            </a:avLst>
          </a:prstGeom>
          <a:solidFill>
            <a:srgbClr val="F0F5FC"/>
          </a:solidFill>
          <a:ln/>
        </p:spPr>
        <p:txBody>
          <a:bodyPr/>
          <a:lstStyle/>
          <a:p>
            <a:endParaRPr/>
          </a:p>
        </p:txBody>
      </p:sp>
      <p:sp>
        <p:nvSpPr>
          <p:cNvPr id="214" name="任意多边形: 形状 248"/>
          <p:cNvSpPr/>
          <p:nvPr/>
        </p:nvSpPr>
        <p:spPr>
          <a:xfrm>
            <a:off x="4114800" y="1047750"/>
            <a:ext cx="7734300" cy="1200150"/>
          </a:xfrm>
          <a:custGeom>
            <a:avLst/>
            <a:gdLst/>
            <a:ahLst/>
            <a:cxnLst/>
            <a:rect l="0" t="0" r="0" b="0"/>
            <a:pathLst>
              <a:path w="812" h="126">
                <a:moveTo>
                  <a:pt x="9" y="0"/>
                </a:moveTo>
                <a:cubicBezTo>
                  <a:pt x="6" y="0"/>
                  <a:pt x="4" y="3"/>
                  <a:pt x="4" y="6"/>
                </a:cubicBezTo>
                <a:lnTo>
                  <a:pt x="4" y="120"/>
                </a:lnTo>
                <a:cubicBezTo>
                  <a:pt x="4" y="123"/>
                  <a:pt x="6" y="125"/>
                  <a:pt x="9" y="126"/>
                </a:cubicBezTo>
                <a:cubicBezTo>
                  <a:pt x="4" y="125"/>
                  <a:pt x="0" y="121"/>
                  <a:pt x="0" y="116"/>
                </a:cubicBezTo>
                <a:lnTo>
                  <a:pt x="0" y="10"/>
                </a:lnTo>
                <a:cubicBezTo>
                  <a:pt x="0" y="5"/>
                  <a:pt x="4" y="0"/>
                  <a:pt x="10" y="0"/>
                </a:cubicBezTo>
                <a:close/>
              </a:path>
            </a:pathLst>
          </a:custGeom>
          <a:solidFill>
            <a:srgbClr val="1E4FA8"/>
          </a:solidFill>
          <a:ln/>
        </p:spPr>
        <p:txBody>
          <a:bodyPr/>
          <a:lstStyle/>
          <a:p>
            <a:endParaRPr/>
          </a:p>
        </p:txBody>
      </p:sp>
      <p:sp>
        <p:nvSpPr>
          <p:cNvPr id="215" name="矩形: 圆角 249"/>
          <p:cNvSpPr/>
          <p:nvPr/>
        </p:nvSpPr>
        <p:spPr>
          <a:xfrm>
            <a:off x="4324350" y="1219200"/>
            <a:ext cx="514350" cy="514350"/>
          </a:xfrm>
          <a:prstGeom prst="roundRect">
            <a:avLst>
              <a:gd name="adj" fmla="val 14815"/>
            </a:avLst>
          </a:prstGeom>
          <a:solidFill>
            <a:srgbClr val="1E4FA8"/>
          </a:solidFill>
          <a:ln/>
        </p:spPr>
        <p:txBody>
          <a:bodyPr/>
          <a:lstStyle/>
          <a:p>
            <a:endParaRPr/>
          </a:p>
        </p:txBody>
      </p:sp>
      <p:sp>
        <p:nvSpPr>
          <p:cNvPr id="216" name="文本框 250" descr="{&quot;isTemplate&quot;:true,&quot;type&quot;:&quot;text&quot;}"/>
          <p:cNvSpPr txBox="1"/>
          <p:nvPr/>
        </p:nvSpPr>
        <p:spPr>
          <a:xfrm>
            <a:off x="4448175" y="1352550"/>
            <a:ext cx="266700" cy="257175"/>
          </a:xfrm>
          <a:prstGeom prst="rect">
            <a:avLst/>
          </a:prstGeom>
        </p:spPr>
        <p:txBody>
          <a:bodyPr wrap="none" lIns="0" tIns="0" rIns="0" bIns="0"/>
          <a:lstStyle/>
          <a:p>
            <a:pPr>
              <a:lnSpc>
                <a:spcPct val="100000"/>
              </a:lnSpc>
            </a:pPr>
            <a:r>
              <a:rPr lang="en-US" sz="1650" b="1">
                <a:solidFill>
                  <a:srgbClr val="FFFFFF"/>
                </a:solidFill>
                <a:latin typeface="Source Han Sans CN"/>
                <a:ea typeface="Source Han Sans CN"/>
              </a:rPr>
              <a:t>01</a:t>
            </a:r>
            <a:endParaRPr/>
          </a:p>
        </p:txBody>
      </p:sp>
      <p:sp>
        <p:nvSpPr>
          <p:cNvPr id="217" name="文本框 251" descr="{&quot;isTemplate&quot;:true,&quot;type&quot;:&quot;text&quot;}"/>
          <p:cNvSpPr txBox="1"/>
          <p:nvPr/>
        </p:nvSpPr>
        <p:spPr>
          <a:xfrm>
            <a:off x="5029200" y="1219200"/>
            <a:ext cx="6572250" cy="247650"/>
          </a:xfrm>
          <a:prstGeom prst="rect">
            <a:avLst/>
          </a:prstGeom>
        </p:spPr>
        <p:txBody>
          <a:bodyPr wrap="none" lIns="0" tIns="0" rIns="0" bIns="0"/>
          <a:lstStyle/>
          <a:p>
            <a:pPr>
              <a:lnSpc>
                <a:spcPct val="100000"/>
              </a:lnSpc>
            </a:pPr>
            <a:r>
              <a:rPr lang="zh-CN" sz="1575" b="1">
                <a:solidFill>
                  <a:srgbClr val="1A2230"/>
                </a:solidFill>
                <a:latin typeface="Source Han Sans CN"/>
                <a:ea typeface="Source Han Sans CN"/>
              </a:rPr>
              <a:t>研究问题与总体框架</a:t>
            </a:r>
            <a:r>
              <a:rPr lang="zh-CN" sz="1125">
                <a:solidFill>
                  <a:srgbClr val="3D7BD9"/>
                </a:solidFill>
                <a:latin typeface="Source Han Sans CN"/>
                <a:ea typeface="Source Han Sans CN"/>
              </a:rPr>
              <a:t>　</a:t>
            </a:r>
            <a:r>
              <a:rPr lang="en-US" sz="1125">
                <a:solidFill>
                  <a:srgbClr val="3D7BD9"/>
                </a:solidFill>
                <a:latin typeface="Source Han Sans CN"/>
                <a:ea typeface="Source Han Sans CN"/>
              </a:rPr>
              <a:t>P3–P5</a:t>
            </a:r>
            <a:endParaRPr/>
          </a:p>
        </p:txBody>
      </p:sp>
      <p:sp>
        <p:nvSpPr>
          <p:cNvPr id="218" name="文本框 252" descr="{&quot;isTemplate&quot;:true,&quot;type&quot;:&quot;text&quot;}"/>
          <p:cNvSpPr txBox="1"/>
          <p:nvPr/>
        </p:nvSpPr>
        <p:spPr>
          <a:xfrm>
            <a:off x="5029200" y="1524000"/>
            <a:ext cx="6572250" cy="552450"/>
          </a:xfrm>
          <a:prstGeom prst="rect">
            <a:avLst/>
          </a:prstGeom>
        </p:spPr>
        <p:txBody>
          <a:bodyPr wrap="square" lIns="0" tIns="0" rIns="0" bIns="0">
            <a:normAutofit/>
          </a:bodyPr>
          <a:lstStyle/>
          <a:p>
            <a:pPr>
              <a:lnSpc>
                <a:spcPct val="160000"/>
              </a:lnSpc>
            </a:pPr>
            <a:r>
              <a:rPr lang="zh-CN" sz="1125">
                <a:solidFill>
                  <a:srgbClr val="4A5568"/>
                </a:solidFill>
                <a:latin typeface="Source Han Sans CN"/>
                <a:ea typeface="Source Han Sans CN"/>
              </a:rPr>
              <a:t>任务动态到达与持续滞留、无人机状态动态变化、任务规模与执行能力失配——静态一次性规划失效，引出两阶段分层滚动框架</a:t>
            </a:r>
            <a:endParaRPr/>
          </a:p>
        </p:txBody>
      </p:sp>
      <p:sp>
        <p:nvSpPr>
          <p:cNvPr id="219" name="矩形: 圆角 253"/>
          <p:cNvSpPr/>
          <p:nvPr/>
        </p:nvSpPr>
        <p:spPr>
          <a:xfrm>
            <a:off x="4114800" y="2543175"/>
            <a:ext cx="7734300" cy="923925"/>
          </a:xfrm>
          <a:prstGeom prst="roundRect">
            <a:avLst>
              <a:gd name="adj" fmla="val 10309"/>
            </a:avLst>
          </a:prstGeom>
          <a:solidFill>
            <a:srgbClr val="F0F5FC"/>
          </a:solidFill>
          <a:ln/>
        </p:spPr>
        <p:txBody>
          <a:bodyPr/>
          <a:lstStyle/>
          <a:p>
            <a:endParaRPr/>
          </a:p>
        </p:txBody>
      </p:sp>
      <p:sp>
        <p:nvSpPr>
          <p:cNvPr id="220" name="任意多边形: 形状 254"/>
          <p:cNvSpPr/>
          <p:nvPr/>
        </p:nvSpPr>
        <p:spPr>
          <a:xfrm>
            <a:off x="4114800" y="2543175"/>
            <a:ext cx="7734300" cy="923925"/>
          </a:xfrm>
          <a:custGeom>
            <a:avLst/>
            <a:gdLst/>
            <a:ahLst/>
            <a:cxnLst/>
            <a:rect l="0" t="0" r="0" b="0"/>
            <a:pathLst>
              <a:path w="812" h="97">
                <a:moveTo>
                  <a:pt x="9" y="0"/>
                </a:moveTo>
                <a:cubicBezTo>
                  <a:pt x="6" y="0"/>
                  <a:pt x="4" y="3"/>
                  <a:pt x="4" y="6"/>
                </a:cubicBezTo>
                <a:lnTo>
                  <a:pt x="4" y="91"/>
                </a:lnTo>
                <a:cubicBezTo>
                  <a:pt x="4" y="94"/>
                  <a:pt x="6" y="96"/>
                  <a:pt x="9" y="97"/>
                </a:cubicBezTo>
                <a:cubicBezTo>
                  <a:pt x="4" y="96"/>
                  <a:pt x="0" y="92"/>
                  <a:pt x="0" y="87"/>
                </a:cubicBezTo>
                <a:lnTo>
                  <a:pt x="0" y="10"/>
                </a:lnTo>
                <a:cubicBezTo>
                  <a:pt x="0" y="5"/>
                  <a:pt x="4" y="0"/>
                  <a:pt x="10" y="0"/>
                </a:cubicBezTo>
                <a:close/>
              </a:path>
            </a:pathLst>
          </a:custGeom>
          <a:solidFill>
            <a:srgbClr val="1E4FA8"/>
          </a:solidFill>
          <a:ln/>
        </p:spPr>
        <p:txBody>
          <a:bodyPr/>
          <a:lstStyle/>
          <a:p>
            <a:endParaRPr/>
          </a:p>
        </p:txBody>
      </p:sp>
      <p:sp>
        <p:nvSpPr>
          <p:cNvPr id="221" name="矩形: 圆角 255"/>
          <p:cNvSpPr/>
          <p:nvPr/>
        </p:nvSpPr>
        <p:spPr>
          <a:xfrm>
            <a:off x="4324350" y="2714625"/>
            <a:ext cx="514350" cy="514350"/>
          </a:xfrm>
          <a:prstGeom prst="roundRect">
            <a:avLst>
              <a:gd name="adj" fmla="val 14815"/>
            </a:avLst>
          </a:prstGeom>
          <a:solidFill>
            <a:srgbClr val="1E4FA8"/>
          </a:solidFill>
          <a:ln/>
        </p:spPr>
        <p:txBody>
          <a:bodyPr/>
          <a:lstStyle/>
          <a:p>
            <a:endParaRPr/>
          </a:p>
        </p:txBody>
      </p:sp>
      <p:sp>
        <p:nvSpPr>
          <p:cNvPr id="222" name="文本框 256" descr="{&quot;isTemplate&quot;:true,&quot;type&quot;:&quot;text&quot;}"/>
          <p:cNvSpPr txBox="1"/>
          <p:nvPr/>
        </p:nvSpPr>
        <p:spPr>
          <a:xfrm>
            <a:off x="4448175" y="2847975"/>
            <a:ext cx="266700" cy="257175"/>
          </a:xfrm>
          <a:prstGeom prst="rect">
            <a:avLst/>
          </a:prstGeom>
        </p:spPr>
        <p:txBody>
          <a:bodyPr wrap="none" lIns="0" tIns="0" rIns="0" bIns="0"/>
          <a:lstStyle/>
          <a:p>
            <a:pPr>
              <a:lnSpc>
                <a:spcPct val="100000"/>
              </a:lnSpc>
            </a:pPr>
            <a:r>
              <a:rPr lang="en-US" sz="1650" b="1">
                <a:solidFill>
                  <a:srgbClr val="FFFFFF"/>
                </a:solidFill>
                <a:latin typeface="Source Han Sans CN"/>
                <a:ea typeface="Source Han Sans CN"/>
              </a:rPr>
              <a:t>02</a:t>
            </a:r>
            <a:endParaRPr/>
          </a:p>
        </p:txBody>
      </p:sp>
      <p:sp>
        <p:nvSpPr>
          <p:cNvPr id="223" name="文本框 257" descr="{&quot;isTemplate&quot;:true,&quot;type&quot;:&quot;text&quot;}"/>
          <p:cNvSpPr txBox="1"/>
          <p:nvPr/>
        </p:nvSpPr>
        <p:spPr>
          <a:xfrm>
            <a:off x="5029200" y="2714625"/>
            <a:ext cx="6572250" cy="247650"/>
          </a:xfrm>
          <a:prstGeom prst="rect">
            <a:avLst/>
          </a:prstGeom>
        </p:spPr>
        <p:txBody>
          <a:bodyPr wrap="none" lIns="0" tIns="0" rIns="0" bIns="0"/>
          <a:lstStyle/>
          <a:p>
            <a:pPr>
              <a:lnSpc>
                <a:spcPct val="100000"/>
              </a:lnSpc>
            </a:pPr>
            <a:r>
              <a:rPr lang="zh-CN" sz="1575" b="1">
                <a:solidFill>
                  <a:srgbClr val="1A2230"/>
                </a:solidFill>
                <a:latin typeface="Source Han Sans CN"/>
                <a:ea typeface="Source Han Sans CN"/>
              </a:rPr>
              <a:t>第一阶段：动态任务选择</a:t>
            </a:r>
            <a:r>
              <a:rPr lang="zh-CN" sz="1125">
                <a:solidFill>
                  <a:srgbClr val="3D7BD9"/>
                </a:solidFill>
                <a:latin typeface="Source Han Sans CN"/>
                <a:ea typeface="Source Han Sans CN"/>
              </a:rPr>
              <a:t>　</a:t>
            </a:r>
            <a:r>
              <a:rPr lang="en-US" sz="1125">
                <a:solidFill>
                  <a:srgbClr val="3D7BD9"/>
                </a:solidFill>
                <a:latin typeface="Source Han Sans CN"/>
                <a:ea typeface="Source Han Sans CN"/>
              </a:rPr>
              <a:t>P6–P7</a:t>
            </a:r>
            <a:endParaRPr/>
          </a:p>
        </p:txBody>
      </p:sp>
      <p:sp>
        <p:nvSpPr>
          <p:cNvPr id="224" name="文本框 258" descr="{&quot;isTemplate&quot;:true,&quot;type&quot;:&quot;text&quot;}"/>
          <p:cNvSpPr txBox="1"/>
          <p:nvPr/>
        </p:nvSpPr>
        <p:spPr>
          <a:xfrm>
            <a:off x="5029200" y="3019425"/>
            <a:ext cx="6572250" cy="276225"/>
          </a:xfrm>
          <a:prstGeom prst="rect">
            <a:avLst/>
          </a:prstGeom>
        </p:spPr>
        <p:txBody>
          <a:bodyPr wrap="none" lIns="0" tIns="0" rIns="0" bIns="0"/>
          <a:lstStyle/>
          <a:p>
            <a:pPr>
              <a:lnSpc>
                <a:spcPct val="160000"/>
              </a:lnSpc>
            </a:pPr>
            <a:r>
              <a:rPr lang="zh-CN" sz="1125">
                <a:solidFill>
                  <a:srgbClr val="4A5568"/>
                </a:solidFill>
                <a:latin typeface="Source Han Sans CN"/>
                <a:ea typeface="Source Han Sans CN"/>
              </a:rPr>
              <a:t>基础优先级预筛选</a:t>
            </a:r>
            <a:r>
              <a:rPr lang="en-US" sz="1125">
                <a:solidFill>
                  <a:srgbClr val="4A5568"/>
                </a:solidFill>
                <a:latin typeface="Source Han Sans CN"/>
                <a:ea typeface="Source Han Sans CN"/>
              </a:rPr>
              <a:t> + </a:t>
            </a:r>
            <a:r>
              <a:rPr lang="zh-CN" sz="1125">
                <a:solidFill>
                  <a:srgbClr val="4A5568"/>
                </a:solidFill>
                <a:latin typeface="Source Han Sans CN"/>
                <a:ea typeface="Source Han Sans CN"/>
              </a:rPr>
              <a:t>边际收益增量选择</a:t>
            </a:r>
            <a:r>
              <a:rPr lang="en-US" sz="1125">
                <a:solidFill>
                  <a:srgbClr val="4A5568"/>
                </a:solidFill>
                <a:latin typeface="Source Han Sans CN"/>
                <a:ea typeface="Source Han Sans CN"/>
              </a:rPr>
              <a:t> + </a:t>
            </a:r>
            <a:r>
              <a:rPr lang="zh-CN" sz="1125">
                <a:solidFill>
                  <a:srgbClr val="4A5568"/>
                </a:solidFill>
                <a:latin typeface="Source Han Sans CN"/>
                <a:ea typeface="Source Han Sans CN"/>
              </a:rPr>
              <a:t>快速可行性检查，把任务池压缩为规模可控的候选集</a:t>
            </a:r>
            <a:endParaRPr/>
          </a:p>
        </p:txBody>
      </p:sp>
      <p:sp>
        <p:nvSpPr>
          <p:cNvPr id="225" name="矩形: 圆角 259"/>
          <p:cNvSpPr/>
          <p:nvPr/>
        </p:nvSpPr>
        <p:spPr>
          <a:xfrm>
            <a:off x="4114800" y="3771900"/>
            <a:ext cx="7734300" cy="923925"/>
          </a:xfrm>
          <a:prstGeom prst="roundRect">
            <a:avLst>
              <a:gd name="adj" fmla="val 10309"/>
            </a:avLst>
          </a:prstGeom>
          <a:solidFill>
            <a:srgbClr val="F0F5FC"/>
          </a:solidFill>
          <a:ln/>
        </p:spPr>
        <p:txBody>
          <a:bodyPr/>
          <a:lstStyle/>
          <a:p>
            <a:endParaRPr/>
          </a:p>
        </p:txBody>
      </p:sp>
      <p:sp>
        <p:nvSpPr>
          <p:cNvPr id="226" name="任意多边形: 形状 260"/>
          <p:cNvSpPr/>
          <p:nvPr/>
        </p:nvSpPr>
        <p:spPr>
          <a:xfrm>
            <a:off x="4114800" y="3771900"/>
            <a:ext cx="7734300" cy="923925"/>
          </a:xfrm>
          <a:custGeom>
            <a:avLst/>
            <a:gdLst/>
            <a:ahLst/>
            <a:cxnLst/>
            <a:rect l="0" t="0" r="0" b="0"/>
            <a:pathLst>
              <a:path w="812" h="97">
                <a:moveTo>
                  <a:pt x="9" y="0"/>
                </a:moveTo>
                <a:cubicBezTo>
                  <a:pt x="6" y="0"/>
                  <a:pt x="4" y="3"/>
                  <a:pt x="4" y="6"/>
                </a:cubicBezTo>
                <a:lnTo>
                  <a:pt x="4" y="91"/>
                </a:lnTo>
                <a:cubicBezTo>
                  <a:pt x="4" y="94"/>
                  <a:pt x="6" y="96"/>
                  <a:pt x="9" y="97"/>
                </a:cubicBezTo>
                <a:cubicBezTo>
                  <a:pt x="4" y="96"/>
                  <a:pt x="0" y="92"/>
                  <a:pt x="0" y="87"/>
                </a:cubicBezTo>
                <a:lnTo>
                  <a:pt x="0" y="10"/>
                </a:lnTo>
                <a:cubicBezTo>
                  <a:pt x="0" y="5"/>
                  <a:pt x="4" y="0"/>
                  <a:pt x="10" y="0"/>
                </a:cubicBezTo>
                <a:close/>
              </a:path>
            </a:pathLst>
          </a:custGeom>
          <a:solidFill>
            <a:srgbClr val="1E4FA8"/>
          </a:solidFill>
          <a:ln/>
        </p:spPr>
        <p:txBody>
          <a:bodyPr/>
          <a:lstStyle/>
          <a:p>
            <a:endParaRPr/>
          </a:p>
        </p:txBody>
      </p:sp>
      <p:sp>
        <p:nvSpPr>
          <p:cNvPr id="227" name="矩形: 圆角 261"/>
          <p:cNvSpPr/>
          <p:nvPr/>
        </p:nvSpPr>
        <p:spPr>
          <a:xfrm>
            <a:off x="4324350" y="3943350"/>
            <a:ext cx="514350" cy="514350"/>
          </a:xfrm>
          <a:prstGeom prst="roundRect">
            <a:avLst>
              <a:gd name="adj" fmla="val 14815"/>
            </a:avLst>
          </a:prstGeom>
          <a:solidFill>
            <a:srgbClr val="1E4FA8"/>
          </a:solidFill>
          <a:ln/>
        </p:spPr>
        <p:txBody>
          <a:bodyPr/>
          <a:lstStyle/>
          <a:p>
            <a:endParaRPr/>
          </a:p>
        </p:txBody>
      </p:sp>
      <p:sp>
        <p:nvSpPr>
          <p:cNvPr id="228" name="文本框 262" descr="{&quot;isTemplate&quot;:true,&quot;type&quot;:&quot;text&quot;}"/>
          <p:cNvSpPr txBox="1"/>
          <p:nvPr/>
        </p:nvSpPr>
        <p:spPr>
          <a:xfrm>
            <a:off x="4448175" y="4076700"/>
            <a:ext cx="266700" cy="257175"/>
          </a:xfrm>
          <a:prstGeom prst="rect">
            <a:avLst/>
          </a:prstGeom>
        </p:spPr>
        <p:txBody>
          <a:bodyPr wrap="none" lIns="0" tIns="0" rIns="0" bIns="0"/>
          <a:lstStyle/>
          <a:p>
            <a:pPr>
              <a:lnSpc>
                <a:spcPct val="100000"/>
              </a:lnSpc>
            </a:pPr>
            <a:r>
              <a:rPr lang="en-US" sz="1650" b="1">
                <a:solidFill>
                  <a:srgbClr val="FFFFFF"/>
                </a:solidFill>
                <a:latin typeface="Source Han Sans CN"/>
                <a:ea typeface="Source Han Sans CN"/>
              </a:rPr>
              <a:t>03</a:t>
            </a:r>
            <a:endParaRPr/>
          </a:p>
        </p:txBody>
      </p:sp>
      <p:sp>
        <p:nvSpPr>
          <p:cNvPr id="229" name="文本框 263" descr="{&quot;isTemplate&quot;:true,&quot;type&quot;:&quot;text&quot;}"/>
          <p:cNvSpPr txBox="1"/>
          <p:nvPr/>
        </p:nvSpPr>
        <p:spPr>
          <a:xfrm>
            <a:off x="5029200" y="3943350"/>
            <a:ext cx="6572250" cy="247650"/>
          </a:xfrm>
          <a:prstGeom prst="rect">
            <a:avLst/>
          </a:prstGeom>
        </p:spPr>
        <p:txBody>
          <a:bodyPr wrap="none" lIns="0" tIns="0" rIns="0" bIns="0"/>
          <a:lstStyle/>
          <a:p>
            <a:pPr>
              <a:lnSpc>
                <a:spcPct val="100000"/>
              </a:lnSpc>
            </a:pPr>
            <a:r>
              <a:rPr lang="zh-CN" sz="1575" b="1">
                <a:solidFill>
                  <a:srgbClr val="1A2230"/>
                </a:solidFill>
                <a:latin typeface="Source Han Sans CN"/>
                <a:ea typeface="Source Han Sans CN"/>
              </a:rPr>
              <a:t>第二阶段：选择性</a:t>
            </a:r>
            <a:r>
              <a:rPr lang="en-US" sz="1575" b="1">
                <a:solidFill>
                  <a:srgbClr val="1A2230"/>
                </a:solidFill>
                <a:latin typeface="Source Han Sans CN"/>
                <a:ea typeface="Source Han Sans CN"/>
              </a:rPr>
              <a:t> MUAS </a:t>
            </a:r>
            <a:r>
              <a:rPr lang="zh-CN" sz="1575" b="1">
                <a:solidFill>
                  <a:srgbClr val="1A2230"/>
                </a:solidFill>
                <a:latin typeface="Source Han Sans CN"/>
                <a:ea typeface="Source Han Sans CN"/>
              </a:rPr>
              <a:t>与</a:t>
            </a:r>
            <a:r>
              <a:rPr lang="en-US" sz="1575" b="1">
                <a:solidFill>
                  <a:srgbClr val="1A2230"/>
                </a:solidFill>
                <a:latin typeface="Source Han Sans CN"/>
                <a:ea typeface="Source Han Sans CN"/>
              </a:rPr>
              <a:t> DMDE</a:t>
            </a:r>
            <a:r>
              <a:rPr lang="zh-CN" sz="1125">
                <a:solidFill>
                  <a:srgbClr val="3D7BD9"/>
                </a:solidFill>
                <a:latin typeface="Source Han Sans CN"/>
                <a:ea typeface="Source Han Sans CN"/>
              </a:rPr>
              <a:t>　</a:t>
            </a:r>
            <a:r>
              <a:rPr lang="en-US" sz="1125">
                <a:solidFill>
                  <a:srgbClr val="3D7BD9"/>
                </a:solidFill>
                <a:latin typeface="Source Han Sans CN"/>
                <a:ea typeface="Source Han Sans CN"/>
              </a:rPr>
              <a:t>P8–P10</a:t>
            </a:r>
            <a:endParaRPr/>
          </a:p>
        </p:txBody>
      </p:sp>
      <p:sp>
        <p:nvSpPr>
          <p:cNvPr id="230" name="文本框 264" descr="{&quot;isTemplate&quot;:true,&quot;type&quot;:&quot;text&quot;}"/>
          <p:cNvSpPr txBox="1"/>
          <p:nvPr/>
        </p:nvSpPr>
        <p:spPr>
          <a:xfrm>
            <a:off x="5029200" y="4248150"/>
            <a:ext cx="6572250" cy="276225"/>
          </a:xfrm>
          <a:prstGeom prst="rect">
            <a:avLst/>
          </a:prstGeom>
        </p:spPr>
        <p:txBody>
          <a:bodyPr wrap="none" lIns="0" tIns="0" rIns="0" bIns="0"/>
          <a:lstStyle/>
          <a:p>
            <a:pPr>
              <a:lnSpc>
                <a:spcPct val="160000"/>
              </a:lnSpc>
            </a:pPr>
            <a:r>
              <a:rPr lang="zh-CN" sz="1125">
                <a:solidFill>
                  <a:srgbClr val="4A5568"/>
                </a:solidFill>
                <a:latin typeface="Source Han Sans CN"/>
                <a:ea typeface="Source Han Sans CN"/>
              </a:rPr>
              <a:t>多机巢选择性分配的组合优化模型、四层准字典序适应度、改进离散映射差分进化与终点机巢精确求解</a:t>
            </a:r>
            <a:endParaRPr/>
          </a:p>
        </p:txBody>
      </p:sp>
      <p:sp>
        <p:nvSpPr>
          <p:cNvPr id="231" name="矩形: 圆角 265"/>
          <p:cNvSpPr/>
          <p:nvPr/>
        </p:nvSpPr>
        <p:spPr>
          <a:xfrm>
            <a:off x="4114800" y="4991100"/>
            <a:ext cx="7734300" cy="1200150"/>
          </a:xfrm>
          <a:prstGeom prst="roundRect">
            <a:avLst>
              <a:gd name="adj" fmla="val 7937"/>
            </a:avLst>
          </a:prstGeom>
          <a:solidFill>
            <a:srgbClr val="F0F5FC"/>
          </a:solidFill>
          <a:ln/>
        </p:spPr>
        <p:txBody>
          <a:bodyPr/>
          <a:lstStyle/>
          <a:p>
            <a:endParaRPr/>
          </a:p>
        </p:txBody>
      </p:sp>
      <p:sp>
        <p:nvSpPr>
          <p:cNvPr id="232" name="任意多边形: 形状 266"/>
          <p:cNvSpPr/>
          <p:nvPr/>
        </p:nvSpPr>
        <p:spPr>
          <a:xfrm>
            <a:off x="4114800" y="4991100"/>
            <a:ext cx="7734300" cy="1200150"/>
          </a:xfrm>
          <a:custGeom>
            <a:avLst/>
            <a:gdLst/>
            <a:ahLst/>
            <a:cxnLst/>
            <a:rect l="0" t="0" r="0" b="0"/>
            <a:pathLst>
              <a:path w="812" h="126">
                <a:moveTo>
                  <a:pt x="9" y="0"/>
                </a:moveTo>
                <a:cubicBezTo>
                  <a:pt x="6" y="0"/>
                  <a:pt x="4" y="3"/>
                  <a:pt x="4" y="6"/>
                </a:cubicBezTo>
                <a:lnTo>
                  <a:pt x="4" y="120"/>
                </a:lnTo>
                <a:cubicBezTo>
                  <a:pt x="4" y="123"/>
                  <a:pt x="6" y="125"/>
                  <a:pt x="9" y="126"/>
                </a:cubicBezTo>
                <a:cubicBezTo>
                  <a:pt x="4" y="125"/>
                  <a:pt x="0" y="121"/>
                  <a:pt x="0" y="116"/>
                </a:cubicBezTo>
                <a:lnTo>
                  <a:pt x="0" y="10"/>
                </a:lnTo>
                <a:cubicBezTo>
                  <a:pt x="0" y="5"/>
                  <a:pt x="4" y="0"/>
                  <a:pt x="10" y="0"/>
                </a:cubicBezTo>
                <a:close/>
              </a:path>
            </a:pathLst>
          </a:custGeom>
          <a:solidFill>
            <a:srgbClr val="1E4FA8"/>
          </a:solidFill>
          <a:ln/>
        </p:spPr>
        <p:txBody>
          <a:bodyPr/>
          <a:lstStyle/>
          <a:p>
            <a:endParaRPr/>
          </a:p>
        </p:txBody>
      </p:sp>
      <p:sp>
        <p:nvSpPr>
          <p:cNvPr id="233" name="矩形: 圆角 267"/>
          <p:cNvSpPr/>
          <p:nvPr/>
        </p:nvSpPr>
        <p:spPr>
          <a:xfrm>
            <a:off x="4324350" y="5162550"/>
            <a:ext cx="514350" cy="514350"/>
          </a:xfrm>
          <a:prstGeom prst="roundRect">
            <a:avLst>
              <a:gd name="adj" fmla="val 14815"/>
            </a:avLst>
          </a:prstGeom>
          <a:solidFill>
            <a:srgbClr val="1E4FA8"/>
          </a:solidFill>
          <a:ln/>
        </p:spPr>
        <p:txBody>
          <a:bodyPr/>
          <a:lstStyle/>
          <a:p>
            <a:endParaRPr/>
          </a:p>
        </p:txBody>
      </p:sp>
      <p:sp>
        <p:nvSpPr>
          <p:cNvPr id="234" name="文本框 268" descr="{&quot;isTemplate&quot;:true,&quot;type&quot;:&quot;text&quot;}"/>
          <p:cNvSpPr txBox="1"/>
          <p:nvPr/>
        </p:nvSpPr>
        <p:spPr>
          <a:xfrm>
            <a:off x="4448175" y="5295900"/>
            <a:ext cx="266700" cy="257175"/>
          </a:xfrm>
          <a:prstGeom prst="rect">
            <a:avLst/>
          </a:prstGeom>
        </p:spPr>
        <p:txBody>
          <a:bodyPr wrap="none" lIns="0" tIns="0" rIns="0" bIns="0"/>
          <a:lstStyle/>
          <a:p>
            <a:pPr>
              <a:lnSpc>
                <a:spcPct val="100000"/>
              </a:lnSpc>
            </a:pPr>
            <a:r>
              <a:rPr lang="en-US" sz="1650" b="1">
                <a:solidFill>
                  <a:srgbClr val="FFFFFF"/>
                </a:solidFill>
                <a:latin typeface="Source Han Sans CN"/>
                <a:ea typeface="Source Han Sans CN"/>
              </a:rPr>
              <a:t>04</a:t>
            </a:r>
            <a:endParaRPr/>
          </a:p>
        </p:txBody>
      </p:sp>
      <p:sp>
        <p:nvSpPr>
          <p:cNvPr id="235" name="文本框 269" descr="{&quot;isTemplate&quot;:true,&quot;type&quot;:&quot;text&quot;}"/>
          <p:cNvSpPr txBox="1"/>
          <p:nvPr/>
        </p:nvSpPr>
        <p:spPr>
          <a:xfrm>
            <a:off x="5029200" y="5162550"/>
            <a:ext cx="6572250" cy="247650"/>
          </a:xfrm>
          <a:prstGeom prst="rect">
            <a:avLst/>
          </a:prstGeom>
        </p:spPr>
        <p:txBody>
          <a:bodyPr wrap="none" lIns="0" tIns="0" rIns="0" bIns="0"/>
          <a:lstStyle/>
          <a:p>
            <a:pPr>
              <a:lnSpc>
                <a:spcPct val="100000"/>
              </a:lnSpc>
            </a:pPr>
            <a:r>
              <a:rPr lang="zh-CN" sz="1575" b="1">
                <a:solidFill>
                  <a:srgbClr val="1A2230"/>
                </a:solidFill>
                <a:latin typeface="Source Han Sans CN"/>
                <a:ea typeface="Source Han Sans CN"/>
              </a:rPr>
              <a:t>实验验证与下一步</a:t>
            </a:r>
            <a:r>
              <a:rPr lang="zh-CN" sz="1125">
                <a:solidFill>
                  <a:srgbClr val="3D7BD9"/>
                </a:solidFill>
                <a:latin typeface="Source Han Sans CN"/>
                <a:ea typeface="Source Han Sans CN"/>
              </a:rPr>
              <a:t>　</a:t>
            </a:r>
            <a:r>
              <a:rPr lang="en-US" sz="1125">
                <a:solidFill>
                  <a:srgbClr val="3D7BD9"/>
                </a:solidFill>
                <a:latin typeface="Source Han Sans CN"/>
                <a:ea typeface="Source Han Sans CN"/>
              </a:rPr>
              <a:t>P11–P15</a:t>
            </a:r>
            <a:endParaRPr/>
          </a:p>
        </p:txBody>
      </p:sp>
      <p:sp>
        <p:nvSpPr>
          <p:cNvPr id="236" name="文本框 270" descr="{&quot;isTemplate&quot;:true,&quot;type&quot;:&quot;text&quot;}"/>
          <p:cNvSpPr txBox="1"/>
          <p:nvPr/>
        </p:nvSpPr>
        <p:spPr>
          <a:xfrm>
            <a:off x="5029200" y="5467350"/>
            <a:ext cx="6572250" cy="552450"/>
          </a:xfrm>
          <a:prstGeom prst="rect">
            <a:avLst/>
          </a:prstGeom>
        </p:spPr>
        <p:txBody>
          <a:bodyPr wrap="square" lIns="0" tIns="0" rIns="0" bIns="0">
            <a:normAutofit/>
          </a:bodyPr>
          <a:lstStyle/>
          <a:p>
            <a:pPr>
              <a:lnSpc>
                <a:spcPct val="160000"/>
              </a:lnSpc>
            </a:pPr>
            <a:r>
              <a:rPr lang="en-US" sz="1125">
                <a:solidFill>
                  <a:srgbClr val="4A5568"/>
                </a:solidFill>
                <a:latin typeface="Source Han Sans CN"/>
                <a:ea typeface="Source Han Sans CN"/>
              </a:rPr>
              <a:t>exp01 </a:t>
            </a:r>
            <a:r>
              <a:rPr lang="zh-CN" sz="1125">
                <a:solidFill>
                  <a:srgbClr val="4A5568"/>
                </a:solidFill>
                <a:latin typeface="Source Han Sans CN"/>
                <a:ea typeface="Source Han Sans CN"/>
              </a:rPr>
              <a:t>多</a:t>
            </a:r>
            <a:r>
              <a:rPr lang="en-US" sz="1125">
                <a:solidFill>
                  <a:srgbClr val="4A5568"/>
                </a:solidFill>
                <a:latin typeface="Source Han Sans CN"/>
                <a:ea typeface="Source Han Sans CN"/>
              </a:rPr>
              <a:t> seed </a:t>
            </a:r>
            <a:r>
              <a:rPr lang="zh-CN" sz="1125">
                <a:solidFill>
                  <a:srgbClr val="4A5568"/>
                </a:solidFill>
                <a:latin typeface="Source Han Sans CN"/>
                <a:ea typeface="Source Han Sans CN"/>
              </a:rPr>
              <a:t>阶梯（方向一致可复现）、</a:t>
            </a:r>
            <a:r>
              <a:rPr lang="en-US" sz="1125">
                <a:solidFill>
                  <a:srgbClr val="4A5568"/>
                </a:solidFill>
                <a:latin typeface="Source Han Sans CN"/>
                <a:ea typeface="Source Han Sans CN"/>
              </a:rPr>
              <a:t>exp02 </a:t>
            </a:r>
            <a:r>
              <a:rPr lang="zh-CN" sz="1125">
                <a:solidFill>
                  <a:srgbClr val="4A5568"/>
                </a:solidFill>
                <a:latin typeface="Source Han Sans CN"/>
                <a:ea typeface="Source Han Sans CN"/>
              </a:rPr>
              <a:t>规模标定（求解规模与</a:t>
            </a:r>
            <a:r>
              <a:rPr lang="en-US" sz="1125">
                <a:solidFill>
                  <a:srgbClr val="4A5568"/>
                </a:solidFill>
                <a:latin typeface="Source Han Sans CN"/>
                <a:ea typeface="Source Han Sans CN"/>
              </a:rPr>
              <a:t> N </a:t>
            </a:r>
            <a:r>
              <a:rPr lang="zh-CN" sz="1125">
                <a:solidFill>
                  <a:srgbClr val="4A5568"/>
                </a:solidFill>
                <a:latin typeface="Source Han Sans CN"/>
                <a:ea typeface="Source Han Sans CN"/>
              </a:rPr>
              <a:t>解耦）、性能瓶颈消除、证据边界与计划</a:t>
            </a:r>
            <a:endParaRPr/>
          </a:p>
        </p:txBody>
      </p:sp>
      <p:sp>
        <p:nvSpPr>
          <p:cNvPr id="237" name="矩形 271"/>
          <p:cNvSpPr/>
          <p:nvPr/>
        </p:nvSpPr>
        <p:spPr>
          <a:xfrm>
            <a:off x="0" y="6448425"/>
            <a:ext cx="12192000" cy="409575"/>
          </a:xfrm>
          <a:prstGeom prst="rect">
            <a:avLst/>
          </a:prstGeom>
          <a:solidFill>
            <a:srgbClr val="F7F9FC"/>
          </a:solidFill>
          <a:ln/>
        </p:spPr>
        <p:txBody>
          <a:bodyPr/>
          <a:lstStyle/>
          <a:p>
            <a:endParaRPr/>
          </a:p>
        </p:txBody>
      </p:sp>
      <p:sp>
        <p:nvSpPr>
          <p:cNvPr id="238" name="任意多边形: 形状 272"/>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239" name="文本框 273"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240" name="文本框 274"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02 / 16</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2" name="矩形 276"/>
          <p:cNvSpPr/>
          <p:nvPr/>
        </p:nvSpPr>
        <p:spPr>
          <a:xfrm>
            <a:off x="0" y="0"/>
            <a:ext cx="12192000" cy="6858000"/>
          </a:xfrm>
          <a:prstGeom prst="rect">
            <a:avLst/>
          </a:prstGeom>
          <a:solidFill>
            <a:srgbClr val="FFFFFF"/>
          </a:solidFill>
          <a:ln/>
        </p:spPr>
        <p:txBody>
          <a:bodyPr/>
          <a:lstStyle/>
          <a:p>
            <a:endParaRPr/>
          </a:p>
        </p:txBody>
      </p:sp>
      <p:sp>
        <p:nvSpPr>
          <p:cNvPr id="243" name="矩形 277"/>
          <p:cNvSpPr/>
          <p:nvPr/>
        </p:nvSpPr>
        <p:spPr>
          <a:xfrm>
            <a:off x="0" y="0"/>
            <a:ext cx="12192000" cy="114300"/>
          </a:xfrm>
          <a:prstGeom prst="rect">
            <a:avLst/>
          </a:prstGeom>
          <a:solidFill>
            <a:srgbClr val="1E4FA8"/>
          </a:solidFill>
          <a:ln/>
        </p:spPr>
        <p:txBody>
          <a:bodyPr/>
          <a:lstStyle/>
          <a:p>
            <a:endParaRPr/>
          </a:p>
        </p:txBody>
      </p:sp>
      <p:sp>
        <p:nvSpPr>
          <p:cNvPr id="244" name="文本框 278" descr="{&quot;isTemplate&quot;:true,&quot;type&quot;:&quot;text&quot;}"/>
          <p:cNvSpPr txBox="1"/>
          <p:nvPr/>
        </p:nvSpPr>
        <p:spPr>
          <a:xfrm>
            <a:off x="7734300" y="1238250"/>
            <a:ext cx="3886200" cy="3771900"/>
          </a:xfrm>
          <a:prstGeom prst="rect">
            <a:avLst/>
          </a:prstGeom>
        </p:spPr>
        <p:txBody>
          <a:bodyPr wrap="none" lIns="0" tIns="0" rIns="0" bIns="0"/>
          <a:lstStyle/>
          <a:p>
            <a:pPr>
              <a:lnSpc>
                <a:spcPct val="100000"/>
              </a:lnSpc>
            </a:pPr>
            <a:r>
              <a:rPr lang="en-US" sz="24750" b="1">
                <a:solidFill>
                  <a:srgbClr val="E8EFF8"/>
                </a:solidFill>
                <a:latin typeface="Source Han Sans CN"/>
                <a:ea typeface="Source Han Sans CN"/>
              </a:rPr>
              <a:t>01</a:t>
            </a:r>
            <a:endParaRPr/>
          </a:p>
        </p:txBody>
      </p:sp>
      <p:sp>
        <p:nvSpPr>
          <p:cNvPr id="245" name="矩形: 圆角 279"/>
          <p:cNvSpPr/>
          <p:nvPr/>
        </p:nvSpPr>
        <p:spPr>
          <a:xfrm>
            <a:off x="9801225" y="4572000"/>
            <a:ext cx="1628775"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246" name="文本框 280" descr="{&quot;isTemplate&quot;:true,&quot;type&quot;:&quot;text&quot;}"/>
          <p:cNvSpPr txBox="1"/>
          <p:nvPr/>
        </p:nvSpPr>
        <p:spPr>
          <a:xfrm>
            <a:off x="9972675" y="4648200"/>
            <a:ext cx="1285875"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任务动态到达与滞留</a:t>
            </a:r>
            <a:endParaRPr/>
          </a:p>
        </p:txBody>
      </p:sp>
      <p:sp>
        <p:nvSpPr>
          <p:cNvPr id="247" name="矩形: 圆角 281"/>
          <p:cNvSpPr/>
          <p:nvPr/>
        </p:nvSpPr>
        <p:spPr>
          <a:xfrm>
            <a:off x="10067925" y="5010150"/>
            <a:ext cx="1362075"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248" name="文本框 282" descr="{&quot;isTemplate&quot;:true,&quot;type&quot;:&quot;text&quot;}"/>
          <p:cNvSpPr txBox="1"/>
          <p:nvPr/>
        </p:nvSpPr>
        <p:spPr>
          <a:xfrm>
            <a:off x="10239375" y="5086350"/>
            <a:ext cx="1019175"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规模—能力失配</a:t>
            </a:r>
            <a:endParaRPr/>
          </a:p>
        </p:txBody>
      </p:sp>
      <p:sp>
        <p:nvSpPr>
          <p:cNvPr id="249" name="矩形: 圆角 283"/>
          <p:cNvSpPr/>
          <p:nvPr/>
        </p:nvSpPr>
        <p:spPr>
          <a:xfrm>
            <a:off x="9801225" y="5448300"/>
            <a:ext cx="1628775"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250" name="文本框 284" descr="{&quot;isTemplate&quot;:true,&quot;type&quot;:&quot;text&quot;}"/>
          <p:cNvSpPr txBox="1"/>
          <p:nvPr/>
        </p:nvSpPr>
        <p:spPr>
          <a:xfrm>
            <a:off x="9972675" y="5524500"/>
            <a:ext cx="1285875"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两阶段分层滚动求解</a:t>
            </a:r>
            <a:endParaRPr/>
          </a:p>
        </p:txBody>
      </p:sp>
      <p:sp>
        <p:nvSpPr>
          <p:cNvPr id="251" name="矩形 285"/>
          <p:cNvSpPr/>
          <p:nvPr/>
        </p:nvSpPr>
        <p:spPr>
          <a:xfrm>
            <a:off x="762000" y="1990725"/>
            <a:ext cx="381000" cy="38100"/>
          </a:xfrm>
          <a:prstGeom prst="rect">
            <a:avLst/>
          </a:prstGeom>
          <a:solidFill>
            <a:srgbClr val="FFC107"/>
          </a:solidFill>
          <a:ln/>
        </p:spPr>
        <p:txBody>
          <a:bodyPr/>
          <a:lstStyle/>
          <a:p>
            <a:endParaRPr/>
          </a:p>
        </p:txBody>
      </p:sp>
      <p:sp>
        <p:nvSpPr>
          <p:cNvPr id="252" name="文本框 286" descr="{&quot;isTemplate&quot;:true,&quot;type&quot;:&quot;text&quot;}"/>
          <p:cNvSpPr txBox="1"/>
          <p:nvPr/>
        </p:nvSpPr>
        <p:spPr>
          <a:xfrm>
            <a:off x="1276350" y="1905000"/>
            <a:ext cx="1457325" cy="200025"/>
          </a:xfrm>
          <a:prstGeom prst="rect">
            <a:avLst/>
          </a:prstGeom>
        </p:spPr>
        <p:txBody>
          <a:bodyPr wrap="none" lIns="0" tIns="0" rIns="0" bIns="0"/>
          <a:lstStyle/>
          <a:p>
            <a:pPr>
              <a:lnSpc>
                <a:spcPct val="100000"/>
              </a:lnSpc>
            </a:pPr>
            <a:r>
              <a:rPr lang="en-US" sz="1275" spc="375">
                <a:solidFill>
                  <a:srgbClr val="3D7BD9"/>
                </a:solidFill>
                <a:latin typeface="Source Han Sans CN"/>
                <a:ea typeface="Source Han Sans CN"/>
              </a:rPr>
              <a:t>CHAPTER 01</a:t>
            </a:r>
            <a:endParaRPr/>
          </a:p>
        </p:txBody>
      </p:sp>
      <p:sp>
        <p:nvSpPr>
          <p:cNvPr id="253" name="文本框 287" descr="{&quot;isTemplate&quot;:true,&quot;type&quot;:&quot;text&quot;}"/>
          <p:cNvSpPr txBox="1"/>
          <p:nvPr/>
        </p:nvSpPr>
        <p:spPr>
          <a:xfrm>
            <a:off x="762000" y="2276475"/>
            <a:ext cx="7239000" cy="504825"/>
          </a:xfrm>
          <a:prstGeom prst="rect">
            <a:avLst/>
          </a:prstGeom>
        </p:spPr>
        <p:txBody>
          <a:bodyPr wrap="none" lIns="0" tIns="0" rIns="0" bIns="0"/>
          <a:lstStyle/>
          <a:p>
            <a:pPr>
              <a:lnSpc>
                <a:spcPct val="100000"/>
              </a:lnSpc>
            </a:pPr>
            <a:r>
              <a:rPr lang="zh-CN" sz="3300" b="1">
                <a:solidFill>
                  <a:srgbClr val="0E3F8C"/>
                </a:solidFill>
                <a:latin typeface="Source Han Sans CN"/>
                <a:ea typeface="Source Han Sans CN"/>
              </a:rPr>
              <a:t>研究问题与总体框架</a:t>
            </a:r>
            <a:endParaRPr/>
          </a:p>
        </p:txBody>
      </p:sp>
      <p:sp>
        <p:nvSpPr>
          <p:cNvPr id="254" name="矩形: 圆角 288"/>
          <p:cNvSpPr/>
          <p:nvPr/>
        </p:nvSpPr>
        <p:spPr>
          <a:xfrm>
            <a:off x="762000" y="3209925"/>
            <a:ext cx="76200" cy="76200"/>
          </a:xfrm>
          <a:prstGeom prst="roundRect">
            <a:avLst>
              <a:gd name="adj" fmla="val 50000"/>
            </a:avLst>
          </a:prstGeom>
          <a:solidFill>
            <a:srgbClr val="1E4FA8"/>
          </a:solidFill>
          <a:ln/>
        </p:spPr>
        <p:txBody>
          <a:bodyPr/>
          <a:lstStyle/>
          <a:p>
            <a:endParaRPr/>
          </a:p>
        </p:txBody>
      </p:sp>
      <p:sp>
        <p:nvSpPr>
          <p:cNvPr id="255" name="文本框 289" descr="{&quot;isTemplate&quot;:true,&quot;type&quot;:&quot;text&quot;}"/>
          <p:cNvSpPr txBox="1"/>
          <p:nvPr/>
        </p:nvSpPr>
        <p:spPr>
          <a:xfrm>
            <a:off x="952500" y="3105150"/>
            <a:ext cx="7048500" cy="371475"/>
          </a:xfrm>
          <a:prstGeom prst="rect">
            <a:avLst/>
          </a:prstGeom>
        </p:spPr>
        <p:txBody>
          <a:bodyPr wrap="none" lIns="0" tIns="0" rIns="0" bIns="0"/>
          <a:lstStyle/>
          <a:p>
            <a:pPr>
              <a:lnSpc>
                <a:spcPct val="170000"/>
              </a:lnSpc>
            </a:pPr>
            <a:r>
              <a:rPr lang="zh-CN" sz="1425">
                <a:solidFill>
                  <a:srgbClr val="1A2230"/>
                </a:solidFill>
                <a:latin typeface="Source Han Sans CN"/>
                <a:ea typeface="Source Han Sans CN"/>
              </a:rPr>
              <a:t>任务</a:t>
            </a:r>
            <a:r>
              <a:rPr lang="zh-CN" sz="1425" b="1">
                <a:solidFill>
                  <a:srgbClr val="1A2230"/>
                </a:solidFill>
                <a:latin typeface="Source Han Sans CN"/>
                <a:ea typeface="Source Han Sans CN"/>
              </a:rPr>
              <a:t>动态到达、持续滞留</a:t>
            </a:r>
            <a:r>
              <a:rPr lang="zh-CN" sz="1425">
                <a:solidFill>
                  <a:srgbClr val="1A2230"/>
                </a:solidFill>
                <a:latin typeface="Source Han Sans CN"/>
                <a:ea typeface="Source Han Sans CN"/>
              </a:rPr>
              <a:t>与无人机</a:t>
            </a:r>
            <a:r>
              <a:rPr lang="zh-CN" sz="1425" b="1">
                <a:solidFill>
                  <a:srgbClr val="1A2230"/>
                </a:solidFill>
                <a:latin typeface="Source Han Sans CN"/>
                <a:ea typeface="Source Han Sans CN"/>
              </a:rPr>
              <a:t>状态动态变化</a:t>
            </a:r>
            <a:r>
              <a:rPr lang="zh-CN" sz="1425">
                <a:solidFill>
                  <a:srgbClr val="1A2230"/>
                </a:solidFill>
                <a:latin typeface="Source Han Sans CN"/>
                <a:ea typeface="Source Han Sans CN"/>
              </a:rPr>
              <a:t>并存，规划必须周期性滚动进行</a:t>
            </a:r>
            <a:endParaRPr/>
          </a:p>
        </p:txBody>
      </p:sp>
      <p:sp>
        <p:nvSpPr>
          <p:cNvPr id="256" name="矩形: 圆角 290"/>
          <p:cNvSpPr/>
          <p:nvPr/>
        </p:nvSpPr>
        <p:spPr>
          <a:xfrm>
            <a:off x="762000" y="3752850"/>
            <a:ext cx="76200" cy="76200"/>
          </a:xfrm>
          <a:prstGeom prst="roundRect">
            <a:avLst>
              <a:gd name="adj" fmla="val 50000"/>
            </a:avLst>
          </a:prstGeom>
          <a:solidFill>
            <a:srgbClr val="1E4FA8"/>
          </a:solidFill>
          <a:ln/>
        </p:spPr>
        <p:txBody>
          <a:bodyPr/>
          <a:lstStyle/>
          <a:p>
            <a:endParaRPr/>
          </a:p>
        </p:txBody>
      </p:sp>
      <p:sp>
        <p:nvSpPr>
          <p:cNvPr id="257" name="文本框 291" descr="{&quot;isTemplate&quot;:true,&quot;type&quot;:&quot;text&quot;}"/>
          <p:cNvSpPr txBox="1"/>
          <p:nvPr/>
        </p:nvSpPr>
        <p:spPr>
          <a:xfrm>
            <a:off x="952500" y="3648075"/>
            <a:ext cx="7048500" cy="371475"/>
          </a:xfrm>
          <a:prstGeom prst="rect">
            <a:avLst/>
          </a:prstGeom>
        </p:spPr>
        <p:txBody>
          <a:bodyPr wrap="none" lIns="0" tIns="0" rIns="0" bIns="0"/>
          <a:lstStyle/>
          <a:p>
            <a:pPr>
              <a:lnSpc>
                <a:spcPct val="170000"/>
              </a:lnSpc>
            </a:pPr>
            <a:r>
              <a:rPr lang="zh-CN" sz="1425">
                <a:solidFill>
                  <a:srgbClr val="1A2230"/>
                </a:solidFill>
                <a:latin typeface="Source Han Sans CN"/>
                <a:ea typeface="Source Han Sans CN"/>
              </a:rPr>
              <a:t>任务规模与当前执行能力</a:t>
            </a:r>
            <a:r>
              <a:rPr lang="zh-CN" sz="1425" b="1">
                <a:solidFill>
                  <a:srgbClr val="1A2230"/>
                </a:solidFill>
                <a:latin typeface="Source Han Sans CN"/>
                <a:ea typeface="Source Han Sans CN"/>
              </a:rPr>
              <a:t>经常失配</a:t>
            </a:r>
            <a:r>
              <a:rPr lang="zh-CN" sz="1425">
                <a:solidFill>
                  <a:srgbClr val="1A2230"/>
                </a:solidFill>
                <a:latin typeface="Source Han Sans CN"/>
                <a:ea typeface="Source Han Sans CN"/>
              </a:rPr>
              <a:t>——不能全量求解，也不能随意丢弃任务</a:t>
            </a:r>
            <a:endParaRPr/>
          </a:p>
        </p:txBody>
      </p:sp>
      <p:sp>
        <p:nvSpPr>
          <p:cNvPr id="258" name="文本框 292" descr="{&quot;isTemplate&quot;:true,&quot;type&quot;:&quot;text&quot;}"/>
          <p:cNvSpPr txBox="1"/>
          <p:nvPr/>
        </p:nvSpPr>
        <p:spPr>
          <a:xfrm>
            <a:off x="762000" y="4305300"/>
            <a:ext cx="7239000" cy="666750"/>
          </a:xfrm>
          <a:prstGeom prst="rect">
            <a:avLst/>
          </a:prstGeom>
        </p:spPr>
        <p:txBody>
          <a:bodyPr wrap="square" lIns="0" tIns="0" rIns="0" bIns="0">
            <a:normAutofit/>
          </a:bodyPr>
          <a:lstStyle/>
          <a:p>
            <a:pPr>
              <a:lnSpc>
                <a:spcPct val="180000"/>
              </a:lnSpc>
            </a:pPr>
            <a:r>
              <a:rPr lang="zh-CN" sz="1200">
                <a:solidFill>
                  <a:srgbClr val="4A5568"/>
                </a:solidFill>
                <a:latin typeface="Source Han Sans CN"/>
                <a:ea typeface="Source Han Sans CN"/>
              </a:rPr>
              <a:t>广域巡检场景中，静态一次性规划无法应对持续到达的任务流。本章先刻画问题特征，再给出「快速任务选择缩空间</a:t>
            </a:r>
            <a:r>
              <a:rPr lang="en-US" sz="1200">
                <a:solidFill>
                  <a:srgbClr val="4A5568"/>
                </a:solidFill>
                <a:latin typeface="Source Han Sans CN"/>
                <a:ea typeface="Source Han Sans CN"/>
              </a:rPr>
              <a:t> + </a:t>
            </a:r>
            <a:r>
              <a:rPr lang="zh-CN" sz="1200">
                <a:solidFill>
                  <a:srgbClr val="4A5568"/>
                </a:solidFill>
                <a:latin typeface="Source Han Sans CN"/>
                <a:ea typeface="Source Han Sans CN"/>
              </a:rPr>
              <a:t>精细</a:t>
            </a:r>
            <a:r>
              <a:rPr lang="en-US" sz="1200">
                <a:solidFill>
                  <a:srgbClr val="4A5568"/>
                </a:solidFill>
                <a:latin typeface="Source Han Sans CN"/>
                <a:ea typeface="Source Han Sans CN"/>
              </a:rPr>
              <a:t> MUAS </a:t>
            </a:r>
            <a:r>
              <a:rPr lang="zh-CN" sz="1200">
                <a:solidFill>
                  <a:srgbClr val="4A5568"/>
                </a:solidFill>
                <a:latin typeface="Source Han Sans CN"/>
                <a:ea typeface="Source Han Sans CN"/>
              </a:rPr>
              <a:t>组合优化」的两阶段总体求解框架。</a:t>
            </a:r>
            <a:endParaRPr/>
          </a:p>
        </p:txBody>
      </p:sp>
      <p:sp>
        <p:nvSpPr>
          <p:cNvPr id="259" name="矩形: 圆角 293"/>
          <p:cNvSpPr/>
          <p:nvPr/>
        </p:nvSpPr>
        <p:spPr>
          <a:xfrm>
            <a:off x="762000" y="5200650"/>
            <a:ext cx="1152525" cy="295275"/>
          </a:xfrm>
          <a:prstGeom prst="roundRect">
            <a:avLst>
              <a:gd name="adj" fmla="val 19355"/>
            </a:avLst>
          </a:prstGeom>
          <a:solidFill>
            <a:srgbClr val="1E4FA8"/>
          </a:solidFill>
          <a:ln/>
        </p:spPr>
        <p:txBody>
          <a:bodyPr/>
          <a:lstStyle/>
          <a:p>
            <a:endParaRPr/>
          </a:p>
        </p:txBody>
      </p:sp>
      <p:sp>
        <p:nvSpPr>
          <p:cNvPr id="260" name="文本框 294" descr="{&quot;isTemplate&quot;:true,&quot;type&quot;:&quot;text&quot;}"/>
          <p:cNvSpPr txBox="1"/>
          <p:nvPr/>
        </p:nvSpPr>
        <p:spPr>
          <a:xfrm>
            <a:off x="914400" y="5267325"/>
            <a:ext cx="847725"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P4 · </a:t>
            </a:r>
            <a:r>
              <a:rPr lang="zh-CN" sz="1050" b="1">
                <a:solidFill>
                  <a:srgbClr val="FFFFFF"/>
                </a:solidFill>
                <a:latin typeface="Source Han Sans CN"/>
                <a:ea typeface="Source Han Sans CN"/>
              </a:rPr>
              <a:t>五大挑战</a:t>
            </a:r>
            <a:endParaRPr/>
          </a:p>
        </p:txBody>
      </p:sp>
      <p:sp>
        <p:nvSpPr>
          <p:cNvPr id="261" name="矩形: 圆角 295"/>
          <p:cNvSpPr/>
          <p:nvPr/>
        </p:nvSpPr>
        <p:spPr>
          <a:xfrm>
            <a:off x="2028825" y="5200650"/>
            <a:ext cx="1419225" cy="295275"/>
          </a:xfrm>
          <a:prstGeom prst="roundRect">
            <a:avLst>
              <a:gd name="adj" fmla="val 19355"/>
            </a:avLst>
          </a:prstGeom>
          <a:solidFill>
            <a:srgbClr val="1E4FA8"/>
          </a:solidFill>
          <a:ln/>
        </p:spPr>
        <p:txBody>
          <a:bodyPr/>
          <a:lstStyle/>
          <a:p>
            <a:endParaRPr/>
          </a:p>
        </p:txBody>
      </p:sp>
      <p:sp>
        <p:nvSpPr>
          <p:cNvPr id="262" name="文本框 296" descr="{&quot;isTemplate&quot;:true,&quot;type&quot;:&quot;text&quot;}"/>
          <p:cNvSpPr txBox="1"/>
          <p:nvPr/>
        </p:nvSpPr>
        <p:spPr>
          <a:xfrm>
            <a:off x="2181225" y="5267325"/>
            <a:ext cx="1114425"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P5 · </a:t>
            </a:r>
            <a:r>
              <a:rPr lang="zh-CN" sz="1050" b="1">
                <a:solidFill>
                  <a:srgbClr val="FFFFFF"/>
                </a:solidFill>
                <a:latin typeface="Source Han Sans CN"/>
                <a:ea typeface="Source Han Sans CN"/>
              </a:rPr>
              <a:t>总体求解框架</a:t>
            </a:r>
            <a:endParaRPr/>
          </a:p>
        </p:txBody>
      </p:sp>
      <p:sp>
        <p:nvSpPr>
          <p:cNvPr id="263" name="矩形: 圆角 297"/>
          <p:cNvSpPr/>
          <p:nvPr/>
        </p:nvSpPr>
        <p:spPr>
          <a:xfrm>
            <a:off x="762000" y="5857875"/>
            <a:ext cx="476250" cy="276225"/>
          </a:xfrm>
          <a:prstGeom prst="roundRect">
            <a:avLst>
              <a:gd name="adj" fmla="val 48276"/>
            </a:avLst>
          </a:prstGeom>
          <a:solidFill>
            <a:srgbClr val="1E4FA8"/>
          </a:solidFill>
          <a:ln/>
        </p:spPr>
        <p:txBody>
          <a:bodyPr/>
          <a:lstStyle/>
          <a:p>
            <a:endParaRPr/>
          </a:p>
        </p:txBody>
      </p:sp>
      <p:sp>
        <p:nvSpPr>
          <p:cNvPr id="264" name="文本框 298" descr="{&quot;isTemplate&quot;:true,&quot;type&quot;:&quot;text&quot;}"/>
          <p:cNvSpPr txBox="1"/>
          <p:nvPr/>
        </p:nvSpPr>
        <p:spPr>
          <a:xfrm>
            <a:off x="914400" y="5915025"/>
            <a:ext cx="171450"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01</a:t>
            </a:r>
            <a:endParaRPr/>
          </a:p>
        </p:txBody>
      </p:sp>
      <p:sp>
        <p:nvSpPr>
          <p:cNvPr id="265" name="矩形: 圆角 299"/>
          <p:cNvSpPr/>
          <p:nvPr/>
        </p:nvSpPr>
        <p:spPr>
          <a:xfrm>
            <a:off x="1352550" y="5857875"/>
            <a:ext cx="476250" cy="276225"/>
          </a:xfrm>
          <a:prstGeom prst="roundRect">
            <a:avLst>
              <a:gd name="adj" fmla="val 48276"/>
            </a:avLst>
          </a:prstGeom>
          <a:solidFill>
            <a:srgbClr val="F0F5FC"/>
          </a:solidFill>
          <a:ln/>
        </p:spPr>
        <p:txBody>
          <a:bodyPr/>
          <a:lstStyle/>
          <a:p>
            <a:endParaRPr/>
          </a:p>
        </p:txBody>
      </p:sp>
      <p:sp>
        <p:nvSpPr>
          <p:cNvPr id="266" name="文本框 300" descr="{&quot;isTemplate&quot;:true,&quot;type&quot;:&quot;text&quot;}"/>
          <p:cNvSpPr txBox="1"/>
          <p:nvPr/>
        </p:nvSpPr>
        <p:spPr>
          <a:xfrm>
            <a:off x="150495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02</a:t>
            </a:r>
            <a:endParaRPr/>
          </a:p>
        </p:txBody>
      </p:sp>
      <p:sp>
        <p:nvSpPr>
          <p:cNvPr id="267" name="矩形: 圆角 301"/>
          <p:cNvSpPr/>
          <p:nvPr/>
        </p:nvSpPr>
        <p:spPr>
          <a:xfrm>
            <a:off x="1943100" y="5857875"/>
            <a:ext cx="476250" cy="276225"/>
          </a:xfrm>
          <a:prstGeom prst="roundRect">
            <a:avLst>
              <a:gd name="adj" fmla="val 48276"/>
            </a:avLst>
          </a:prstGeom>
          <a:solidFill>
            <a:srgbClr val="F0F5FC"/>
          </a:solidFill>
          <a:ln/>
        </p:spPr>
        <p:txBody>
          <a:bodyPr/>
          <a:lstStyle/>
          <a:p>
            <a:endParaRPr/>
          </a:p>
        </p:txBody>
      </p:sp>
      <p:sp>
        <p:nvSpPr>
          <p:cNvPr id="268" name="文本框 302" descr="{&quot;isTemplate&quot;:true,&quot;type&quot;:&quot;text&quot;}"/>
          <p:cNvSpPr txBox="1"/>
          <p:nvPr/>
        </p:nvSpPr>
        <p:spPr>
          <a:xfrm>
            <a:off x="209550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03</a:t>
            </a:r>
            <a:endParaRPr/>
          </a:p>
        </p:txBody>
      </p:sp>
      <p:sp>
        <p:nvSpPr>
          <p:cNvPr id="269" name="矩形: 圆角 303"/>
          <p:cNvSpPr/>
          <p:nvPr/>
        </p:nvSpPr>
        <p:spPr>
          <a:xfrm>
            <a:off x="2533650" y="5857875"/>
            <a:ext cx="476250" cy="276225"/>
          </a:xfrm>
          <a:prstGeom prst="roundRect">
            <a:avLst>
              <a:gd name="adj" fmla="val 48276"/>
            </a:avLst>
          </a:prstGeom>
          <a:solidFill>
            <a:srgbClr val="F0F5FC"/>
          </a:solidFill>
          <a:ln/>
        </p:spPr>
        <p:txBody>
          <a:bodyPr/>
          <a:lstStyle/>
          <a:p>
            <a:endParaRPr/>
          </a:p>
        </p:txBody>
      </p:sp>
      <p:sp>
        <p:nvSpPr>
          <p:cNvPr id="270" name="文本框 304" descr="{&quot;isTemplate&quot;:true,&quot;type&quot;:&quot;text&quot;}"/>
          <p:cNvSpPr txBox="1"/>
          <p:nvPr/>
        </p:nvSpPr>
        <p:spPr>
          <a:xfrm>
            <a:off x="268605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04</a:t>
            </a:r>
            <a:endParaRPr/>
          </a:p>
        </p:txBody>
      </p:sp>
      <p:sp>
        <p:nvSpPr>
          <p:cNvPr id="271" name="文本框 305" descr="{&quot;isTemplate&quot;:true,&quot;type&quot;:&quot;text&quot;}"/>
          <p:cNvSpPr txBox="1"/>
          <p:nvPr/>
        </p:nvSpPr>
        <p:spPr>
          <a:xfrm>
            <a:off x="3200400" y="5915025"/>
            <a:ext cx="1962150" cy="161925"/>
          </a:xfrm>
          <a:prstGeom prst="rect">
            <a:avLst/>
          </a:prstGeom>
        </p:spPr>
        <p:txBody>
          <a:bodyPr wrap="none" lIns="0" tIns="0" rIns="0" bIns="0"/>
          <a:lstStyle/>
          <a:p>
            <a:pPr>
              <a:lnSpc>
                <a:spcPct val="100000"/>
              </a:lnSpc>
            </a:pPr>
            <a:r>
              <a:rPr lang="zh-CN" sz="1050">
                <a:solidFill>
                  <a:srgbClr val="8B97A8"/>
                </a:solidFill>
                <a:latin typeface="Source Han Sans CN"/>
                <a:ea typeface="Source Han Sans CN"/>
              </a:rPr>
              <a:t>研究问题</a:t>
            </a:r>
            <a:r>
              <a:rPr lang="en-US" sz="1050">
                <a:solidFill>
                  <a:srgbClr val="8B97A8"/>
                </a:solidFill>
                <a:latin typeface="Source Han Sans CN"/>
                <a:ea typeface="Source Han Sans CN"/>
              </a:rPr>
              <a:t> · </a:t>
            </a:r>
            <a:r>
              <a:rPr lang="zh-CN" sz="1050">
                <a:solidFill>
                  <a:srgbClr val="8B97A8"/>
                </a:solidFill>
                <a:latin typeface="Source Han Sans CN"/>
                <a:ea typeface="Source Han Sans CN"/>
              </a:rPr>
              <a:t>方法两阶段</a:t>
            </a:r>
            <a:r>
              <a:rPr lang="en-US" sz="1050">
                <a:solidFill>
                  <a:srgbClr val="8B97A8"/>
                </a:solidFill>
                <a:latin typeface="Source Han Sans CN"/>
                <a:ea typeface="Source Han Sans CN"/>
              </a:rPr>
              <a:t> · </a:t>
            </a:r>
            <a:r>
              <a:rPr lang="zh-CN" sz="1050">
                <a:solidFill>
                  <a:srgbClr val="8B97A8"/>
                </a:solidFill>
                <a:latin typeface="Source Han Sans CN"/>
                <a:ea typeface="Source Han Sans CN"/>
              </a:rPr>
              <a:t>实验验证</a:t>
            </a:r>
            <a:endParaRPr/>
          </a:p>
        </p:txBody>
      </p:sp>
      <p:sp>
        <p:nvSpPr>
          <p:cNvPr id="272" name="矩形 306"/>
          <p:cNvSpPr/>
          <p:nvPr/>
        </p:nvSpPr>
        <p:spPr>
          <a:xfrm>
            <a:off x="0" y="6448425"/>
            <a:ext cx="12192000" cy="409575"/>
          </a:xfrm>
          <a:prstGeom prst="rect">
            <a:avLst/>
          </a:prstGeom>
          <a:solidFill>
            <a:srgbClr val="F7F9FC"/>
          </a:solidFill>
          <a:ln/>
        </p:spPr>
        <p:txBody>
          <a:bodyPr/>
          <a:lstStyle/>
          <a:p>
            <a:endParaRPr/>
          </a:p>
        </p:txBody>
      </p:sp>
      <p:sp>
        <p:nvSpPr>
          <p:cNvPr id="273" name="任意多边形: 形状 307"/>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274" name="文本框 308"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275" name="文本框 309"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03 / 16</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7" name="矩形 311"/>
          <p:cNvSpPr/>
          <p:nvPr/>
        </p:nvSpPr>
        <p:spPr>
          <a:xfrm>
            <a:off x="0" y="0"/>
            <a:ext cx="12192000" cy="6858000"/>
          </a:xfrm>
          <a:prstGeom prst="rect">
            <a:avLst/>
          </a:prstGeom>
          <a:solidFill>
            <a:srgbClr val="FFFFFF"/>
          </a:solidFill>
          <a:ln/>
        </p:spPr>
        <p:txBody>
          <a:bodyPr/>
          <a:lstStyle/>
          <a:p>
            <a:endParaRPr/>
          </a:p>
        </p:txBody>
      </p:sp>
      <p:sp>
        <p:nvSpPr>
          <p:cNvPr id="278" name="矩形 312"/>
          <p:cNvSpPr/>
          <p:nvPr/>
        </p:nvSpPr>
        <p:spPr>
          <a:xfrm>
            <a:off x="0" y="0"/>
            <a:ext cx="12192000" cy="114300"/>
          </a:xfrm>
          <a:prstGeom prst="rect">
            <a:avLst/>
          </a:prstGeom>
          <a:solidFill>
            <a:srgbClr val="1E4FA8"/>
          </a:solidFill>
          <a:ln/>
        </p:spPr>
        <p:txBody>
          <a:bodyPr/>
          <a:lstStyle/>
          <a:p>
            <a:endParaRPr/>
          </a:p>
        </p:txBody>
      </p:sp>
      <p:sp>
        <p:nvSpPr>
          <p:cNvPr id="279" name="矩形 313"/>
          <p:cNvSpPr/>
          <p:nvPr/>
        </p:nvSpPr>
        <p:spPr>
          <a:xfrm>
            <a:off x="381000" y="314325"/>
            <a:ext cx="57150" cy="323850"/>
          </a:xfrm>
          <a:prstGeom prst="rect">
            <a:avLst/>
          </a:prstGeom>
          <a:solidFill>
            <a:srgbClr val="1E4FA8"/>
          </a:solidFill>
          <a:ln/>
        </p:spPr>
        <p:txBody>
          <a:bodyPr/>
          <a:lstStyle/>
          <a:p>
            <a:endParaRPr/>
          </a:p>
        </p:txBody>
      </p:sp>
      <p:sp>
        <p:nvSpPr>
          <p:cNvPr id="280" name="文本框 314" descr="{&quot;isTemplate&quot;:true,&quot;type&quot;:&quot;text&quot;}"/>
          <p:cNvSpPr txBox="1"/>
          <p:nvPr/>
        </p:nvSpPr>
        <p:spPr>
          <a:xfrm>
            <a:off x="571500" y="285750"/>
            <a:ext cx="365760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广域巡检场景下的五大挑战</a:t>
            </a:r>
            <a:endParaRPr/>
          </a:p>
        </p:txBody>
      </p:sp>
      <p:sp>
        <p:nvSpPr>
          <p:cNvPr id="281" name="文本框 315" descr="{&quot;isTemplate&quot;:true,&quot;type&quot;:&quot;text&quot;}"/>
          <p:cNvSpPr txBox="1"/>
          <p:nvPr/>
        </p:nvSpPr>
        <p:spPr>
          <a:xfrm>
            <a:off x="571500" y="742950"/>
            <a:ext cx="3886200" cy="171450"/>
          </a:xfrm>
          <a:prstGeom prst="rect">
            <a:avLst/>
          </a:prstGeom>
        </p:spPr>
        <p:txBody>
          <a:bodyPr wrap="none" lIns="0" tIns="0" rIns="0" bIns="0"/>
          <a:lstStyle/>
          <a:p>
            <a:pPr>
              <a:lnSpc>
                <a:spcPct val="100000"/>
              </a:lnSpc>
            </a:pPr>
            <a:r>
              <a:rPr lang="zh-CN" sz="1125">
                <a:solidFill>
                  <a:srgbClr val="8B97A8"/>
                </a:solidFill>
                <a:latin typeface="Source Han Sans CN"/>
                <a:ea typeface="Source Han Sans CN"/>
              </a:rPr>
              <a:t>静态一次性规划失效——分配决策必须在滚动周期内反复重做</a:t>
            </a:r>
            <a:endParaRPr/>
          </a:p>
        </p:txBody>
      </p:sp>
      <p:sp>
        <p:nvSpPr>
          <p:cNvPr id="282" name="矩形: 圆角 316"/>
          <p:cNvSpPr/>
          <p:nvPr/>
        </p:nvSpPr>
        <p:spPr>
          <a:xfrm>
            <a:off x="381000" y="1104900"/>
            <a:ext cx="6286500" cy="3457575"/>
          </a:xfrm>
          <a:prstGeom prst="roundRect">
            <a:avLst>
              <a:gd name="adj" fmla="val 2755"/>
            </a:avLst>
          </a:prstGeom>
          <a:solidFill>
            <a:srgbClr val="FFFFFF"/>
          </a:solidFill>
          <a:ln w="12700">
            <a:solidFill>
              <a:srgbClr val="D6DCE5"/>
            </a:solidFill>
            <a:prstDash val="solid"/>
          </a:ln>
        </p:spPr>
        <p:txBody>
          <a:bodyPr/>
          <a:lstStyle/>
          <a:p>
            <a:endParaRPr/>
          </a:p>
        </p:txBody>
      </p:sp>
      <p:pic>
        <p:nvPicPr>
          <p:cNvPr id="283" name="图片 317"/>
          <p:cNvPicPr>
            <a:picLocks noChangeAspect="1"/>
          </p:cNvPicPr>
          <p:nvPr/>
        </p:nvPicPr>
        <p:blipFill>
          <a:blip r:embed="rId2"/>
          <a:srcRect t="7396" b="7396"/>
          <a:stretch>
            <a:fillRect/>
          </a:stretch>
        </p:blipFill>
        <p:spPr>
          <a:xfrm>
            <a:off x="476250" y="1200150"/>
            <a:ext cx="6076950" cy="3267075"/>
          </a:xfrm>
          <a:prstGeom prst="roundRect">
            <a:avLst>
              <a:gd name="adj" fmla="val 1749"/>
            </a:avLst>
          </a:prstGeom>
          <a:ln/>
        </p:spPr>
      </p:pic>
      <p:sp>
        <p:nvSpPr>
          <p:cNvPr id="284" name="文本框 318" descr="{&quot;isTemplate&quot;:true,&quot;type&quot;:&quot;text&quot;}"/>
          <p:cNvSpPr txBox="1"/>
          <p:nvPr/>
        </p:nvSpPr>
        <p:spPr>
          <a:xfrm>
            <a:off x="381000" y="4676775"/>
            <a:ext cx="628650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左图为本文方法在滚动协议下的一次</a:t>
            </a:r>
            <a:r>
              <a:rPr lang="zh-CN" sz="1050" b="1">
                <a:solidFill>
                  <a:srgbClr val="4A5568"/>
                </a:solidFill>
                <a:latin typeface="Source Han Sans CN"/>
                <a:ea typeface="Source Han Sans CN"/>
              </a:rPr>
              <a:t>真实运行轨迹</a:t>
            </a:r>
            <a:r>
              <a:rPr lang="zh-CN" sz="1050">
                <a:solidFill>
                  <a:srgbClr val="4A5568"/>
                </a:solidFill>
                <a:latin typeface="Source Han Sans CN"/>
                <a:ea typeface="Source Han Sans CN"/>
              </a:rPr>
              <a:t>（任务</a:t>
            </a:r>
            <a:r>
              <a:rPr lang="en-US" sz="1050">
                <a:solidFill>
                  <a:srgbClr val="4A5568"/>
                </a:solidFill>
                <a:latin typeface="Source Han Sans CN"/>
                <a:ea typeface="Source Han Sans CN"/>
              </a:rPr>
              <a:t> × </a:t>
            </a:r>
            <a:r>
              <a:rPr lang="zh-CN" sz="1050">
                <a:solidFill>
                  <a:srgbClr val="4A5568"/>
                </a:solidFill>
                <a:latin typeface="Source Han Sans CN"/>
                <a:ea typeface="Source Han Sans CN"/>
              </a:rPr>
              <a:t>周期状态矩阵）：任务陆续到达（灰）→</a:t>
            </a:r>
            <a:r>
              <a:rPr lang="en-US" sz="1050">
                <a:solidFill>
                  <a:srgbClr val="4A5568"/>
                </a:solidFill>
                <a:latin typeface="Source Han Sans CN"/>
                <a:ea typeface="Source Han Sans CN"/>
              </a:rPr>
              <a:t> </a:t>
            </a:r>
            <a:r>
              <a:rPr lang="zh-CN" sz="1050">
                <a:solidFill>
                  <a:srgbClr val="4A5568"/>
                </a:solidFill>
                <a:latin typeface="Source Han Sans CN"/>
                <a:ea typeface="Source Han Sans CN"/>
              </a:rPr>
              <a:t>池内待处理（橙）→</a:t>
            </a:r>
            <a:r>
              <a:rPr lang="en-US" sz="1050">
                <a:solidFill>
                  <a:srgbClr val="4A5568"/>
                </a:solidFill>
                <a:latin typeface="Source Han Sans CN"/>
                <a:ea typeface="Source Han Sans CN"/>
              </a:rPr>
              <a:t> </a:t>
            </a:r>
            <a:r>
              <a:rPr lang="zh-CN" sz="1050">
                <a:solidFill>
                  <a:srgbClr val="4A5568"/>
                </a:solidFill>
                <a:latin typeface="Source Han Sans CN"/>
                <a:ea typeface="Source Han Sans CN"/>
              </a:rPr>
              <a:t>被选择执行并完成（绿）。任务流持续到来、部分任务滞留数个周期，正是右侧五类挑战共同作用的直接体现。</a:t>
            </a:r>
            <a:endParaRPr/>
          </a:p>
        </p:txBody>
      </p:sp>
      <p:sp>
        <p:nvSpPr>
          <p:cNvPr id="285" name="矩形: 圆角 319"/>
          <p:cNvSpPr/>
          <p:nvPr/>
        </p:nvSpPr>
        <p:spPr>
          <a:xfrm>
            <a:off x="6972300" y="1104900"/>
            <a:ext cx="4876800" cy="981075"/>
          </a:xfrm>
          <a:prstGeom prst="roundRect">
            <a:avLst>
              <a:gd name="adj" fmla="val 7767"/>
            </a:avLst>
          </a:prstGeom>
          <a:solidFill>
            <a:srgbClr val="F0F5FC"/>
          </a:solidFill>
          <a:ln/>
        </p:spPr>
        <p:txBody>
          <a:bodyPr/>
          <a:lstStyle/>
          <a:p>
            <a:endParaRPr/>
          </a:p>
        </p:txBody>
      </p:sp>
      <p:sp>
        <p:nvSpPr>
          <p:cNvPr id="286" name="任意多边形: 形状 320"/>
          <p:cNvSpPr/>
          <p:nvPr/>
        </p:nvSpPr>
        <p:spPr>
          <a:xfrm>
            <a:off x="6972300" y="1104900"/>
            <a:ext cx="4876800" cy="981075"/>
          </a:xfrm>
          <a:custGeom>
            <a:avLst/>
            <a:gdLst/>
            <a:ahLst/>
            <a:cxnLst/>
            <a:rect l="0" t="0" r="0" b="0"/>
            <a:pathLst>
              <a:path w="512" h="103">
                <a:moveTo>
                  <a:pt x="8" y="0"/>
                </a:moveTo>
                <a:cubicBezTo>
                  <a:pt x="6" y="0"/>
                  <a:pt x="4" y="2"/>
                  <a:pt x="4" y="4"/>
                </a:cubicBezTo>
                <a:lnTo>
                  <a:pt x="4" y="99"/>
                </a:lnTo>
                <a:cubicBezTo>
                  <a:pt x="4" y="101"/>
                  <a:pt x="5" y="103"/>
                  <a:pt x="7" y="103"/>
                </a:cubicBezTo>
                <a:cubicBezTo>
                  <a:pt x="3" y="103"/>
                  <a:pt x="0" y="99"/>
                  <a:pt x="0" y="95"/>
                </a:cubicBezTo>
                <a:lnTo>
                  <a:pt x="0" y="8"/>
                </a:lnTo>
                <a:cubicBezTo>
                  <a:pt x="0" y="4"/>
                  <a:pt x="3" y="0"/>
                  <a:pt x="8" y="0"/>
                </a:cubicBezTo>
                <a:close/>
              </a:path>
            </a:pathLst>
          </a:custGeom>
          <a:solidFill>
            <a:srgbClr val="1E4FA8"/>
          </a:solidFill>
          <a:ln/>
        </p:spPr>
        <p:txBody>
          <a:bodyPr/>
          <a:lstStyle/>
          <a:p>
            <a:endParaRPr/>
          </a:p>
        </p:txBody>
      </p:sp>
      <p:sp>
        <p:nvSpPr>
          <p:cNvPr id="287" name="矩形: 圆角 321"/>
          <p:cNvSpPr/>
          <p:nvPr/>
        </p:nvSpPr>
        <p:spPr>
          <a:xfrm>
            <a:off x="7124700" y="1219200"/>
            <a:ext cx="285750" cy="285750"/>
          </a:xfrm>
          <a:prstGeom prst="roundRect">
            <a:avLst>
              <a:gd name="adj" fmla="val 50000"/>
            </a:avLst>
          </a:prstGeom>
          <a:solidFill>
            <a:srgbClr val="1E4FA8"/>
          </a:solidFill>
          <a:ln/>
        </p:spPr>
        <p:txBody>
          <a:bodyPr/>
          <a:lstStyle/>
          <a:p>
            <a:endParaRPr/>
          </a:p>
        </p:txBody>
      </p:sp>
      <p:sp>
        <p:nvSpPr>
          <p:cNvPr id="288" name="文本框 322" descr="{&quot;isTemplate&quot;:true,&quot;type&quot;:&quot;text&quot;}"/>
          <p:cNvSpPr txBox="1"/>
          <p:nvPr/>
        </p:nvSpPr>
        <p:spPr>
          <a:xfrm>
            <a:off x="7219950" y="126682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1</a:t>
            </a:r>
            <a:endParaRPr/>
          </a:p>
        </p:txBody>
      </p:sp>
      <p:sp>
        <p:nvSpPr>
          <p:cNvPr id="289" name="文本框 323" descr="{&quot;isTemplate&quot;:true,&quot;type&quot;:&quot;text&quot;}"/>
          <p:cNvSpPr txBox="1"/>
          <p:nvPr/>
        </p:nvSpPr>
        <p:spPr>
          <a:xfrm>
            <a:off x="7543800" y="1219200"/>
            <a:ext cx="4114800" cy="209550"/>
          </a:xfrm>
          <a:prstGeom prst="rect">
            <a:avLst/>
          </a:prstGeom>
        </p:spPr>
        <p:txBody>
          <a:bodyPr wrap="none" lIns="0" tIns="0" rIns="0" bIns="0"/>
          <a:lstStyle/>
          <a:p>
            <a:pPr>
              <a:lnSpc>
                <a:spcPct val="100000"/>
              </a:lnSpc>
            </a:pPr>
            <a:r>
              <a:rPr lang="zh-CN" sz="1350" b="1">
                <a:solidFill>
                  <a:srgbClr val="1A2230"/>
                </a:solidFill>
                <a:latin typeface="Source Han Sans CN"/>
                <a:ea typeface="Source Han Sans CN"/>
              </a:rPr>
              <a:t>任务动态到达与持续滞留</a:t>
            </a:r>
            <a:endParaRPr/>
          </a:p>
        </p:txBody>
      </p:sp>
      <p:sp>
        <p:nvSpPr>
          <p:cNvPr id="290" name="文本框 324" descr="{&quot;isTemplate&quot;:true,&quot;type&quot;:&quot;text&quot;}"/>
          <p:cNvSpPr txBox="1"/>
          <p:nvPr/>
        </p:nvSpPr>
        <p:spPr>
          <a:xfrm>
            <a:off x="7543800" y="1466850"/>
            <a:ext cx="4114800" cy="504825"/>
          </a:xfrm>
          <a:prstGeom prst="rect">
            <a:avLst/>
          </a:prstGeom>
        </p:spPr>
        <p:txBody>
          <a:bodyPr wrap="square" lIns="0" tIns="0" rIns="0" bIns="0">
            <a:normAutofit/>
          </a:bodyPr>
          <a:lstStyle/>
          <a:p>
            <a:pPr>
              <a:lnSpc>
                <a:spcPct val="155000"/>
              </a:lnSpc>
            </a:pPr>
            <a:r>
              <a:rPr lang="zh-CN" sz="1050">
                <a:solidFill>
                  <a:srgbClr val="4A5568"/>
                </a:solidFill>
                <a:latin typeface="Source Han Sans CN"/>
                <a:ea typeface="Source Han Sans CN"/>
              </a:rPr>
              <a:t>任务池按周期演化</a:t>
            </a:r>
            <a:r>
              <a:rPr lang="en-US" sz="1050">
                <a:solidFill>
                  <a:srgbClr val="4A5568"/>
                </a:solidFill>
                <a:latin typeface="Source Han Sans CN"/>
                <a:ea typeface="Source Han Sans CN"/>
              </a:rPr>
              <a:t> T(t+1)=remain∪new∪release</a:t>
            </a:r>
            <a:r>
              <a:rPr lang="zh-CN" sz="1050">
                <a:solidFill>
                  <a:srgbClr val="4A5568"/>
                </a:solidFill>
                <a:latin typeface="Source Han Sans CN"/>
                <a:ea typeface="Source Han Sans CN"/>
              </a:rPr>
              <a:t>，滞留任务需要等待补偿，不能静默丢失</a:t>
            </a:r>
            <a:endParaRPr/>
          </a:p>
        </p:txBody>
      </p:sp>
      <p:sp>
        <p:nvSpPr>
          <p:cNvPr id="291" name="矩形: 圆角 325"/>
          <p:cNvSpPr/>
          <p:nvPr/>
        </p:nvSpPr>
        <p:spPr>
          <a:xfrm>
            <a:off x="6972300" y="2190750"/>
            <a:ext cx="4876800" cy="981075"/>
          </a:xfrm>
          <a:prstGeom prst="roundRect">
            <a:avLst>
              <a:gd name="adj" fmla="val 7767"/>
            </a:avLst>
          </a:prstGeom>
          <a:solidFill>
            <a:srgbClr val="F0F5FC"/>
          </a:solidFill>
          <a:ln/>
        </p:spPr>
        <p:txBody>
          <a:bodyPr/>
          <a:lstStyle/>
          <a:p>
            <a:endParaRPr/>
          </a:p>
        </p:txBody>
      </p:sp>
      <p:sp>
        <p:nvSpPr>
          <p:cNvPr id="292" name="任意多边形: 形状 326"/>
          <p:cNvSpPr/>
          <p:nvPr/>
        </p:nvSpPr>
        <p:spPr>
          <a:xfrm>
            <a:off x="6972300" y="2190750"/>
            <a:ext cx="4876800" cy="981075"/>
          </a:xfrm>
          <a:custGeom>
            <a:avLst/>
            <a:gdLst/>
            <a:ahLst/>
            <a:cxnLst/>
            <a:rect l="0" t="0" r="0" b="0"/>
            <a:pathLst>
              <a:path w="512" h="103">
                <a:moveTo>
                  <a:pt x="8" y="0"/>
                </a:moveTo>
                <a:cubicBezTo>
                  <a:pt x="6" y="0"/>
                  <a:pt x="4" y="2"/>
                  <a:pt x="4" y="4"/>
                </a:cubicBezTo>
                <a:lnTo>
                  <a:pt x="4" y="99"/>
                </a:lnTo>
                <a:cubicBezTo>
                  <a:pt x="4" y="101"/>
                  <a:pt x="5" y="103"/>
                  <a:pt x="7" y="103"/>
                </a:cubicBezTo>
                <a:cubicBezTo>
                  <a:pt x="3" y="103"/>
                  <a:pt x="0" y="99"/>
                  <a:pt x="0" y="95"/>
                </a:cubicBezTo>
                <a:lnTo>
                  <a:pt x="0" y="8"/>
                </a:lnTo>
                <a:cubicBezTo>
                  <a:pt x="0" y="4"/>
                  <a:pt x="3" y="0"/>
                  <a:pt x="8" y="0"/>
                </a:cubicBezTo>
                <a:close/>
              </a:path>
            </a:pathLst>
          </a:custGeom>
          <a:solidFill>
            <a:srgbClr val="1E4FA8"/>
          </a:solidFill>
          <a:ln/>
        </p:spPr>
        <p:txBody>
          <a:bodyPr/>
          <a:lstStyle/>
          <a:p>
            <a:endParaRPr/>
          </a:p>
        </p:txBody>
      </p:sp>
      <p:sp>
        <p:nvSpPr>
          <p:cNvPr id="293" name="矩形: 圆角 327"/>
          <p:cNvSpPr/>
          <p:nvPr/>
        </p:nvSpPr>
        <p:spPr>
          <a:xfrm>
            <a:off x="7124700" y="2305050"/>
            <a:ext cx="285750" cy="285750"/>
          </a:xfrm>
          <a:prstGeom prst="roundRect">
            <a:avLst>
              <a:gd name="adj" fmla="val 50000"/>
            </a:avLst>
          </a:prstGeom>
          <a:solidFill>
            <a:srgbClr val="1E4FA8"/>
          </a:solidFill>
          <a:ln/>
        </p:spPr>
        <p:txBody>
          <a:bodyPr/>
          <a:lstStyle/>
          <a:p>
            <a:endParaRPr/>
          </a:p>
        </p:txBody>
      </p:sp>
      <p:sp>
        <p:nvSpPr>
          <p:cNvPr id="294" name="文本框 328" descr="{&quot;isTemplate&quot;:true,&quot;type&quot;:&quot;text&quot;}"/>
          <p:cNvSpPr txBox="1"/>
          <p:nvPr/>
        </p:nvSpPr>
        <p:spPr>
          <a:xfrm>
            <a:off x="7219950" y="235267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2</a:t>
            </a:r>
            <a:endParaRPr/>
          </a:p>
        </p:txBody>
      </p:sp>
      <p:sp>
        <p:nvSpPr>
          <p:cNvPr id="295" name="文本框 329" descr="{&quot;isTemplate&quot;:true,&quot;type&quot;:&quot;text&quot;}"/>
          <p:cNvSpPr txBox="1"/>
          <p:nvPr/>
        </p:nvSpPr>
        <p:spPr>
          <a:xfrm>
            <a:off x="7543800" y="2305050"/>
            <a:ext cx="4114800" cy="209550"/>
          </a:xfrm>
          <a:prstGeom prst="rect">
            <a:avLst/>
          </a:prstGeom>
        </p:spPr>
        <p:txBody>
          <a:bodyPr wrap="none" lIns="0" tIns="0" rIns="0" bIns="0"/>
          <a:lstStyle/>
          <a:p>
            <a:pPr>
              <a:lnSpc>
                <a:spcPct val="100000"/>
              </a:lnSpc>
            </a:pPr>
            <a:r>
              <a:rPr lang="zh-CN" sz="1350" b="1">
                <a:solidFill>
                  <a:srgbClr val="1A2230"/>
                </a:solidFill>
                <a:latin typeface="Source Han Sans CN"/>
                <a:ea typeface="Source Han Sans CN"/>
              </a:rPr>
              <a:t>无人机可用状态动态变化</a:t>
            </a:r>
            <a:endParaRPr/>
          </a:p>
        </p:txBody>
      </p:sp>
      <p:sp>
        <p:nvSpPr>
          <p:cNvPr id="296" name="文本框 330" descr="{&quot;isTemplate&quot;:true,&quot;type&quot;:&quot;text&quot;}"/>
          <p:cNvSpPr txBox="1"/>
          <p:nvPr/>
        </p:nvSpPr>
        <p:spPr>
          <a:xfrm>
            <a:off x="7543800" y="2552700"/>
            <a:ext cx="4114800" cy="504825"/>
          </a:xfrm>
          <a:prstGeom prst="rect">
            <a:avLst/>
          </a:prstGeom>
        </p:spPr>
        <p:txBody>
          <a:bodyPr wrap="square" lIns="0" tIns="0" rIns="0" bIns="0">
            <a:normAutofit/>
          </a:bodyPr>
          <a:lstStyle/>
          <a:p>
            <a:pPr>
              <a:lnSpc>
                <a:spcPct val="155000"/>
              </a:lnSpc>
            </a:pPr>
            <a:r>
              <a:rPr lang="zh-CN" sz="1050">
                <a:solidFill>
                  <a:srgbClr val="4A5568"/>
                </a:solidFill>
                <a:latin typeface="Source Han Sans CN"/>
                <a:ea typeface="Source Han Sans CN"/>
              </a:rPr>
              <a:t>起降、充电、故障使可用集每周期不同，规划必须基于当前真实状态而非初始快照</a:t>
            </a:r>
            <a:endParaRPr/>
          </a:p>
        </p:txBody>
      </p:sp>
      <p:sp>
        <p:nvSpPr>
          <p:cNvPr id="297" name="矩形: 圆角 331"/>
          <p:cNvSpPr/>
          <p:nvPr/>
        </p:nvSpPr>
        <p:spPr>
          <a:xfrm>
            <a:off x="6972300" y="3286125"/>
            <a:ext cx="4876800" cy="981075"/>
          </a:xfrm>
          <a:prstGeom prst="roundRect">
            <a:avLst>
              <a:gd name="adj" fmla="val 7767"/>
            </a:avLst>
          </a:prstGeom>
          <a:solidFill>
            <a:srgbClr val="F0F5FC"/>
          </a:solidFill>
          <a:ln/>
        </p:spPr>
        <p:txBody>
          <a:bodyPr/>
          <a:lstStyle/>
          <a:p>
            <a:endParaRPr/>
          </a:p>
        </p:txBody>
      </p:sp>
      <p:sp>
        <p:nvSpPr>
          <p:cNvPr id="298" name="任意多边形: 形状 332"/>
          <p:cNvSpPr/>
          <p:nvPr/>
        </p:nvSpPr>
        <p:spPr>
          <a:xfrm>
            <a:off x="6972300" y="3286125"/>
            <a:ext cx="4876800" cy="981075"/>
          </a:xfrm>
          <a:custGeom>
            <a:avLst/>
            <a:gdLst/>
            <a:ahLst/>
            <a:cxnLst/>
            <a:rect l="0" t="0" r="0" b="0"/>
            <a:pathLst>
              <a:path w="512" h="103">
                <a:moveTo>
                  <a:pt x="8" y="0"/>
                </a:moveTo>
                <a:cubicBezTo>
                  <a:pt x="6" y="0"/>
                  <a:pt x="4" y="2"/>
                  <a:pt x="4" y="4"/>
                </a:cubicBezTo>
                <a:lnTo>
                  <a:pt x="4" y="99"/>
                </a:lnTo>
                <a:cubicBezTo>
                  <a:pt x="4" y="101"/>
                  <a:pt x="5" y="103"/>
                  <a:pt x="7" y="103"/>
                </a:cubicBezTo>
                <a:cubicBezTo>
                  <a:pt x="3" y="103"/>
                  <a:pt x="0" y="99"/>
                  <a:pt x="0" y="95"/>
                </a:cubicBezTo>
                <a:lnTo>
                  <a:pt x="0" y="8"/>
                </a:lnTo>
                <a:cubicBezTo>
                  <a:pt x="0" y="4"/>
                  <a:pt x="3" y="0"/>
                  <a:pt x="8" y="0"/>
                </a:cubicBezTo>
                <a:close/>
              </a:path>
            </a:pathLst>
          </a:custGeom>
          <a:solidFill>
            <a:srgbClr val="1E4FA8"/>
          </a:solidFill>
          <a:ln/>
        </p:spPr>
        <p:txBody>
          <a:bodyPr/>
          <a:lstStyle/>
          <a:p>
            <a:endParaRPr/>
          </a:p>
        </p:txBody>
      </p:sp>
      <p:sp>
        <p:nvSpPr>
          <p:cNvPr id="299" name="矩形: 圆角 333"/>
          <p:cNvSpPr/>
          <p:nvPr/>
        </p:nvSpPr>
        <p:spPr>
          <a:xfrm>
            <a:off x="7124700" y="3400425"/>
            <a:ext cx="285750" cy="285750"/>
          </a:xfrm>
          <a:prstGeom prst="roundRect">
            <a:avLst>
              <a:gd name="adj" fmla="val 50000"/>
            </a:avLst>
          </a:prstGeom>
          <a:solidFill>
            <a:srgbClr val="1E4FA8"/>
          </a:solidFill>
          <a:ln/>
        </p:spPr>
        <p:txBody>
          <a:bodyPr/>
          <a:lstStyle/>
          <a:p>
            <a:endParaRPr/>
          </a:p>
        </p:txBody>
      </p:sp>
      <p:sp>
        <p:nvSpPr>
          <p:cNvPr id="300" name="文本框 334" descr="{&quot;isTemplate&quot;:true,&quot;type&quot;:&quot;text&quot;}"/>
          <p:cNvSpPr txBox="1"/>
          <p:nvPr/>
        </p:nvSpPr>
        <p:spPr>
          <a:xfrm>
            <a:off x="7219950" y="3448050"/>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3</a:t>
            </a:r>
            <a:endParaRPr/>
          </a:p>
        </p:txBody>
      </p:sp>
      <p:sp>
        <p:nvSpPr>
          <p:cNvPr id="301" name="文本框 335" descr="{&quot;isTemplate&quot;:true,&quot;type&quot;:&quot;text&quot;}"/>
          <p:cNvSpPr txBox="1"/>
          <p:nvPr/>
        </p:nvSpPr>
        <p:spPr>
          <a:xfrm>
            <a:off x="7543800" y="3400425"/>
            <a:ext cx="4114800" cy="209550"/>
          </a:xfrm>
          <a:prstGeom prst="rect">
            <a:avLst/>
          </a:prstGeom>
        </p:spPr>
        <p:txBody>
          <a:bodyPr wrap="none" lIns="0" tIns="0" rIns="0" bIns="0"/>
          <a:lstStyle/>
          <a:p>
            <a:pPr>
              <a:lnSpc>
                <a:spcPct val="100000"/>
              </a:lnSpc>
            </a:pPr>
            <a:r>
              <a:rPr lang="zh-CN" sz="1350" b="1">
                <a:solidFill>
                  <a:srgbClr val="1A2230"/>
                </a:solidFill>
                <a:latin typeface="Source Han Sans CN"/>
                <a:ea typeface="Source Han Sans CN"/>
              </a:rPr>
              <a:t>多机巢起降与终点选择</a:t>
            </a:r>
            <a:endParaRPr/>
          </a:p>
        </p:txBody>
      </p:sp>
      <p:sp>
        <p:nvSpPr>
          <p:cNvPr id="302" name="文本框 336" descr="{&quot;isTemplate&quot;:true,&quot;type&quot;:&quot;text&quot;}"/>
          <p:cNvSpPr txBox="1"/>
          <p:nvPr/>
        </p:nvSpPr>
        <p:spPr>
          <a:xfrm>
            <a:off x="7543800" y="3648075"/>
            <a:ext cx="4114800" cy="504825"/>
          </a:xfrm>
          <a:prstGeom prst="rect">
            <a:avLst/>
          </a:prstGeom>
        </p:spPr>
        <p:txBody>
          <a:bodyPr wrap="square" lIns="0" tIns="0" rIns="0" bIns="0">
            <a:normAutofit/>
          </a:bodyPr>
          <a:lstStyle/>
          <a:p>
            <a:pPr>
              <a:lnSpc>
                <a:spcPct val="155000"/>
              </a:lnSpc>
            </a:pPr>
            <a:r>
              <a:rPr lang="zh-CN" sz="1050">
                <a:solidFill>
                  <a:srgbClr val="4A5568"/>
                </a:solidFill>
                <a:latin typeface="Source Han Sans CN"/>
                <a:ea typeface="Source Han Sans CN"/>
              </a:rPr>
              <a:t>异源起飞、异巢终止：起点由停靠状态确定，终点机巢是决策变量且受泊位容量约束</a:t>
            </a:r>
            <a:endParaRPr/>
          </a:p>
        </p:txBody>
      </p:sp>
      <p:sp>
        <p:nvSpPr>
          <p:cNvPr id="303" name="矩形: 圆角 337"/>
          <p:cNvSpPr/>
          <p:nvPr/>
        </p:nvSpPr>
        <p:spPr>
          <a:xfrm>
            <a:off x="6972300" y="4371975"/>
            <a:ext cx="4876800" cy="981075"/>
          </a:xfrm>
          <a:prstGeom prst="roundRect">
            <a:avLst>
              <a:gd name="adj" fmla="val 7767"/>
            </a:avLst>
          </a:prstGeom>
          <a:solidFill>
            <a:srgbClr val="F0F5FC"/>
          </a:solidFill>
          <a:ln/>
        </p:spPr>
        <p:txBody>
          <a:bodyPr/>
          <a:lstStyle/>
          <a:p>
            <a:endParaRPr/>
          </a:p>
        </p:txBody>
      </p:sp>
      <p:sp>
        <p:nvSpPr>
          <p:cNvPr id="304" name="任意多边形: 形状 338"/>
          <p:cNvSpPr/>
          <p:nvPr/>
        </p:nvSpPr>
        <p:spPr>
          <a:xfrm>
            <a:off x="6972300" y="4371975"/>
            <a:ext cx="4876800" cy="981075"/>
          </a:xfrm>
          <a:custGeom>
            <a:avLst/>
            <a:gdLst/>
            <a:ahLst/>
            <a:cxnLst/>
            <a:rect l="0" t="0" r="0" b="0"/>
            <a:pathLst>
              <a:path w="512" h="103">
                <a:moveTo>
                  <a:pt x="8" y="0"/>
                </a:moveTo>
                <a:cubicBezTo>
                  <a:pt x="6" y="0"/>
                  <a:pt x="4" y="2"/>
                  <a:pt x="4" y="4"/>
                </a:cubicBezTo>
                <a:lnTo>
                  <a:pt x="4" y="99"/>
                </a:lnTo>
                <a:cubicBezTo>
                  <a:pt x="4" y="101"/>
                  <a:pt x="5" y="103"/>
                  <a:pt x="7" y="103"/>
                </a:cubicBezTo>
                <a:cubicBezTo>
                  <a:pt x="3" y="103"/>
                  <a:pt x="0" y="99"/>
                  <a:pt x="0" y="95"/>
                </a:cubicBezTo>
                <a:lnTo>
                  <a:pt x="0" y="8"/>
                </a:lnTo>
                <a:cubicBezTo>
                  <a:pt x="0" y="4"/>
                  <a:pt x="3" y="0"/>
                  <a:pt x="8" y="0"/>
                </a:cubicBezTo>
                <a:close/>
              </a:path>
            </a:pathLst>
          </a:custGeom>
          <a:solidFill>
            <a:srgbClr val="1E4FA8"/>
          </a:solidFill>
          <a:ln/>
        </p:spPr>
        <p:txBody>
          <a:bodyPr/>
          <a:lstStyle/>
          <a:p>
            <a:endParaRPr/>
          </a:p>
        </p:txBody>
      </p:sp>
      <p:sp>
        <p:nvSpPr>
          <p:cNvPr id="305" name="矩形: 圆角 339"/>
          <p:cNvSpPr/>
          <p:nvPr/>
        </p:nvSpPr>
        <p:spPr>
          <a:xfrm>
            <a:off x="7124700" y="4486275"/>
            <a:ext cx="285750" cy="285750"/>
          </a:xfrm>
          <a:prstGeom prst="roundRect">
            <a:avLst>
              <a:gd name="adj" fmla="val 50000"/>
            </a:avLst>
          </a:prstGeom>
          <a:solidFill>
            <a:srgbClr val="1E4FA8"/>
          </a:solidFill>
          <a:ln/>
        </p:spPr>
        <p:txBody>
          <a:bodyPr/>
          <a:lstStyle/>
          <a:p>
            <a:endParaRPr/>
          </a:p>
        </p:txBody>
      </p:sp>
      <p:sp>
        <p:nvSpPr>
          <p:cNvPr id="306" name="文本框 340" descr="{&quot;isTemplate&quot;:true,&quot;type&quot;:&quot;text&quot;}"/>
          <p:cNvSpPr txBox="1"/>
          <p:nvPr/>
        </p:nvSpPr>
        <p:spPr>
          <a:xfrm>
            <a:off x="7219950" y="4533900"/>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4</a:t>
            </a:r>
            <a:endParaRPr/>
          </a:p>
        </p:txBody>
      </p:sp>
      <p:sp>
        <p:nvSpPr>
          <p:cNvPr id="307" name="文本框 341" descr="{&quot;isTemplate&quot;:true,&quot;type&quot;:&quot;text&quot;}"/>
          <p:cNvSpPr txBox="1"/>
          <p:nvPr/>
        </p:nvSpPr>
        <p:spPr>
          <a:xfrm>
            <a:off x="7543800" y="4486275"/>
            <a:ext cx="4114800" cy="209550"/>
          </a:xfrm>
          <a:prstGeom prst="rect">
            <a:avLst/>
          </a:prstGeom>
        </p:spPr>
        <p:txBody>
          <a:bodyPr wrap="none" lIns="0" tIns="0" rIns="0" bIns="0"/>
          <a:lstStyle/>
          <a:p>
            <a:pPr>
              <a:lnSpc>
                <a:spcPct val="100000"/>
              </a:lnSpc>
            </a:pPr>
            <a:r>
              <a:rPr lang="zh-CN" sz="1350" b="1">
                <a:solidFill>
                  <a:srgbClr val="1A2230"/>
                </a:solidFill>
                <a:latin typeface="Source Han Sans CN"/>
                <a:ea typeface="Source Han Sans CN"/>
              </a:rPr>
              <a:t>任务数量与执行能力不匹配</a:t>
            </a:r>
            <a:endParaRPr/>
          </a:p>
        </p:txBody>
      </p:sp>
      <p:sp>
        <p:nvSpPr>
          <p:cNvPr id="308" name="文本框 342" descr="{&quot;isTemplate&quot;:true,&quot;type&quot;:&quot;text&quot;}"/>
          <p:cNvSpPr txBox="1"/>
          <p:nvPr/>
        </p:nvSpPr>
        <p:spPr>
          <a:xfrm>
            <a:off x="7543800" y="4733925"/>
            <a:ext cx="4114800" cy="504825"/>
          </a:xfrm>
          <a:prstGeom prst="rect">
            <a:avLst/>
          </a:prstGeom>
        </p:spPr>
        <p:txBody>
          <a:bodyPr wrap="square" lIns="0" tIns="0" rIns="0" bIns="0">
            <a:normAutofit/>
          </a:bodyPr>
          <a:lstStyle/>
          <a:p>
            <a:pPr>
              <a:lnSpc>
                <a:spcPct val="155000"/>
              </a:lnSpc>
            </a:pPr>
            <a:r>
              <a:rPr lang="zh-CN" sz="1050">
                <a:solidFill>
                  <a:srgbClr val="4A5568"/>
                </a:solidFill>
                <a:latin typeface="Source Han Sans CN"/>
                <a:ea typeface="Source Han Sans CN"/>
              </a:rPr>
              <a:t>任务数远超单周期能力承载，既不能全量求解，也不能非物理地拒绝任务</a:t>
            </a:r>
            <a:endParaRPr/>
          </a:p>
        </p:txBody>
      </p:sp>
      <p:sp>
        <p:nvSpPr>
          <p:cNvPr id="309" name="矩形: 圆角 343"/>
          <p:cNvSpPr/>
          <p:nvPr/>
        </p:nvSpPr>
        <p:spPr>
          <a:xfrm>
            <a:off x="6972300" y="5457825"/>
            <a:ext cx="4876800" cy="733425"/>
          </a:xfrm>
          <a:prstGeom prst="roundRect">
            <a:avLst>
              <a:gd name="adj" fmla="val 10390"/>
            </a:avLst>
          </a:prstGeom>
          <a:solidFill>
            <a:srgbClr val="F0F5FC"/>
          </a:solidFill>
          <a:ln/>
        </p:spPr>
        <p:txBody>
          <a:bodyPr/>
          <a:lstStyle/>
          <a:p>
            <a:endParaRPr/>
          </a:p>
        </p:txBody>
      </p:sp>
      <p:sp>
        <p:nvSpPr>
          <p:cNvPr id="310" name="任意多边形: 形状 344"/>
          <p:cNvSpPr/>
          <p:nvPr/>
        </p:nvSpPr>
        <p:spPr>
          <a:xfrm>
            <a:off x="6972300" y="5457825"/>
            <a:ext cx="4876800" cy="733425"/>
          </a:xfrm>
          <a:custGeom>
            <a:avLst/>
            <a:gdLst/>
            <a:ahLst/>
            <a:cxnLst/>
            <a:rect l="0" t="0" r="0" b="0"/>
            <a:pathLst>
              <a:path w="512" h="77">
                <a:moveTo>
                  <a:pt x="8" y="0"/>
                </a:moveTo>
                <a:cubicBezTo>
                  <a:pt x="6" y="0"/>
                  <a:pt x="4" y="2"/>
                  <a:pt x="4" y="4"/>
                </a:cubicBezTo>
                <a:lnTo>
                  <a:pt x="4" y="73"/>
                </a:lnTo>
                <a:cubicBezTo>
                  <a:pt x="4" y="75"/>
                  <a:pt x="5" y="77"/>
                  <a:pt x="7" y="77"/>
                </a:cubicBezTo>
                <a:cubicBezTo>
                  <a:pt x="3" y="77"/>
                  <a:pt x="0" y="73"/>
                  <a:pt x="0" y="69"/>
                </a:cubicBezTo>
                <a:lnTo>
                  <a:pt x="0" y="8"/>
                </a:lnTo>
                <a:cubicBezTo>
                  <a:pt x="0" y="4"/>
                  <a:pt x="3" y="0"/>
                  <a:pt x="8" y="0"/>
                </a:cubicBezTo>
                <a:close/>
              </a:path>
            </a:pathLst>
          </a:custGeom>
          <a:solidFill>
            <a:srgbClr val="1E4FA8"/>
          </a:solidFill>
          <a:ln/>
        </p:spPr>
        <p:txBody>
          <a:bodyPr/>
          <a:lstStyle/>
          <a:p>
            <a:endParaRPr/>
          </a:p>
        </p:txBody>
      </p:sp>
      <p:sp>
        <p:nvSpPr>
          <p:cNvPr id="311" name="矩形: 圆角 345"/>
          <p:cNvSpPr/>
          <p:nvPr/>
        </p:nvSpPr>
        <p:spPr>
          <a:xfrm>
            <a:off x="7124700" y="5572125"/>
            <a:ext cx="285750" cy="285750"/>
          </a:xfrm>
          <a:prstGeom prst="roundRect">
            <a:avLst>
              <a:gd name="adj" fmla="val 50000"/>
            </a:avLst>
          </a:prstGeom>
          <a:solidFill>
            <a:srgbClr val="1E4FA8"/>
          </a:solidFill>
          <a:ln/>
        </p:spPr>
        <p:txBody>
          <a:bodyPr/>
          <a:lstStyle/>
          <a:p>
            <a:endParaRPr/>
          </a:p>
        </p:txBody>
      </p:sp>
      <p:sp>
        <p:nvSpPr>
          <p:cNvPr id="312" name="文本框 346" descr="{&quot;isTemplate&quot;:true,&quot;type&quot;:&quot;text&quot;}"/>
          <p:cNvSpPr txBox="1"/>
          <p:nvPr/>
        </p:nvSpPr>
        <p:spPr>
          <a:xfrm>
            <a:off x="7219950" y="5619750"/>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5</a:t>
            </a:r>
            <a:endParaRPr/>
          </a:p>
        </p:txBody>
      </p:sp>
      <p:sp>
        <p:nvSpPr>
          <p:cNvPr id="313" name="文本框 347" descr="{&quot;isTemplate&quot;:true,&quot;type&quot;:&quot;text&quot;}"/>
          <p:cNvSpPr txBox="1"/>
          <p:nvPr/>
        </p:nvSpPr>
        <p:spPr>
          <a:xfrm>
            <a:off x="7543800" y="5572125"/>
            <a:ext cx="4114800" cy="209550"/>
          </a:xfrm>
          <a:prstGeom prst="rect">
            <a:avLst/>
          </a:prstGeom>
        </p:spPr>
        <p:txBody>
          <a:bodyPr wrap="none" lIns="0" tIns="0" rIns="0" bIns="0"/>
          <a:lstStyle/>
          <a:p>
            <a:pPr>
              <a:lnSpc>
                <a:spcPct val="100000"/>
              </a:lnSpc>
            </a:pPr>
            <a:r>
              <a:rPr lang="zh-CN" sz="1350" b="1">
                <a:solidFill>
                  <a:srgbClr val="1A2230"/>
                </a:solidFill>
                <a:latin typeface="Source Han Sans CN"/>
                <a:ea typeface="Source Han Sans CN"/>
              </a:rPr>
              <a:t>任务价值与空间执行代价并存</a:t>
            </a:r>
            <a:endParaRPr/>
          </a:p>
        </p:txBody>
      </p:sp>
      <p:sp>
        <p:nvSpPr>
          <p:cNvPr id="314" name="文本框 348" descr="{&quot;isTemplate&quot;:true,&quot;type&quot;:&quot;text&quot;}"/>
          <p:cNvSpPr txBox="1"/>
          <p:nvPr/>
        </p:nvSpPr>
        <p:spPr>
          <a:xfrm>
            <a:off x="7543800" y="5819775"/>
            <a:ext cx="4114800" cy="257175"/>
          </a:xfrm>
          <a:prstGeom prst="rect">
            <a:avLst/>
          </a:prstGeom>
        </p:spPr>
        <p:txBody>
          <a:bodyPr wrap="none" lIns="0" tIns="0" rIns="0" bIns="0"/>
          <a:lstStyle/>
          <a:p>
            <a:pPr>
              <a:lnSpc>
                <a:spcPct val="155000"/>
              </a:lnSpc>
            </a:pPr>
            <a:r>
              <a:rPr lang="zh-CN" sz="1050">
                <a:solidFill>
                  <a:srgbClr val="4A5568"/>
                </a:solidFill>
                <a:latin typeface="Source Han Sans CN"/>
                <a:ea typeface="Source Han Sans CN"/>
              </a:rPr>
              <a:t>高价值任务可能伴随高三维航程代价，收益与代价必须放在一起权衡</a:t>
            </a:r>
            <a:endParaRPr/>
          </a:p>
        </p:txBody>
      </p:sp>
      <p:sp>
        <p:nvSpPr>
          <p:cNvPr id="315" name="矩形 349"/>
          <p:cNvSpPr/>
          <p:nvPr/>
        </p:nvSpPr>
        <p:spPr>
          <a:xfrm>
            <a:off x="0" y="6448425"/>
            <a:ext cx="12192000" cy="409575"/>
          </a:xfrm>
          <a:prstGeom prst="rect">
            <a:avLst/>
          </a:prstGeom>
          <a:solidFill>
            <a:srgbClr val="F7F9FC"/>
          </a:solidFill>
          <a:ln/>
        </p:spPr>
        <p:txBody>
          <a:bodyPr/>
          <a:lstStyle/>
          <a:p>
            <a:endParaRPr/>
          </a:p>
        </p:txBody>
      </p:sp>
      <p:sp>
        <p:nvSpPr>
          <p:cNvPr id="316" name="任意多边形: 形状 350"/>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317" name="文本框 351"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318" name="文本框 352"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04 / 16</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descr="&lt;Slide style={{ width: 1280, height: 720, background: '#FFFFFF', position: 'relative', fontFamily: 'Source Han Sans CN, Microsoft YaHei, sans-serif' }}&gt;&#10;  &lt;Box style={{ position: 'absolute', top: 0, left: 0, width: 1280, height: 12, background: '#1E4FA8' }} /&gt;&#10;  &lt;Box style={{ position: 'absolute', top: 28, left: 40, flexDirection: 'row', alignItems: 'center', gap: 14 }}&gt;&#10;    &lt;Box style={{ width: 6, height: 34, background: '#1E4FA8' }} /&gt;&#10;    &lt;Text style={{ fontSize: 32, fontWeight: 'bold', color: '#0E3F8C' }}&gt;总体求解框架：分层滚动闭环&lt;/Text&gt;&#10;  &lt;/Box&gt;&#10;  &lt;Box style={{ position: 'absolute', top: 74, left: 60, padding: '6px 18px', background: '#0E3F8C', borderRadius: 6 }}&gt;&#10;    &lt;Text style={{ fontSize: 16, fontWeight: 'bold', color: '#FFFFFF' }}&gt;核心主张：快速任务选择缩空间 + 精细 MUAS 组合优化&lt;/Text&gt;&#10;  &lt;/Box&gt;&#10;&#10;  &lt;Box style={{ position: 'absolute', top: 112, left: 60 }}&gt;&#10;    &lt;svg width={1160} height={296} viewBox='0 0 1160 296'&gt;&#10;      &lt;rect x='18' y='102' width='142' height='92' rx='10' fill='#F0F5FC' stroke='#1E4FA8' strokeWidth='1.2' /&gt;&#10;      &lt;text x='89' y='140' font-size='16' font-weight='bold' fill='#0E3F8C' text-anchor='middle'&gt;动态任务池&lt;/text&gt;&#10;      &lt;text x='89' y='166' font-size='13' fill='#4A5568' text-anchor='middle'&gt;滚动到达 · 滞留留池&lt;/text&gt;&#10;      &lt;line x1='160' y1='148' x2='216' y2='148' stroke='#1E4FA8' strokeWidth='1.8' markerEnd='url(#ah1)' /&gt;&#10;      &lt;rect x='220' y='30' width='332' height='236' rx='12' fill='#FFFFFF' stroke='#1E4FA8' strokeWidth='1.2' /&gt;&#10;      &lt;rect x='220' y='30' width='332' height='44' rx='12' fill='#1E4FA8' /&gt;&#10;      &lt;rect x='220' y='58' width='332' height='16' fill='#1E4FA8' /&gt;&#10;      &lt;text x='386' y='58' font-size='16' font-weight='bold' fill='#FFFFFF' text-anchor='middle'&gt;第一阶段 · 动态任务选择&lt;/text&gt;&#10;      &lt;rect x='240' y='86' width='292' height='38' rx='7' fill='#F0F5FC' stroke='#3D7BD9' strokeWidth='0.8' /&gt;&#10;      &lt;text x='386' y='110' font-size='13.5' fill='#1A2230' text-anchor='middle'&gt;① 优先级排序 P_i（五因素）&lt;/text&gt;&#10;      &lt;rect x='240' y='130' width='292' height='38' rx='7' fill='#F0F5FC' stroke='#3D7BD9' strokeWidth='0.8' /&gt;&#10;      &lt;text x='386' y='154' font-size='13.5' fill='#1A2230' text-anchor='middle'&gt;② 规模：n_cand富 / n_sel卡cap&lt;/text&gt;&#10;      &lt;rect x='240' y='174' width='292' height='38' rx='7' fill='#F0F5FC' stroke='#3D7BD9' strokeWidth='0.8' /&gt;&#10;      &lt;text x='386' y='198' font-size='13.5' fill='#1A2230' text-anchor='middle'&gt;③ 边际增益 Δ = ΔB / ΔC&lt;/text&gt;&#10;      &lt;rect x='240' y='218' width='292' height='38' rx='7' fill='#F0F5FC' stroke='#3D7BD9' strokeWidth='0.8' /&gt;&#10;      &lt;text x='386' y='242' font-size='13.5' fill='#1A2230' text-anchor='middle'&gt;两道闸门 prefilter / postcheck&lt;/text&gt;&#10;      &lt;line x1='552' y1='237' x2='606' y2='237' stroke='#1E4FA8' strokeWidth='1.8' markerEnd='url(#ah1)' /&gt;&#10;      &lt;text x='579' y='225' font-size='13' font-weight='bold' fill='#1E4FA8' text-anchor='middle'&gt;选择集&lt;/text&gt;&#10;      &lt;rect x='610' y='30' width='332' height='236' rx='12' fill='#FFFFFF' stroke='#1E4FA8' strokeWidth='1.2' /&gt;&#10;      &lt;rect x='610' y='30' width='332' height='44' rx='12' fill='#0E3F8C' /&gt;&#10;      &lt;rect x='610' y='58' width='332' height='16' fill='#0E3F8C' /&gt;&#10;      &lt;text x='776' y='58' font-size='16' font-weight='bold' fill='#FFFFFF' text-anchor='middle'&gt;第二阶段 · 选择性 MUAS&lt;/text&gt;&#10;      &lt;rect x='630' y='90' width='292' height='44' rx='7' fill='#F0F5FC' stroke='#3D7BD9' strokeWidth='0.8' /&gt;&#10;      &lt;text x='776' y='118' font-size='14' fill='#1A2230' text-anchor='middle'&gt;统一编码 + DMDE 进化搜索&lt;/text&gt;&#10;      &lt;line x1='776' y1='134' x2='776' y2='148' stroke='#3D7BD9' strokeWidth='1.2' markerEnd='url(#ah2)' /&gt;&#10;      &lt;rect x='630' y='148' width='292' height='44' rx='7' fill='#F0F5FC' stroke='#3D7BD9' strokeWidth='0.8' /&gt;&#10;      &lt;text x='776' y='176' font-size='14' fill='#1A2230' text-anchor='middle'&gt;解码 + 可行性修复（Lamarckian 回写）&lt;/text&gt;&#10;      &lt;line x1='776' y1='192' x2='776' y2='206' stroke='#3D7BD9' strokeWidth='1.2' markerEnd='url(#ah2)' /&gt;&#10;      &lt;rect x='630' y='206' width='292' height='44' rx='7' fill='#F0F5FC' stroke='#3D7BD9' strokeWidth='0.8' /&gt;&#10;      &lt;text x='776' y='234' font-size='14' fill='#1A2230' text-anchor='middle'&gt;终点机巢：最小费用流精确求解&lt;/text&gt;&#10;      &lt;line x1='942' y1='148' x2='996' y2='148' stroke='#1E4FA8' strokeWidth='1.8' markerEnd='url(#ah1)' /&gt;&#10;      &lt;rect x='1000' y='102' width='142' height='92' rx='10' fill='#E8EFF8' stroke='#1E4FA8' strokeWidth='1.2' /&gt;&#10;      &lt;text x='1071' y='140' font-size='16' font-weight='bold' fill='#0E3F8C' text-anchor='middle'&gt;执行与反馈&lt;/text&gt;&#10;      &lt;text x='1071' y='166' font-size='13' fill='#4A5568' text-anchor='middle'&gt;状态更新 · 事件重规划&lt;/text&gt;&#10;      &lt;path d='M 1071,194 L 1071,266 L 89,266 L 89,198' fill='none' stroke='#3D7BD9' strokeWidth='1.6' strokeDasharray='7 5' markerEnd='url(#ah1)' /&gt;&#10;      &lt;text x='580' y='286' font-size='14' fill='#3D7BD9' text-anchor='middle'&gt;周期 t+1：任务池更新 T(t+1) = remain ∪ new ∪ release，UAV 状态同步更新&lt;/text&gt;&#10;      &lt;defs&gt;&#10;        &lt;marker id='ah1' viewBox='0 0 10 10' refX='8' refY='5' markerWidth='7' markerHeight='7' orient='auto-start-reverse'&gt;&#10;          &lt;path d='M2 1L8 5L2 9' fill='none' stroke='#1E4FA8' strokeWidth='1.6' strokeLinecap='round' strokeLinejoin='round' /&gt;&#10;        &lt;/marker&gt;&#10;        &lt;marker id='ah2' viewBox='0 0 10 10' refX='8' refY='5' markerWidth='6' markerHeight='6' orient='auto-start-reverse'&gt;&#10;          &lt;path d='M2 1L8 5L2 9' fill='none' stroke='#3D7BD9' strokeWidth='1.4' strokeLinecap='round' strokeLinejoin='round' /&gt;&#10;        &lt;/marker&gt;&#10;      &lt;/defs&gt;&#10;    &lt;/svg&gt;&#10;  &lt;/Box&gt;&#10;&#10;  &lt;Box style={{ position: 'absolute', top: 442, left: 60, width: 1160, flexDirection: 'row', gap: 20 }}&gt;&#10;    {[&#10;      { t: '第一阶段：轻量不构造成组合问题', d: '只为「值得考虑的任务」快速排序与筛选，落选任务留池下周期再评——避免对整个动态任务池做昂贵组合搜索，同时保住与执行代价的联系。', tag: '缩空间' },&#10;      { t: '第二阶段：四类决策联合优化', d: '任务是否执行 y × 归属 x × 访问顺序 π × 终点机巢 z 联合确定；起点固定、终点可选、允许部分空闲——这是多机巢动态滚动的 MTSP 变体。', tag: '精优化' },&#10;      { t: '滚动闭环：能力范围内做更多', d: '完成出池、未选留池、故障释放、新任务到达；迟到不等于废飞，完成口径只认物理约束——保证长程运行下的任务不丢失。', tag: '闭环运行' },&#10;    ].map((c) =&gt; (&#10;      &lt;Box key={c.tag} style={{ flex: 1, background: '#F7F9FC', border: '1px solid #D6DCE5', borderTop: '4px solid #1E4FA8', borderRadius: 10, padding: '14px 18px', flexDirection: 'column' }}&gt;&#10;        &lt;Box style={{ flexDirection: 'row', justifyContent: 'space-between', alignItems: 'center' }}&gt;&#10;          &lt;Text style={{ fontSize: 17, fontWeight: 'bold', color: '#0E3F8C' }}&gt;{c.t}&lt;/Text&gt;&#10;          &lt;Text style={{ fontSize: 13, fontWeight: 'bold', color: '#FFFFFF', background: '#3D7BD9', padding: '3px 10px', borderRadius: 10 }}&gt;{c.tag}&lt;/Text&gt;&#10;        &lt;/Box&gt;&#10;        &lt;Text style={{ fontSize: 14, color: '#4A5568', lineHeight: 1.6, marginTop: 8 }}&gt;{c.d}&lt;/Text&gt;&#10;      &lt;/Box&gt;&#10;    ))}&#10;  &lt;/Box&gt;&#10;&#10;  &lt;Box style={{ position: 'absolute', bottom: 0, left: 0, width: 1280, height: 44, background: '#F7F9FC', flexDirection: 'row', justifyContent: 'space-between', alignItems: 'center', padding: '0 40px', borderTop: '1px solid #E5E7EB' }}&gt;&#10;    &lt;Text style={{ fontSize: 13, color: '#8B97A8' }}&gt;动态滚动的多机巢多无人机协同任务分配 · 进展汇报&lt;/Text&gt;&#10;    &lt;Text style={{ fontSize: 15, color: '#1E4FA8', fontWeight: 'bold' }}&gt;05 / 16&lt;/Text&gt;&#10;  &lt;/Box&gt;&#10;&lt;/Slide&gt;&#10;"/>
        <p:cNvGrpSpPr/>
        <p:nvPr/>
      </p:nvGrpSpPr>
      <p:grpSpPr>
        <a:xfrm>
          <a:off x="0" y="0"/>
          <a:ext cx="0" cy="0"/>
          <a:chOff x="0" y="0"/>
          <a:chExt cx="0" cy="0"/>
        </a:xfrm>
      </p:grpSpPr>
      <p:sp>
        <p:nvSpPr>
          <p:cNvPr id="320" name="矩形 319"/>
          <p:cNvSpPr/>
          <p:nvPr/>
        </p:nvSpPr>
        <p:spPr>
          <a:xfrm>
            <a:off x="0" y="0"/>
            <a:ext cx="12192000" cy="6858000"/>
          </a:xfrm>
          <a:prstGeom prst="rect">
            <a:avLst/>
          </a:prstGeom>
          <a:solidFill>
            <a:srgbClr val="FFFFFF"/>
          </a:solidFill>
          <a:ln/>
        </p:spPr>
        <p:txBody>
          <a:bodyPr/>
          <a:lstStyle/>
          <a:p>
            <a:endParaRPr/>
          </a:p>
        </p:txBody>
      </p:sp>
      <p:sp>
        <p:nvSpPr>
          <p:cNvPr id="321" name="矩形 320"/>
          <p:cNvSpPr/>
          <p:nvPr/>
        </p:nvSpPr>
        <p:spPr>
          <a:xfrm>
            <a:off x="0" y="0"/>
            <a:ext cx="12192000" cy="114300"/>
          </a:xfrm>
          <a:prstGeom prst="rect">
            <a:avLst/>
          </a:prstGeom>
          <a:solidFill>
            <a:srgbClr val="1E4FA8"/>
          </a:solidFill>
          <a:ln/>
        </p:spPr>
        <p:txBody>
          <a:bodyPr/>
          <a:lstStyle/>
          <a:p>
            <a:endParaRPr/>
          </a:p>
        </p:txBody>
      </p:sp>
      <p:sp>
        <p:nvSpPr>
          <p:cNvPr id="322" name="矩形 321"/>
          <p:cNvSpPr/>
          <p:nvPr/>
        </p:nvSpPr>
        <p:spPr>
          <a:xfrm>
            <a:off x="381000" y="295275"/>
            <a:ext cx="57150" cy="323850"/>
          </a:xfrm>
          <a:prstGeom prst="rect">
            <a:avLst/>
          </a:prstGeom>
          <a:solidFill>
            <a:srgbClr val="1E4FA8"/>
          </a:solidFill>
          <a:ln/>
        </p:spPr>
        <p:txBody>
          <a:bodyPr/>
          <a:lstStyle/>
          <a:p>
            <a:endParaRPr/>
          </a:p>
        </p:txBody>
      </p:sp>
      <p:sp>
        <p:nvSpPr>
          <p:cNvPr id="323" name="文本框 322" descr="{&quot;isTemplate&quot;:true,&quot;type&quot;:&quot;text&quot;}"/>
          <p:cNvSpPr txBox="1"/>
          <p:nvPr/>
        </p:nvSpPr>
        <p:spPr>
          <a:xfrm>
            <a:off x="571500" y="266700"/>
            <a:ext cx="396240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总体求解框架：分层滚动闭环</a:t>
            </a:r>
            <a:endParaRPr/>
          </a:p>
        </p:txBody>
      </p:sp>
      <p:sp>
        <p:nvSpPr>
          <p:cNvPr id="324" name="矩形: 圆角 323"/>
          <p:cNvSpPr/>
          <p:nvPr/>
        </p:nvSpPr>
        <p:spPr>
          <a:xfrm>
            <a:off x="571500" y="704850"/>
            <a:ext cx="4171950" cy="304800"/>
          </a:xfrm>
          <a:prstGeom prst="roundRect">
            <a:avLst>
              <a:gd name="adj" fmla="val 18750"/>
            </a:avLst>
          </a:prstGeom>
          <a:solidFill>
            <a:srgbClr val="0E3F8C"/>
          </a:solidFill>
          <a:ln/>
        </p:spPr>
        <p:txBody>
          <a:bodyPr/>
          <a:lstStyle/>
          <a:p>
            <a:endParaRPr/>
          </a:p>
        </p:txBody>
      </p:sp>
      <p:sp>
        <p:nvSpPr>
          <p:cNvPr id="325" name="文本框 324" descr="{&quot;isTemplate&quot;:true,&quot;type&quot;:&quot;text&quot;}"/>
          <p:cNvSpPr txBox="1"/>
          <p:nvPr/>
        </p:nvSpPr>
        <p:spPr>
          <a:xfrm>
            <a:off x="742950" y="762000"/>
            <a:ext cx="3829050" cy="190500"/>
          </a:xfrm>
          <a:prstGeom prst="rect">
            <a:avLst/>
          </a:prstGeom>
        </p:spPr>
        <p:txBody>
          <a:bodyPr wrap="none" lIns="0" tIns="0" rIns="0" bIns="0"/>
          <a:lstStyle/>
          <a:p>
            <a:pPr>
              <a:lnSpc>
                <a:spcPct val="100000"/>
              </a:lnSpc>
            </a:pPr>
            <a:r>
              <a:rPr lang="zh-CN" sz="1200" b="1">
                <a:solidFill>
                  <a:srgbClr val="FFFFFF"/>
                </a:solidFill>
                <a:latin typeface="Source Han Sans CN"/>
                <a:ea typeface="Source Han Sans CN"/>
              </a:rPr>
              <a:t>核心主张：快速任务选择缩空间</a:t>
            </a:r>
            <a:r>
              <a:rPr lang="en-US" sz="1200" b="1">
                <a:solidFill>
                  <a:srgbClr val="FFFFFF"/>
                </a:solidFill>
                <a:latin typeface="Source Han Sans CN"/>
                <a:ea typeface="Source Han Sans CN"/>
              </a:rPr>
              <a:t> + </a:t>
            </a:r>
            <a:r>
              <a:rPr lang="zh-CN" sz="1200" b="1">
                <a:solidFill>
                  <a:srgbClr val="FFFFFF"/>
                </a:solidFill>
                <a:latin typeface="Source Han Sans CN"/>
                <a:ea typeface="Source Han Sans CN"/>
              </a:rPr>
              <a:t>精细</a:t>
            </a:r>
            <a:r>
              <a:rPr lang="en-US" sz="1200" b="1">
                <a:solidFill>
                  <a:srgbClr val="FFFFFF"/>
                </a:solidFill>
                <a:latin typeface="Source Han Sans CN"/>
                <a:ea typeface="Source Han Sans CN"/>
              </a:rPr>
              <a:t> MUAS </a:t>
            </a:r>
            <a:r>
              <a:rPr lang="zh-CN" sz="1200" b="1">
                <a:solidFill>
                  <a:srgbClr val="FFFFFF"/>
                </a:solidFill>
                <a:latin typeface="Source Han Sans CN"/>
                <a:ea typeface="Source Han Sans CN"/>
              </a:rPr>
              <a:t>组合优化</a:t>
            </a:r>
            <a:endParaRPr/>
          </a:p>
        </p:txBody>
      </p:sp>
      <p:pic>
        <p:nvPicPr>
          <p:cNvPr id="326" name="图形 325"/>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71500" y="1066800"/>
            <a:ext cx="11049000" cy="2819400"/>
          </a:xfrm>
          <a:prstGeom prst="rect">
            <a:avLst/>
          </a:prstGeom>
          <a:ln/>
        </p:spPr>
      </p:pic>
      <p:sp>
        <p:nvSpPr>
          <p:cNvPr id="327" name="矩形: 圆角 326"/>
          <p:cNvSpPr/>
          <p:nvPr/>
        </p:nvSpPr>
        <p:spPr>
          <a:xfrm>
            <a:off x="571500" y="4248150"/>
            <a:ext cx="3552825" cy="1362075"/>
          </a:xfrm>
          <a:prstGeom prst="roundRect">
            <a:avLst>
              <a:gd name="adj" fmla="val 6993"/>
            </a:avLst>
          </a:prstGeom>
          <a:solidFill>
            <a:srgbClr val="F7F9FC"/>
          </a:solidFill>
          <a:ln/>
        </p:spPr>
        <p:txBody>
          <a:bodyPr/>
          <a:lstStyle/>
          <a:p>
            <a:endParaRPr/>
          </a:p>
        </p:txBody>
      </p:sp>
      <p:sp>
        <p:nvSpPr>
          <p:cNvPr id="328" name="任意多边形: 形状 327"/>
          <p:cNvSpPr/>
          <p:nvPr/>
        </p:nvSpPr>
        <p:spPr>
          <a:xfrm>
            <a:off x="571500" y="4248150"/>
            <a:ext cx="3552825" cy="1362075"/>
          </a:xfrm>
          <a:custGeom>
            <a:avLst/>
            <a:gdLst/>
            <a:ahLst/>
            <a:cxnLst/>
            <a:rect l="0" t="0" r="0" b="0"/>
            <a:pathLst>
              <a:path w="373" h="143">
                <a:moveTo>
                  <a:pt x="363" y="0"/>
                </a:moveTo>
                <a:cubicBezTo>
                  <a:pt x="368" y="0"/>
                  <a:pt x="372" y="4"/>
                  <a:pt x="373" y="8"/>
                </a:cubicBezTo>
                <a:cubicBezTo>
                  <a:pt x="372" y="6"/>
                  <a:pt x="370" y="4"/>
                  <a:pt x="367" y="4"/>
                </a:cubicBezTo>
                <a:lnTo>
                  <a:pt x="6" y="4"/>
                </a:lnTo>
                <a:cubicBezTo>
                  <a:pt x="3" y="4"/>
                  <a:pt x="1" y="6"/>
                  <a:pt x="0" y="9"/>
                </a:cubicBezTo>
                <a:cubicBezTo>
                  <a:pt x="1" y="4"/>
                  <a:pt x="5" y="0"/>
                  <a:pt x="10" y="0"/>
                </a:cubicBezTo>
                <a:lnTo>
                  <a:pt x="363" y="0"/>
                </a:lnTo>
                <a:close/>
              </a:path>
            </a:pathLst>
          </a:custGeom>
          <a:solidFill>
            <a:srgbClr val="1E4FA8"/>
          </a:solidFill>
          <a:ln/>
        </p:spPr>
        <p:txBody>
          <a:bodyPr/>
          <a:lstStyle/>
          <a:p>
            <a:endParaRPr/>
          </a:p>
        </p:txBody>
      </p:sp>
      <p:sp>
        <p:nvSpPr>
          <p:cNvPr id="329" name="文本框 328" descr="{&quot;isTemplate&quot;:true,&quot;type&quot;:&quot;text&quot;}"/>
          <p:cNvSpPr txBox="1"/>
          <p:nvPr/>
        </p:nvSpPr>
        <p:spPr>
          <a:xfrm>
            <a:off x="742950" y="4391025"/>
            <a:ext cx="2428875" cy="200025"/>
          </a:xfrm>
          <a:prstGeom prst="rect">
            <a:avLst/>
          </a:prstGeom>
        </p:spPr>
        <p:txBody>
          <a:bodyPr wrap="none" lIns="0" tIns="0" rIns="0" bIns="0"/>
          <a:lstStyle/>
          <a:p>
            <a:pPr>
              <a:lnSpc>
                <a:spcPct val="100000"/>
              </a:lnSpc>
            </a:pPr>
            <a:r>
              <a:rPr lang="zh-CN" sz="1275" b="1">
                <a:solidFill>
                  <a:srgbClr val="0E3F8C"/>
                </a:solidFill>
                <a:latin typeface="Source Han Sans CN"/>
                <a:ea typeface="Source Han Sans CN"/>
              </a:rPr>
              <a:t>第一阶段：轻量不构造成组合问题</a:t>
            </a:r>
            <a:endParaRPr/>
          </a:p>
        </p:txBody>
      </p:sp>
      <p:sp>
        <p:nvSpPr>
          <p:cNvPr id="330" name="矩形: 圆角 329"/>
          <p:cNvSpPr/>
          <p:nvPr/>
        </p:nvSpPr>
        <p:spPr>
          <a:xfrm>
            <a:off x="3390900" y="4381500"/>
            <a:ext cx="561975" cy="209550"/>
          </a:xfrm>
          <a:prstGeom prst="roundRect">
            <a:avLst>
              <a:gd name="adj" fmla="val 45455"/>
            </a:avLst>
          </a:prstGeom>
          <a:solidFill>
            <a:srgbClr val="3D7BD9"/>
          </a:solidFill>
          <a:ln/>
        </p:spPr>
        <p:txBody>
          <a:bodyPr/>
          <a:lstStyle/>
          <a:p>
            <a:endParaRPr/>
          </a:p>
        </p:txBody>
      </p:sp>
      <p:sp>
        <p:nvSpPr>
          <p:cNvPr id="331" name="文本框 330" descr="{&quot;isTemplate&quot;:true,&quot;type&quot;:&quot;text&quot;}"/>
          <p:cNvSpPr txBox="1"/>
          <p:nvPr/>
        </p:nvSpPr>
        <p:spPr>
          <a:xfrm>
            <a:off x="3390900" y="4381500"/>
            <a:ext cx="561975" cy="209550"/>
          </a:xfrm>
          <a:prstGeom prst="rect">
            <a:avLst/>
          </a:prstGeom>
        </p:spPr>
        <p:txBody>
          <a:bodyPr wrap="none" lIns="71438" tIns="21431" rIns="71438" bIns="21431"/>
          <a:lstStyle/>
          <a:p>
            <a:pPr>
              <a:lnSpc>
                <a:spcPct val="100000"/>
              </a:lnSpc>
            </a:pPr>
            <a:r>
              <a:rPr lang="zh-CN" sz="975" b="1">
                <a:solidFill>
                  <a:srgbClr val="FFFFFF"/>
                </a:solidFill>
                <a:highlight>
                  <a:srgbClr val="3D7BD9"/>
                </a:highlight>
                <a:latin typeface="Source Han Sans CN"/>
                <a:ea typeface="Source Han Sans CN"/>
              </a:rPr>
              <a:t>缩空间</a:t>
            </a:r>
            <a:endParaRPr/>
          </a:p>
        </p:txBody>
      </p:sp>
      <p:sp>
        <p:nvSpPr>
          <p:cNvPr id="332" name="文本框 331" descr="{&quot;isTemplate&quot;:true,&quot;type&quot;:&quot;text&quot;}"/>
          <p:cNvSpPr txBox="1"/>
          <p:nvPr/>
        </p:nvSpPr>
        <p:spPr>
          <a:xfrm>
            <a:off x="742950" y="4667250"/>
            <a:ext cx="3209925" cy="771525"/>
          </a:xfrm>
          <a:prstGeom prst="rect">
            <a:avLst/>
          </a:prstGeom>
        </p:spPr>
        <p:txBody>
          <a:bodyPr wrap="square" lIns="0" tIns="0" rIns="0" bIns="0">
            <a:normAutofit/>
          </a:bodyPr>
          <a:lstStyle/>
          <a:p>
            <a:pPr>
              <a:lnSpc>
                <a:spcPct val="160000"/>
              </a:lnSpc>
            </a:pPr>
            <a:r>
              <a:rPr lang="zh-CN" sz="1050">
                <a:solidFill>
                  <a:srgbClr val="4A5568"/>
                </a:solidFill>
                <a:latin typeface="Source Han Sans CN"/>
                <a:ea typeface="Source Han Sans CN"/>
              </a:rPr>
              <a:t>只为「值得考虑的任务」快速排序与筛选，落选任务留池下周期再评——避免对整个动态任务池做昂贵组合搜索，同时保住与执行代价的联系。</a:t>
            </a:r>
            <a:endParaRPr/>
          </a:p>
        </p:txBody>
      </p:sp>
      <p:sp>
        <p:nvSpPr>
          <p:cNvPr id="333" name="矩形: 圆角 332"/>
          <p:cNvSpPr/>
          <p:nvPr/>
        </p:nvSpPr>
        <p:spPr>
          <a:xfrm>
            <a:off x="4314825" y="4248150"/>
            <a:ext cx="3562350" cy="1362075"/>
          </a:xfrm>
          <a:prstGeom prst="roundRect">
            <a:avLst>
              <a:gd name="adj" fmla="val 6993"/>
            </a:avLst>
          </a:prstGeom>
          <a:solidFill>
            <a:srgbClr val="F7F9FC"/>
          </a:solidFill>
          <a:ln/>
        </p:spPr>
        <p:txBody>
          <a:bodyPr/>
          <a:lstStyle/>
          <a:p>
            <a:endParaRPr/>
          </a:p>
        </p:txBody>
      </p:sp>
      <p:sp>
        <p:nvSpPr>
          <p:cNvPr id="334" name="任意多边形: 形状 333"/>
          <p:cNvSpPr/>
          <p:nvPr/>
        </p:nvSpPr>
        <p:spPr>
          <a:xfrm>
            <a:off x="4314825" y="4248150"/>
            <a:ext cx="3562350" cy="1362075"/>
          </a:xfrm>
          <a:custGeom>
            <a:avLst/>
            <a:gdLst/>
            <a:ahLst/>
            <a:cxnLst/>
            <a:rect l="0" t="0" r="0" b="0"/>
            <a:pathLst>
              <a:path w="374" h="143">
                <a:moveTo>
                  <a:pt x="364" y="0"/>
                </a:moveTo>
                <a:cubicBezTo>
                  <a:pt x="369" y="0"/>
                  <a:pt x="373" y="4"/>
                  <a:pt x="374" y="8"/>
                </a:cubicBezTo>
                <a:cubicBezTo>
                  <a:pt x="373" y="6"/>
                  <a:pt x="371" y="4"/>
                  <a:pt x="368" y="4"/>
                </a:cubicBezTo>
                <a:lnTo>
                  <a:pt x="6" y="4"/>
                </a:lnTo>
                <a:cubicBezTo>
                  <a:pt x="3" y="4"/>
                  <a:pt x="1" y="6"/>
                  <a:pt x="0" y="9"/>
                </a:cubicBezTo>
                <a:cubicBezTo>
                  <a:pt x="1" y="4"/>
                  <a:pt x="5" y="0"/>
                  <a:pt x="10" y="0"/>
                </a:cubicBezTo>
                <a:lnTo>
                  <a:pt x="364" y="0"/>
                </a:lnTo>
                <a:close/>
              </a:path>
            </a:pathLst>
          </a:custGeom>
          <a:solidFill>
            <a:srgbClr val="1E4FA8"/>
          </a:solidFill>
          <a:ln/>
        </p:spPr>
        <p:txBody>
          <a:bodyPr/>
          <a:lstStyle/>
          <a:p>
            <a:endParaRPr/>
          </a:p>
        </p:txBody>
      </p:sp>
      <p:sp>
        <p:nvSpPr>
          <p:cNvPr id="335" name="文本框 334" descr="{&quot;isTemplate&quot;:true,&quot;type&quot;:&quot;text&quot;}"/>
          <p:cNvSpPr txBox="1"/>
          <p:nvPr/>
        </p:nvSpPr>
        <p:spPr>
          <a:xfrm>
            <a:off x="4486275" y="4391025"/>
            <a:ext cx="2105025" cy="200025"/>
          </a:xfrm>
          <a:prstGeom prst="rect">
            <a:avLst/>
          </a:prstGeom>
        </p:spPr>
        <p:txBody>
          <a:bodyPr wrap="none" lIns="0" tIns="0" rIns="0" bIns="0"/>
          <a:lstStyle/>
          <a:p>
            <a:pPr>
              <a:lnSpc>
                <a:spcPct val="100000"/>
              </a:lnSpc>
            </a:pPr>
            <a:r>
              <a:rPr lang="zh-CN" sz="1275" b="1">
                <a:solidFill>
                  <a:srgbClr val="0E3F8C"/>
                </a:solidFill>
                <a:latin typeface="Source Han Sans CN"/>
                <a:ea typeface="Source Han Sans CN"/>
              </a:rPr>
              <a:t>第二阶段：四类决策联合优化</a:t>
            </a:r>
            <a:endParaRPr/>
          </a:p>
        </p:txBody>
      </p:sp>
      <p:sp>
        <p:nvSpPr>
          <p:cNvPr id="336" name="矩形: 圆角 335"/>
          <p:cNvSpPr/>
          <p:nvPr/>
        </p:nvSpPr>
        <p:spPr>
          <a:xfrm>
            <a:off x="7143750" y="4381500"/>
            <a:ext cx="561975" cy="209550"/>
          </a:xfrm>
          <a:prstGeom prst="roundRect">
            <a:avLst>
              <a:gd name="adj" fmla="val 45455"/>
            </a:avLst>
          </a:prstGeom>
          <a:solidFill>
            <a:srgbClr val="3D7BD9"/>
          </a:solidFill>
          <a:ln/>
        </p:spPr>
        <p:txBody>
          <a:bodyPr/>
          <a:lstStyle/>
          <a:p>
            <a:endParaRPr/>
          </a:p>
        </p:txBody>
      </p:sp>
      <p:sp>
        <p:nvSpPr>
          <p:cNvPr id="337" name="文本框 336" descr="{&quot;isTemplate&quot;:true,&quot;type&quot;:&quot;text&quot;}"/>
          <p:cNvSpPr txBox="1"/>
          <p:nvPr/>
        </p:nvSpPr>
        <p:spPr>
          <a:xfrm>
            <a:off x="7143750" y="4381500"/>
            <a:ext cx="561975" cy="209550"/>
          </a:xfrm>
          <a:prstGeom prst="rect">
            <a:avLst/>
          </a:prstGeom>
        </p:spPr>
        <p:txBody>
          <a:bodyPr wrap="none" lIns="71438" tIns="21431" rIns="71438" bIns="21431"/>
          <a:lstStyle/>
          <a:p>
            <a:pPr>
              <a:lnSpc>
                <a:spcPct val="100000"/>
              </a:lnSpc>
            </a:pPr>
            <a:r>
              <a:rPr lang="zh-CN" sz="975" b="1">
                <a:solidFill>
                  <a:srgbClr val="FFFFFF"/>
                </a:solidFill>
                <a:highlight>
                  <a:srgbClr val="3D7BD9"/>
                </a:highlight>
                <a:latin typeface="Source Han Sans CN"/>
                <a:ea typeface="Source Han Sans CN"/>
              </a:rPr>
              <a:t>精优化</a:t>
            </a:r>
            <a:endParaRPr/>
          </a:p>
        </p:txBody>
      </p:sp>
      <p:sp>
        <p:nvSpPr>
          <p:cNvPr id="338" name="文本框 337" descr="{&quot;isTemplate&quot;:true,&quot;type&quot;:&quot;text&quot;}"/>
          <p:cNvSpPr txBox="1"/>
          <p:nvPr/>
        </p:nvSpPr>
        <p:spPr>
          <a:xfrm>
            <a:off x="4486275" y="4667250"/>
            <a:ext cx="3219450" cy="771525"/>
          </a:xfrm>
          <a:prstGeom prst="rect">
            <a:avLst/>
          </a:prstGeom>
        </p:spPr>
        <p:txBody>
          <a:bodyPr wrap="square" lIns="0" tIns="0" rIns="0" bIns="0">
            <a:normAutofit/>
          </a:bodyPr>
          <a:lstStyle/>
          <a:p>
            <a:pPr>
              <a:lnSpc>
                <a:spcPct val="160000"/>
              </a:lnSpc>
            </a:pPr>
            <a:r>
              <a:rPr lang="zh-CN" sz="1050">
                <a:solidFill>
                  <a:srgbClr val="4A5568"/>
                </a:solidFill>
                <a:latin typeface="Source Han Sans CN"/>
                <a:ea typeface="Source Han Sans CN"/>
              </a:rPr>
              <a:t>任务是否执行</a:t>
            </a:r>
            <a:r>
              <a:rPr lang="en-US" sz="1050">
                <a:solidFill>
                  <a:srgbClr val="4A5568"/>
                </a:solidFill>
                <a:latin typeface="Source Han Sans CN"/>
                <a:ea typeface="Source Han Sans CN"/>
              </a:rPr>
              <a:t> y × </a:t>
            </a:r>
            <a:r>
              <a:rPr lang="zh-CN" sz="1050">
                <a:solidFill>
                  <a:srgbClr val="4A5568"/>
                </a:solidFill>
                <a:latin typeface="Source Han Sans CN"/>
                <a:ea typeface="Source Han Sans CN"/>
              </a:rPr>
              <a:t>归属</a:t>
            </a:r>
            <a:r>
              <a:rPr lang="en-US" sz="1050">
                <a:solidFill>
                  <a:srgbClr val="4A5568"/>
                </a:solidFill>
                <a:latin typeface="Source Han Sans CN"/>
                <a:ea typeface="Source Han Sans CN"/>
              </a:rPr>
              <a:t> x × </a:t>
            </a:r>
            <a:r>
              <a:rPr lang="zh-CN" sz="1050">
                <a:solidFill>
                  <a:srgbClr val="4A5568"/>
                </a:solidFill>
                <a:latin typeface="Source Han Sans CN"/>
                <a:ea typeface="Source Han Sans CN"/>
              </a:rPr>
              <a:t>访问顺序</a:t>
            </a:r>
            <a:r>
              <a:rPr lang="en-US" sz="1050">
                <a:solidFill>
                  <a:srgbClr val="4A5568"/>
                </a:solidFill>
                <a:latin typeface="Source Han Sans CN"/>
                <a:ea typeface="Source Han Sans CN"/>
              </a:rPr>
              <a:t> π × </a:t>
            </a:r>
            <a:r>
              <a:rPr lang="zh-CN" sz="1050">
                <a:solidFill>
                  <a:srgbClr val="4A5568"/>
                </a:solidFill>
                <a:latin typeface="Source Han Sans CN"/>
                <a:ea typeface="Source Han Sans CN"/>
              </a:rPr>
              <a:t>终点机巢</a:t>
            </a:r>
            <a:r>
              <a:rPr lang="en-US" sz="1050">
                <a:solidFill>
                  <a:srgbClr val="4A5568"/>
                </a:solidFill>
                <a:latin typeface="Source Han Sans CN"/>
                <a:ea typeface="Source Han Sans CN"/>
              </a:rPr>
              <a:t> z </a:t>
            </a:r>
            <a:r>
              <a:rPr lang="zh-CN" sz="1050">
                <a:solidFill>
                  <a:srgbClr val="4A5568"/>
                </a:solidFill>
                <a:latin typeface="Source Han Sans CN"/>
                <a:ea typeface="Source Han Sans CN"/>
              </a:rPr>
              <a:t>联合确定；起点固定、终点可选、允许部分空闲——这是多机巢动态滚动的</a:t>
            </a:r>
            <a:r>
              <a:rPr lang="en-US" sz="1050">
                <a:solidFill>
                  <a:srgbClr val="4A5568"/>
                </a:solidFill>
                <a:latin typeface="Source Han Sans CN"/>
                <a:ea typeface="Source Han Sans CN"/>
              </a:rPr>
              <a:t> MTSP </a:t>
            </a:r>
            <a:r>
              <a:rPr lang="zh-CN" sz="1050">
                <a:solidFill>
                  <a:srgbClr val="4A5568"/>
                </a:solidFill>
                <a:latin typeface="Source Han Sans CN"/>
                <a:ea typeface="Source Han Sans CN"/>
              </a:rPr>
              <a:t>变体。</a:t>
            </a:r>
            <a:endParaRPr/>
          </a:p>
        </p:txBody>
      </p:sp>
      <p:sp>
        <p:nvSpPr>
          <p:cNvPr id="339" name="矩形: 圆角 338"/>
          <p:cNvSpPr/>
          <p:nvPr/>
        </p:nvSpPr>
        <p:spPr>
          <a:xfrm>
            <a:off x="8067675" y="4248150"/>
            <a:ext cx="3552825" cy="1362075"/>
          </a:xfrm>
          <a:prstGeom prst="roundRect">
            <a:avLst>
              <a:gd name="adj" fmla="val 6993"/>
            </a:avLst>
          </a:prstGeom>
          <a:solidFill>
            <a:srgbClr val="F7F9FC"/>
          </a:solidFill>
          <a:ln/>
        </p:spPr>
        <p:txBody>
          <a:bodyPr/>
          <a:lstStyle/>
          <a:p>
            <a:endParaRPr/>
          </a:p>
        </p:txBody>
      </p:sp>
      <p:sp>
        <p:nvSpPr>
          <p:cNvPr id="340" name="任意多边形: 形状 339"/>
          <p:cNvSpPr/>
          <p:nvPr/>
        </p:nvSpPr>
        <p:spPr>
          <a:xfrm>
            <a:off x="8067675" y="4248150"/>
            <a:ext cx="3552825" cy="1362075"/>
          </a:xfrm>
          <a:custGeom>
            <a:avLst/>
            <a:gdLst/>
            <a:ahLst/>
            <a:cxnLst/>
            <a:rect l="0" t="0" r="0" b="0"/>
            <a:pathLst>
              <a:path w="373" h="143">
                <a:moveTo>
                  <a:pt x="363" y="0"/>
                </a:moveTo>
                <a:cubicBezTo>
                  <a:pt x="368" y="0"/>
                  <a:pt x="372" y="4"/>
                  <a:pt x="373" y="8"/>
                </a:cubicBezTo>
                <a:cubicBezTo>
                  <a:pt x="372" y="6"/>
                  <a:pt x="370" y="4"/>
                  <a:pt x="367" y="4"/>
                </a:cubicBezTo>
                <a:lnTo>
                  <a:pt x="6" y="4"/>
                </a:lnTo>
                <a:cubicBezTo>
                  <a:pt x="3" y="4"/>
                  <a:pt x="1" y="6"/>
                  <a:pt x="0" y="9"/>
                </a:cubicBezTo>
                <a:cubicBezTo>
                  <a:pt x="1" y="4"/>
                  <a:pt x="5" y="0"/>
                  <a:pt x="10" y="0"/>
                </a:cubicBezTo>
                <a:lnTo>
                  <a:pt x="363" y="0"/>
                </a:lnTo>
                <a:close/>
              </a:path>
            </a:pathLst>
          </a:custGeom>
          <a:solidFill>
            <a:srgbClr val="1E4FA8"/>
          </a:solidFill>
          <a:ln/>
        </p:spPr>
        <p:txBody>
          <a:bodyPr/>
          <a:lstStyle/>
          <a:p>
            <a:endParaRPr/>
          </a:p>
        </p:txBody>
      </p:sp>
      <p:sp>
        <p:nvSpPr>
          <p:cNvPr id="341" name="文本框 340" descr="{&quot;isTemplate&quot;:true,&quot;type&quot;:&quot;text&quot;}"/>
          <p:cNvSpPr txBox="1"/>
          <p:nvPr/>
        </p:nvSpPr>
        <p:spPr>
          <a:xfrm>
            <a:off x="8239125" y="4391025"/>
            <a:ext cx="2105025" cy="200025"/>
          </a:xfrm>
          <a:prstGeom prst="rect">
            <a:avLst/>
          </a:prstGeom>
        </p:spPr>
        <p:txBody>
          <a:bodyPr wrap="none" lIns="0" tIns="0" rIns="0" bIns="0"/>
          <a:lstStyle/>
          <a:p>
            <a:pPr>
              <a:lnSpc>
                <a:spcPct val="100000"/>
              </a:lnSpc>
            </a:pPr>
            <a:r>
              <a:rPr lang="zh-CN" sz="1275" b="1">
                <a:solidFill>
                  <a:srgbClr val="0E3F8C"/>
                </a:solidFill>
                <a:latin typeface="Source Han Sans CN"/>
                <a:ea typeface="Source Han Sans CN"/>
              </a:rPr>
              <a:t>滚动闭环：能力范围内做更多</a:t>
            </a:r>
            <a:endParaRPr/>
          </a:p>
        </p:txBody>
      </p:sp>
      <p:sp>
        <p:nvSpPr>
          <p:cNvPr id="342" name="矩形: 圆角 341"/>
          <p:cNvSpPr/>
          <p:nvPr/>
        </p:nvSpPr>
        <p:spPr>
          <a:xfrm>
            <a:off x="10763250" y="4381500"/>
            <a:ext cx="685800" cy="209550"/>
          </a:xfrm>
          <a:prstGeom prst="roundRect">
            <a:avLst>
              <a:gd name="adj" fmla="val 45455"/>
            </a:avLst>
          </a:prstGeom>
          <a:solidFill>
            <a:srgbClr val="3D7BD9"/>
          </a:solidFill>
          <a:ln/>
        </p:spPr>
        <p:txBody>
          <a:bodyPr/>
          <a:lstStyle/>
          <a:p>
            <a:endParaRPr/>
          </a:p>
        </p:txBody>
      </p:sp>
      <p:sp>
        <p:nvSpPr>
          <p:cNvPr id="343" name="文本框 342" descr="{&quot;isTemplate&quot;:true,&quot;type&quot;:&quot;text&quot;}"/>
          <p:cNvSpPr txBox="1"/>
          <p:nvPr/>
        </p:nvSpPr>
        <p:spPr>
          <a:xfrm>
            <a:off x="10763250" y="4381500"/>
            <a:ext cx="685800" cy="209550"/>
          </a:xfrm>
          <a:prstGeom prst="rect">
            <a:avLst/>
          </a:prstGeom>
        </p:spPr>
        <p:txBody>
          <a:bodyPr wrap="none" lIns="71438" tIns="21431" rIns="71438" bIns="21431"/>
          <a:lstStyle/>
          <a:p>
            <a:pPr>
              <a:lnSpc>
                <a:spcPct val="100000"/>
              </a:lnSpc>
            </a:pPr>
            <a:r>
              <a:rPr lang="zh-CN" sz="975" b="1">
                <a:solidFill>
                  <a:srgbClr val="FFFFFF"/>
                </a:solidFill>
                <a:highlight>
                  <a:srgbClr val="3D7BD9"/>
                </a:highlight>
                <a:latin typeface="Source Han Sans CN"/>
                <a:ea typeface="Source Han Sans CN"/>
              </a:rPr>
              <a:t>闭环运行</a:t>
            </a:r>
            <a:endParaRPr/>
          </a:p>
        </p:txBody>
      </p:sp>
      <p:sp>
        <p:nvSpPr>
          <p:cNvPr id="344" name="文本框 343" descr="{&quot;isTemplate&quot;:true,&quot;type&quot;:&quot;text&quot;}"/>
          <p:cNvSpPr txBox="1"/>
          <p:nvPr/>
        </p:nvSpPr>
        <p:spPr>
          <a:xfrm>
            <a:off x="8239125" y="4667250"/>
            <a:ext cx="3209925" cy="771525"/>
          </a:xfrm>
          <a:prstGeom prst="rect">
            <a:avLst/>
          </a:prstGeom>
        </p:spPr>
        <p:txBody>
          <a:bodyPr wrap="square" lIns="0" tIns="0" rIns="0" bIns="0">
            <a:normAutofit/>
          </a:bodyPr>
          <a:lstStyle/>
          <a:p>
            <a:pPr>
              <a:lnSpc>
                <a:spcPct val="160000"/>
              </a:lnSpc>
            </a:pPr>
            <a:r>
              <a:rPr lang="zh-CN" sz="1050">
                <a:solidFill>
                  <a:srgbClr val="4A5568"/>
                </a:solidFill>
                <a:latin typeface="Source Han Sans CN"/>
                <a:ea typeface="Source Han Sans CN"/>
              </a:rPr>
              <a:t>完成出池、未选留池、故障释放、新任务到达；迟到不等于废飞，完成口径只认物理约束——保证长程运行下的任务不丢失。</a:t>
            </a:r>
            <a:endParaRPr/>
          </a:p>
        </p:txBody>
      </p:sp>
      <p:sp>
        <p:nvSpPr>
          <p:cNvPr id="345" name="矩形 344"/>
          <p:cNvSpPr/>
          <p:nvPr/>
        </p:nvSpPr>
        <p:spPr>
          <a:xfrm>
            <a:off x="0" y="6448425"/>
            <a:ext cx="12192000" cy="409575"/>
          </a:xfrm>
          <a:prstGeom prst="rect">
            <a:avLst/>
          </a:prstGeom>
          <a:solidFill>
            <a:srgbClr val="F7F9FC"/>
          </a:solidFill>
          <a:ln/>
        </p:spPr>
        <p:txBody>
          <a:bodyPr/>
          <a:lstStyle/>
          <a:p>
            <a:endParaRPr/>
          </a:p>
        </p:txBody>
      </p:sp>
      <p:sp>
        <p:nvSpPr>
          <p:cNvPr id="346" name="任意多边形: 形状 345"/>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347" name="文本框 346"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348" name="文本框 347"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05 / 16</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0" name="矩形 349"/>
          <p:cNvSpPr/>
          <p:nvPr/>
        </p:nvSpPr>
        <p:spPr>
          <a:xfrm>
            <a:off x="0" y="0"/>
            <a:ext cx="12192000" cy="6858000"/>
          </a:xfrm>
          <a:prstGeom prst="rect">
            <a:avLst/>
          </a:prstGeom>
          <a:solidFill>
            <a:srgbClr val="FFFFFF"/>
          </a:solidFill>
          <a:ln/>
        </p:spPr>
        <p:txBody>
          <a:bodyPr/>
          <a:lstStyle/>
          <a:p>
            <a:endParaRPr/>
          </a:p>
        </p:txBody>
      </p:sp>
      <p:sp>
        <p:nvSpPr>
          <p:cNvPr id="351" name="矩形 350"/>
          <p:cNvSpPr/>
          <p:nvPr/>
        </p:nvSpPr>
        <p:spPr>
          <a:xfrm>
            <a:off x="0" y="0"/>
            <a:ext cx="12192000" cy="114300"/>
          </a:xfrm>
          <a:prstGeom prst="rect">
            <a:avLst/>
          </a:prstGeom>
          <a:solidFill>
            <a:srgbClr val="1E4FA8"/>
          </a:solidFill>
          <a:ln/>
        </p:spPr>
        <p:txBody>
          <a:bodyPr/>
          <a:lstStyle/>
          <a:p>
            <a:endParaRPr/>
          </a:p>
        </p:txBody>
      </p:sp>
      <p:sp>
        <p:nvSpPr>
          <p:cNvPr id="352" name="文本框 351" descr="{&quot;isTemplate&quot;:true,&quot;type&quot;:&quot;text&quot;}"/>
          <p:cNvSpPr txBox="1"/>
          <p:nvPr/>
        </p:nvSpPr>
        <p:spPr>
          <a:xfrm>
            <a:off x="7734300" y="1238250"/>
            <a:ext cx="3886200" cy="3771900"/>
          </a:xfrm>
          <a:prstGeom prst="rect">
            <a:avLst/>
          </a:prstGeom>
        </p:spPr>
        <p:txBody>
          <a:bodyPr wrap="none" lIns="0" tIns="0" rIns="0" bIns="0"/>
          <a:lstStyle/>
          <a:p>
            <a:pPr>
              <a:lnSpc>
                <a:spcPct val="100000"/>
              </a:lnSpc>
            </a:pPr>
            <a:r>
              <a:rPr lang="en-US" sz="24750" b="1">
                <a:solidFill>
                  <a:srgbClr val="E8EFF8"/>
                </a:solidFill>
                <a:latin typeface="Source Han Sans CN"/>
                <a:ea typeface="Source Han Sans CN"/>
              </a:rPr>
              <a:t>02</a:t>
            </a:r>
            <a:endParaRPr/>
          </a:p>
        </p:txBody>
      </p:sp>
      <p:sp>
        <p:nvSpPr>
          <p:cNvPr id="353" name="矩形 352"/>
          <p:cNvSpPr/>
          <p:nvPr/>
        </p:nvSpPr>
        <p:spPr>
          <a:xfrm>
            <a:off x="762000" y="1990725"/>
            <a:ext cx="381000" cy="38100"/>
          </a:xfrm>
          <a:prstGeom prst="rect">
            <a:avLst/>
          </a:prstGeom>
          <a:solidFill>
            <a:srgbClr val="FFC107"/>
          </a:solidFill>
          <a:ln/>
        </p:spPr>
        <p:txBody>
          <a:bodyPr/>
          <a:lstStyle/>
          <a:p>
            <a:endParaRPr/>
          </a:p>
        </p:txBody>
      </p:sp>
      <p:sp>
        <p:nvSpPr>
          <p:cNvPr id="354" name="文本框 353" descr="{&quot;isTemplate&quot;:true,&quot;type&quot;:&quot;text&quot;}"/>
          <p:cNvSpPr txBox="1"/>
          <p:nvPr/>
        </p:nvSpPr>
        <p:spPr>
          <a:xfrm>
            <a:off x="1276350" y="1905000"/>
            <a:ext cx="1457325" cy="200025"/>
          </a:xfrm>
          <a:prstGeom prst="rect">
            <a:avLst/>
          </a:prstGeom>
        </p:spPr>
        <p:txBody>
          <a:bodyPr wrap="none" lIns="0" tIns="0" rIns="0" bIns="0"/>
          <a:lstStyle/>
          <a:p>
            <a:pPr>
              <a:lnSpc>
                <a:spcPct val="100000"/>
              </a:lnSpc>
            </a:pPr>
            <a:r>
              <a:rPr lang="en-US" sz="1275" spc="375">
                <a:solidFill>
                  <a:srgbClr val="3D7BD9"/>
                </a:solidFill>
                <a:latin typeface="Source Han Sans CN"/>
                <a:ea typeface="Source Han Sans CN"/>
              </a:rPr>
              <a:t>CHAPTER 02</a:t>
            </a:r>
            <a:endParaRPr/>
          </a:p>
        </p:txBody>
      </p:sp>
      <p:sp>
        <p:nvSpPr>
          <p:cNvPr id="355" name="文本框 354" descr="{&quot;isTemplate&quot;:true,&quot;type&quot;:&quot;text&quot;}"/>
          <p:cNvSpPr txBox="1"/>
          <p:nvPr/>
        </p:nvSpPr>
        <p:spPr>
          <a:xfrm>
            <a:off x="762000" y="2276475"/>
            <a:ext cx="7239000" cy="504825"/>
          </a:xfrm>
          <a:prstGeom prst="rect">
            <a:avLst/>
          </a:prstGeom>
        </p:spPr>
        <p:txBody>
          <a:bodyPr wrap="none" lIns="0" tIns="0" rIns="0" bIns="0"/>
          <a:lstStyle/>
          <a:p>
            <a:pPr>
              <a:lnSpc>
                <a:spcPct val="100000"/>
              </a:lnSpc>
            </a:pPr>
            <a:r>
              <a:rPr lang="zh-CN" sz="3300" b="1">
                <a:solidFill>
                  <a:srgbClr val="0E3F8C"/>
                </a:solidFill>
                <a:latin typeface="Source Han Sans CN"/>
                <a:ea typeface="Source Han Sans CN"/>
              </a:rPr>
              <a:t>第一阶段：动态任务选择</a:t>
            </a:r>
            <a:endParaRPr/>
          </a:p>
        </p:txBody>
      </p:sp>
      <p:sp>
        <p:nvSpPr>
          <p:cNvPr id="356" name="矩形: 圆角 355"/>
          <p:cNvSpPr/>
          <p:nvPr/>
        </p:nvSpPr>
        <p:spPr>
          <a:xfrm>
            <a:off x="762000" y="3209925"/>
            <a:ext cx="76200" cy="76200"/>
          </a:xfrm>
          <a:prstGeom prst="roundRect">
            <a:avLst>
              <a:gd name="adj" fmla="val 50000"/>
            </a:avLst>
          </a:prstGeom>
          <a:solidFill>
            <a:srgbClr val="1E4FA8"/>
          </a:solidFill>
          <a:ln/>
        </p:spPr>
        <p:txBody>
          <a:bodyPr/>
          <a:lstStyle/>
          <a:p>
            <a:endParaRPr/>
          </a:p>
        </p:txBody>
      </p:sp>
      <p:sp>
        <p:nvSpPr>
          <p:cNvPr id="357" name="文本框 356" descr="{&quot;isTemplate&quot;:true,&quot;type&quot;:&quot;text&quot;}"/>
          <p:cNvSpPr txBox="1"/>
          <p:nvPr/>
        </p:nvSpPr>
        <p:spPr>
          <a:xfrm>
            <a:off x="952500" y="3105150"/>
            <a:ext cx="7048500" cy="742950"/>
          </a:xfrm>
          <a:prstGeom prst="rect">
            <a:avLst/>
          </a:prstGeom>
        </p:spPr>
        <p:txBody>
          <a:bodyPr wrap="square" lIns="0" tIns="0" rIns="0" bIns="0">
            <a:normAutofit/>
          </a:bodyPr>
          <a:lstStyle/>
          <a:p>
            <a:pPr>
              <a:lnSpc>
                <a:spcPct val="170000"/>
              </a:lnSpc>
            </a:pPr>
            <a:r>
              <a:rPr lang="zh-CN" sz="1425" b="1">
                <a:solidFill>
                  <a:srgbClr val="1A2230"/>
                </a:solidFill>
                <a:latin typeface="Source Han Sans CN"/>
                <a:ea typeface="Source Han Sans CN"/>
              </a:rPr>
              <a:t>不构造成全局组合优化问题</a:t>
            </a:r>
            <a:r>
              <a:rPr lang="zh-CN" sz="1425">
                <a:solidFill>
                  <a:srgbClr val="1A2230"/>
                </a:solidFill>
                <a:latin typeface="Source Han Sans CN"/>
                <a:ea typeface="Source Han Sans CN"/>
              </a:rPr>
              <a:t>——采用轻量化的「预筛选</a:t>
            </a:r>
            <a:r>
              <a:rPr lang="en-US" sz="1425">
                <a:solidFill>
                  <a:srgbClr val="1A2230"/>
                </a:solidFill>
                <a:latin typeface="Source Han Sans CN"/>
                <a:ea typeface="Source Han Sans CN"/>
              </a:rPr>
              <a:t> + </a:t>
            </a:r>
            <a:r>
              <a:rPr lang="zh-CN" sz="1425">
                <a:solidFill>
                  <a:srgbClr val="1A2230"/>
                </a:solidFill>
                <a:latin typeface="Source Han Sans CN"/>
                <a:ea typeface="Source Han Sans CN"/>
              </a:rPr>
              <a:t>增量选择</a:t>
            </a:r>
            <a:r>
              <a:rPr lang="en-US" sz="1425">
                <a:solidFill>
                  <a:srgbClr val="1A2230"/>
                </a:solidFill>
                <a:latin typeface="Source Han Sans CN"/>
                <a:ea typeface="Source Han Sans CN"/>
              </a:rPr>
              <a:t> + </a:t>
            </a:r>
            <a:r>
              <a:rPr lang="zh-CN" sz="1425">
                <a:solidFill>
                  <a:srgbClr val="1A2230"/>
                </a:solidFill>
                <a:latin typeface="Source Han Sans CN"/>
                <a:ea typeface="Source Han Sans CN"/>
              </a:rPr>
              <a:t>可行性检查」三步机制</a:t>
            </a:r>
            <a:endParaRPr/>
          </a:p>
        </p:txBody>
      </p:sp>
      <p:sp>
        <p:nvSpPr>
          <p:cNvPr id="358" name="矩形: 圆角 357"/>
          <p:cNvSpPr/>
          <p:nvPr/>
        </p:nvSpPr>
        <p:spPr>
          <a:xfrm>
            <a:off x="762000" y="4124325"/>
            <a:ext cx="76200" cy="76200"/>
          </a:xfrm>
          <a:prstGeom prst="roundRect">
            <a:avLst>
              <a:gd name="adj" fmla="val 50000"/>
            </a:avLst>
          </a:prstGeom>
          <a:solidFill>
            <a:srgbClr val="1E4FA8"/>
          </a:solidFill>
          <a:ln/>
        </p:spPr>
        <p:txBody>
          <a:bodyPr/>
          <a:lstStyle/>
          <a:p>
            <a:endParaRPr/>
          </a:p>
        </p:txBody>
      </p:sp>
      <p:sp>
        <p:nvSpPr>
          <p:cNvPr id="359" name="文本框 358" descr="{&quot;isTemplate&quot;:true,&quot;type&quot;:&quot;text&quot;}"/>
          <p:cNvSpPr txBox="1"/>
          <p:nvPr/>
        </p:nvSpPr>
        <p:spPr>
          <a:xfrm>
            <a:off x="952500" y="4019550"/>
            <a:ext cx="7048500" cy="742950"/>
          </a:xfrm>
          <a:prstGeom prst="rect">
            <a:avLst/>
          </a:prstGeom>
        </p:spPr>
        <p:txBody>
          <a:bodyPr wrap="square" lIns="0" tIns="0" rIns="0" bIns="0">
            <a:normAutofit/>
          </a:bodyPr>
          <a:lstStyle/>
          <a:p>
            <a:pPr>
              <a:lnSpc>
                <a:spcPct val="170000"/>
              </a:lnSpc>
            </a:pPr>
            <a:r>
              <a:rPr lang="zh-CN" sz="1425">
                <a:solidFill>
                  <a:srgbClr val="1A2230"/>
                </a:solidFill>
                <a:latin typeface="Source Han Sans CN"/>
                <a:ea typeface="Source Han Sans CN"/>
              </a:rPr>
              <a:t>候选池与能力</a:t>
            </a:r>
            <a:r>
              <a:rPr lang="zh-CN" sz="1425" b="1">
                <a:solidFill>
                  <a:srgbClr val="1A2230"/>
                </a:solidFill>
                <a:latin typeface="Source Han Sans CN"/>
                <a:ea typeface="Source Han Sans CN"/>
              </a:rPr>
              <a:t>解耦</a:t>
            </a:r>
            <a:r>
              <a:rPr lang="zh-CN" sz="1425">
                <a:solidFill>
                  <a:srgbClr val="1A2230"/>
                </a:solidFill>
                <a:latin typeface="Source Han Sans CN"/>
                <a:ea typeface="Source Han Sans CN"/>
              </a:rPr>
              <a:t>（</a:t>
            </a:r>
            <a:r>
              <a:rPr lang="en-US" sz="1425">
                <a:solidFill>
                  <a:srgbClr val="1A2230"/>
                </a:solidFill>
                <a:latin typeface="Source Han Sans CN"/>
                <a:ea typeface="Source Han Sans CN"/>
              </a:rPr>
              <a:t>n_cand=⌈αK⌉</a:t>
            </a:r>
            <a:r>
              <a:rPr lang="zh-CN" sz="1425">
                <a:solidFill>
                  <a:srgbClr val="1A2230"/>
                </a:solidFill>
                <a:latin typeface="Source Han Sans CN"/>
                <a:ea typeface="Source Han Sans CN"/>
              </a:rPr>
              <a:t>，富）；选择数由</a:t>
            </a:r>
            <a:r>
              <a:rPr lang="en-US" sz="1425">
                <a:solidFill>
                  <a:srgbClr val="1A2230"/>
                </a:solidFill>
                <a:latin typeface="Source Han Sans CN"/>
                <a:ea typeface="Source Han Sans CN"/>
              </a:rPr>
              <a:t> </a:t>
            </a:r>
            <a:r>
              <a:rPr lang="en-US" sz="1425" b="1">
                <a:solidFill>
                  <a:srgbClr val="1A2230"/>
                </a:solidFill>
                <a:latin typeface="Source Han Sans CN"/>
                <a:ea typeface="Source Han Sans CN"/>
              </a:rPr>
              <a:t>cap(t)</a:t>
            </a:r>
            <a:r>
              <a:rPr lang="en-US" sz="1425">
                <a:solidFill>
                  <a:srgbClr val="1A2230"/>
                </a:solidFill>
                <a:latin typeface="Source Han Sans CN"/>
                <a:ea typeface="Source Han Sans CN"/>
              </a:rPr>
              <a:t> </a:t>
            </a:r>
            <a:r>
              <a:rPr lang="zh-CN" sz="1425">
                <a:solidFill>
                  <a:srgbClr val="1A2230"/>
                </a:solidFill>
                <a:latin typeface="Source Han Sans CN"/>
                <a:ea typeface="Source Han Sans CN"/>
              </a:rPr>
              <a:t>卡紧（</a:t>
            </a:r>
            <a:r>
              <a:rPr lang="en-US" sz="1425">
                <a:solidFill>
                  <a:srgbClr val="1A2230"/>
                </a:solidFill>
                <a:latin typeface="Source Han Sans CN"/>
                <a:ea typeface="Source Han Sans CN"/>
              </a:rPr>
              <a:t>n_sel</a:t>
            </a:r>
            <a:r>
              <a:rPr lang="zh-CN" sz="1425">
                <a:solidFill>
                  <a:srgbClr val="1A2230"/>
                </a:solidFill>
                <a:latin typeface="Source Han Sans CN"/>
                <a:ea typeface="Source Han Sans CN"/>
              </a:rPr>
              <a:t>），与后续执行代价保持联系</a:t>
            </a:r>
            <a:endParaRPr/>
          </a:p>
        </p:txBody>
      </p:sp>
      <p:sp>
        <p:nvSpPr>
          <p:cNvPr id="360" name="文本框 359" descr="{&quot;isTemplate&quot;:true,&quot;type&quot;:&quot;text&quot;}"/>
          <p:cNvSpPr txBox="1"/>
          <p:nvPr/>
        </p:nvSpPr>
        <p:spPr>
          <a:xfrm>
            <a:off x="762000" y="5048250"/>
            <a:ext cx="7239000" cy="666750"/>
          </a:xfrm>
          <a:prstGeom prst="rect">
            <a:avLst/>
          </a:prstGeom>
        </p:spPr>
        <p:txBody>
          <a:bodyPr wrap="square" lIns="0" tIns="0" rIns="0" bIns="0">
            <a:normAutofit/>
          </a:bodyPr>
          <a:lstStyle/>
          <a:p>
            <a:pPr>
              <a:lnSpc>
                <a:spcPct val="180000"/>
              </a:lnSpc>
            </a:pPr>
            <a:r>
              <a:rPr lang="zh-CN" sz="1200">
                <a:solidFill>
                  <a:srgbClr val="4A5568"/>
                </a:solidFill>
                <a:latin typeface="Source Han Sans CN"/>
                <a:ea typeface="Source Han Sans CN"/>
              </a:rPr>
              <a:t>该阶段的目的不是直接确定最终执行任务，而是将原始动态任务池缩减为规模可控的候选集合，使后续边际选择与</a:t>
            </a:r>
            <a:r>
              <a:rPr lang="en-US" sz="1200">
                <a:solidFill>
                  <a:srgbClr val="4A5568"/>
                </a:solidFill>
                <a:latin typeface="Source Han Sans CN"/>
                <a:ea typeface="Source Han Sans CN"/>
              </a:rPr>
              <a:t> MUAS </a:t>
            </a:r>
            <a:r>
              <a:rPr lang="zh-CN" sz="1200">
                <a:solidFill>
                  <a:srgbClr val="4A5568"/>
                </a:solidFill>
                <a:latin typeface="Source Han Sans CN"/>
                <a:ea typeface="Source Han Sans CN"/>
              </a:rPr>
              <a:t>精细优化无需面对全部任务；落选任务留池、下周期再评。</a:t>
            </a:r>
            <a:endParaRPr/>
          </a:p>
        </p:txBody>
      </p:sp>
      <p:sp>
        <p:nvSpPr>
          <p:cNvPr id="361" name="矩形: 圆角 360"/>
          <p:cNvSpPr/>
          <p:nvPr/>
        </p:nvSpPr>
        <p:spPr>
          <a:xfrm>
            <a:off x="762000" y="5943600"/>
            <a:ext cx="2352675" cy="295275"/>
          </a:xfrm>
          <a:prstGeom prst="roundRect">
            <a:avLst>
              <a:gd name="adj" fmla="val 19355"/>
            </a:avLst>
          </a:prstGeom>
          <a:solidFill>
            <a:srgbClr val="1E4FA8"/>
          </a:solidFill>
          <a:ln/>
        </p:spPr>
        <p:txBody>
          <a:bodyPr/>
          <a:lstStyle/>
          <a:p>
            <a:endParaRPr/>
          </a:p>
        </p:txBody>
      </p:sp>
      <p:sp>
        <p:nvSpPr>
          <p:cNvPr id="362" name="文本框 361" descr="{&quot;isTemplate&quot;:true,&quot;type&quot;:&quot;text&quot;}"/>
          <p:cNvSpPr txBox="1"/>
          <p:nvPr/>
        </p:nvSpPr>
        <p:spPr>
          <a:xfrm>
            <a:off x="914400" y="6010275"/>
            <a:ext cx="2047875"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P7 · </a:t>
            </a:r>
            <a:r>
              <a:rPr lang="zh-CN" sz="1050" b="1">
                <a:solidFill>
                  <a:srgbClr val="FFFFFF"/>
                </a:solidFill>
                <a:latin typeface="Source Han Sans CN"/>
                <a:ea typeface="Source Han Sans CN"/>
              </a:rPr>
              <a:t>优先级预筛选与边际收益选择</a:t>
            </a:r>
            <a:endParaRPr/>
          </a:p>
        </p:txBody>
      </p:sp>
      <p:sp>
        <p:nvSpPr>
          <p:cNvPr id="363" name="矩形: 圆角 362"/>
          <p:cNvSpPr/>
          <p:nvPr/>
        </p:nvSpPr>
        <p:spPr>
          <a:xfrm>
            <a:off x="10086975" y="4572000"/>
            <a:ext cx="1343025"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364" name="文本框 363" descr="{&quot;isTemplate&quot;:true,&quot;type&quot;:&quot;text&quot;}"/>
          <p:cNvSpPr txBox="1"/>
          <p:nvPr/>
        </p:nvSpPr>
        <p:spPr>
          <a:xfrm>
            <a:off x="10258425" y="4648200"/>
            <a:ext cx="1000125"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基础优先级排序</a:t>
            </a:r>
            <a:endParaRPr/>
          </a:p>
        </p:txBody>
      </p:sp>
      <p:sp>
        <p:nvSpPr>
          <p:cNvPr id="365" name="矩形: 圆角 364"/>
          <p:cNvSpPr/>
          <p:nvPr/>
        </p:nvSpPr>
        <p:spPr>
          <a:xfrm>
            <a:off x="10001250" y="5010150"/>
            <a:ext cx="1428750"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366" name="文本框 365" descr="{&quot;isTemplate&quot;:true,&quot;type&quot;:&quot;text&quot;}"/>
          <p:cNvSpPr txBox="1"/>
          <p:nvPr/>
        </p:nvSpPr>
        <p:spPr>
          <a:xfrm>
            <a:off x="10172700" y="5086350"/>
            <a:ext cx="1085850"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能力定规模</a:t>
            </a:r>
            <a:r>
              <a:rPr lang="en-US" sz="1125" b="1">
                <a:solidFill>
                  <a:srgbClr val="1E4FA8"/>
                </a:solidFill>
                <a:latin typeface="Source Han Sans CN"/>
                <a:ea typeface="Source Han Sans CN"/>
              </a:rPr>
              <a:t>(cap)</a:t>
            </a:r>
            <a:endParaRPr/>
          </a:p>
        </p:txBody>
      </p:sp>
      <p:sp>
        <p:nvSpPr>
          <p:cNvPr id="367" name="矩形: 圆角 366"/>
          <p:cNvSpPr/>
          <p:nvPr/>
        </p:nvSpPr>
        <p:spPr>
          <a:xfrm>
            <a:off x="10229850" y="5448300"/>
            <a:ext cx="1200150"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368" name="文本框 367" descr="{&quot;isTemplate&quot;:true,&quot;type&quot;:&quot;text&quot;}"/>
          <p:cNvSpPr txBox="1"/>
          <p:nvPr/>
        </p:nvSpPr>
        <p:spPr>
          <a:xfrm>
            <a:off x="10401300" y="5524500"/>
            <a:ext cx="857250"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边际增量选择</a:t>
            </a:r>
            <a:endParaRPr/>
          </a:p>
        </p:txBody>
      </p:sp>
      <p:sp>
        <p:nvSpPr>
          <p:cNvPr id="369" name="矩形: 圆角 368"/>
          <p:cNvSpPr/>
          <p:nvPr/>
        </p:nvSpPr>
        <p:spPr>
          <a:xfrm>
            <a:off x="762000" y="5857875"/>
            <a:ext cx="476250" cy="276225"/>
          </a:xfrm>
          <a:prstGeom prst="roundRect">
            <a:avLst>
              <a:gd name="adj" fmla="val 48276"/>
            </a:avLst>
          </a:prstGeom>
          <a:solidFill>
            <a:srgbClr val="F0F5FC"/>
          </a:solidFill>
          <a:ln/>
        </p:spPr>
        <p:txBody>
          <a:bodyPr/>
          <a:lstStyle/>
          <a:p>
            <a:endParaRPr/>
          </a:p>
        </p:txBody>
      </p:sp>
      <p:sp>
        <p:nvSpPr>
          <p:cNvPr id="370" name="文本框 369" descr="{&quot;isTemplate&quot;:true,&quot;type&quot;:&quot;text&quot;}"/>
          <p:cNvSpPr txBox="1"/>
          <p:nvPr/>
        </p:nvSpPr>
        <p:spPr>
          <a:xfrm>
            <a:off x="91440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01</a:t>
            </a:r>
            <a:endParaRPr/>
          </a:p>
        </p:txBody>
      </p:sp>
      <p:sp>
        <p:nvSpPr>
          <p:cNvPr id="371" name="矩形: 圆角 370"/>
          <p:cNvSpPr/>
          <p:nvPr/>
        </p:nvSpPr>
        <p:spPr>
          <a:xfrm>
            <a:off x="1352550" y="5857875"/>
            <a:ext cx="476250" cy="276225"/>
          </a:xfrm>
          <a:prstGeom prst="roundRect">
            <a:avLst>
              <a:gd name="adj" fmla="val 48276"/>
            </a:avLst>
          </a:prstGeom>
          <a:solidFill>
            <a:srgbClr val="1E4FA8"/>
          </a:solidFill>
          <a:ln/>
        </p:spPr>
        <p:txBody>
          <a:bodyPr/>
          <a:lstStyle/>
          <a:p>
            <a:endParaRPr/>
          </a:p>
        </p:txBody>
      </p:sp>
      <p:sp>
        <p:nvSpPr>
          <p:cNvPr id="372" name="文本框 371" descr="{&quot;isTemplate&quot;:true,&quot;type&quot;:&quot;text&quot;}"/>
          <p:cNvSpPr txBox="1"/>
          <p:nvPr/>
        </p:nvSpPr>
        <p:spPr>
          <a:xfrm>
            <a:off x="1504950" y="5915025"/>
            <a:ext cx="171450"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02</a:t>
            </a:r>
            <a:endParaRPr/>
          </a:p>
        </p:txBody>
      </p:sp>
      <p:sp>
        <p:nvSpPr>
          <p:cNvPr id="373" name="矩形: 圆角 372"/>
          <p:cNvSpPr/>
          <p:nvPr/>
        </p:nvSpPr>
        <p:spPr>
          <a:xfrm>
            <a:off x="1943100" y="5857875"/>
            <a:ext cx="476250" cy="276225"/>
          </a:xfrm>
          <a:prstGeom prst="roundRect">
            <a:avLst>
              <a:gd name="adj" fmla="val 48276"/>
            </a:avLst>
          </a:prstGeom>
          <a:solidFill>
            <a:srgbClr val="F0F5FC"/>
          </a:solidFill>
          <a:ln/>
        </p:spPr>
        <p:txBody>
          <a:bodyPr/>
          <a:lstStyle/>
          <a:p>
            <a:endParaRPr/>
          </a:p>
        </p:txBody>
      </p:sp>
      <p:sp>
        <p:nvSpPr>
          <p:cNvPr id="374" name="文本框 373" descr="{&quot;isTemplate&quot;:true,&quot;type&quot;:&quot;text&quot;}"/>
          <p:cNvSpPr txBox="1"/>
          <p:nvPr/>
        </p:nvSpPr>
        <p:spPr>
          <a:xfrm>
            <a:off x="209550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03</a:t>
            </a:r>
            <a:endParaRPr/>
          </a:p>
        </p:txBody>
      </p:sp>
      <p:sp>
        <p:nvSpPr>
          <p:cNvPr id="375" name="矩形: 圆角 374"/>
          <p:cNvSpPr/>
          <p:nvPr/>
        </p:nvSpPr>
        <p:spPr>
          <a:xfrm>
            <a:off x="2533650" y="5857875"/>
            <a:ext cx="476250" cy="276225"/>
          </a:xfrm>
          <a:prstGeom prst="roundRect">
            <a:avLst>
              <a:gd name="adj" fmla="val 48276"/>
            </a:avLst>
          </a:prstGeom>
          <a:solidFill>
            <a:srgbClr val="F0F5FC"/>
          </a:solidFill>
          <a:ln/>
        </p:spPr>
        <p:txBody>
          <a:bodyPr/>
          <a:lstStyle/>
          <a:p>
            <a:endParaRPr/>
          </a:p>
        </p:txBody>
      </p:sp>
      <p:sp>
        <p:nvSpPr>
          <p:cNvPr id="376" name="文本框 375" descr="{&quot;isTemplate&quot;:true,&quot;type&quot;:&quot;text&quot;}"/>
          <p:cNvSpPr txBox="1"/>
          <p:nvPr/>
        </p:nvSpPr>
        <p:spPr>
          <a:xfrm>
            <a:off x="268605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04</a:t>
            </a:r>
            <a:endParaRPr/>
          </a:p>
        </p:txBody>
      </p:sp>
      <p:sp>
        <p:nvSpPr>
          <p:cNvPr id="377" name="文本框 376" descr="{&quot;isTemplate&quot;:true,&quot;type&quot;:&quot;text&quot;}"/>
          <p:cNvSpPr txBox="1"/>
          <p:nvPr/>
        </p:nvSpPr>
        <p:spPr>
          <a:xfrm>
            <a:off x="3200400" y="5915025"/>
            <a:ext cx="1962150" cy="161925"/>
          </a:xfrm>
          <a:prstGeom prst="rect">
            <a:avLst/>
          </a:prstGeom>
        </p:spPr>
        <p:txBody>
          <a:bodyPr wrap="none" lIns="0" tIns="0" rIns="0" bIns="0"/>
          <a:lstStyle/>
          <a:p>
            <a:pPr>
              <a:lnSpc>
                <a:spcPct val="100000"/>
              </a:lnSpc>
            </a:pPr>
            <a:r>
              <a:rPr lang="zh-CN" sz="1050">
                <a:solidFill>
                  <a:srgbClr val="8B97A8"/>
                </a:solidFill>
                <a:latin typeface="Source Han Sans CN"/>
                <a:ea typeface="Source Han Sans CN"/>
              </a:rPr>
              <a:t>研究问题</a:t>
            </a:r>
            <a:r>
              <a:rPr lang="en-US" sz="1050">
                <a:solidFill>
                  <a:srgbClr val="8B97A8"/>
                </a:solidFill>
                <a:latin typeface="Source Han Sans CN"/>
                <a:ea typeface="Source Han Sans CN"/>
              </a:rPr>
              <a:t> · </a:t>
            </a:r>
            <a:r>
              <a:rPr lang="zh-CN" sz="1050">
                <a:solidFill>
                  <a:srgbClr val="8B97A8"/>
                </a:solidFill>
                <a:latin typeface="Source Han Sans CN"/>
                <a:ea typeface="Source Han Sans CN"/>
              </a:rPr>
              <a:t>方法两阶段</a:t>
            </a:r>
            <a:r>
              <a:rPr lang="en-US" sz="1050">
                <a:solidFill>
                  <a:srgbClr val="8B97A8"/>
                </a:solidFill>
                <a:latin typeface="Source Han Sans CN"/>
                <a:ea typeface="Source Han Sans CN"/>
              </a:rPr>
              <a:t> · </a:t>
            </a:r>
            <a:r>
              <a:rPr lang="zh-CN" sz="1050">
                <a:solidFill>
                  <a:srgbClr val="8B97A8"/>
                </a:solidFill>
                <a:latin typeface="Source Han Sans CN"/>
                <a:ea typeface="Source Han Sans CN"/>
              </a:rPr>
              <a:t>实验验证</a:t>
            </a:r>
            <a:endParaRPr/>
          </a:p>
        </p:txBody>
      </p:sp>
      <p:sp>
        <p:nvSpPr>
          <p:cNvPr id="378" name="矩形 377"/>
          <p:cNvSpPr/>
          <p:nvPr/>
        </p:nvSpPr>
        <p:spPr>
          <a:xfrm>
            <a:off x="0" y="6448425"/>
            <a:ext cx="12192000" cy="409575"/>
          </a:xfrm>
          <a:prstGeom prst="rect">
            <a:avLst/>
          </a:prstGeom>
          <a:solidFill>
            <a:srgbClr val="F7F9FC"/>
          </a:solidFill>
          <a:ln/>
        </p:spPr>
        <p:txBody>
          <a:bodyPr/>
          <a:lstStyle/>
          <a:p>
            <a:endParaRPr/>
          </a:p>
        </p:txBody>
      </p:sp>
      <p:sp>
        <p:nvSpPr>
          <p:cNvPr id="379" name="任意多边形: 形状 378"/>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380" name="文本框 379"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381" name="文本框 380"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06 / 16</a:t>
            </a: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descr="&lt;Slide style={{ width: 1280, height: 720, background: '#FFFFFF', position: 'relative', fontFamily: 'Source Han Sans CN, Microsoft YaHei, sans-serif' }}&gt;&#10;  &lt;Box style={{ position: 'absolute', top: 0, left: 0, width: 1280, height: 12, background: '#1E4FA8' }} /&gt;&#10;  &lt;Box style={{ position: 'absolute', top: 30, left: 40, flexDirection: 'row', alignItems: 'center', gap: 14 }}&gt;&#10;    &lt;Box style={{ width: 6, height: 34, background: '#1E4FA8' }} /&gt;&#10;    &lt;Text style={{ fontSize: 32, fontWeight: 'bold', color: '#0E3F8C' }}&gt;基础优先级预筛选 + 边际收益增量选择&lt;/Text&gt;&#10;  &lt;/Box&gt;&#10;  &lt;Text style={{ position: 'absolute', top: 78, left: 60, fontSize: 15, color: '#8B97A8' }}&gt;五因素加权排序缩池，边际价值决定「加入当前组合后是否仍值得执行」&lt;/Text&gt;&#10;&#10;  &lt;Box style={{ position: 'absolute', top: 116, left: 40, width: 700, flexDirection: 'column', gap: 16 }}&gt;&#10;    &lt;Box style={{ background: '#F7F9FC', border: '1px solid #D6DCE5', borderRadius: 10, padding: '16px 20px', flexDirection: 'column' }}&gt;&#10;      &lt;Text style={{ fontSize: 19, fontWeight: 'bold', color: '#0E3F8C' }}&gt;① 基础任务优先级（五因素 min-max 归一化加权）&lt;/Text&gt;&#10;      &lt;Box style={{ marginTop: 12, background: '#E8EFF8', borderRadius: 8, padding: '14px 16px', alignItems: 'center' }}&gt;&#10;        &lt;Text style={{ fontSize: 23, fontWeight: 'bold', color: '#0E3F8C' }}&gt;&#10;          P&lt;span style={{ fontSize: 15 }}&gt;i&lt;/span&gt; = w&lt;span style={{ fontSize: 15 }}&gt;r&lt;/span&gt;·R&lt;span style={{ fontSize: 15 }}&gt;i&lt;/span&gt; + w&lt;span style={{ fontSize: 15 }}&gt;u&lt;/span&gt;·U&lt;span style={{ fontSize: 15 }}&gt;i&lt;/span&gt; + w&lt;span style={{ fontSize: 15 }}&gt;w&lt;/span&gt;·W&lt;span style={{ fontSize: 15 }}&gt;i&lt;/span&gt; + w&lt;span style={{ fontSize: 15 }}&gt;s&lt;/span&gt;·G&lt;span style={{ fontSize: 15 }}&gt;i&lt;/span&gt; − w&lt;span style={{ fontSize: 15 }}&gt;c&lt;/span&gt;·C&lt;span style={{ fontSize: 15 }}&gt;i&lt;/span&gt;&#10;        &lt;/Text&gt;&#10;      &lt;/Box&gt;&#10;      &lt;Text style={{ fontSize: 14, color: '#4A5568', lineHeight: 1.7, marginTop: 10 }}&gt;&#10;        五因素均先做 min-max 归一化：收益 R · 时间紧迫度 U · 等待补偿 W = 1−e&lt;sup&gt;−t/τ&lt;/sup&gt;（防长期滞留）· 空间协同增益 G（近邻任务可同机连续执行，聚集是&lt;span style={{ color: '#1E4FA8', fontWeight: 'bold' }}&gt;正因素&lt;/span&gt;）· 粗执行代价 C；权重和为 1，默认 0.30 / 0.25 / 0.15 / 0.15 / 0.15&#10;      &lt;/Text&gt;&#10;    &lt;/Box&gt;&#10;&#10;    &lt;Box style={{ background: '#F7F9FC', border: '1px solid #D6DCE5', borderRadius: 10, padding: '16px 20px', flexDirection: 'column' }}&gt;&#10;      &lt;Text style={{ fontSize: 19, fontWeight: 'bold', color: '#0E3F8C' }}&gt;② 候选池（能力无关）/ 选择数（卡 cap）：机数名额 × 能力上界解耦&lt;/Text&gt;&#10;      &lt;Box style={{ marginTop: 12, background: '#E8EFF8', borderRadius: 8, padding: '12px 16px', flexDirection: 'column', gap: 5, alignItems: 'center' }}&gt;&#10;        &lt;Text style={{ fontSize: 16.5, fontWeight: 'bold', color: '#0E3F8C' }}&gt;&#10;          n_cand = ceil(α·K)（能力无关）　　n_sel = min{&quot;{&quot;}ceil(max_ratio·K), cap(t){&quot;}&quot;}&#10;        &lt;/Text&gt;&#10;        &lt;Text style={{ fontSize: 13, color: '#4A5568' }}&gt;&#10;          cap(t) = floor(B(t) / c_med)；K = 可用无人机数，α = 2.5、max_ratio = 2.0 均为机数倍率&#10;        &lt;/Text&gt;&#10;      &lt;/Box&gt;&#10;      &lt;Text style={{ fontSize: 14, color: '#4A5568', lineHeight: 1.7, marginTop: 10 }}&gt;&#10;        机数名额保护搜索复杂度；能力承载数只计&lt;span style={{ fontWeight: 'bold' }}&gt;可起飞子集&lt;/span&gt;的剩余航程 B(t)——正在充电的机是幻影容量，不计入；紧急/释放任务可绕过名额强制纳入，但仍须过可行性检查&#10;      &lt;/Text&gt;&#10;    &lt;/Box&gt;&#10;&#10;    &lt;Box style={{ background: '#F0F5FC', border: '1px solid #D6DCE5', borderRadius: 10, padding: '12px 20px', flexDirection: 'row', alignItems: 'center', gap: 10 }}&gt;&#10;      &lt;Text style={{ fontSize: 15, fontWeight: 'bold', color: '#0E3F8C' }}&gt;机制串联：&lt;/Text&gt;&#10;      {['按 P_i 排序', 'n_cand 候选(富)', '闸门① prefilter', 'n_sel 边际纳入(紧)', '闸门② postcheck'].map((s, i) =&gt; (&#10;        &lt;Box key={s} style={{ flexDirection: 'row', alignItems: 'center', gap: 10 }}&gt;&#10;          {i &gt; 0 &amp;&amp; &lt;Text style={{ fontSize: 16, color: '#3D7BD9', fontWeight: 'bold' }}&gt;→&lt;/Text&gt;}&#10;          &lt;Box style={{ padding: '6px 12px', background: '#FFFFFF', borderRadius: 14, border: '1px solid #3D7BD9' }}&gt;&#10;            &lt;Text style={{ fontSize: 13, color: '#1E4FA8' }}&gt;{s}&lt;/Text&gt;&#10;          &lt;/Box&gt;&#10;        &lt;/Box&gt;&#10;      ))}&#10;    &lt;/Box&gt;&#10;  &lt;/Box&gt;&#10;&#10;  &lt;Box style={{ position: 'absolute', top: 116, left: 764, width: 476, flexDirection: 'column', gap: 14 }}&gt;&#10;    &lt;Box style={{ background: '#F0F5FC', border: '1px solid #D6DCE5', borderTop: '4px solid #1E4FA8', borderRadius: 10, padding: '14px 20px', flexDirection: 'column' }}&gt;&#10;      &lt;Text style={{ fontSize: 19, fontWeight: 'bold', color: '#0E3F8C' }}&gt;③ 边际收益增量选择&lt;/Text&gt;&#10;      &lt;Box style={{ marginTop: 10, background: '#FFFFFF', borderRadius: 8, padding: '12px 14px', alignItems: 'center' }}&gt;&#10;        &lt;Text style={{ fontSize: 20, fontWeight: 'bold', color: '#0E3F8C' }}&gt;&#10;          Δ&lt;span style={{ fontSize: 13 }}&gt;i&lt;/span&gt; = ΔB&lt;span style={{ fontSize: 13 }}&gt;i&lt;/span&gt; / (ΔC&lt;span style={{ fontSize: 13 }}&gt;i&lt;/span&gt; + ε)&#10;        &lt;/Text&gt;&#10;        &lt;Text style={{ fontSize: 16, color: '#1E4FA8', marginTop: 6 }}&gt;&#10;          ΔC&lt;span style={{ fontSize: 11 }}&gt;i&lt;/span&gt; = min&lt;span style={{ fontSize: 12 }}&gt;{&quot;{&quot;} C&lt;span style={{ fontSize: 10 }}&gt;ai&lt;/span&gt; + C&lt;span style={{ fontSize: 10 }}&gt;ib&lt;/span&gt; − C&lt;span style={{ fontSize: 10 }}&gt;ab&lt;/span&gt; {&quot;}&quot;}&#10;          &lt;/span&gt;（所有锚点对插入，统一 DEM 三维航程）&#10;        &lt;/Text&gt;&#10;      &lt;/Box&gt;&#10;      &lt;Text style={{ fontSize: 14, color: '#4A5568', lineHeight: 1.7, marginTop: 8 }}&gt;&#10;        插入式快速估计：对「已选集合 + 最近机巢」的&lt;span style={{ fontWeight: 'bold' }}&gt;所有锚点对&lt;/span&gt;试接入任务 i，取最小三维航程增量——不预设任何顺序、不求解完整 MUAS，与已选任务空间相近者因增量代价低而胜出&#10;      &lt;/Text&gt;&#10;    &lt;/Box&gt;&#10;&#10;    &lt;Box style={{ background: '#F7F9FC', border: '1px solid #D6DCE5', borderRadius: 10, padding: '13px 20px', flexDirection: 'column' }}&gt;&#10;      &lt;Text style={{ fontSize: 17, fontWeight: 'bold', color: '#0E3F8C' }}&gt;④ 两道可行性闸门（粗粒度，弹回不淘汰）&lt;/Text&gt;&#10;      &lt;Text style={{ fontSize: 14, color: '#4A5568', lineHeight: 1.7, marginTop: 6 }}&gt;&#10;        闸门① prefilter：是否有可用机 · 单任务往返可达 · 三维地形不可达；闸门② postcheck：机群剩余航程预算——仅物理不可行才不进候选，否则留池下周期再评；时间窗迟到由适应度折减、非参选资格&#10;      &lt;/Text&gt;&#10;    &lt;/Box&gt;&#10;&#10;    &lt;Box style={{ background: '#0E3F8C', borderRadius: 10, padding: '14px 20px', flexDirection: 'column' }}&gt;&#10;      &lt;Text style={{ fontSize: 16, fontWeight: 'bold', color: '#FFFFFF', lineHeight: 1.6 }}&gt;&#10;        判断：选择质量与实时性兼得——边际比只依赖代价矩阵查表与插入估计，单周期选择开销可忽略，却保住了「任务 × 组合」的匹配质量。&#10;      &lt;/Text&gt;&#10;    &lt;/Box&gt;&#10;  &lt;/Box&gt;&#10;&#10;  &lt;Box style={{ position: 'absolute', bottom: 0, left: 0, width: 1280, height: 44, background: '#F7F9FC', flexDirection: 'row', justifyContent: 'space-between', alignItems: 'center', padding: '0 40px', borderTop: '1px solid #E5E7EB' }}&gt;&#10;    &lt;Text style={{ fontSize: 13, color: '#8B97A8' }}&gt;动态滚动的多机巢多无人机协同任务分配 · 进展汇报&lt;/Text&gt;&#10;    &lt;Text style={{ fontSize: 15, color: '#1E4FA8', fontWeight: 'bold' }}&gt;07 / 16&lt;/Text&gt;&#10;  &lt;/Box&gt;&#10;&lt;/Slide&gt;&#10;"/>
        <p:cNvGrpSpPr/>
        <p:nvPr/>
      </p:nvGrpSpPr>
      <p:grpSpPr>
        <a:xfrm>
          <a:off x="0" y="0"/>
          <a:ext cx="0" cy="0"/>
          <a:chOff x="0" y="0"/>
          <a:chExt cx="0" cy="0"/>
        </a:xfrm>
      </p:grpSpPr>
      <p:sp>
        <p:nvSpPr>
          <p:cNvPr id="383" name="矩形 382"/>
          <p:cNvSpPr/>
          <p:nvPr/>
        </p:nvSpPr>
        <p:spPr>
          <a:xfrm>
            <a:off x="0" y="0"/>
            <a:ext cx="12192000" cy="6858000"/>
          </a:xfrm>
          <a:prstGeom prst="rect">
            <a:avLst/>
          </a:prstGeom>
          <a:solidFill>
            <a:srgbClr val="FFFFFF"/>
          </a:solidFill>
          <a:ln/>
        </p:spPr>
        <p:txBody>
          <a:bodyPr/>
          <a:lstStyle/>
          <a:p>
            <a:endParaRPr/>
          </a:p>
        </p:txBody>
      </p:sp>
      <p:sp>
        <p:nvSpPr>
          <p:cNvPr id="384" name="矩形 383"/>
          <p:cNvSpPr/>
          <p:nvPr/>
        </p:nvSpPr>
        <p:spPr>
          <a:xfrm>
            <a:off x="0" y="0"/>
            <a:ext cx="12192000" cy="114300"/>
          </a:xfrm>
          <a:prstGeom prst="rect">
            <a:avLst/>
          </a:prstGeom>
          <a:solidFill>
            <a:srgbClr val="1E4FA8"/>
          </a:solidFill>
          <a:ln/>
        </p:spPr>
        <p:txBody>
          <a:bodyPr/>
          <a:lstStyle/>
          <a:p>
            <a:endParaRPr/>
          </a:p>
        </p:txBody>
      </p:sp>
      <p:sp>
        <p:nvSpPr>
          <p:cNvPr id="385" name="矩形 384"/>
          <p:cNvSpPr/>
          <p:nvPr/>
        </p:nvSpPr>
        <p:spPr>
          <a:xfrm>
            <a:off x="381000" y="314325"/>
            <a:ext cx="57150" cy="323850"/>
          </a:xfrm>
          <a:prstGeom prst="rect">
            <a:avLst/>
          </a:prstGeom>
          <a:solidFill>
            <a:srgbClr val="1E4FA8"/>
          </a:solidFill>
          <a:ln/>
        </p:spPr>
        <p:txBody>
          <a:bodyPr/>
          <a:lstStyle/>
          <a:p>
            <a:endParaRPr/>
          </a:p>
        </p:txBody>
      </p:sp>
      <p:sp>
        <p:nvSpPr>
          <p:cNvPr id="386" name="文本框 385" descr="{&quot;isTemplate&quot;:true,&quot;type&quot;:&quot;text&quot;}"/>
          <p:cNvSpPr txBox="1"/>
          <p:nvPr/>
        </p:nvSpPr>
        <p:spPr>
          <a:xfrm>
            <a:off x="571500" y="285750"/>
            <a:ext cx="529590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基础优先级预筛选</a:t>
            </a:r>
            <a:r>
              <a:rPr lang="en-US" sz="2400" b="1">
                <a:solidFill>
                  <a:srgbClr val="0E3F8C"/>
                </a:solidFill>
                <a:latin typeface="Source Han Sans CN"/>
                <a:ea typeface="Source Han Sans CN"/>
              </a:rPr>
              <a:t> + </a:t>
            </a:r>
            <a:r>
              <a:rPr lang="zh-CN" sz="2400" b="1">
                <a:solidFill>
                  <a:srgbClr val="0E3F8C"/>
                </a:solidFill>
                <a:latin typeface="Source Han Sans CN"/>
                <a:ea typeface="Source Han Sans CN"/>
              </a:rPr>
              <a:t>边际收益增量选择</a:t>
            </a:r>
            <a:endParaRPr/>
          </a:p>
        </p:txBody>
      </p:sp>
      <p:sp>
        <p:nvSpPr>
          <p:cNvPr id="387" name="文本框 386" descr="{&quot;isTemplate&quot;:true,&quot;type&quot;:&quot;text&quot;}"/>
          <p:cNvSpPr txBox="1"/>
          <p:nvPr/>
        </p:nvSpPr>
        <p:spPr>
          <a:xfrm>
            <a:off x="571500" y="742950"/>
            <a:ext cx="4572000" cy="171450"/>
          </a:xfrm>
          <a:prstGeom prst="rect">
            <a:avLst/>
          </a:prstGeom>
        </p:spPr>
        <p:txBody>
          <a:bodyPr wrap="none" lIns="0" tIns="0" rIns="0" bIns="0"/>
          <a:lstStyle/>
          <a:p>
            <a:pPr>
              <a:lnSpc>
                <a:spcPct val="100000"/>
              </a:lnSpc>
            </a:pPr>
            <a:r>
              <a:rPr lang="zh-CN" sz="1125">
                <a:solidFill>
                  <a:srgbClr val="8B97A8"/>
                </a:solidFill>
                <a:latin typeface="Source Han Sans CN"/>
                <a:ea typeface="Source Han Sans CN"/>
              </a:rPr>
              <a:t>五因素加权排序缩池，边际价值决定「加入当前组合后是否仍值得执行」</a:t>
            </a:r>
            <a:endParaRPr/>
          </a:p>
        </p:txBody>
      </p:sp>
      <p:sp>
        <p:nvSpPr>
          <p:cNvPr id="388" name="矩形: 圆角 387"/>
          <p:cNvSpPr/>
          <p:nvPr/>
        </p:nvSpPr>
        <p:spPr>
          <a:xfrm>
            <a:off x="381000" y="1104900"/>
            <a:ext cx="6667500" cy="2085975"/>
          </a:xfrm>
          <a:prstGeom prst="roundRect">
            <a:avLst>
              <a:gd name="adj" fmla="val 4566"/>
            </a:avLst>
          </a:prstGeom>
          <a:solidFill>
            <a:srgbClr val="F7F9FC"/>
          </a:solidFill>
          <a:ln w="12700">
            <a:solidFill>
              <a:srgbClr val="D6DCE5"/>
            </a:solidFill>
            <a:prstDash val="solid"/>
          </a:ln>
        </p:spPr>
        <p:txBody>
          <a:bodyPr/>
          <a:lstStyle/>
          <a:p>
            <a:endParaRPr/>
          </a:p>
        </p:txBody>
      </p:sp>
      <p:sp>
        <p:nvSpPr>
          <p:cNvPr id="389" name="文本框 388" descr="{&quot;isTemplate&quot;:true,&quot;type&quot;:&quot;text&quot;}"/>
          <p:cNvSpPr txBox="1"/>
          <p:nvPr/>
        </p:nvSpPr>
        <p:spPr>
          <a:xfrm>
            <a:off x="571500" y="1257300"/>
            <a:ext cx="628650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① </a:t>
            </a:r>
            <a:r>
              <a:rPr lang="zh-CN" sz="1425" b="1">
                <a:solidFill>
                  <a:srgbClr val="0E3F8C"/>
                </a:solidFill>
                <a:latin typeface="Source Han Sans CN"/>
                <a:ea typeface="Source Han Sans CN"/>
              </a:rPr>
              <a:t>基础任务优先级（五因素</a:t>
            </a:r>
            <a:r>
              <a:rPr lang="en-US" sz="1425" b="1">
                <a:solidFill>
                  <a:srgbClr val="0E3F8C"/>
                </a:solidFill>
                <a:latin typeface="Source Han Sans CN"/>
                <a:ea typeface="Source Han Sans CN"/>
              </a:rPr>
              <a:t> min-max </a:t>
            </a:r>
            <a:r>
              <a:rPr lang="zh-CN" sz="1425" b="1">
                <a:solidFill>
                  <a:srgbClr val="0E3F8C"/>
                </a:solidFill>
                <a:latin typeface="Source Han Sans CN"/>
                <a:ea typeface="Source Han Sans CN"/>
              </a:rPr>
              <a:t>归一化加权）</a:t>
            </a:r>
            <a:endParaRPr/>
          </a:p>
        </p:txBody>
      </p:sp>
      <p:sp>
        <p:nvSpPr>
          <p:cNvPr id="390" name="矩形: 圆角 389"/>
          <p:cNvSpPr/>
          <p:nvPr/>
        </p:nvSpPr>
        <p:spPr>
          <a:xfrm>
            <a:off x="571500" y="1590675"/>
            <a:ext cx="6286500" cy="533400"/>
          </a:xfrm>
          <a:prstGeom prst="roundRect">
            <a:avLst>
              <a:gd name="adj" fmla="val 14286"/>
            </a:avLst>
          </a:prstGeom>
          <a:solidFill>
            <a:srgbClr val="E8EFF8"/>
          </a:solidFill>
          <a:ln/>
        </p:spPr>
        <p:txBody>
          <a:bodyPr/>
          <a:lstStyle/>
          <a:p>
            <a:endParaRPr/>
          </a:p>
        </p:txBody>
      </p:sp>
      <p:sp>
        <p:nvSpPr>
          <p:cNvPr id="391" name="文本框 390" descr="{&quot;isTemplate&quot;:true,&quot;type&quot;:&quot;text&quot;}"/>
          <p:cNvSpPr txBox="1"/>
          <p:nvPr/>
        </p:nvSpPr>
        <p:spPr>
          <a:xfrm>
            <a:off x="1419225" y="1724025"/>
            <a:ext cx="4600575" cy="266700"/>
          </a:xfrm>
          <a:prstGeom prst="rect">
            <a:avLst/>
          </a:prstGeom>
        </p:spPr>
        <p:txBody>
          <a:bodyPr wrap="none" lIns="0" tIns="0" rIns="0" bIns="0"/>
          <a:lstStyle/>
          <a:p>
            <a:pPr>
              <a:lnSpc>
                <a:spcPct val="100000"/>
              </a:lnSpc>
            </a:pPr>
            <a:r>
              <a:rPr lang="en-US" sz="1725" b="1">
                <a:solidFill>
                  <a:srgbClr val="0E3F8C"/>
                </a:solidFill>
                <a:latin typeface="Source Han Sans CN"/>
                <a:ea typeface="Source Han Sans CN"/>
              </a:rPr>
              <a:t>P</a:t>
            </a:r>
            <a:r>
              <a:rPr lang="en-US" sz="1125" b="1">
                <a:solidFill>
                  <a:srgbClr val="0E3F8C"/>
                </a:solidFill>
                <a:latin typeface="Source Han Sans CN"/>
                <a:ea typeface="Source Han Sans CN"/>
              </a:rPr>
              <a:t>i</a:t>
            </a:r>
            <a:r>
              <a:rPr lang="en-US" sz="1725" b="1">
                <a:solidFill>
                  <a:srgbClr val="0E3F8C"/>
                </a:solidFill>
                <a:latin typeface="Source Han Sans CN"/>
                <a:ea typeface="Source Han Sans CN"/>
              </a:rPr>
              <a:t> = w</a:t>
            </a:r>
            <a:r>
              <a:rPr lang="en-US" sz="1125" b="1">
                <a:solidFill>
                  <a:srgbClr val="0E3F8C"/>
                </a:solidFill>
                <a:latin typeface="Source Han Sans CN"/>
                <a:ea typeface="Source Han Sans CN"/>
              </a:rPr>
              <a:t>r</a:t>
            </a:r>
            <a:r>
              <a:rPr lang="en-US" sz="1725" b="1">
                <a:solidFill>
                  <a:srgbClr val="0E3F8C"/>
                </a:solidFill>
                <a:latin typeface="Source Han Sans CN"/>
                <a:ea typeface="Source Han Sans CN"/>
              </a:rPr>
              <a:t>·R</a:t>
            </a:r>
            <a:r>
              <a:rPr lang="en-US" sz="1125" b="1">
                <a:solidFill>
                  <a:srgbClr val="0E3F8C"/>
                </a:solidFill>
                <a:latin typeface="Source Han Sans CN"/>
                <a:ea typeface="Source Han Sans CN"/>
              </a:rPr>
              <a:t>i</a:t>
            </a:r>
            <a:r>
              <a:rPr lang="en-US" sz="1725" b="1">
                <a:solidFill>
                  <a:srgbClr val="0E3F8C"/>
                </a:solidFill>
                <a:latin typeface="Source Han Sans CN"/>
                <a:ea typeface="Source Han Sans CN"/>
              </a:rPr>
              <a:t> + w</a:t>
            </a:r>
            <a:r>
              <a:rPr lang="en-US" sz="1125" b="1">
                <a:solidFill>
                  <a:srgbClr val="0E3F8C"/>
                </a:solidFill>
                <a:latin typeface="Source Han Sans CN"/>
                <a:ea typeface="Source Han Sans CN"/>
              </a:rPr>
              <a:t>u</a:t>
            </a:r>
            <a:r>
              <a:rPr lang="en-US" sz="1725" b="1">
                <a:solidFill>
                  <a:srgbClr val="0E3F8C"/>
                </a:solidFill>
                <a:latin typeface="Source Han Sans CN"/>
                <a:ea typeface="Source Han Sans CN"/>
              </a:rPr>
              <a:t>·U</a:t>
            </a:r>
            <a:r>
              <a:rPr lang="en-US" sz="1125" b="1">
                <a:solidFill>
                  <a:srgbClr val="0E3F8C"/>
                </a:solidFill>
                <a:latin typeface="Source Han Sans CN"/>
                <a:ea typeface="Source Han Sans CN"/>
              </a:rPr>
              <a:t>i</a:t>
            </a:r>
            <a:r>
              <a:rPr lang="en-US" sz="1725" b="1">
                <a:solidFill>
                  <a:srgbClr val="0E3F8C"/>
                </a:solidFill>
                <a:latin typeface="Source Han Sans CN"/>
                <a:ea typeface="Source Han Sans CN"/>
              </a:rPr>
              <a:t> + w</a:t>
            </a:r>
            <a:r>
              <a:rPr lang="en-US" sz="1125" b="1">
                <a:solidFill>
                  <a:srgbClr val="0E3F8C"/>
                </a:solidFill>
                <a:latin typeface="Source Han Sans CN"/>
                <a:ea typeface="Source Han Sans CN"/>
              </a:rPr>
              <a:t>w</a:t>
            </a:r>
            <a:r>
              <a:rPr lang="en-US" sz="1725" b="1">
                <a:solidFill>
                  <a:srgbClr val="0E3F8C"/>
                </a:solidFill>
                <a:latin typeface="Source Han Sans CN"/>
                <a:ea typeface="Source Han Sans CN"/>
              </a:rPr>
              <a:t>·W</a:t>
            </a:r>
            <a:r>
              <a:rPr lang="en-US" sz="1125" b="1">
                <a:solidFill>
                  <a:srgbClr val="0E3F8C"/>
                </a:solidFill>
                <a:latin typeface="Source Han Sans CN"/>
                <a:ea typeface="Source Han Sans CN"/>
              </a:rPr>
              <a:t>i</a:t>
            </a:r>
            <a:r>
              <a:rPr lang="en-US" sz="1725" b="1">
                <a:solidFill>
                  <a:srgbClr val="0E3F8C"/>
                </a:solidFill>
                <a:latin typeface="Source Han Sans CN"/>
                <a:ea typeface="Source Han Sans CN"/>
              </a:rPr>
              <a:t> + w</a:t>
            </a:r>
            <a:r>
              <a:rPr lang="en-US" sz="1125" b="1">
                <a:solidFill>
                  <a:srgbClr val="0E3F8C"/>
                </a:solidFill>
                <a:latin typeface="Source Han Sans CN"/>
                <a:ea typeface="Source Han Sans CN"/>
              </a:rPr>
              <a:t>s</a:t>
            </a:r>
            <a:r>
              <a:rPr lang="en-US" sz="1725" b="1">
                <a:solidFill>
                  <a:srgbClr val="0E3F8C"/>
                </a:solidFill>
                <a:latin typeface="Source Han Sans CN"/>
                <a:ea typeface="Source Han Sans CN"/>
              </a:rPr>
              <a:t>·G</a:t>
            </a:r>
            <a:r>
              <a:rPr lang="en-US" sz="1125" b="1">
                <a:solidFill>
                  <a:srgbClr val="0E3F8C"/>
                </a:solidFill>
                <a:latin typeface="Source Han Sans CN"/>
                <a:ea typeface="Source Han Sans CN"/>
              </a:rPr>
              <a:t>i</a:t>
            </a:r>
            <a:r>
              <a:rPr lang="en-US" sz="1725" b="1">
                <a:solidFill>
                  <a:srgbClr val="0E3F8C"/>
                </a:solidFill>
                <a:latin typeface="Source Han Sans CN"/>
                <a:ea typeface="Source Han Sans CN"/>
              </a:rPr>
              <a:t> − w</a:t>
            </a:r>
            <a:r>
              <a:rPr lang="en-US" sz="1125" b="1">
                <a:solidFill>
                  <a:srgbClr val="0E3F8C"/>
                </a:solidFill>
                <a:latin typeface="Source Han Sans CN"/>
                <a:ea typeface="Source Han Sans CN"/>
              </a:rPr>
              <a:t>c</a:t>
            </a:r>
            <a:r>
              <a:rPr lang="en-US" sz="1725" b="1">
                <a:solidFill>
                  <a:srgbClr val="0E3F8C"/>
                </a:solidFill>
                <a:latin typeface="Source Han Sans CN"/>
                <a:ea typeface="Source Han Sans CN"/>
              </a:rPr>
              <a:t>·C</a:t>
            </a:r>
            <a:r>
              <a:rPr lang="en-US" sz="1125" b="1">
                <a:solidFill>
                  <a:srgbClr val="0E3F8C"/>
                </a:solidFill>
                <a:latin typeface="Source Han Sans CN"/>
                <a:ea typeface="Source Han Sans CN"/>
              </a:rPr>
              <a:t>i</a:t>
            </a:r>
            <a:endParaRPr/>
          </a:p>
        </p:txBody>
      </p:sp>
      <p:sp>
        <p:nvSpPr>
          <p:cNvPr id="392" name="文本框 391" descr="{&quot;isTemplate&quot;:true,&quot;type&quot;:&quot;text&quot;}"/>
          <p:cNvSpPr txBox="1"/>
          <p:nvPr/>
        </p:nvSpPr>
        <p:spPr>
          <a:xfrm>
            <a:off x="571500" y="2219325"/>
            <a:ext cx="628650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五因素均先做</a:t>
            </a:r>
            <a:r>
              <a:rPr lang="en-US" sz="1050">
                <a:solidFill>
                  <a:srgbClr val="4A5568"/>
                </a:solidFill>
                <a:latin typeface="Source Han Sans CN"/>
                <a:ea typeface="Source Han Sans CN"/>
              </a:rPr>
              <a:t> min-max </a:t>
            </a:r>
            <a:r>
              <a:rPr lang="zh-CN" sz="1050">
                <a:solidFill>
                  <a:srgbClr val="4A5568"/>
                </a:solidFill>
                <a:latin typeface="Source Han Sans CN"/>
                <a:ea typeface="Source Han Sans CN"/>
              </a:rPr>
              <a:t>归一化：收益</a:t>
            </a:r>
            <a:r>
              <a:rPr lang="en-US" sz="1050">
                <a:solidFill>
                  <a:srgbClr val="4A5568"/>
                </a:solidFill>
                <a:latin typeface="Source Han Sans CN"/>
                <a:ea typeface="Source Han Sans CN"/>
              </a:rPr>
              <a:t> R · </a:t>
            </a:r>
            <a:r>
              <a:rPr lang="zh-CN" sz="1050">
                <a:solidFill>
                  <a:srgbClr val="4A5568"/>
                </a:solidFill>
                <a:latin typeface="Source Han Sans CN"/>
                <a:ea typeface="Source Han Sans CN"/>
              </a:rPr>
              <a:t>时间紧迫度</a:t>
            </a:r>
            <a:r>
              <a:rPr lang="en-US" sz="1050">
                <a:solidFill>
                  <a:srgbClr val="4A5568"/>
                </a:solidFill>
                <a:latin typeface="Source Han Sans CN"/>
                <a:ea typeface="Source Han Sans CN"/>
              </a:rPr>
              <a:t> U · </a:t>
            </a:r>
            <a:r>
              <a:rPr lang="zh-CN" sz="1050">
                <a:solidFill>
                  <a:srgbClr val="4A5568"/>
                </a:solidFill>
                <a:latin typeface="Source Han Sans CN"/>
                <a:ea typeface="Source Han Sans CN"/>
              </a:rPr>
              <a:t>等待补偿</a:t>
            </a:r>
            <a:r>
              <a:rPr lang="en-US" sz="1050">
                <a:solidFill>
                  <a:srgbClr val="4A5568"/>
                </a:solidFill>
                <a:latin typeface="Source Han Sans CN"/>
                <a:ea typeface="Source Han Sans CN"/>
              </a:rPr>
              <a:t> W = 1−e−t/τ</a:t>
            </a:r>
            <a:r>
              <a:rPr lang="zh-CN" sz="1050">
                <a:solidFill>
                  <a:srgbClr val="4A5568"/>
                </a:solidFill>
                <a:latin typeface="Source Han Sans CN"/>
                <a:ea typeface="Source Han Sans CN"/>
              </a:rPr>
              <a:t>（防长期滞留）·</a:t>
            </a:r>
            <a:r>
              <a:rPr lang="en-US" sz="1050">
                <a:solidFill>
                  <a:srgbClr val="4A5568"/>
                </a:solidFill>
                <a:latin typeface="Source Han Sans CN"/>
                <a:ea typeface="Source Han Sans CN"/>
              </a:rPr>
              <a:t> </a:t>
            </a:r>
            <a:r>
              <a:rPr lang="zh-CN" sz="1050">
                <a:solidFill>
                  <a:srgbClr val="4A5568"/>
                </a:solidFill>
                <a:latin typeface="Source Han Sans CN"/>
                <a:ea typeface="Source Han Sans CN"/>
              </a:rPr>
              <a:t>空间协同增益</a:t>
            </a:r>
            <a:r>
              <a:rPr lang="en-US" sz="1050">
                <a:solidFill>
                  <a:srgbClr val="4A5568"/>
                </a:solidFill>
                <a:latin typeface="Source Han Sans CN"/>
                <a:ea typeface="Source Han Sans CN"/>
              </a:rPr>
              <a:t> G</a:t>
            </a:r>
            <a:r>
              <a:rPr lang="zh-CN" sz="1050">
                <a:solidFill>
                  <a:srgbClr val="4A5568"/>
                </a:solidFill>
                <a:latin typeface="Source Han Sans CN"/>
                <a:ea typeface="Source Han Sans CN"/>
              </a:rPr>
              <a:t>（近邻任务可同机连续执行，聚集是</a:t>
            </a:r>
            <a:r>
              <a:rPr lang="zh-CN" sz="1050" b="1">
                <a:solidFill>
                  <a:srgbClr val="1E4FA8"/>
                </a:solidFill>
                <a:latin typeface="Source Han Sans CN"/>
                <a:ea typeface="Source Han Sans CN"/>
              </a:rPr>
              <a:t>正因素</a:t>
            </a:r>
            <a:r>
              <a:rPr lang="zh-CN" sz="1050">
                <a:solidFill>
                  <a:srgbClr val="4A5568"/>
                </a:solidFill>
                <a:latin typeface="Source Han Sans CN"/>
                <a:ea typeface="Source Han Sans CN"/>
              </a:rPr>
              <a:t>）·</a:t>
            </a:r>
            <a:r>
              <a:rPr lang="en-US" sz="1050">
                <a:solidFill>
                  <a:srgbClr val="4A5568"/>
                </a:solidFill>
                <a:latin typeface="Source Han Sans CN"/>
                <a:ea typeface="Source Han Sans CN"/>
              </a:rPr>
              <a:t> </a:t>
            </a:r>
            <a:r>
              <a:rPr lang="zh-CN" sz="1050">
                <a:solidFill>
                  <a:srgbClr val="4A5568"/>
                </a:solidFill>
                <a:latin typeface="Source Han Sans CN"/>
                <a:ea typeface="Source Han Sans CN"/>
              </a:rPr>
              <a:t>粗执行代价</a:t>
            </a:r>
            <a:r>
              <a:rPr lang="en-US" sz="1050">
                <a:solidFill>
                  <a:srgbClr val="4A5568"/>
                </a:solidFill>
                <a:latin typeface="Source Han Sans CN"/>
                <a:ea typeface="Source Han Sans CN"/>
              </a:rPr>
              <a:t> C</a:t>
            </a:r>
            <a:r>
              <a:rPr lang="zh-CN" sz="1050">
                <a:solidFill>
                  <a:srgbClr val="4A5568"/>
                </a:solidFill>
                <a:latin typeface="Source Han Sans CN"/>
                <a:ea typeface="Source Han Sans CN"/>
              </a:rPr>
              <a:t>；权重和为</a:t>
            </a:r>
            <a:r>
              <a:rPr lang="en-US" sz="1050">
                <a:solidFill>
                  <a:srgbClr val="4A5568"/>
                </a:solidFill>
                <a:latin typeface="Source Han Sans CN"/>
                <a:ea typeface="Source Han Sans CN"/>
              </a:rPr>
              <a:t> 1</a:t>
            </a:r>
            <a:r>
              <a:rPr lang="zh-CN" sz="1050">
                <a:solidFill>
                  <a:srgbClr val="4A5568"/>
                </a:solidFill>
                <a:latin typeface="Source Han Sans CN"/>
                <a:ea typeface="Source Han Sans CN"/>
              </a:rPr>
              <a:t>，默认</a:t>
            </a:r>
            <a:r>
              <a:rPr lang="en-US" sz="1050">
                <a:solidFill>
                  <a:srgbClr val="4A5568"/>
                </a:solidFill>
                <a:latin typeface="Source Han Sans CN"/>
                <a:ea typeface="Source Han Sans CN"/>
              </a:rPr>
              <a:t> 0.30 / 0.25 / 0.15 / 0.15 / 0.15</a:t>
            </a:r>
            <a:endParaRPr/>
          </a:p>
        </p:txBody>
      </p:sp>
      <p:sp>
        <p:nvSpPr>
          <p:cNvPr id="393" name="矩形: 圆角 392"/>
          <p:cNvSpPr/>
          <p:nvPr/>
        </p:nvSpPr>
        <p:spPr>
          <a:xfrm>
            <a:off x="381000" y="3343275"/>
            <a:ext cx="6667500" cy="1905000"/>
          </a:xfrm>
          <a:prstGeom prst="roundRect">
            <a:avLst>
              <a:gd name="adj" fmla="val 5000"/>
            </a:avLst>
          </a:prstGeom>
          <a:solidFill>
            <a:srgbClr val="F7F9FC"/>
          </a:solidFill>
          <a:ln w="12700">
            <a:solidFill>
              <a:srgbClr val="D6DCE5"/>
            </a:solidFill>
            <a:prstDash val="solid"/>
          </a:ln>
        </p:spPr>
        <p:txBody>
          <a:bodyPr/>
          <a:lstStyle/>
          <a:p>
            <a:endParaRPr/>
          </a:p>
        </p:txBody>
      </p:sp>
      <p:sp>
        <p:nvSpPr>
          <p:cNvPr id="394" name="文本框 393" descr="{&quot;isTemplate&quot;:true,&quot;type&quot;:&quot;text&quot;}"/>
          <p:cNvSpPr txBox="1"/>
          <p:nvPr/>
        </p:nvSpPr>
        <p:spPr>
          <a:xfrm>
            <a:off x="571500" y="3495675"/>
            <a:ext cx="628650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② </a:t>
            </a:r>
            <a:r>
              <a:rPr lang="zh-CN" sz="1425" b="1">
                <a:solidFill>
                  <a:srgbClr val="0E3F8C"/>
                </a:solidFill>
                <a:latin typeface="Source Han Sans CN"/>
                <a:ea typeface="Source Han Sans CN"/>
              </a:rPr>
              <a:t>候选池（能力无关）</a:t>
            </a:r>
            <a:r>
              <a:rPr lang="en-US" sz="1425" b="1">
                <a:solidFill>
                  <a:srgbClr val="0E3F8C"/>
                </a:solidFill>
                <a:latin typeface="Source Han Sans CN"/>
                <a:ea typeface="Source Han Sans CN"/>
              </a:rPr>
              <a:t>/ </a:t>
            </a:r>
            <a:r>
              <a:rPr lang="zh-CN" sz="1425" b="1">
                <a:solidFill>
                  <a:srgbClr val="0E3F8C"/>
                </a:solidFill>
                <a:latin typeface="Source Han Sans CN"/>
                <a:ea typeface="Source Han Sans CN"/>
              </a:rPr>
              <a:t>选择数（卡</a:t>
            </a:r>
            <a:r>
              <a:rPr lang="en-US" sz="1425" b="1">
                <a:solidFill>
                  <a:srgbClr val="0E3F8C"/>
                </a:solidFill>
                <a:latin typeface="Source Han Sans CN"/>
                <a:ea typeface="Source Han Sans CN"/>
              </a:rPr>
              <a:t> cap</a:t>
            </a:r>
            <a:r>
              <a:rPr lang="zh-CN" sz="1425" b="1">
                <a:solidFill>
                  <a:srgbClr val="0E3F8C"/>
                </a:solidFill>
                <a:latin typeface="Source Han Sans CN"/>
                <a:ea typeface="Source Han Sans CN"/>
              </a:rPr>
              <a:t>）：机数名额</a:t>
            </a:r>
            <a:r>
              <a:rPr lang="en-US" sz="1425" b="1">
                <a:solidFill>
                  <a:srgbClr val="0E3F8C"/>
                </a:solidFill>
                <a:latin typeface="Source Han Sans CN"/>
                <a:ea typeface="Source Han Sans CN"/>
              </a:rPr>
              <a:t> × </a:t>
            </a:r>
            <a:r>
              <a:rPr lang="zh-CN" sz="1425" b="1">
                <a:solidFill>
                  <a:srgbClr val="0E3F8C"/>
                </a:solidFill>
                <a:latin typeface="Source Han Sans CN"/>
                <a:ea typeface="Source Han Sans CN"/>
              </a:rPr>
              <a:t>能力上界解耦</a:t>
            </a:r>
            <a:endParaRPr/>
          </a:p>
        </p:txBody>
      </p:sp>
      <p:sp>
        <p:nvSpPr>
          <p:cNvPr id="395" name="矩形: 圆角 394"/>
          <p:cNvSpPr/>
          <p:nvPr/>
        </p:nvSpPr>
        <p:spPr>
          <a:xfrm>
            <a:off x="571500" y="3829050"/>
            <a:ext cx="6286500" cy="619125"/>
          </a:xfrm>
          <a:prstGeom prst="roundRect">
            <a:avLst>
              <a:gd name="adj" fmla="val 12308"/>
            </a:avLst>
          </a:prstGeom>
          <a:solidFill>
            <a:srgbClr val="E8EFF8"/>
          </a:solidFill>
          <a:ln/>
        </p:spPr>
        <p:txBody>
          <a:bodyPr/>
          <a:lstStyle/>
          <a:p>
            <a:endParaRPr/>
          </a:p>
        </p:txBody>
      </p:sp>
      <p:sp>
        <p:nvSpPr>
          <p:cNvPr id="396" name="文本框 395" descr="{&quot;isTemplate&quot;:true,&quot;type&quot;:&quot;text&quot;}"/>
          <p:cNvSpPr txBox="1"/>
          <p:nvPr/>
        </p:nvSpPr>
        <p:spPr>
          <a:xfrm>
            <a:off x="904875" y="3943350"/>
            <a:ext cx="5629275" cy="190500"/>
          </a:xfrm>
          <a:prstGeom prst="rect">
            <a:avLst/>
          </a:prstGeom>
        </p:spPr>
        <p:txBody>
          <a:bodyPr wrap="none" lIns="0" tIns="0" rIns="0" bIns="0"/>
          <a:lstStyle/>
          <a:p>
            <a:pPr>
              <a:lnSpc>
                <a:spcPct val="100000"/>
              </a:lnSpc>
            </a:pPr>
            <a:r>
              <a:rPr lang="en-US" sz="1238" b="1">
                <a:solidFill>
                  <a:srgbClr val="0E3F8C"/>
                </a:solidFill>
                <a:latin typeface="Source Han Sans CN"/>
                <a:ea typeface="Source Han Sans CN"/>
              </a:rPr>
              <a:t>n_cand = ceil(α·K)</a:t>
            </a:r>
            <a:r>
              <a:rPr lang="zh-CN" sz="1238" b="1">
                <a:solidFill>
                  <a:srgbClr val="0E3F8C"/>
                </a:solidFill>
                <a:latin typeface="Source Han Sans CN"/>
                <a:ea typeface="Source Han Sans CN"/>
              </a:rPr>
              <a:t>（能力无关）　　</a:t>
            </a:r>
            <a:r>
              <a:rPr lang="en-US" sz="1238" b="1">
                <a:solidFill>
                  <a:srgbClr val="0E3F8C"/>
                </a:solidFill>
                <a:latin typeface="Source Han Sans CN"/>
                <a:ea typeface="Source Han Sans CN"/>
              </a:rPr>
              <a:t>n_sel = min{ceil(max_ratio·K), cap(t)}</a:t>
            </a:r>
            <a:endParaRPr/>
          </a:p>
        </p:txBody>
      </p:sp>
      <p:sp>
        <p:nvSpPr>
          <p:cNvPr id="397" name="文本框 396" descr="{&quot;isTemplate&quot;:true,&quot;type&quot;:&quot;text&quot;}"/>
          <p:cNvSpPr txBox="1"/>
          <p:nvPr/>
        </p:nvSpPr>
        <p:spPr>
          <a:xfrm>
            <a:off x="1181100" y="4181475"/>
            <a:ext cx="5067300" cy="152400"/>
          </a:xfrm>
          <a:prstGeom prst="rect">
            <a:avLst/>
          </a:prstGeom>
        </p:spPr>
        <p:txBody>
          <a:bodyPr wrap="none" lIns="0" tIns="0" rIns="0" bIns="0"/>
          <a:lstStyle/>
          <a:p>
            <a:pPr>
              <a:lnSpc>
                <a:spcPct val="100000"/>
              </a:lnSpc>
            </a:pPr>
            <a:r>
              <a:rPr lang="en-US" sz="975">
                <a:solidFill>
                  <a:srgbClr val="4A5568"/>
                </a:solidFill>
                <a:latin typeface="Source Han Sans CN"/>
                <a:ea typeface="Source Han Sans CN"/>
              </a:rPr>
              <a:t>cap(t) = max(min_cap, ⌊B(t)/c_med⌋)</a:t>
            </a:r>
            <a:r>
              <a:rPr lang="zh-CN" sz="975">
                <a:solidFill>
                  <a:srgbClr val="4A5568"/>
                </a:solidFill>
                <a:latin typeface="Source Han Sans CN"/>
                <a:ea typeface="Source Han Sans CN"/>
              </a:rPr>
              <a:t>；</a:t>
            </a:r>
            <a:r>
              <a:rPr lang="en-US" sz="975">
                <a:solidFill>
                  <a:srgbClr val="4A5568"/>
                </a:solidFill>
                <a:latin typeface="Source Han Sans CN"/>
                <a:ea typeface="Source Han Sans CN"/>
              </a:rPr>
              <a:t>K = </a:t>
            </a:r>
            <a:r>
              <a:rPr lang="zh-CN" sz="975">
                <a:solidFill>
                  <a:srgbClr val="4A5568"/>
                </a:solidFill>
                <a:latin typeface="Source Han Sans CN"/>
                <a:ea typeface="Source Han Sans CN"/>
              </a:rPr>
              <a:t>可用无人机数，α</a:t>
            </a:r>
            <a:r>
              <a:rPr lang="en-US" sz="975">
                <a:solidFill>
                  <a:srgbClr val="4A5568"/>
                </a:solidFill>
                <a:latin typeface="Source Han Sans CN"/>
                <a:ea typeface="Source Han Sans CN"/>
              </a:rPr>
              <a:t> = 2.5</a:t>
            </a:r>
            <a:r>
              <a:rPr lang="zh-CN" sz="975">
                <a:solidFill>
                  <a:srgbClr val="4A5568"/>
                </a:solidFill>
                <a:latin typeface="Source Han Sans CN"/>
                <a:ea typeface="Source Han Sans CN"/>
              </a:rPr>
              <a:t>、</a:t>
            </a:r>
            <a:r>
              <a:rPr lang="en-US" sz="975">
                <a:solidFill>
                  <a:srgbClr val="4A5568"/>
                </a:solidFill>
                <a:latin typeface="Source Han Sans CN"/>
                <a:ea typeface="Source Han Sans CN"/>
              </a:rPr>
              <a:t>max_ratio = 2.0 </a:t>
            </a:r>
            <a:r>
              <a:rPr lang="zh-CN" sz="975">
                <a:solidFill>
                  <a:srgbClr val="4A5568"/>
                </a:solidFill>
                <a:latin typeface="Source Han Sans CN"/>
                <a:ea typeface="Source Han Sans CN"/>
              </a:rPr>
              <a:t>为机数倍率</a:t>
            </a:r>
            <a:endParaRPr/>
          </a:p>
        </p:txBody>
      </p:sp>
      <p:sp>
        <p:nvSpPr>
          <p:cNvPr id="398" name="文本框 397" descr="{&quot;isTemplate&quot;:true,&quot;type&quot;:&quot;text&quot;}"/>
          <p:cNvSpPr txBox="1"/>
          <p:nvPr/>
        </p:nvSpPr>
        <p:spPr>
          <a:xfrm>
            <a:off x="571500" y="4543425"/>
            <a:ext cx="6286500" cy="5524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机数名额保护搜索复杂度；能力承载数只计</a:t>
            </a:r>
            <a:r>
              <a:rPr lang="zh-CN" sz="1050" b="1">
                <a:solidFill>
                  <a:srgbClr val="4A5568"/>
                </a:solidFill>
                <a:latin typeface="Source Han Sans CN"/>
                <a:ea typeface="Source Han Sans CN"/>
              </a:rPr>
              <a:t>可起飞子集</a:t>
            </a:r>
            <a:r>
              <a:rPr lang="zh-CN" sz="1050">
                <a:solidFill>
                  <a:srgbClr val="4A5568"/>
                </a:solidFill>
                <a:latin typeface="Source Han Sans CN"/>
                <a:ea typeface="Source Han Sans CN"/>
              </a:rPr>
              <a:t>的剩余航程</a:t>
            </a:r>
            <a:r>
              <a:rPr lang="en-US" sz="1050">
                <a:solidFill>
                  <a:srgbClr val="4A5568"/>
                </a:solidFill>
                <a:latin typeface="Source Han Sans CN"/>
                <a:ea typeface="Source Han Sans CN"/>
              </a:rPr>
              <a:t> B(t)——</a:t>
            </a:r>
            <a:r>
              <a:rPr lang="zh-CN" sz="1050">
                <a:solidFill>
                  <a:srgbClr val="4A5568"/>
                </a:solidFill>
                <a:latin typeface="Source Han Sans CN"/>
                <a:ea typeface="Source Han Sans CN"/>
              </a:rPr>
              <a:t>正在充电的机是幻影容量，不计入；紧急</a:t>
            </a:r>
            <a:r>
              <a:rPr lang="en-US" sz="1050">
                <a:solidFill>
                  <a:srgbClr val="4A5568"/>
                </a:solidFill>
                <a:latin typeface="Source Han Sans CN"/>
                <a:ea typeface="Source Han Sans CN"/>
              </a:rPr>
              <a:t>/</a:t>
            </a:r>
            <a:r>
              <a:rPr lang="zh-CN" sz="1050">
                <a:solidFill>
                  <a:srgbClr val="4A5568"/>
                </a:solidFill>
                <a:latin typeface="Source Han Sans CN"/>
                <a:ea typeface="Source Han Sans CN"/>
              </a:rPr>
              <a:t>释放任务可绕过名额强制纳入，但仍须过可行性检查</a:t>
            </a:r>
            <a:endParaRPr/>
          </a:p>
        </p:txBody>
      </p:sp>
      <p:sp>
        <p:nvSpPr>
          <p:cNvPr id="399" name="矩形: 圆角 398"/>
          <p:cNvSpPr/>
          <p:nvPr/>
        </p:nvSpPr>
        <p:spPr>
          <a:xfrm>
            <a:off x="381000" y="5400675"/>
            <a:ext cx="6667500" cy="495300"/>
          </a:xfrm>
          <a:prstGeom prst="roundRect">
            <a:avLst>
              <a:gd name="adj" fmla="val 19231"/>
            </a:avLst>
          </a:prstGeom>
          <a:solidFill>
            <a:srgbClr val="F0F5FC"/>
          </a:solidFill>
          <a:ln w="12700">
            <a:solidFill>
              <a:srgbClr val="D6DCE5"/>
            </a:solidFill>
            <a:prstDash val="solid"/>
          </a:ln>
        </p:spPr>
        <p:txBody>
          <a:bodyPr/>
          <a:lstStyle/>
          <a:p>
            <a:endParaRPr/>
          </a:p>
        </p:txBody>
      </p:sp>
      <p:sp>
        <p:nvSpPr>
          <p:cNvPr id="400" name="文本框 399" descr="{&quot;isTemplate&quot;:true,&quot;type&quot;:&quot;text&quot;}"/>
          <p:cNvSpPr txBox="1"/>
          <p:nvPr/>
        </p:nvSpPr>
        <p:spPr>
          <a:xfrm>
            <a:off x="571500" y="5562600"/>
            <a:ext cx="571500" cy="171450"/>
          </a:xfrm>
          <a:prstGeom prst="rect">
            <a:avLst/>
          </a:prstGeom>
        </p:spPr>
        <p:txBody>
          <a:bodyPr wrap="none" lIns="0" tIns="0" rIns="0" bIns="0"/>
          <a:lstStyle/>
          <a:p>
            <a:pPr>
              <a:lnSpc>
                <a:spcPct val="100000"/>
              </a:lnSpc>
            </a:pPr>
            <a:r>
              <a:rPr lang="zh-CN" sz="1125" b="1">
                <a:solidFill>
                  <a:srgbClr val="0E3F8C"/>
                </a:solidFill>
                <a:latin typeface="Source Han Sans CN"/>
                <a:ea typeface="Source Han Sans CN"/>
              </a:rPr>
              <a:t>机制串联：</a:t>
            </a:r>
            <a:endParaRPr/>
          </a:p>
        </p:txBody>
      </p:sp>
      <p:sp>
        <p:nvSpPr>
          <p:cNvPr id="401" name="矩形: 圆角 400"/>
          <p:cNvSpPr/>
          <p:nvPr/>
        </p:nvSpPr>
        <p:spPr>
          <a:xfrm>
            <a:off x="1238250" y="5438775"/>
            <a:ext cx="666750"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02" name="文本框 401" descr="{&quot;isTemplate&quot;:true,&quot;type&quot;:&quot;text&quot;}"/>
          <p:cNvSpPr txBox="1"/>
          <p:nvPr/>
        </p:nvSpPr>
        <p:spPr>
          <a:xfrm>
            <a:off x="1352550" y="5495925"/>
            <a:ext cx="438150" cy="304800"/>
          </a:xfrm>
          <a:prstGeom prst="rect">
            <a:avLst/>
          </a:prstGeom>
        </p:spPr>
        <p:txBody>
          <a:bodyPr wrap="square" lIns="0" tIns="0" rIns="0" bIns="0">
            <a:normAutofit/>
          </a:bodyPr>
          <a:lstStyle/>
          <a:p>
            <a:pPr>
              <a:lnSpc>
                <a:spcPct val="100000"/>
              </a:lnSpc>
            </a:pPr>
            <a:r>
              <a:rPr lang="zh-CN" sz="975">
                <a:solidFill>
                  <a:srgbClr val="1E4FA8"/>
                </a:solidFill>
                <a:latin typeface="Source Han Sans CN"/>
                <a:ea typeface="Source Han Sans CN"/>
              </a:rPr>
              <a:t>按</a:t>
            </a:r>
            <a:r>
              <a:rPr lang="en-US" sz="975">
                <a:solidFill>
                  <a:srgbClr val="1E4FA8"/>
                </a:solidFill>
                <a:latin typeface="Source Han Sans CN"/>
                <a:ea typeface="Source Han Sans CN"/>
              </a:rPr>
              <a:t> P_i </a:t>
            </a:r>
            <a:r>
              <a:rPr lang="zh-CN" sz="975">
                <a:solidFill>
                  <a:srgbClr val="1E4FA8"/>
                </a:solidFill>
                <a:latin typeface="Source Han Sans CN"/>
                <a:ea typeface="Source Han Sans CN"/>
              </a:rPr>
              <a:t>排序</a:t>
            </a:r>
            <a:endParaRPr/>
          </a:p>
        </p:txBody>
      </p:sp>
      <p:sp>
        <p:nvSpPr>
          <p:cNvPr id="403" name="文本框 402" descr="{&quot;isTemplate&quot;:true,&quot;type&quot;:&quot;text&quot;}"/>
          <p:cNvSpPr txBox="1"/>
          <p:nvPr/>
        </p:nvSpPr>
        <p:spPr>
          <a:xfrm>
            <a:off x="2000250"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04" name="矩形: 圆角 403"/>
          <p:cNvSpPr/>
          <p:nvPr/>
        </p:nvSpPr>
        <p:spPr>
          <a:xfrm>
            <a:off x="2219325" y="5438775"/>
            <a:ext cx="885825"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05" name="文本框 404" descr="{&quot;isTemplate&quot;:true,&quot;type&quot;:&quot;text&quot;}"/>
          <p:cNvSpPr txBox="1"/>
          <p:nvPr/>
        </p:nvSpPr>
        <p:spPr>
          <a:xfrm>
            <a:off x="2333625" y="5495925"/>
            <a:ext cx="657225" cy="304800"/>
          </a:xfrm>
          <a:prstGeom prst="rect">
            <a:avLst/>
          </a:prstGeom>
        </p:spPr>
        <p:txBody>
          <a:bodyPr wrap="square" lIns="0" tIns="0" rIns="0" bIns="0">
            <a:normAutofit/>
          </a:bodyPr>
          <a:lstStyle/>
          <a:p>
            <a:pPr>
              <a:lnSpc>
                <a:spcPct val="100000"/>
              </a:lnSpc>
            </a:pPr>
            <a:r>
              <a:rPr lang="en-US" sz="975">
                <a:solidFill>
                  <a:srgbClr val="1E4FA8"/>
                </a:solidFill>
                <a:latin typeface="Source Han Sans CN"/>
                <a:ea typeface="Source Han Sans CN"/>
              </a:rPr>
              <a:t>n_cand </a:t>
            </a:r>
            <a:r>
              <a:rPr lang="zh-CN" sz="975">
                <a:solidFill>
                  <a:srgbClr val="1E4FA8"/>
                </a:solidFill>
                <a:latin typeface="Source Han Sans CN"/>
                <a:ea typeface="Source Han Sans CN"/>
              </a:rPr>
              <a:t>候选</a:t>
            </a:r>
            <a:r>
              <a:rPr lang="en-US" sz="975">
                <a:solidFill>
                  <a:srgbClr val="1E4FA8"/>
                </a:solidFill>
                <a:latin typeface="Source Han Sans CN"/>
                <a:ea typeface="Source Han Sans CN"/>
              </a:rPr>
              <a:t>(</a:t>
            </a:r>
            <a:r>
              <a:rPr lang="zh-CN" sz="975">
                <a:solidFill>
                  <a:srgbClr val="1E4FA8"/>
                </a:solidFill>
                <a:latin typeface="Source Han Sans CN"/>
                <a:ea typeface="Source Han Sans CN"/>
              </a:rPr>
              <a:t>富</a:t>
            </a:r>
            <a:r>
              <a:rPr lang="en-US" sz="975">
                <a:solidFill>
                  <a:srgbClr val="1E4FA8"/>
                </a:solidFill>
                <a:latin typeface="Source Han Sans CN"/>
                <a:ea typeface="Source Han Sans CN"/>
              </a:rPr>
              <a:t>)</a:t>
            </a:r>
            <a:endParaRPr/>
          </a:p>
        </p:txBody>
      </p:sp>
      <p:sp>
        <p:nvSpPr>
          <p:cNvPr id="406" name="文本框 405" descr="{&quot;isTemplate&quot;:true,&quot;type&quot;:&quot;text&quot;}"/>
          <p:cNvSpPr txBox="1"/>
          <p:nvPr/>
        </p:nvSpPr>
        <p:spPr>
          <a:xfrm>
            <a:off x="3200400"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07" name="矩形: 圆角 406"/>
          <p:cNvSpPr/>
          <p:nvPr/>
        </p:nvSpPr>
        <p:spPr>
          <a:xfrm>
            <a:off x="3419475" y="5438775"/>
            <a:ext cx="857250"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08" name="文本框 407" descr="{&quot;isTemplate&quot;:true,&quot;type&quot;:&quot;text&quot;}"/>
          <p:cNvSpPr txBox="1"/>
          <p:nvPr/>
        </p:nvSpPr>
        <p:spPr>
          <a:xfrm>
            <a:off x="3533775" y="5495925"/>
            <a:ext cx="628650" cy="304800"/>
          </a:xfrm>
          <a:prstGeom prst="rect">
            <a:avLst/>
          </a:prstGeom>
        </p:spPr>
        <p:txBody>
          <a:bodyPr wrap="square" lIns="0" tIns="0" rIns="0" bIns="0">
            <a:normAutofit/>
          </a:bodyPr>
          <a:lstStyle/>
          <a:p>
            <a:pPr>
              <a:lnSpc>
                <a:spcPct val="100000"/>
              </a:lnSpc>
            </a:pPr>
            <a:r>
              <a:rPr lang="zh-CN" sz="975">
                <a:solidFill>
                  <a:srgbClr val="1E4FA8"/>
                </a:solidFill>
                <a:latin typeface="Source Han Sans CN"/>
                <a:ea typeface="Source Han Sans CN"/>
              </a:rPr>
              <a:t>闸门①</a:t>
            </a:r>
            <a:r>
              <a:rPr lang="en-US" sz="975">
                <a:solidFill>
                  <a:srgbClr val="1E4FA8"/>
                </a:solidFill>
                <a:latin typeface="Source Han Sans CN"/>
                <a:ea typeface="Source Han Sans CN"/>
              </a:rPr>
              <a:t> prefilter</a:t>
            </a:r>
            <a:endParaRPr/>
          </a:p>
        </p:txBody>
      </p:sp>
      <p:sp>
        <p:nvSpPr>
          <p:cNvPr id="409" name="文本框 408" descr="{&quot;isTemplate&quot;:true,&quot;type&quot;:&quot;text&quot;}"/>
          <p:cNvSpPr txBox="1"/>
          <p:nvPr/>
        </p:nvSpPr>
        <p:spPr>
          <a:xfrm>
            <a:off x="4371975"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10" name="矩形: 圆角 409"/>
          <p:cNvSpPr/>
          <p:nvPr/>
        </p:nvSpPr>
        <p:spPr>
          <a:xfrm>
            <a:off x="4591050" y="5438775"/>
            <a:ext cx="990600"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11" name="文本框 410" descr="{&quot;isTemplate&quot;:true,&quot;type&quot;:&quot;text&quot;}"/>
          <p:cNvSpPr txBox="1"/>
          <p:nvPr/>
        </p:nvSpPr>
        <p:spPr>
          <a:xfrm>
            <a:off x="4705350" y="5495925"/>
            <a:ext cx="762000" cy="304800"/>
          </a:xfrm>
          <a:prstGeom prst="rect">
            <a:avLst/>
          </a:prstGeom>
        </p:spPr>
        <p:txBody>
          <a:bodyPr wrap="square" lIns="0" tIns="0" rIns="0" bIns="0">
            <a:normAutofit/>
          </a:bodyPr>
          <a:lstStyle/>
          <a:p>
            <a:pPr>
              <a:lnSpc>
                <a:spcPct val="100000"/>
              </a:lnSpc>
            </a:pPr>
            <a:r>
              <a:rPr lang="en-US" sz="975">
                <a:solidFill>
                  <a:srgbClr val="1E4FA8"/>
                </a:solidFill>
                <a:latin typeface="Source Han Sans CN"/>
                <a:ea typeface="Source Han Sans CN"/>
              </a:rPr>
              <a:t>n_sel </a:t>
            </a:r>
            <a:r>
              <a:rPr lang="zh-CN" sz="975">
                <a:solidFill>
                  <a:srgbClr val="1E4FA8"/>
                </a:solidFill>
                <a:latin typeface="Source Han Sans CN"/>
                <a:ea typeface="Source Han Sans CN"/>
              </a:rPr>
              <a:t>边际纳入</a:t>
            </a:r>
            <a:r>
              <a:rPr lang="en-US" sz="975">
                <a:solidFill>
                  <a:srgbClr val="1E4FA8"/>
                </a:solidFill>
                <a:latin typeface="Source Han Sans CN"/>
                <a:ea typeface="Source Han Sans CN"/>
              </a:rPr>
              <a:t>(</a:t>
            </a:r>
            <a:r>
              <a:rPr lang="zh-CN" sz="975">
                <a:solidFill>
                  <a:srgbClr val="1E4FA8"/>
                </a:solidFill>
                <a:latin typeface="Source Han Sans CN"/>
                <a:ea typeface="Source Han Sans CN"/>
              </a:rPr>
              <a:t>紧</a:t>
            </a:r>
            <a:r>
              <a:rPr lang="en-US" sz="975">
                <a:solidFill>
                  <a:srgbClr val="1E4FA8"/>
                </a:solidFill>
                <a:latin typeface="Source Han Sans CN"/>
                <a:ea typeface="Source Han Sans CN"/>
              </a:rPr>
              <a:t>)</a:t>
            </a:r>
            <a:endParaRPr/>
          </a:p>
        </p:txBody>
      </p:sp>
      <p:sp>
        <p:nvSpPr>
          <p:cNvPr id="412" name="文本框 411" descr="{&quot;isTemplate&quot;:true,&quot;type&quot;:&quot;text&quot;}"/>
          <p:cNvSpPr txBox="1"/>
          <p:nvPr/>
        </p:nvSpPr>
        <p:spPr>
          <a:xfrm>
            <a:off x="5676900"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13" name="矩形: 圆角 412"/>
          <p:cNvSpPr/>
          <p:nvPr/>
        </p:nvSpPr>
        <p:spPr>
          <a:xfrm>
            <a:off x="5895975" y="5438775"/>
            <a:ext cx="962025"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14" name="文本框 413" descr="{&quot;isTemplate&quot;:true,&quot;type&quot;:&quot;text&quot;}"/>
          <p:cNvSpPr txBox="1"/>
          <p:nvPr/>
        </p:nvSpPr>
        <p:spPr>
          <a:xfrm>
            <a:off x="6010275" y="5495925"/>
            <a:ext cx="733425" cy="304800"/>
          </a:xfrm>
          <a:prstGeom prst="rect">
            <a:avLst/>
          </a:prstGeom>
        </p:spPr>
        <p:txBody>
          <a:bodyPr wrap="square" lIns="0" tIns="0" rIns="0" bIns="0">
            <a:normAutofit/>
          </a:bodyPr>
          <a:lstStyle/>
          <a:p>
            <a:pPr>
              <a:lnSpc>
                <a:spcPct val="100000"/>
              </a:lnSpc>
            </a:pPr>
            <a:r>
              <a:rPr lang="zh-CN" sz="975">
                <a:solidFill>
                  <a:srgbClr val="1E4FA8"/>
                </a:solidFill>
                <a:latin typeface="Source Han Sans CN"/>
                <a:ea typeface="Source Han Sans CN"/>
              </a:rPr>
              <a:t>闸门②</a:t>
            </a:r>
            <a:r>
              <a:rPr lang="en-US" sz="975">
                <a:solidFill>
                  <a:srgbClr val="1E4FA8"/>
                </a:solidFill>
                <a:latin typeface="Source Han Sans CN"/>
                <a:ea typeface="Source Han Sans CN"/>
              </a:rPr>
              <a:t> postcheck</a:t>
            </a:r>
            <a:endParaRPr/>
          </a:p>
        </p:txBody>
      </p:sp>
      <p:sp>
        <p:nvSpPr>
          <p:cNvPr id="415" name="矩形: 圆角 414"/>
          <p:cNvSpPr/>
          <p:nvPr/>
        </p:nvSpPr>
        <p:spPr>
          <a:xfrm>
            <a:off x="7277100" y="1143000"/>
            <a:ext cx="4533900" cy="2400300"/>
          </a:xfrm>
          <a:prstGeom prst="roundRect">
            <a:avLst>
              <a:gd name="adj" fmla="val 3968"/>
            </a:avLst>
          </a:prstGeom>
          <a:solidFill>
            <a:srgbClr val="F0F5FC"/>
          </a:solidFill>
          <a:ln/>
        </p:spPr>
        <p:txBody>
          <a:bodyPr/>
          <a:lstStyle/>
          <a:p>
            <a:endParaRPr/>
          </a:p>
        </p:txBody>
      </p:sp>
      <p:sp>
        <p:nvSpPr>
          <p:cNvPr id="416" name="任意多边形: 形状 415"/>
          <p:cNvSpPr/>
          <p:nvPr/>
        </p:nvSpPr>
        <p:spPr>
          <a:xfrm>
            <a:off x="7277100" y="1143000"/>
            <a:ext cx="4533900" cy="2400300"/>
          </a:xfrm>
          <a:custGeom>
            <a:avLst/>
            <a:gdLst/>
            <a:ahLst/>
            <a:cxnLst/>
            <a:rect l="0" t="0" r="0" b="0"/>
            <a:pathLst>
              <a:path w="476" h="252">
                <a:moveTo>
                  <a:pt x="466" y="0"/>
                </a:moveTo>
                <a:cubicBezTo>
                  <a:pt x="471" y="0"/>
                  <a:pt x="475" y="4"/>
                  <a:pt x="476" y="8"/>
                </a:cubicBezTo>
                <a:cubicBezTo>
                  <a:pt x="475" y="6"/>
                  <a:pt x="473" y="4"/>
                  <a:pt x="470" y="4"/>
                </a:cubicBezTo>
                <a:lnTo>
                  <a:pt x="6" y="4"/>
                </a:lnTo>
                <a:cubicBezTo>
                  <a:pt x="3" y="4"/>
                  <a:pt x="1" y="6"/>
                  <a:pt x="0" y="9"/>
                </a:cubicBezTo>
                <a:cubicBezTo>
                  <a:pt x="1" y="4"/>
                  <a:pt x="5" y="0"/>
                  <a:pt x="10" y="0"/>
                </a:cubicBezTo>
                <a:lnTo>
                  <a:pt x="466" y="0"/>
                </a:lnTo>
                <a:close/>
              </a:path>
            </a:pathLst>
          </a:custGeom>
          <a:solidFill>
            <a:srgbClr val="1E4FA8"/>
          </a:solidFill>
          <a:ln/>
        </p:spPr>
        <p:txBody>
          <a:bodyPr/>
          <a:lstStyle/>
          <a:p>
            <a:endParaRPr/>
          </a:p>
        </p:txBody>
      </p:sp>
      <p:sp>
        <p:nvSpPr>
          <p:cNvPr id="417" name="文本框 416" descr="{&quot;isTemplate&quot;:true,&quot;type&quot;:&quot;text&quot;}"/>
          <p:cNvSpPr txBox="1"/>
          <p:nvPr/>
        </p:nvSpPr>
        <p:spPr>
          <a:xfrm>
            <a:off x="7467600" y="1276350"/>
            <a:ext cx="415290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③ </a:t>
            </a:r>
            <a:r>
              <a:rPr lang="zh-CN" sz="1425" b="1">
                <a:solidFill>
                  <a:srgbClr val="0E3F8C"/>
                </a:solidFill>
                <a:latin typeface="Source Han Sans CN"/>
                <a:ea typeface="Source Han Sans CN"/>
              </a:rPr>
              <a:t>边际收益增量选择</a:t>
            </a:r>
            <a:endParaRPr/>
          </a:p>
        </p:txBody>
      </p:sp>
      <p:sp>
        <p:nvSpPr>
          <p:cNvPr id="418" name="矩形: 圆角 417"/>
          <p:cNvSpPr/>
          <p:nvPr/>
        </p:nvSpPr>
        <p:spPr>
          <a:xfrm>
            <a:off x="7467600" y="1590675"/>
            <a:ext cx="4152900" cy="885825"/>
          </a:xfrm>
          <a:prstGeom prst="roundRect">
            <a:avLst>
              <a:gd name="adj" fmla="val 8602"/>
            </a:avLst>
          </a:prstGeom>
          <a:solidFill>
            <a:srgbClr val="FFFFFF"/>
          </a:solidFill>
          <a:ln/>
        </p:spPr>
        <p:txBody>
          <a:bodyPr/>
          <a:lstStyle/>
          <a:p>
            <a:endParaRPr/>
          </a:p>
        </p:txBody>
      </p:sp>
      <p:sp>
        <p:nvSpPr>
          <p:cNvPr id="419" name="文本框 418" descr="{&quot;isTemplate&quot;:true,&quot;type&quot;:&quot;text&quot;}"/>
          <p:cNvSpPr txBox="1"/>
          <p:nvPr/>
        </p:nvSpPr>
        <p:spPr>
          <a:xfrm>
            <a:off x="8667750" y="1704975"/>
            <a:ext cx="1762125" cy="228600"/>
          </a:xfrm>
          <a:prstGeom prst="rect">
            <a:avLst/>
          </a:prstGeom>
        </p:spPr>
        <p:txBody>
          <a:bodyPr wrap="none" lIns="0" tIns="0" rIns="0" bIns="0"/>
          <a:lstStyle/>
          <a:p>
            <a:pPr>
              <a:lnSpc>
                <a:spcPct val="100000"/>
              </a:lnSpc>
            </a:pPr>
            <a:r>
              <a:rPr sz="1500" b="1">
                <a:solidFill>
                  <a:srgbClr val="0E3F8C"/>
                </a:solidFill>
                <a:latin typeface="Source Han Sans CN"/>
                <a:ea typeface="Source Han Sans CN"/>
              </a:rPr>
              <a:t>Δ</a:t>
            </a:r>
            <a:r>
              <a:rPr lang="en-US" sz="975" b="1">
                <a:solidFill>
                  <a:srgbClr val="0E3F8C"/>
                </a:solidFill>
                <a:latin typeface="Source Han Sans CN"/>
                <a:ea typeface="Source Han Sans CN"/>
              </a:rPr>
              <a:t>i</a:t>
            </a:r>
            <a:r>
              <a:rPr lang="en-US" sz="1500" b="1">
                <a:solidFill>
                  <a:srgbClr val="0E3F8C"/>
                </a:solidFill>
                <a:latin typeface="Source Han Sans CN"/>
                <a:ea typeface="Source Han Sans CN"/>
              </a:rPr>
              <a:t> = ΔB</a:t>
            </a:r>
            <a:r>
              <a:rPr lang="en-US" sz="975" b="1">
                <a:solidFill>
                  <a:srgbClr val="0E3F8C"/>
                </a:solidFill>
                <a:latin typeface="Source Han Sans CN"/>
                <a:ea typeface="Source Han Sans CN"/>
              </a:rPr>
              <a:t>i</a:t>
            </a:r>
            <a:r>
              <a:rPr lang="en-US" sz="1500" b="1">
                <a:solidFill>
                  <a:srgbClr val="0E3F8C"/>
                </a:solidFill>
                <a:latin typeface="Source Han Sans CN"/>
                <a:ea typeface="Source Han Sans CN"/>
              </a:rPr>
              <a:t> / (ΔC</a:t>
            </a:r>
            <a:r>
              <a:rPr lang="en-US" sz="975" b="1">
                <a:solidFill>
                  <a:srgbClr val="0E3F8C"/>
                </a:solidFill>
                <a:latin typeface="Source Han Sans CN"/>
                <a:ea typeface="Source Han Sans CN"/>
              </a:rPr>
              <a:t>i</a:t>
            </a:r>
            <a:r>
              <a:rPr lang="en-US" sz="1500" b="1">
                <a:solidFill>
                  <a:srgbClr val="0E3F8C"/>
                </a:solidFill>
                <a:latin typeface="Source Han Sans CN"/>
                <a:ea typeface="Source Han Sans CN"/>
              </a:rPr>
              <a:t> + ε)</a:t>
            </a:r>
            <a:endParaRPr/>
          </a:p>
        </p:txBody>
      </p:sp>
      <p:sp>
        <p:nvSpPr>
          <p:cNvPr id="420" name="文本框 419" descr="{&quot;isTemplate&quot;:true,&quot;type&quot;:&quot;text&quot;}"/>
          <p:cNvSpPr txBox="1"/>
          <p:nvPr/>
        </p:nvSpPr>
        <p:spPr>
          <a:xfrm>
            <a:off x="7600950" y="1990725"/>
            <a:ext cx="3886200" cy="371475"/>
          </a:xfrm>
          <a:prstGeom prst="rect">
            <a:avLst/>
          </a:prstGeom>
        </p:spPr>
        <p:txBody>
          <a:bodyPr wrap="square" lIns="0" tIns="0" rIns="0" bIns="0">
            <a:normAutofit/>
          </a:bodyPr>
          <a:lstStyle/>
          <a:p>
            <a:pPr>
              <a:lnSpc>
                <a:spcPct val="100000"/>
              </a:lnSpc>
            </a:pPr>
            <a:r>
              <a:rPr lang="en-US" sz="1200">
                <a:solidFill>
                  <a:srgbClr val="1E4FA8"/>
                </a:solidFill>
                <a:latin typeface="Source Han Sans CN"/>
                <a:ea typeface="Source Han Sans CN"/>
              </a:rPr>
              <a:t>ΔC</a:t>
            </a:r>
            <a:r>
              <a:rPr lang="en-US" sz="825">
                <a:solidFill>
                  <a:srgbClr val="1E4FA8"/>
                </a:solidFill>
                <a:latin typeface="Source Han Sans CN"/>
                <a:ea typeface="Source Han Sans CN"/>
              </a:rPr>
              <a:t>i</a:t>
            </a:r>
            <a:r>
              <a:rPr lang="en-US" sz="1200">
                <a:solidFill>
                  <a:srgbClr val="1E4FA8"/>
                </a:solidFill>
                <a:latin typeface="Source Han Sans CN"/>
                <a:ea typeface="Source Han Sans CN"/>
              </a:rPr>
              <a:t> = min</a:t>
            </a:r>
            <a:r>
              <a:rPr lang="en-US" sz="900">
                <a:solidFill>
                  <a:srgbClr val="1E4FA8"/>
                </a:solidFill>
                <a:latin typeface="Source Han Sans CN"/>
                <a:ea typeface="Source Han Sans CN"/>
              </a:rPr>
              <a:t>{ C</a:t>
            </a:r>
            <a:r>
              <a:rPr lang="en-US" sz="750">
                <a:solidFill>
                  <a:srgbClr val="1E4FA8"/>
                </a:solidFill>
                <a:latin typeface="Source Han Sans CN"/>
                <a:ea typeface="Source Han Sans CN"/>
              </a:rPr>
              <a:t>ai</a:t>
            </a:r>
            <a:r>
              <a:rPr lang="en-US" sz="900">
                <a:solidFill>
                  <a:srgbClr val="1E4FA8"/>
                </a:solidFill>
                <a:latin typeface="Source Han Sans CN"/>
                <a:ea typeface="Source Han Sans CN"/>
              </a:rPr>
              <a:t> + C</a:t>
            </a:r>
            <a:r>
              <a:rPr lang="en-US" sz="750">
                <a:solidFill>
                  <a:srgbClr val="1E4FA8"/>
                </a:solidFill>
                <a:latin typeface="Source Han Sans CN"/>
                <a:ea typeface="Source Han Sans CN"/>
              </a:rPr>
              <a:t>ib</a:t>
            </a:r>
            <a:r>
              <a:rPr lang="en-US" sz="900">
                <a:solidFill>
                  <a:srgbClr val="1E4FA8"/>
                </a:solidFill>
                <a:latin typeface="Source Han Sans CN"/>
                <a:ea typeface="Source Han Sans CN"/>
              </a:rPr>
              <a:t> − C</a:t>
            </a:r>
            <a:r>
              <a:rPr lang="en-US" sz="750">
                <a:solidFill>
                  <a:srgbClr val="1E4FA8"/>
                </a:solidFill>
                <a:latin typeface="Source Han Sans CN"/>
                <a:ea typeface="Source Han Sans CN"/>
              </a:rPr>
              <a:t>ab</a:t>
            </a:r>
            <a:r>
              <a:rPr lang="en-US" sz="900">
                <a:solidFill>
                  <a:srgbClr val="1E4FA8"/>
                </a:solidFill>
                <a:latin typeface="Source Han Sans CN"/>
                <a:ea typeface="Source Han Sans CN"/>
              </a:rPr>
              <a:t> }</a:t>
            </a:r>
            <a:r>
              <a:rPr lang="zh-CN" sz="1200">
                <a:solidFill>
                  <a:srgbClr val="1E4FA8"/>
                </a:solidFill>
                <a:latin typeface="Source Han Sans CN"/>
                <a:ea typeface="Source Han Sans CN"/>
              </a:rPr>
              <a:t>（所有锚点对插入，统一</a:t>
            </a:r>
            <a:r>
              <a:rPr lang="en-US" sz="1200">
                <a:solidFill>
                  <a:srgbClr val="1E4FA8"/>
                </a:solidFill>
                <a:latin typeface="Source Han Sans CN"/>
                <a:ea typeface="Source Han Sans CN"/>
              </a:rPr>
              <a:t> DEM </a:t>
            </a:r>
            <a:r>
              <a:rPr lang="zh-CN" sz="1200">
                <a:solidFill>
                  <a:srgbClr val="1E4FA8"/>
                </a:solidFill>
                <a:latin typeface="Source Han Sans CN"/>
                <a:ea typeface="Source Han Sans CN"/>
              </a:rPr>
              <a:t>三维航程）</a:t>
            </a:r>
            <a:endParaRPr/>
          </a:p>
        </p:txBody>
      </p:sp>
      <p:sp>
        <p:nvSpPr>
          <p:cNvPr id="421" name="文本框 420" descr="{&quot;isTemplate&quot;:true,&quot;type&quot;:&quot;text&quot;}"/>
          <p:cNvSpPr txBox="1"/>
          <p:nvPr/>
        </p:nvSpPr>
        <p:spPr>
          <a:xfrm>
            <a:off x="7467600" y="2552700"/>
            <a:ext cx="415290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插入式快速估计：对「已选集合</a:t>
            </a:r>
            <a:r>
              <a:rPr lang="en-US" sz="1050">
                <a:solidFill>
                  <a:srgbClr val="4A5568"/>
                </a:solidFill>
                <a:latin typeface="Source Han Sans CN"/>
                <a:ea typeface="Source Han Sans CN"/>
              </a:rPr>
              <a:t> + </a:t>
            </a:r>
            <a:r>
              <a:rPr lang="zh-CN" sz="1050">
                <a:solidFill>
                  <a:srgbClr val="4A5568"/>
                </a:solidFill>
                <a:latin typeface="Source Han Sans CN"/>
                <a:ea typeface="Source Han Sans CN"/>
              </a:rPr>
              <a:t>最近机巢」的</a:t>
            </a:r>
            <a:r>
              <a:rPr lang="zh-CN" sz="1050" b="1">
                <a:solidFill>
                  <a:srgbClr val="4A5568"/>
                </a:solidFill>
                <a:latin typeface="Source Han Sans CN"/>
                <a:ea typeface="Source Han Sans CN"/>
              </a:rPr>
              <a:t>所有锚点对</a:t>
            </a:r>
            <a:r>
              <a:rPr lang="zh-CN" sz="1050">
                <a:solidFill>
                  <a:srgbClr val="4A5568"/>
                </a:solidFill>
                <a:latin typeface="Source Han Sans CN"/>
                <a:ea typeface="Source Han Sans CN"/>
              </a:rPr>
              <a:t>试接入任务</a:t>
            </a:r>
            <a:r>
              <a:rPr lang="en-US" sz="1050">
                <a:solidFill>
                  <a:srgbClr val="4A5568"/>
                </a:solidFill>
                <a:latin typeface="Source Han Sans CN"/>
                <a:ea typeface="Source Han Sans CN"/>
              </a:rPr>
              <a:t> i</a:t>
            </a:r>
            <a:r>
              <a:rPr lang="zh-CN" sz="1050">
                <a:solidFill>
                  <a:srgbClr val="4A5568"/>
                </a:solidFill>
                <a:latin typeface="Source Han Sans CN"/>
                <a:ea typeface="Source Han Sans CN"/>
              </a:rPr>
              <a:t>，取最小三维航程增量——不预设任何顺序、不求解完整</a:t>
            </a:r>
            <a:r>
              <a:rPr lang="en-US" sz="1050">
                <a:solidFill>
                  <a:srgbClr val="4A5568"/>
                </a:solidFill>
                <a:latin typeface="Source Han Sans CN"/>
                <a:ea typeface="Source Han Sans CN"/>
              </a:rPr>
              <a:t> MUAS</a:t>
            </a:r>
            <a:r>
              <a:rPr lang="zh-CN" sz="1050">
                <a:solidFill>
                  <a:srgbClr val="4A5568"/>
                </a:solidFill>
                <a:latin typeface="Source Han Sans CN"/>
                <a:ea typeface="Source Han Sans CN"/>
              </a:rPr>
              <a:t>，与已选任务空间相近者因增量代价低而胜出</a:t>
            </a:r>
            <a:endParaRPr/>
          </a:p>
        </p:txBody>
      </p:sp>
      <p:sp>
        <p:nvSpPr>
          <p:cNvPr id="422" name="矩形: 圆角 421"/>
          <p:cNvSpPr/>
          <p:nvPr/>
        </p:nvSpPr>
        <p:spPr>
          <a:xfrm>
            <a:off x="7277100" y="3638550"/>
            <a:ext cx="4533900" cy="1323975"/>
          </a:xfrm>
          <a:prstGeom prst="roundRect">
            <a:avLst>
              <a:gd name="adj" fmla="val 7194"/>
            </a:avLst>
          </a:prstGeom>
          <a:solidFill>
            <a:srgbClr val="F7F9FC"/>
          </a:solidFill>
          <a:ln w="12700">
            <a:solidFill>
              <a:srgbClr val="D6DCE5"/>
            </a:solidFill>
            <a:prstDash val="solid"/>
          </a:ln>
        </p:spPr>
        <p:txBody>
          <a:bodyPr/>
          <a:lstStyle/>
          <a:p>
            <a:endParaRPr/>
          </a:p>
        </p:txBody>
      </p:sp>
      <p:sp>
        <p:nvSpPr>
          <p:cNvPr id="423" name="文本框 422" descr="{&quot;isTemplate&quot;:true,&quot;type&quot;:&quot;text&quot;}"/>
          <p:cNvSpPr txBox="1"/>
          <p:nvPr/>
        </p:nvSpPr>
        <p:spPr>
          <a:xfrm>
            <a:off x="7467600" y="3762375"/>
            <a:ext cx="4152900" cy="200025"/>
          </a:xfrm>
          <a:prstGeom prst="rect">
            <a:avLst/>
          </a:prstGeom>
        </p:spPr>
        <p:txBody>
          <a:bodyPr wrap="none" lIns="0" tIns="0" rIns="0" bIns="0"/>
          <a:lstStyle/>
          <a:p>
            <a:pPr>
              <a:lnSpc>
                <a:spcPct val="100000"/>
              </a:lnSpc>
            </a:pPr>
            <a:r>
              <a:rPr lang="en-US" sz="1275" b="1">
                <a:solidFill>
                  <a:srgbClr val="0E3F8C"/>
                </a:solidFill>
                <a:latin typeface="Source Han Sans CN"/>
                <a:ea typeface="Source Han Sans CN"/>
              </a:rPr>
              <a:t>④ </a:t>
            </a:r>
            <a:r>
              <a:rPr lang="zh-CN" sz="1275" b="1">
                <a:solidFill>
                  <a:srgbClr val="0E3F8C"/>
                </a:solidFill>
                <a:latin typeface="Source Han Sans CN"/>
                <a:ea typeface="Source Han Sans CN"/>
              </a:rPr>
              <a:t>两道可行性闸门（粗粒度，弹回不淘汰）</a:t>
            </a:r>
            <a:endParaRPr/>
          </a:p>
        </p:txBody>
      </p:sp>
      <p:sp>
        <p:nvSpPr>
          <p:cNvPr id="424" name="文本框 423" descr="{&quot;isTemplate&quot;:true,&quot;type&quot;:&quot;text&quot;}"/>
          <p:cNvSpPr txBox="1"/>
          <p:nvPr/>
        </p:nvSpPr>
        <p:spPr>
          <a:xfrm>
            <a:off x="7467600" y="4019550"/>
            <a:ext cx="415290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闸门①</a:t>
            </a:r>
            <a:r>
              <a:rPr lang="en-US" sz="1050">
                <a:solidFill>
                  <a:srgbClr val="4A5568"/>
                </a:solidFill>
                <a:latin typeface="Source Han Sans CN"/>
                <a:ea typeface="Source Han Sans CN"/>
              </a:rPr>
              <a:t> prefilter</a:t>
            </a:r>
            <a:r>
              <a:rPr lang="zh-CN" sz="1050">
                <a:solidFill>
                  <a:srgbClr val="4A5568"/>
                </a:solidFill>
                <a:latin typeface="Source Han Sans CN"/>
                <a:ea typeface="Source Han Sans CN"/>
              </a:rPr>
              <a:t>：是否有可用机</a:t>
            </a:r>
            <a:r>
              <a:rPr lang="en-US" sz="1050">
                <a:solidFill>
                  <a:srgbClr val="4A5568"/>
                </a:solidFill>
                <a:latin typeface="Source Han Sans CN"/>
                <a:ea typeface="Source Han Sans CN"/>
              </a:rPr>
              <a:t> · </a:t>
            </a:r>
            <a:r>
              <a:rPr lang="zh-CN" sz="1050">
                <a:solidFill>
                  <a:srgbClr val="4A5568"/>
                </a:solidFill>
                <a:latin typeface="Source Han Sans CN"/>
                <a:ea typeface="Source Han Sans CN"/>
              </a:rPr>
              <a:t>往返航程可达（DEM 口径）</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闸门②</a:t>
            </a:r>
            <a:r>
              <a:rPr lang="en-US" sz="1050">
                <a:solidFill>
                  <a:srgbClr val="4A5568"/>
                </a:solidFill>
                <a:latin typeface="Source Han Sans CN"/>
                <a:ea typeface="Source Han Sans CN"/>
              </a:rPr>
              <a:t> postcheck</a:t>
            </a:r>
            <a:r>
              <a:rPr lang="zh-CN" sz="1050">
                <a:solidFill>
                  <a:srgbClr val="4A5568"/>
                </a:solidFill>
                <a:latin typeface="Source Han Sans CN"/>
                <a:ea typeface="Source Han Sans CN"/>
              </a:rPr>
              <a:t>：机群剩余航程预算——仅物理不可行才不进候选，否则留池下周期再评；时间窗迟到由适应度折减、非参选资格</a:t>
            </a:r>
            <a:endParaRPr/>
          </a:p>
        </p:txBody>
      </p:sp>
      <p:sp>
        <p:nvSpPr>
          <p:cNvPr id="425" name="矩形: 圆角 424"/>
          <p:cNvSpPr/>
          <p:nvPr/>
        </p:nvSpPr>
        <p:spPr>
          <a:xfrm>
            <a:off x="7277100" y="5095875"/>
            <a:ext cx="4533900" cy="1152525"/>
          </a:xfrm>
          <a:prstGeom prst="roundRect">
            <a:avLst>
              <a:gd name="adj" fmla="val 8264"/>
            </a:avLst>
          </a:prstGeom>
          <a:solidFill>
            <a:srgbClr val="0E3F8C"/>
          </a:solidFill>
          <a:ln/>
        </p:spPr>
        <p:txBody>
          <a:bodyPr/>
          <a:lstStyle/>
          <a:p>
            <a:endParaRPr/>
          </a:p>
        </p:txBody>
      </p:sp>
      <p:sp>
        <p:nvSpPr>
          <p:cNvPr id="426" name="文本框 425" descr="{&quot;isTemplate&quot;:true,&quot;type&quot;:&quot;text&quot;}"/>
          <p:cNvSpPr txBox="1"/>
          <p:nvPr/>
        </p:nvSpPr>
        <p:spPr>
          <a:xfrm>
            <a:off x="7467600" y="5229225"/>
            <a:ext cx="4152900" cy="885825"/>
          </a:xfrm>
          <a:prstGeom prst="rect">
            <a:avLst/>
          </a:prstGeom>
        </p:spPr>
        <p:txBody>
          <a:bodyPr wrap="square" lIns="0" tIns="0" rIns="0" bIns="0">
            <a:normAutofit/>
          </a:bodyPr>
          <a:lstStyle/>
          <a:p>
            <a:pPr>
              <a:lnSpc>
                <a:spcPct val="160000"/>
              </a:lnSpc>
            </a:pPr>
            <a:r>
              <a:rPr lang="zh-CN" sz="1200" b="1">
                <a:solidFill>
                  <a:srgbClr val="FFFFFF"/>
                </a:solidFill>
                <a:latin typeface="Source Han Sans CN"/>
                <a:ea typeface="Source Han Sans CN"/>
              </a:rPr>
              <a:t>判断：选择质量与实时性兼得——边际比只依赖代价矩阵查表与插入估计，单周期选择开销可忽略，却保住了「任务</a:t>
            </a:r>
            <a:r>
              <a:rPr lang="en-US" sz="1200" b="1">
                <a:solidFill>
                  <a:srgbClr val="FFFFFF"/>
                </a:solidFill>
                <a:latin typeface="Source Han Sans CN"/>
                <a:ea typeface="Source Han Sans CN"/>
              </a:rPr>
              <a:t> × </a:t>
            </a:r>
            <a:r>
              <a:rPr lang="zh-CN" sz="1200" b="1">
                <a:solidFill>
                  <a:srgbClr val="FFFFFF"/>
                </a:solidFill>
                <a:latin typeface="Source Han Sans CN"/>
                <a:ea typeface="Source Han Sans CN"/>
              </a:rPr>
              <a:t>组合」的匹配质量。</a:t>
            </a:r>
            <a:endParaRPr/>
          </a:p>
        </p:txBody>
      </p:sp>
      <p:sp>
        <p:nvSpPr>
          <p:cNvPr id="427" name="矩形 426"/>
          <p:cNvSpPr/>
          <p:nvPr/>
        </p:nvSpPr>
        <p:spPr>
          <a:xfrm>
            <a:off x="0" y="6448425"/>
            <a:ext cx="12192000" cy="409575"/>
          </a:xfrm>
          <a:prstGeom prst="rect">
            <a:avLst/>
          </a:prstGeom>
          <a:solidFill>
            <a:srgbClr val="F7F9FC"/>
          </a:solidFill>
          <a:ln/>
        </p:spPr>
        <p:txBody>
          <a:bodyPr/>
          <a:lstStyle/>
          <a:p>
            <a:endParaRPr/>
          </a:p>
        </p:txBody>
      </p:sp>
      <p:sp>
        <p:nvSpPr>
          <p:cNvPr id="428" name="任意多边形: 形状 427"/>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429" name="文本框 428"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430" name="文本框 429"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07 / 16</a:t>
            </a:r>
            <a:endParaR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50" name="矩形 349"/>
          <p:cNvSpPr/>
          <p:nvPr/>
        </p:nvSpPr>
        <p:spPr>
          <a:xfrm>
            <a:off x="0" y="0"/>
            <a:ext cx="12192000" cy="6858000"/>
          </a:xfrm>
          <a:prstGeom prst="rect">
            <a:avLst/>
          </a:prstGeom>
          <a:solidFill>
            <a:srgbClr val="FFFFFF"/>
          </a:solidFill>
          <a:ln/>
        </p:spPr>
        <p:txBody>
          <a:bodyPr/>
          <a:lstStyle/>
          <a:p>
            <a:endParaRPr/>
          </a:p>
        </p:txBody>
      </p:sp>
      <p:sp>
        <p:nvSpPr>
          <p:cNvPr id="351" name="矩形 350"/>
          <p:cNvSpPr/>
          <p:nvPr/>
        </p:nvSpPr>
        <p:spPr>
          <a:xfrm>
            <a:off x="0" y="0"/>
            <a:ext cx="12192000" cy="114300"/>
          </a:xfrm>
          <a:prstGeom prst="rect">
            <a:avLst/>
          </a:prstGeom>
          <a:solidFill>
            <a:srgbClr val="1E4FA8"/>
          </a:solidFill>
          <a:ln/>
        </p:spPr>
        <p:txBody>
          <a:bodyPr/>
          <a:lstStyle/>
          <a:p>
            <a:endParaRPr/>
          </a:p>
        </p:txBody>
      </p:sp>
      <p:sp>
        <p:nvSpPr>
          <p:cNvPr id="352" name="文本框 351" descr="{&quot;isTemplate&quot;:true,&quot;type&quot;:&quot;text&quot;}"/>
          <p:cNvSpPr txBox="1"/>
          <p:nvPr/>
        </p:nvSpPr>
        <p:spPr>
          <a:xfrm>
            <a:off x="7734300" y="1238250"/>
            <a:ext cx="3886200" cy="3771900"/>
          </a:xfrm>
          <a:prstGeom prst="rect">
            <a:avLst/>
          </a:prstGeom>
        </p:spPr>
        <p:txBody>
          <a:bodyPr wrap="none" lIns="0" tIns="0" rIns="0" bIns="0"/>
          <a:lstStyle/>
          <a:p>
            <a:pPr>
              <a:lnSpc>
                <a:spcPct val="100000"/>
              </a:lnSpc>
            </a:pPr>
            <a:r>
              <a:rPr lang="en-US" sz="24750" b="1">
                <a:solidFill>
                  <a:srgbClr val="E8EFF8"/>
                </a:solidFill>
                <a:latin typeface="Source Han Sans CN"/>
                <a:ea typeface="Source Han Sans CN"/>
              </a:rPr>
              <a:t>03</a:t>
            </a:r>
            <a:endParaRPr/>
          </a:p>
        </p:txBody>
      </p:sp>
      <p:sp>
        <p:nvSpPr>
          <p:cNvPr id="353" name="矩形 352"/>
          <p:cNvSpPr/>
          <p:nvPr/>
        </p:nvSpPr>
        <p:spPr>
          <a:xfrm>
            <a:off x="762000" y="1990725"/>
            <a:ext cx="381000" cy="38100"/>
          </a:xfrm>
          <a:prstGeom prst="rect">
            <a:avLst/>
          </a:prstGeom>
          <a:solidFill>
            <a:srgbClr val="FFC107"/>
          </a:solidFill>
          <a:ln/>
        </p:spPr>
        <p:txBody>
          <a:bodyPr/>
          <a:lstStyle/>
          <a:p>
            <a:endParaRPr/>
          </a:p>
        </p:txBody>
      </p:sp>
      <p:sp>
        <p:nvSpPr>
          <p:cNvPr id="354" name="文本框 353" descr="{&quot;isTemplate&quot;:true,&quot;type&quot;:&quot;text&quot;}"/>
          <p:cNvSpPr txBox="1"/>
          <p:nvPr/>
        </p:nvSpPr>
        <p:spPr>
          <a:xfrm>
            <a:off x="1276350" y="1905000"/>
            <a:ext cx="1457325" cy="200025"/>
          </a:xfrm>
          <a:prstGeom prst="rect">
            <a:avLst/>
          </a:prstGeom>
        </p:spPr>
        <p:txBody>
          <a:bodyPr wrap="none" lIns="0" tIns="0" rIns="0" bIns="0"/>
          <a:lstStyle/>
          <a:p>
            <a:pPr>
              <a:lnSpc>
                <a:spcPct val="100000"/>
              </a:lnSpc>
            </a:pPr>
            <a:r>
              <a:rPr lang="en-US" sz="1275" spc="375">
                <a:solidFill>
                  <a:srgbClr val="3D7BD9"/>
                </a:solidFill>
                <a:latin typeface="Source Han Sans CN"/>
                <a:ea typeface="Source Han Sans CN"/>
              </a:rPr>
              <a:t>CHAPTER 03</a:t>
            </a:r>
            <a:endParaRPr/>
          </a:p>
        </p:txBody>
      </p:sp>
      <p:sp>
        <p:nvSpPr>
          <p:cNvPr id="355" name="文本框 354" descr="{&quot;isTemplate&quot;:true,&quot;type&quot;:&quot;text&quot;}"/>
          <p:cNvSpPr txBox="1"/>
          <p:nvPr/>
        </p:nvSpPr>
        <p:spPr>
          <a:xfrm>
            <a:off x="762000" y="2276475"/>
            <a:ext cx="7239000" cy="504825"/>
          </a:xfrm>
          <a:prstGeom prst="rect">
            <a:avLst/>
          </a:prstGeom>
        </p:spPr>
        <p:txBody>
          <a:bodyPr wrap="none" lIns="0" tIns="0" rIns="0" bIns="0"/>
          <a:lstStyle/>
          <a:p>
            <a:pPr>
              <a:lnSpc>
                <a:spcPct val="100000"/>
              </a:lnSpc>
            </a:pPr>
            <a:r>
              <a:rPr lang="zh-CN" sz="3300" b="1">
                <a:solidFill>
                  <a:srgbClr val="0E3F8C"/>
                </a:solidFill>
                <a:latin typeface="Source Han Sans CN"/>
                <a:ea typeface="Source Han Sans CN"/>
              </a:rPr>
              <a:t>第二阶段：选择性 MUAS 与 DMDE</a:t>
            </a:r>
            <a:endParaRPr/>
          </a:p>
        </p:txBody>
      </p:sp>
      <p:sp>
        <p:nvSpPr>
          <p:cNvPr id="356" name="矩形: 圆角 355"/>
          <p:cNvSpPr/>
          <p:nvPr/>
        </p:nvSpPr>
        <p:spPr>
          <a:xfrm>
            <a:off x="762000" y="3209925"/>
            <a:ext cx="76200" cy="76200"/>
          </a:xfrm>
          <a:prstGeom prst="roundRect">
            <a:avLst>
              <a:gd name="adj" fmla="val 50000"/>
            </a:avLst>
          </a:prstGeom>
          <a:solidFill>
            <a:srgbClr val="1E4FA8"/>
          </a:solidFill>
          <a:ln/>
        </p:spPr>
        <p:txBody>
          <a:bodyPr/>
          <a:lstStyle/>
          <a:p>
            <a:endParaRPr/>
          </a:p>
        </p:txBody>
      </p:sp>
      <p:sp>
        <p:nvSpPr>
          <p:cNvPr id="357" name="文本框 356" descr="{&quot;isTemplate&quot;:true,&quot;type&quot;:&quot;text&quot;}"/>
          <p:cNvSpPr txBox="1"/>
          <p:nvPr/>
        </p:nvSpPr>
        <p:spPr>
          <a:xfrm>
            <a:off x="952500" y="3105150"/>
            <a:ext cx="7048500" cy="742950"/>
          </a:xfrm>
          <a:prstGeom prst="rect">
            <a:avLst/>
          </a:prstGeom>
        </p:spPr>
        <p:txBody>
          <a:bodyPr wrap="square" lIns="0" tIns="0" rIns="0" bIns="0">
            <a:normAutofit/>
          </a:bodyPr>
          <a:lstStyle/>
          <a:p>
            <a:pPr>
              <a:lnSpc>
                <a:spcPct val="170000"/>
              </a:lnSpc>
            </a:pPr>
            <a:r>
              <a:rPr lang="zh-CN" sz="1425" b="1">
                <a:solidFill>
                  <a:srgbClr val="1A2230"/>
                </a:solidFill>
                <a:latin typeface="Source Han Sans CN"/>
                <a:ea typeface="Source Han Sans CN"/>
              </a:rPr>
              <a:t>单周期精细规划建模为多机巢条件下的选择性多无人机协同任务分配：是否执行 × 归属 × 顺序 × 终点机巢联合决策</a:t>
            </a:r>
            <a:r>
              <a:rPr lang="zh-CN" sz="1425">
                <a:solidFill>
                  <a:srgbClr val="1A2230"/>
                </a:solidFill>
                <a:latin typeface="Source Han Sans CN"/>
                <a:ea typeface="Source Han Sans CN"/>
              </a:rPr>
              <a:t/>
            </a:r>
            <a:r>
              <a:rPr lang="en-US" sz="1425">
                <a:solidFill>
                  <a:srgbClr val="1A2230"/>
                </a:solidFill>
                <a:latin typeface="Source Han Sans CN"/>
                <a:ea typeface="Source Han Sans CN"/>
              </a:rPr>
              <a:t/>
            </a:r>
            <a:r>
              <a:rPr lang="zh-CN" sz="1425">
                <a:solidFill>
                  <a:srgbClr val="1A2230"/>
                </a:solidFill>
                <a:latin typeface="Source Han Sans CN"/>
                <a:ea typeface="Source Han Sans CN"/>
              </a:rPr>
              <a:t/>
            </a:r>
            <a:r>
              <a:rPr lang="en-US" sz="1425">
                <a:solidFill>
                  <a:srgbClr val="1A2230"/>
                </a:solidFill>
                <a:latin typeface="Source Han Sans CN"/>
                <a:ea typeface="Source Han Sans CN"/>
              </a:rPr>
              <a:t/>
            </a:r>
            <a:r>
              <a:rPr lang="zh-CN" sz="1425">
                <a:solidFill>
                  <a:srgbClr val="1A2230"/>
                </a:solidFill>
                <a:latin typeface="Source Han Sans CN"/>
                <a:ea typeface="Source Han Sans CN"/>
              </a:rPr>
              <a:t/>
            </a:r>
            <a:endParaRPr/>
          </a:p>
        </p:txBody>
      </p:sp>
      <p:sp>
        <p:nvSpPr>
          <p:cNvPr id="358" name="矩形: 圆角 357"/>
          <p:cNvSpPr/>
          <p:nvPr/>
        </p:nvSpPr>
        <p:spPr>
          <a:xfrm>
            <a:off x="762000" y="4124325"/>
            <a:ext cx="76200" cy="76200"/>
          </a:xfrm>
          <a:prstGeom prst="roundRect">
            <a:avLst>
              <a:gd name="adj" fmla="val 50000"/>
            </a:avLst>
          </a:prstGeom>
          <a:solidFill>
            <a:srgbClr val="1E4FA8"/>
          </a:solidFill>
          <a:ln/>
        </p:spPr>
        <p:txBody>
          <a:bodyPr/>
          <a:lstStyle/>
          <a:p>
            <a:endParaRPr/>
          </a:p>
        </p:txBody>
      </p:sp>
      <p:sp>
        <p:nvSpPr>
          <p:cNvPr id="359" name="文本框 358" descr="{&quot;isTemplate&quot;:true,&quot;type&quot;:&quot;text&quot;}"/>
          <p:cNvSpPr txBox="1"/>
          <p:nvPr/>
        </p:nvSpPr>
        <p:spPr>
          <a:xfrm>
            <a:off x="952500" y="4019550"/>
            <a:ext cx="7048500" cy="742950"/>
          </a:xfrm>
          <a:prstGeom prst="rect">
            <a:avLst/>
          </a:prstGeom>
        </p:spPr>
        <p:txBody>
          <a:bodyPr wrap="square" lIns="0" tIns="0" rIns="0" bIns="0">
            <a:normAutofit/>
          </a:bodyPr>
          <a:lstStyle/>
          <a:p>
            <a:pPr>
              <a:lnSpc>
                <a:spcPct val="170000"/>
              </a:lnSpc>
            </a:pPr>
            <a:r>
              <a:rPr lang="zh-CN" sz="1425">
                <a:solidFill>
                  <a:srgbClr val="1A2230"/>
                </a:solidFill>
                <a:latin typeface="Source Han Sans CN"/>
                <a:ea typeface="Source Han Sans CN"/>
              </a:rPr>
              <a:t>以离散映射差分进化（DMDE）为基础做结构扩展，支持部分分配、顺序搜索与异巢终止</a:t>
            </a:r>
            <a:r>
              <a:rPr lang="zh-CN" sz="1425" b="1">
                <a:solidFill>
                  <a:srgbClr val="1A2230"/>
                </a:solidFill>
                <a:latin typeface="Source Han Sans CN"/>
                <a:ea typeface="Source Han Sans CN"/>
              </a:rPr>
              <a:t/>
            </a:r>
            <a:r>
              <a:rPr lang="zh-CN" sz="1425">
                <a:solidFill>
                  <a:srgbClr val="1A2230"/>
                </a:solidFill>
                <a:latin typeface="Source Han Sans CN"/>
                <a:ea typeface="Source Han Sans CN"/>
              </a:rPr>
              <a:t/>
            </a:r>
            <a:r>
              <a:rPr lang="en-US" sz="1425">
                <a:solidFill>
                  <a:srgbClr val="1A2230"/>
                </a:solidFill>
                <a:latin typeface="Source Han Sans CN"/>
                <a:ea typeface="Source Han Sans CN"/>
              </a:rPr>
              <a:t/>
            </a:r>
            <a:r>
              <a:rPr lang="zh-CN" sz="1425">
                <a:solidFill>
                  <a:srgbClr val="1A2230"/>
                </a:solidFill>
                <a:latin typeface="Source Han Sans CN"/>
                <a:ea typeface="Source Han Sans CN"/>
              </a:rPr>
              <a:t/>
            </a:r>
            <a:r>
              <a:rPr lang="en-US" sz="1425">
                <a:solidFill>
                  <a:srgbClr val="1A2230"/>
                </a:solidFill>
                <a:latin typeface="Source Han Sans CN"/>
                <a:ea typeface="Source Han Sans CN"/>
              </a:rPr>
              <a:t/>
            </a:r>
            <a:r>
              <a:rPr lang="en-US" sz="1425" b="1">
                <a:solidFill>
                  <a:srgbClr val="1A2230"/>
                </a:solidFill>
                <a:latin typeface="Source Han Sans CN"/>
                <a:ea typeface="Source Han Sans CN"/>
              </a:rPr>
              <a:t/>
            </a:r>
            <a:r>
              <a:rPr lang="en-US" sz="1425">
                <a:solidFill>
                  <a:srgbClr val="1A2230"/>
                </a:solidFill>
                <a:latin typeface="Source Han Sans CN"/>
                <a:ea typeface="Source Han Sans CN"/>
              </a:rPr>
              <a:t/>
            </a:r>
            <a:r>
              <a:rPr lang="zh-CN" sz="1425">
                <a:solidFill>
                  <a:srgbClr val="1A2230"/>
                </a:solidFill>
                <a:latin typeface="Source Han Sans CN"/>
                <a:ea typeface="Source Han Sans CN"/>
              </a:rPr>
              <a:t/>
            </a:r>
            <a:r>
              <a:rPr lang="en-US" sz="1425">
                <a:solidFill>
                  <a:srgbClr val="1A2230"/>
                </a:solidFill>
                <a:latin typeface="Source Han Sans CN"/>
                <a:ea typeface="Source Han Sans CN"/>
              </a:rPr>
              <a:t/>
            </a:r>
            <a:r>
              <a:rPr lang="zh-CN" sz="1425">
                <a:solidFill>
                  <a:srgbClr val="1A2230"/>
                </a:solidFill>
                <a:latin typeface="Source Han Sans CN"/>
                <a:ea typeface="Source Han Sans CN"/>
              </a:rPr>
              <a:t/>
            </a:r>
            <a:endParaRPr/>
          </a:p>
        </p:txBody>
      </p:sp>
      <p:sp>
        <p:nvSpPr>
          <p:cNvPr id="360" name="文本框 359" descr="{&quot;isTemplate&quot;:true,&quot;type&quot;:&quot;text&quot;}"/>
          <p:cNvSpPr txBox="1"/>
          <p:nvPr/>
        </p:nvSpPr>
        <p:spPr>
          <a:xfrm>
            <a:off x="762000" y="5048250"/>
            <a:ext cx="7239000" cy="666750"/>
          </a:xfrm>
          <a:prstGeom prst="rect">
            <a:avLst/>
          </a:prstGeom>
        </p:spPr>
        <p:txBody>
          <a:bodyPr wrap="square" lIns="0" tIns="0" rIns="0" bIns="0">
            <a:normAutofit/>
          </a:bodyPr>
          <a:lstStyle/>
          <a:p>
            <a:pPr>
              <a:lnSpc>
                <a:spcPct val="180000"/>
              </a:lnSpc>
            </a:pPr>
            <a:r>
              <a:rPr lang="zh-CN" sz="1200">
                <a:solidFill>
                  <a:srgbClr val="4A5568"/>
                </a:solidFill>
                <a:latin typeface="Source Han Sans CN"/>
                <a:ea typeface="Source Han Sans CN"/>
              </a:rPr>
              <a:t>起点机巢由 UAV 停靠状态唯一确定（已知），终点机巢在可行集合内择优（决策变量）——「异源起飞—异巢终止」协同；每任务至多一机，部分 UAV 可空闲。</a:t>
            </a:r>
            <a:r>
              <a:rPr lang="en-US" sz="1200">
                <a:solidFill>
                  <a:srgbClr val="4A5568"/>
                </a:solidFill>
                <a:latin typeface="Source Han Sans CN"/>
                <a:ea typeface="Source Han Sans CN"/>
              </a:rPr>
              <a:t/>
            </a:r>
            <a:r>
              <a:rPr lang="zh-CN" sz="1200">
                <a:solidFill>
                  <a:srgbClr val="4A5568"/>
                </a:solidFill>
                <a:latin typeface="Source Han Sans CN"/>
                <a:ea typeface="Source Han Sans CN"/>
              </a:rPr>
              <a:t/>
            </a:r>
            <a:endParaRPr/>
          </a:p>
        </p:txBody>
      </p:sp>
      <p:sp>
        <p:nvSpPr>
          <p:cNvPr id="361" name="矩形: 圆角 360"/>
          <p:cNvSpPr/>
          <p:nvPr/>
        </p:nvSpPr>
        <p:spPr>
          <a:xfrm>
            <a:off x="762000" y="5943600"/>
            <a:ext cx="4191000" cy="295275"/>
          </a:xfrm>
          <a:prstGeom prst="roundRect">
            <a:avLst>
              <a:gd name="adj" fmla="val 19355"/>
            </a:avLst>
          </a:prstGeom>
          <a:solidFill>
            <a:srgbClr val="1E4FA8"/>
          </a:solidFill>
          <a:ln/>
        </p:spPr>
        <p:txBody>
          <a:bodyPr/>
          <a:lstStyle/>
          <a:p>
            <a:endParaRPr/>
          </a:p>
        </p:txBody>
      </p:sp>
      <p:sp>
        <p:nvSpPr>
          <p:cNvPr id="362" name="文本框 361" descr="{&quot;isTemplate&quot;:true,&quot;type&quot;:&quot;text&quot;}"/>
          <p:cNvSpPr txBox="1"/>
          <p:nvPr/>
        </p:nvSpPr>
        <p:spPr>
          <a:xfrm>
            <a:off x="914400" y="6010275"/>
            <a:ext cx="3937000"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P9 · 优化模型与适应度　　P10 · 改进 DMDE</a:t>
            </a:r>
            <a:r>
              <a:rPr lang="zh-CN" sz="1050" b="1">
                <a:solidFill>
                  <a:srgbClr val="FFFFFF"/>
                </a:solidFill>
                <a:latin typeface="Source Han Sans CN"/>
                <a:ea typeface="Source Han Sans CN"/>
              </a:rPr>
              <a:t/>
            </a:r>
            <a:endParaRPr/>
          </a:p>
        </p:txBody>
      </p:sp>
      <p:sp>
        <p:nvSpPr>
          <p:cNvPr id="363" name="矩形: 圆角 362"/>
          <p:cNvSpPr/>
          <p:nvPr/>
        </p:nvSpPr>
        <p:spPr>
          <a:xfrm>
            <a:off x="9588500" y="4572000"/>
            <a:ext cx="1841500"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364" name="文本框 363" descr="{&quot;isTemplate&quot;:true,&quot;type&quot;:&quot;text&quot;}"/>
          <p:cNvSpPr txBox="1"/>
          <p:nvPr/>
        </p:nvSpPr>
        <p:spPr>
          <a:xfrm>
            <a:off x="9753600" y="4648200"/>
            <a:ext cx="1511300"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统一编码 + 逆映射</a:t>
            </a:r>
            <a:endParaRPr/>
          </a:p>
        </p:txBody>
      </p:sp>
      <p:sp>
        <p:nvSpPr>
          <p:cNvPr id="365" name="矩形: 圆角 364"/>
          <p:cNvSpPr/>
          <p:nvPr/>
        </p:nvSpPr>
        <p:spPr>
          <a:xfrm>
            <a:off x="9734550" y="5010150"/>
            <a:ext cx="1695450"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366" name="文本框 365" descr="{&quot;isTemplate&quot;:true,&quot;type&quot;:&quot;text&quot;}"/>
          <p:cNvSpPr txBox="1"/>
          <p:nvPr/>
        </p:nvSpPr>
        <p:spPr>
          <a:xfrm>
            <a:off x="9899650" y="5086350"/>
            <a:ext cx="1365250"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终点机巢最小费用流</a:t>
            </a:r>
            <a:r>
              <a:rPr lang="en-US" sz="1125" b="1">
                <a:solidFill>
                  <a:srgbClr val="1E4FA8"/>
                </a:solidFill>
                <a:latin typeface="Source Han Sans CN"/>
                <a:ea typeface="Source Han Sans CN"/>
              </a:rPr>
              <a:t/>
            </a:r>
            <a:endParaRPr/>
          </a:p>
        </p:txBody>
      </p:sp>
      <p:sp>
        <p:nvSpPr>
          <p:cNvPr id="367" name="矩形: 圆角 366"/>
          <p:cNvSpPr/>
          <p:nvPr/>
        </p:nvSpPr>
        <p:spPr>
          <a:xfrm>
            <a:off x="9734550" y="5448300"/>
            <a:ext cx="1695450"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368" name="文本框 367" descr="{&quot;isTemplate&quot;:true,&quot;type&quot;:&quot;text&quot;}"/>
          <p:cNvSpPr txBox="1"/>
          <p:nvPr/>
        </p:nvSpPr>
        <p:spPr>
          <a:xfrm>
            <a:off x="9899650" y="5524500"/>
            <a:ext cx="1365250"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四层准字典序适应度</a:t>
            </a:r>
            <a:endParaRPr/>
          </a:p>
        </p:txBody>
      </p:sp>
      <p:sp>
        <p:nvSpPr>
          <p:cNvPr id="369" name="矩形: 圆角 368"/>
          <p:cNvSpPr/>
          <p:nvPr/>
        </p:nvSpPr>
        <p:spPr>
          <a:xfrm>
            <a:off x="762000" y="5857875"/>
            <a:ext cx="476250" cy="276225"/>
          </a:xfrm>
          <a:prstGeom prst="roundRect">
            <a:avLst>
              <a:gd name="adj" fmla="val 48276"/>
            </a:avLst>
          </a:prstGeom>
          <a:solidFill>
            <a:srgbClr val="F0F5FC"/>
          </a:solidFill>
          <a:ln/>
        </p:spPr>
        <p:txBody>
          <a:bodyPr/>
          <a:lstStyle/>
          <a:p>
            <a:endParaRPr/>
          </a:p>
        </p:txBody>
      </p:sp>
      <p:sp>
        <p:nvSpPr>
          <p:cNvPr id="370" name="文本框 369" descr="{&quot;isTemplate&quot;:true,&quot;type&quot;:&quot;text&quot;}"/>
          <p:cNvSpPr txBox="1"/>
          <p:nvPr/>
        </p:nvSpPr>
        <p:spPr>
          <a:xfrm>
            <a:off x="91440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01</a:t>
            </a:r>
            <a:endParaRPr/>
          </a:p>
        </p:txBody>
      </p:sp>
      <p:sp>
        <p:nvSpPr>
          <p:cNvPr id="371" name="矩形: 圆角 370"/>
          <p:cNvSpPr/>
          <p:nvPr/>
        </p:nvSpPr>
        <p:spPr>
          <a:xfrm>
            <a:off x="1352550" y="5857875"/>
            <a:ext cx="476250" cy="276225"/>
          </a:xfrm>
          <a:prstGeom prst="roundRect">
            <a:avLst>
              <a:gd name="adj" fmla="val 48276"/>
            </a:avLst>
          </a:prstGeom>
          <a:solidFill>
            <a:srgbClr val="F0F5FC"/>
          </a:solidFill>
          <a:ln/>
        </p:spPr>
        <p:txBody>
          <a:bodyPr/>
          <a:lstStyle/>
          <a:p>
            <a:endParaRPr/>
          </a:p>
        </p:txBody>
      </p:sp>
      <p:sp>
        <p:nvSpPr>
          <p:cNvPr id="372" name="文本框 371" descr="{&quot;isTemplate&quot;:true,&quot;type&quot;:&quot;text&quot;}"/>
          <p:cNvSpPr txBox="1"/>
          <p:nvPr/>
        </p:nvSpPr>
        <p:spPr>
          <a:xfrm>
            <a:off x="150495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02</a:t>
            </a:r>
            <a:endParaRPr/>
          </a:p>
        </p:txBody>
      </p:sp>
      <p:sp>
        <p:nvSpPr>
          <p:cNvPr id="373" name="矩形: 圆角 372"/>
          <p:cNvSpPr/>
          <p:nvPr/>
        </p:nvSpPr>
        <p:spPr>
          <a:xfrm>
            <a:off x="1943100" y="5857875"/>
            <a:ext cx="476250" cy="276225"/>
          </a:xfrm>
          <a:prstGeom prst="roundRect">
            <a:avLst>
              <a:gd name="adj" fmla="val 48276"/>
            </a:avLst>
          </a:prstGeom>
          <a:solidFill>
            <a:srgbClr val="1E4FA8"/>
          </a:solidFill>
          <a:ln/>
        </p:spPr>
        <p:txBody>
          <a:bodyPr/>
          <a:lstStyle/>
          <a:p>
            <a:endParaRPr/>
          </a:p>
        </p:txBody>
      </p:sp>
      <p:sp>
        <p:nvSpPr>
          <p:cNvPr id="374" name="文本框 373" descr="{&quot;isTemplate&quot;:true,&quot;type&quot;:&quot;text&quot;}"/>
          <p:cNvSpPr txBox="1"/>
          <p:nvPr/>
        </p:nvSpPr>
        <p:spPr>
          <a:xfrm>
            <a:off x="2095500" y="5915025"/>
            <a:ext cx="171450"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03</a:t>
            </a:r>
            <a:endParaRPr/>
          </a:p>
        </p:txBody>
      </p:sp>
      <p:sp>
        <p:nvSpPr>
          <p:cNvPr id="375" name="矩形: 圆角 374"/>
          <p:cNvSpPr/>
          <p:nvPr/>
        </p:nvSpPr>
        <p:spPr>
          <a:xfrm>
            <a:off x="2533650" y="5857875"/>
            <a:ext cx="476250" cy="276225"/>
          </a:xfrm>
          <a:prstGeom prst="roundRect">
            <a:avLst>
              <a:gd name="adj" fmla="val 48276"/>
            </a:avLst>
          </a:prstGeom>
          <a:solidFill>
            <a:srgbClr val="F0F5FC"/>
          </a:solidFill>
          <a:ln/>
        </p:spPr>
        <p:txBody>
          <a:bodyPr/>
          <a:lstStyle/>
          <a:p>
            <a:endParaRPr/>
          </a:p>
        </p:txBody>
      </p:sp>
      <p:sp>
        <p:nvSpPr>
          <p:cNvPr id="376" name="文本框 375" descr="{&quot;isTemplate&quot;:true,&quot;type&quot;:&quot;text&quot;}"/>
          <p:cNvSpPr txBox="1"/>
          <p:nvPr/>
        </p:nvSpPr>
        <p:spPr>
          <a:xfrm>
            <a:off x="268605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04</a:t>
            </a:r>
            <a:endParaRPr/>
          </a:p>
        </p:txBody>
      </p:sp>
      <p:sp>
        <p:nvSpPr>
          <p:cNvPr id="377" name="文本框 376" descr="{&quot;isTemplate&quot;:true,&quot;type&quot;:&quot;text&quot;}"/>
          <p:cNvSpPr txBox="1"/>
          <p:nvPr/>
        </p:nvSpPr>
        <p:spPr>
          <a:xfrm>
            <a:off x="3200400" y="5915025"/>
            <a:ext cx="1962150" cy="161925"/>
          </a:xfrm>
          <a:prstGeom prst="rect">
            <a:avLst/>
          </a:prstGeom>
        </p:spPr>
        <p:txBody>
          <a:bodyPr wrap="none" lIns="0" tIns="0" rIns="0" bIns="0"/>
          <a:lstStyle/>
          <a:p>
            <a:pPr>
              <a:lnSpc>
                <a:spcPct val="100000"/>
              </a:lnSpc>
            </a:pPr>
            <a:r>
              <a:rPr lang="zh-CN" sz="1050">
                <a:solidFill>
                  <a:srgbClr val="8B97A8"/>
                </a:solidFill>
                <a:latin typeface="Source Han Sans CN"/>
                <a:ea typeface="Source Han Sans CN"/>
              </a:rPr>
              <a:t>研究问题</a:t>
            </a:r>
            <a:r>
              <a:rPr lang="en-US" sz="1050">
                <a:solidFill>
                  <a:srgbClr val="8B97A8"/>
                </a:solidFill>
                <a:latin typeface="Source Han Sans CN"/>
                <a:ea typeface="Source Han Sans CN"/>
              </a:rPr>
              <a:t> · </a:t>
            </a:r>
            <a:r>
              <a:rPr lang="zh-CN" sz="1050">
                <a:solidFill>
                  <a:srgbClr val="8B97A8"/>
                </a:solidFill>
                <a:latin typeface="Source Han Sans CN"/>
                <a:ea typeface="Source Han Sans CN"/>
              </a:rPr>
              <a:t>方法两阶段</a:t>
            </a:r>
            <a:r>
              <a:rPr lang="en-US" sz="1050">
                <a:solidFill>
                  <a:srgbClr val="8B97A8"/>
                </a:solidFill>
                <a:latin typeface="Source Han Sans CN"/>
                <a:ea typeface="Source Han Sans CN"/>
              </a:rPr>
              <a:t> · </a:t>
            </a:r>
            <a:r>
              <a:rPr lang="zh-CN" sz="1050">
                <a:solidFill>
                  <a:srgbClr val="8B97A8"/>
                </a:solidFill>
                <a:latin typeface="Source Han Sans CN"/>
                <a:ea typeface="Source Han Sans CN"/>
              </a:rPr>
              <a:t>实验验证</a:t>
            </a:r>
            <a:endParaRPr/>
          </a:p>
        </p:txBody>
      </p:sp>
      <p:sp>
        <p:nvSpPr>
          <p:cNvPr id="378" name="矩形 377"/>
          <p:cNvSpPr/>
          <p:nvPr/>
        </p:nvSpPr>
        <p:spPr>
          <a:xfrm>
            <a:off x="0" y="6448425"/>
            <a:ext cx="12192000" cy="409575"/>
          </a:xfrm>
          <a:prstGeom prst="rect">
            <a:avLst/>
          </a:prstGeom>
          <a:solidFill>
            <a:srgbClr val="F7F9FC"/>
          </a:solidFill>
          <a:ln/>
        </p:spPr>
        <p:txBody>
          <a:bodyPr/>
          <a:lstStyle/>
          <a:p>
            <a:endParaRPr/>
          </a:p>
        </p:txBody>
      </p:sp>
      <p:sp>
        <p:nvSpPr>
          <p:cNvPr id="379" name="任意多边形: 形状 378"/>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380" name="文本框 379"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381" name="文本框 380"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08 / 16</a:t>
            </a: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7" name="矩形 497"/>
          <p:cNvSpPr/>
          <p:nvPr/>
        </p:nvSpPr>
        <p:spPr>
          <a:xfrm>
            <a:off x="0" y="0"/>
            <a:ext cx="12192000" cy="6858000"/>
          </a:xfrm>
          <a:prstGeom prst="rect">
            <a:avLst/>
          </a:prstGeom>
          <a:solidFill>
            <a:srgbClr val="FFFFFF"/>
          </a:solidFill>
          <a:ln/>
        </p:spPr>
        <p:txBody>
          <a:bodyPr/>
          <a:lstStyle/>
          <a:p>
            <a:endParaRPr/>
          </a:p>
        </p:txBody>
      </p:sp>
      <p:sp>
        <p:nvSpPr>
          <p:cNvPr id="468" name="矩形 498"/>
          <p:cNvSpPr/>
          <p:nvPr/>
        </p:nvSpPr>
        <p:spPr>
          <a:xfrm>
            <a:off x="0" y="0"/>
            <a:ext cx="12192000" cy="114300"/>
          </a:xfrm>
          <a:prstGeom prst="rect">
            <a:avLst/>
          </a:prstGeom>
          <a:solidFill>
            <a:srgbClr val="1E4FA8"/>
          </a:solidFill>
          <a:ln/>
        </p:spPr>
        <p:txBody>
          <a:bodyPr/>
          <a:lstStyle/>
          <a:p>
            <a:endParaRPr/>
          </a:p>
        </p:txBody>
      </p:sp>
      <p:sp>
        <p:nvSpPr>
          <p:cNvPr id="469" name="矩形 499"/>
          <p:cNvSpPr/>
          <p:nvPr/>
        </p:nvSpPr>
        <p:spPr>
          <a:xfrm>
            <a:off x="381000" y="314325"/>
            <a:ext cx="57150" cy="323850"/>
          </a:xfrm>
          <a:prstGeom prst="rect">
            <a:avLst/>
          </a:prstGeom>
          <a:solidFill>
            <a:srgbClr val="1E4FA8"/>
          </a:solidFill>
          <a:ln/>
        </p:spPr>
        <p:txBody>
          <a:bodyPr/>
          <a:lstStyle/>
          <a:p>
            <a:endParaRPr/>
          </a:p>
        </p:txBody>
      </p:sp>
      <p:sp>
        <p:nvSpPr>
          <p:cNvPr id="470" name="文本框 500" descr="{&quot;isTemplate&quot;:true,&quot;type&quot;:&quot;text&quot;}"/>
          <p:cNvSpPr txBox="1"/>
          <p:nvPr/>
        </p:nvSpPr>
        <p:spPr>
          <a:xfrm>
            <a:off x="571500" y="285750"/>
            <a:ext cx="541020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选择性多机巢</a:t>
            </a:r>
            <a:r>
              <a:rPr lang="en-US" sz="2400" b="1">
                <a:solidFill>
                  <a:srgbClr val="0E3F8C"/>
                </a:solidFill>
                <a:latin typeface="Source Han Sans CN"/>
                <a:ea typeface="Source Han Sans CN"/>
              </a:rPr>
              <a:t> MUAS </a:t>
            </a:r>
            <a:r>
              <a:rPr lang="zh-CN" sz="2400" b="1">
                <a:solidFill>
                  <a:srgbClr val="0E3F8C"/>
                </a:solidFill>
                <a:latin typeface="Source Han Sans CN"/>
                <a:ea typeface="Source Han Sans CN"/>
              </a:rPr>
              <a:t>优化模型与适应度</a:t>
            </a:r>
            <a:endParaRPr/>
          </a:p>
        </p:txBody>
      </p:sp>
      <p:sp>
        <p:nvSpPr>
          <p:cNvPr id="471" name="文本框 501" descr="{&quot;isTemplate&quot;:true,&quot;type&quot;:&quot;text&quot;}"/>
          <p:cNvSpPr txBox="1"/>
          <p:nvPr/>
        </p:nvSpPr>
        <p:spPr>
          <a:xfrm>
            <a:off x="571500" y="742950"/>
            <a:ext cx="4572000" cy="171450"/>
          </a:xfrm>
          <a:prstGeom prst="rect">
            <a:avLst/>
          </a:prstGeom>
        </p:spPr>
        <p:txBody>
          <a:bodyPr wrap="none" lIns="0" tIns="0" rIns="0" bIns="0"/>
          <a:lstStyle/>
          <a:p>
            <a:pPr>
              <a:lnSpc>
                <a:spcPct val="100000"/>
              </a:lnSpc>
            </a:pPr>
            <a:r>
              <a:rPr lang="zh-CN" sz="1125">
                <a:solidFill>
                  <a:srgbClr val="8B97A8"/>
                </a:solidFill>
                <a:latin typeface="Source Han Sans CN"/>
                <a:ea typeface="Source Han Sans CN"/>
              </a:rPr>
              <a:t>左：论文组合优化模型　右：进化评价分层结构（覆盖门禁口径）</a:t>
            </a:r>
            <a:endParaRPr/>
          </a:p>
        </p:txBody>
      </p:sp>
      <p:sp>
        <p:nvSpPr>
          <p:cNvPr id="472" name="矩形: 圆角 502"/>
          <p:cNvSpPr/>
          <p:nvPr/>
        </p:nvSpPr>
        <p:spPr>
          <a:xfrm>
            <a:off x="381000" y="1104900"/>
            <a:ext cx="5810250" cy="1895475"/>
          </a:xfrm>
          <a:prstGeom prst="roundRect">
            <a:avLst>
              <a:gd name="adj" fmla="val 5025"/>
            </a:avLst>
          </a:prstGeom>
          <a:solidFill>
            <a:srgbClr val="F7F9FC"/>
          </a:solidFill>
          <a:ln w="12700">
            <a:solidFill>
              <a:srgbClr val="D6DCE5"/>
            </a:solidFill>
            <a:prstDash val="solid"/>
          </a:ln>
        </p:spPr>
        <p:txBody>
          <a:bodyPr/>
          <a:lstStyle/>
          <a:p>
            <a:endParaRPr/>
          </a:p>
        </p:txBody>
      </p:sp>
      <p:sp>
        <p:nvSpPr>
          <p:cNvPr id="473" name="文本框 503" descr="{&quot;isTemplate&quot;:true,&quot;type&quot;:&quot;text&quot;}"/>
          <p:cNvSpPr txBox="1"/>
          <p:nvPr/>
        </p:nvSpPr>
        <p:spPr>
          <a:xfrm>
            <a:off x="552450" y="1238250"/>
            <a:ext cx="5467350" cy="209550"/>
          </a:xfrm>
          <a:prstGeom prst="rect">
            <a:avLst/>
          </a:prstGeom>
        </p:spPr>
        <p:txBody>
          <a:bodyPr wrap="none" lIns="0" tIns="0" rIns="0" bIns="0"/>
          <a:lstStyle/>
          <a:p>
            <a:pPr>
              <a:lnSpc>
                <a:spcPct val="100000"/>
              </a:lnSpc>
            </a:pPr>
            <a:r>
              <a:rPr lang="en-US" sz="1350" b="1">
                <a:solidFill>
                  <a:srgbClr val="0E3F8C"/>
                </a:solidFill>
                <a:latin typeface="Source Han Sans CN"/>
                <a:ea typeface="Source Han Sans CN"/>
              </a:rPr>
              <a:t>① </a:t>
            </a:r>
            <a:r>
              <a:rPr lang="zh-CN" sz="1350" b="1">
                <a:solidFill>
                  <a:srgbClr val="0E3F8C"/>
                </a:solidFill>
                <a:latin typeface="Source Han Sans CN"/>
                <a:ea typeface="Source Han Sans CN"/>
              </a:rPr>
              <a:t>决策变量与耦合约束</a:t>
            </a:r>
            <a:endParaRPr/>
          </a:p>
        </p:txBody>
      </p:sp>
      <p:sp>
        <p:nvSpPr>
          <p:cNvPr id="474" name="矩形: 圆角 504"/>
          <p:cNvSpPr/>
          <p:nvPr/>
        </p:nvSpPr>
        <p:spPr>
          <a:xfrm>
            <a:off x="552450" y="1543050"/>
            <a:ext cx="5467350" cy="714375"/>
          </a:xfrm>
          <a:prstGeom prst="roundRect">
            <a:avLst>
              <a:gd name="adj" fmla="val 10667"/>
            </a:avLst>
          </a:prstGeom>
          <a:solidFill>
            <a:srgbClr val="E8EFF8"/>
          </a:solidFill>
          <a:ln/>
        </p:spPr>
        <p:txBody>
          <a:bodyPr/>
          <a:lstStyle/>
          <a:p>
            <a:endParaRPr/>
          </a:p>
        </p:txBody>
      </p:sp>
      <p:sp>
        <p:nvSpPr>
          <p:cNvPr id="475" name="文本框 505" descr="{&quot;isTemplate&quot;:true,&quot;type&quot;:&quot;text&quot;}"/>
          <p:cNvSpPr txBox="1"/>
          <p:nvPr/>
        </p:nvSpPr>
        <p:spPr>
          <a:xfrm>
            <a:off x="685800" y="1657350"/>
            <a:ext cx="5200650" cy="209550"/>
          </a:xfrm>
          <a:prstGeom prst="rect">
            <a:avLst/>
          </a:prstGeom>
        </p:spPr>
        <p:txBody>
          <a:bodyPr wrap="none" lIns="0" tIns="0" rIns="0" bIns="0"/>
          <a:lstStyle/>
          <a:p>
            <a:pPr>
              <a:lnSpc>
                <a:spcPct val="100000"/>
              </a:lnSpc>
            </a:pPr>
            <a:r>
              <a:rPr lang="en-US" sz="1350" b="1">
                <a:solidFill>
                  <a:srgbClr val="0E3F8C"/>
                </a:solidFill>
                <a:latin typeface="Source Han Sans CN"/>
                <a:ea typeface="Source Han Sans CN"/>
              </a:rPr>
              <a:t>y</a:t>
            </a:r>
            <a:r>
              <a:rPr lang="en-US" sz="900" b="1">
                <a:solidFill>
                  <a:srgbClr val="0E3F8C"/>
                </a:solidFill>
                <a:latin typeface="Source Han Sans CN"/>
                <a:ea typeface="Source Han Sans CN"/>
              </a:rPr>
              <a:t>j</a:t>
            </a:r>
            <a:r>
              <a:rPr lang="en-US" sz="1350" b="1">
                <a:solidFill>
                  <a:srgbClr val="0E3F8C"/>
                </a:solidFill>
                <a:latin typeface="Source Han Sans CN"/>
                <a:ea typeface="Source Han Sans CN"/>
              </a:rPr>
              <a:t> ∈ {0,1}</a:t>
            </a:r>
            <a:r>
              <a:rPr lang="zh-CN" sz="1350" b="1">
                <a:solidFill>
                  <a:srgbClr val="0E3F8C"/>
                </a:solidFill>
                <a:latin typeface="Source Han Sans CN"/>
                <a:ea typeface="Source Han Sans CN"/>
              </a:rPr>
              <a:t>　</a:t>
            </a:r>
            <a:r>
              <a:rPr lang="en-US" sz="1350" b="1">
                <a:solidFill>
                  <a:srgbClr val="0E3F8C"/>
                </a:solidFill>
                <a:latin typeface="Source Han Sans CN"/>
                <a:ea typeface="Source Han Sans CN"/>
              </a:rPr>
              <a:t>x</a:t>
            </a:r>
            <a:r>
              <a:rPr lang="en-US" sz="900" b="1">
                <a:solidFill>
                  <a:srgbClr val="0E3F8C"/>
                </a:solidFill>
                <a:latin typeface="Source Han Sans CN"/>
                <a:ea typeface="Source Han Sans CN"/>
              </a:rPr>
              <a:t>uj</a:t>
            </a:r>
            <a:r>
              <a:rPr lang="en-US" sz="1350" b="1">
                <a:solidFill>
                  <a:srgbClr val="0E3F8C"/>
                </a:solidFill>
                <a:latin typeface="Source Han Sans CN"/>
                <a:ea typeface="Source Han Sans CN"/>
              </a:rPr>
              <a:t> ∈ {0,1}</a:t>
            </a:r>
            <a:r>
              <a:rPr lang="zh-CN" sz="1350" b="1">
                <a:solidFill>
                  <a:srgbClr val="0E3F8C"/>
                </a:solidFill>
                <a:latin typeface="Source Han Sans CN"/>
                <a:ea typeface="Source Han Sans CN"/>
              </a:rPr>
              <a:t>　π</a:t>
            </a:r>
            <a:r>
              <a:rPr lang="en-US" sz="900" b="1">
                <a:solidFill>
                  <a:srgbClr val="0E3F8C"/>
                </a:solidFill>
                <a:latin typeface="Source Han Sans CN"/>
                <a:ea typeface="Source Han Sans CN"/>
              </a:rPr>
              <a:t>u</a:t>
            </a:r>
            <a:r>
              <a:rPr lang="en-US" sz="1350" b="1">
                <a:solidFill>
                  <a:srgbClr val="0E3F8C"/>
                </a:solidFill>
                <a:latin typeface="Source Han Sans CN"/>
                <a:ea typeface="Source Han Sans CN"/>
              </a:rPr>
              <a:t>=(T</a:t>
            </a:r>
            <a:r>
              <a:rPr lang="en-US" sz="900" b="1">
                <a:solidFill>
                  <a:srgbClr val="0E3F8C"/>
                </a:solidFill>
                <a:latin typeface="Source Han Sans CN"/>
                <a:ea typeface="Source Han Sans CN"/>
              </a:rPr>
              <a:t>u1</a:t>
            </a:r>
            <a:r>
              <a:rPr lang="en-US" sz="1350" b="1">
                <a:solidFill>
                  <a:srgbClr val="0E3F8C"/>
                </a:solidFill>
                <a:latin typeface="Source Han Sans CN"/>
                <a:ea typeface="Source Han Sans CN"/>
              </a:rPr>
              <a:t>,…,T</a:t>
            </a:r>
            <a:r>
              <a:rPr lang="en-US" sz="900" b="1">
                <a:solidFill>
                  <a:srgbClr val="0E3F8C"/>
                </a:solidFill>
                <a:latin typeface="Source Han Sans CN"/>
                <a:ea typeface="Source Han Sans CN"/>
              </a:rPr>
              <a:t>un</a:t>
            </a:r>
            <a:r>
              <a:rPr lang="en-US" sz="1350" b="1">
                <a:solidFill>
                  <a:srgbClr val="0E3F8C"/>
                </a:solidFill>
                <a:latin typeface="Source Han Sans CN"/>
                <a:ea typeface="Source Han Sans CN"/>
              </a:rPr>
              <a:t>)</a:t>
            </a:r>
            <a:r>
              <a:rPr lang="zh-CN" sz="1350" b="1">
                <a:solidFill>
                  <a:srgbClr val="0E3F8C"/>
                </a:solidFill>
                <a:latin typeface="Source Han Sans CN"/>
                <a:ea typeface="Source Han Sans CN"/>
              </a:rPr>
              <a:t>　</a:t>
            </a:r>
            <a:r>
              <a:rPr lang="en-US" sz="1350" b="1">
                <a:solidFill>
                  <a:srgbClr val="0E3F8C"/>
                </a:solidFill>
                <a:latin typeface="Source Han Sans CN"/>
                <a:ea typeface="Source Han Sans CN"/>
              </a:rPr>
              <a:t>z</a:t>
            </a:r>
            <a:r>
              <a:rPr lang="en-US" sz="900" b="1">
                <a:solidFill>
                  <a:srgbClr val="0E3F8C"/>
                </a:solidFill>
                <a:latin typeface="Source Han Sans CN"/>
                <a:ea typeface="Source Han Sans CN"/>
              </a:rPr>
              <a:t>ub</a:t>
            </a:r>
            <a:r>
              <a:rPr lang="en-US" sz="1350" b="1">
                <a:solidFill>
                  <a:srgbClr val="0E3F8C"/>
                </a:solidFill>
                <a:latin typeface="Source Han Sans CN"/>
                <a:ea typeface="Source Han Sans CN"/>
              </a:rPr>
              <a:t> ∈ {0,1}</a:t>
            </a:r>
            <a:endParaRPr/>
          </a:p>
        </p:txBody>
      </p:sp>
      <p:sp>
        <p:nvSpPr>
          <p:cNvPr id="476" name="文本框 506" descr="{&quot;isTemplate&quot;:true,&quot;type&quot;:&quot;text&quot;}"/>
          <p:cNvSpPr txBox="1"/>
          <p:nvPr/>
        </p:nvSpPr>
        <p:spPr>
          <a:xfrm>
            <a:off x="685800" y="1943100"/>
            <a:ext cx="5200650" cy="200025"/>
          </a:xfrm>
          <a:prstGeom prst="rect">
            <a:avLst/>
          </a:prstGeom>
        </p:spPr>
        <p:txBody>
          <a:bodyPr wrap="none" lIns="0" tIns="0" rIns="0" bIns="0"/>
          <a:lstStyle/>
          <a:p>
            <a:pPr>
              <a:lnSpc>
                <a:spcPct val="100000"/>
              </a:lnSpc>
            </a:pPr>
            <a:r>
              <a:rPr sz="1275">
                <a:solidFill>
                  <a:srgbClr val="1E4FA8"/>
                </a:solidFill>
                <a:latin typeface="Source Han Sans CN"/>
                <a:ea typeface="Source Han Sans CN"/>
              </a:rPr>
              <a:t>Σ</a:t>
            </a:r>
            <a:r>
              <a:rPr lang="en-US" sz="825">
                <a:solidFill>
                  <a:srgbClr val="1E4FA8"/>
                </a:solidFill>
                <a:latin typeface="Source Han Sans CN"/>
                <a:ea typeface="Source Han Sans CN"/>
              </a:rPr>
              <a:t>u</a:t>
            </a:r>
            <a:r>
              <a:rPr lang="en-US" sz="1275">
                <a:solidFill>
                  <a:srgbClr val="1E4FA8"/>
                </a:solidFill>
                <a:latin typeface="Source Han Sans CN"/>
                <a:ea typeface="Source Han Sans CN"/>
              </a:rPr>
              <a:t> x</a:t>
            </a:r>
            <a:r>
              <a:rPr lang="en-US" sz="825">
                <a:solidFill>
                  <a:srgbClr val="1E4FA8"/>
                </a:solidFill>
                <a:latin typeface="Source Han Sans CN"/>
                <a:ea typeface="Source Han Sans CN"/>
              </a:rPr>
              <a:t>uj</a:t>
            </a:r>
            <a:r>
              <a:rPr lang="en-US" sz="1275">
                <a:solidFill>
                  <a:srgbClr val="1E4FA8"/>
                </a:solidFill>
                <a:latin typeface="Source Han Sans CN"/>
                <a:ea typeface="Source Han Sans CN"/>
              </a:rPr>
              <a:t> = y</a:t>
            </a:r>
            <a:r>
              <a:rPr lang="en-US" sz="825">
                <a:solidFill>
                  <a:srgbClr val="1E4FA8"/>
                </a:solidFill>
                <a:latin typeface="Source Han Sans CN"/>
                <a:ea typeface="Source Han Sans CN"/>
              </a:rPr>
              <a:t>j</a:t>
            </a:r>
            <a:r>
              <a:rPr lang="zh-CN" sz="1275">
                <a:solidFill>
                  <a:srgbClr val="1E4FA8"/>
                </a:solidFill>
                <a:latin typeface="Source Han Sans CN"/>
                <a:ea typeface="Source Han Sans CN"/>
              </a:rPr>
              <a:t>　（每任务至多一机；</a:t>
            </a:r>
            <a:r>
              <a:rPr lang="en-US" sz="1275">
                <a:solidFill>
                  <a:srgbClr val="1E4FA8"/>
                </a:solidFill>
                <a:latin typeface="Source Han Sans CN"/>
                <a:ea typeface="Source Han Sans CN"/>
              </a:rPr>
              <a:t>y=0 </a:t>
            </a:r>
            <a:r>
              <a:rPr lang="zh-CN" sz="1275">
                <a:solidFill>
                  <a:srgbClr val="1E4FA8"/>
                </a:solidFill>
                <a:latin typeface="Source Han Sans CN"/>
                <a:ea typeface="Source Han Sans CN"/>
              </a:rPr>
              <a:t>即暂不执行）</a:t>
            </a:r>
            <a:endParaRPr/>
          </a:p>
        </p:txBody>
      </p:sp>
      <p:sp>
        <p:nvSpPr>
          <p:cNvPr id="477" name="文本框 507" descr="{&quot;isTemplate&quot;:true,&quot;type&quot;:&quot;text&quot;}"/>
          <p:cNvSpPr txBox="1"/>
          <p:nvPr/>
        </p:nvSpPr>
        <p:spPr>
          <a:xfrm>
            <a:off x="552450" y="2333625"/>
            <a:ext cx="5467350" cy="533400"/>
          </a:xfrm>
          <a:prstGeom prst="rect">
            <a:avLst/>
          </a:prstGeom>
        </p:spPr>
        <p:txBody>
          <a:bodyPr wrap="square" lIns="0" tIns="0" rIns="0" bIns="0">
            <a:normAutofit/>
          </a:bodyPr>
          <a:lstStyle/>
          <a:p>
            <a:pPr>
              <a:lnSpc>
                <a:spcPct val="165000"/>
              </a:lnSpc>
            </a:pPr>
            <a:r>
              <a:rPr lang="en-US" sz="1050">
                <a:solidFill>
                  <a:srgbClr val="4A5568"/>
                </a:solidFill>
                <a:latin typeface="Source Han Sans CN"/>
                <a:ea typeface="Source Han Sans CN"/>
              </a:rPr>
              <a:t>y</a:t>
            </a:r>
            <a:r>
              <a:rPr lang="zh-CN" sz="1050">
                <a:solidFill>
                  <a:srgbClr val="4A5568"/>
                </a:solidFill>
                <a:latin typeface="Source Han Sans CN"/>
                <a:ea typeface="Source Han Sans CN"/>
              </a:rPr>
              <a:t>：任务是否执行　</a:t>
            </a:r>
            <a:r>
              <a:rPr lang="en-US" sz="1050">
                <a:solidFill>
                  <a:srgbClr val="4A5568"/>
                </a:solidFill>
                <a:latin typeface="Source Han Sans CN"/>
                <a:ea typeface="Source Han Sans CN"/>
              </a:rPr>
              <a:t>x</a:t>
            </a:r>
            <a:r>
              <a:rPr lang="zh-CN" sz="1050">
                <a:solidFill>
                  <a:srgbClr val="4A5568"/>
                </a:solidFill>
                <a:latin typeface="Source Han Sans CN"/>
                <a:ea typeface="Source Han Sans CN"/>
              </a:rPr>
              <a:t>：</a:t>
            </a:r>
            <a:r>
              <a:rPr lang="en-US" sz="1050">
                <a:solidFill>
                  <a:srgbClr val="4A5568"/>
                </a:solidFill>
                <a:latin typeface="Source Han Sans CN"/>
                <a:ea typeface="Source Han Sans CN"/>
              </a:rPr>
              <a:t>UAV–</a:t>
            </a:r>
            <a:r>
              <a:rPr lang="zh-CN" sz="1050">
                <a:solidFill>
                  <a:srgbClr val="4A5568"/>
                </a:solidFill>
                <a:latin typeface="Source Han Sans CN"/>
                <a:ea typeface="Source Han Sans CN"/>
              </a:rPr>
              <a:t>任务归属　π：访问顺序　</a:t>
            </a:r>
            <a:r>
              <a:rPr lang="en-US" sz="1050">
                <a:solidFill>
                  <a:srgbClr val="4A5568"/>
                </a:solidFill>
                <a:latin typeface="Source Han Sans CN"/>
                <a:ea typeface="Source Han Sans CN"/>
              </a:rPr>
              <a:t>z</a:t>
            </a:r>
            <a:r>
              <a:rPr lang="zh-CN" sz="1050">
                <a:solidFill>
                  <a:srgbClr val="4A5568"/>
                </a:solidFill>
                <a:latin typeface="Source Han Sans CN"/>
                <a:ea typeface="Source Han Sans CN"/>
              </a:rPr>
              <a:t>：终点机巢（起点由停靠状态给定）——允许</a:t>
            </a:r>
            <a:r>
              <a:rPr lang="en-US" sz="1050">
                <a:solidFill>
                  <a:srgbClr val="4A5568"/>
                </a:solidFill>
                <a:latin typeface="Source Han Sans CN"/>
                <a:ea typeface="Source Han Sans CN"/>
              </a:rPr>
              <a:t> n</a:t>
            </a:r>
            <a:r>
              <a:rPr lang="en-US" sz="825">
                <a:solidFill>
                  <a:srgbClr val="4A5568"/>
                </a:solidFill>
                <a:latin typeface="Source Han Sans CN"/>
                <a:ea typeface="Source Han Sans CN"/>
              </a:rPr>
              <a:t>u</a:t>
            </a:r>
            <a:r>
              <a:rPr lang="en-US" sz="1050">
                <a:solidFill>
                  <a:srgbClr val="4A5568"/>
                </a:solidFill>
                <a:latin typeface="Source Han Sans CN"/>
                <a:ea typeface="Source Han Sans CN"/>
              </a:rPr>
              <a:t>=0</a:t>
            </a:r>
            <a:r>
              <a:rPr lang="zh-CN" sz="1050">
                <a:solidFill>
                  <a:srgbClr val="4A5568"/>
                </a:solidFill>
                <a:latin typeface="Source Han Sans CN"/>
                <a:ea typeface="Source Han Sans CN"/>
              </a:rPr>
              <a:t>，即部分</a:t>
            </a:r>
            <a:r>
              <a:rPr lang="en-US" sz="1050">
                <a:solidFill>
                  <a:srgbClr val="4A5568"/>
                </a:solidFill>
                <a:latin typeface="Source Han Sans CN"/>
                <a:ea typeface="Source Han Sans CN"/>
              </a:rPr>
              <a:t> UAV </a:t>
            </a:r>
            <a:r>
              <a:rPr lang="zh-CN" sz="1050">
                <a:solidFill>
                  <a:srgbClr val="4A5568"/>
                </a:solidFill>
                <a:latin typeface="Source Han Sans CN"/>
                <a:ea typeface="Source Han Sans CN"/>
              </a:rPr>
              <a:t>空闲</a:t>
            </a:r>
            <a:endParaRPr/>
          </a:p>
        </p:txBody>
      </p:sp>
      <p:sp>
        <p:nvSpPr>
          <p:cNvPr id="478" name="矩形: 圆角 508"/>
          <p:cNvSpPr/>
          <p:nvPr/>
        </p:nvSpPr>
        <p:spPr>
          <a:xfrm>
            <a:off x="381000" y="3133725"/>
            <a:ext cx="5810250" cy="1628775"/>
          </a:xfrm>
          <a:prstGeom prst="roundRect">
            <a:avLst>
              <a:gd name="adj" fmla="val 5848"/>
            </a:avLst>
          </a:prstGeom>
          <a:solidFill>
            <a:srgbClr val="F7F9FC"/>
          </a:solidFill>
          <a:ln w="12700">
            <a:solidFill>
              <a:srgbClr val="D6DCE5"/>
            </a:solidFill>
            <a:prstDash val="solid"/>
          </a:ln>
        </p:spPr>
        <p:txBody>
          <a:bodyPr/>
          <a:lstStyle/>
          <a:p>
            <a:endParaRPr/>
          </a:p>
        </p:txBody>
      </p:sp>
      <p:sp>
        <p:nvSpPr>
          <p:cNvPr id="479" name="文本框 509" descr="{&quot;isTemplate&quot;:true,&quot;type&quot;:&quot;text&quot;}"/>
          <p:cNvSpPr txBox="1"/>
          <p:nvPr/>
        </p:nvSpPr>
        <p:spPr>
          <a:xfrm>
            <a:off x="552450" y="3267075"/>
            <a:ext cx="5467350" cy="209550"/>
          </a:xfrm>
          <a:prstGeom prst="rect">
            <a:avLst/>
          </a:prstGeom>
        </p:spPr>
        <p:txBody>
          <a:bodyPr wrap="none" lIns="0" tIns="0" rIns="0" bIns="0"/>
          <a:lstStyle/>
          <a:p>
            <a:pPr>
              <a:lnSpc>
                <a:spcPct val="100000"/>
              </a:lnSpc>
            </a:pPr>
            <a:r>
              <a:rPr lang="en-US" sz="1350" b="1">
                <a:solidFill>
                  <a:srgbClr val="0E3F8C"/>
                </a:solidFill>
                <a:latin typeface="Source Han Sans CN"/>
                <a:ea typeface="Source Han Sans CN"/>
              </a:rPr>
              <a:t>② </a:t>
            </a:r>
            <a:r>
              <a:rPr lang="zh-CN" sz="1350" b="1">
                <a:solidFill>
                  <a:srgbClr val="0E3F8C"/>
                </a:solidFill>
                <a:latin typeface="Source Han Sans CN"/>
                <a:ea typeface="Source Han Sans CN"/>
              </a:rPr>
              <a:t>目标退化：完成是约束</a:t>
            </a:r>
            <a:r>
              <a:rPr lang="en-US" sz="1350" b="1">
                <a:solidFill>
                  <a:srgbClr val="0E3F8C"/>
                </a:solidFill>
                <a:latin typeface="Source Han Sans CN"/>
                <a:ea typeface="Source Han Sans CN"/>
              </a:rPr>
              <a:t>，</a:t>
            </a:r>
            <a:r>
              <a:rPr lang="zh-CN" sz="1350" b="1">
                <a:solidFill>
                  <a:srgbClr val="0E3F8C"/>
                </a:solidFill>
                <a:latin typeface="Source Han Sans CN"/>
                <a:ea typeface="Source Han Sans CN"/>
              </a:rPr>
              <a:t>成本是目标</a:t>
            </a:r>
            <a:endParaRPr/>
          </a:p>
        </p:txBody>
      </p:sp>
      <p:sp>
        <p:nvSpPr>
          <p:cNvPr id="480" name="矩形: 圆角 510"/>
          <p:cNvSpPr/>
          <p:nvPr/>
        </p:nvSpPr>
        <p:spPr>
          <a:xfrm>
            <a:off x="552450" y="3571875"/>
            <a:ext cx="5467350" cy="447675"/>
          </a:xfrm>
          <a:prstGeom prst="roundRect">
            <a:avLst>
              <a:gd name="adj" fmla="val 17021"/>
            </a:avLst>
          </a:prstGeom>
          <a:solidFill>
            <a:srgbClr val="E8EFF8"/>
          </a:solidFill>
          <a:ln/>
        </p:spPr>
        <p:txBody>
          <a:bodyPr/>
          <a:lstStyle/>
          <a:p>
            <a:endParaRPr/>
          </a:p>
        </p:txBody>
      </p:sp>
      <p:sp>
        <p:nvSpPr>
          <p:cNvPr id="481" name="文本框 511" descr="{&quot;isTemplate&quot;:true,&quot;type&quot;:&quot;text&quot;}"/>
          <p:cNvSpPr txBox="1"/>
          <p:nvPr/>
        </p:nvSpPr>
        <p:spPr>
          <a:xfrm>
            <a:off x="685800" y="3686175"/>
            <a:ext cx="520065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F</a:t>
            </a:r>
            <a:r>
              <a:rPr lang="en-US" sz="900" b="1">
                <a:solidFill>
                  <a:srgbClr val="0E3F8C"/>
                </a:solidFill>
                <a:latin typeface="Source Han Sans CN"/>
                <a:ea typeface="Source Han Sans CN"/>
              </a:rPr>
              <a:t>1</a:t>
            </a:r>
            <a:r>
              <a:rPr lang="en-US" sz="1425" b="1">
                <a:solidFill>
                  <a:srgbClr val="0E3F8C"/>
                </a:solidFill>
                <a:latin typeface="Source Han Sans CN"/>
                <a:ea typeface="Source Han Sans CN"/>
              </a:rPr>
              <a:t> = Σ</a:t>
            </a:r>
            <a:r>
              <a:rPr lang="en-US" sz="825" b="1">
                <a:solidFill>
                  <a:srgbClr val="0E3F8C"/>
                </a:solidFill>
                <a:latin typeface="Source Han Sans CN"/>
                <a:ea typeface="Source Han Sans CN"/>
              </a:rPr>
              <a:t>j</a:t>
            </a:r>
            <a:r>
              <a:rPr lang="en-US" sz="1425" b="1">
                <a:solidFill>
                  <a:srgbClr val="0E3F8C"/>
                </a:solidFill>
                <a:latin typeface="Source Han Sans CN"/>
                <a:ea typeface="Source Han Sans CN"/>
              </a:rPr>
              <a:t> R</a:t>
            </a:r>
            <a:r>
              <a:rPr lang="en-US" sz="825" b="1">
                <a:solidFill>
                  <a:srgbClr val="0E3F8C"/>
                </a:solidFill>
                <a:latin typeface="Source Han Sans CN"/>
                <a:ea typeface="Source Han Sans CN"/>
              </a:rPr>
              <a:t>j</a:t>
            </a:r>
            <a:r>
              <a:rPr lang="en-US" sz="1425" b="1">
                <a:solidFill>
                  <a:srgbClr val="0E3F8C"/>
                </a:solidFill>
                <a:latin typeface="Source Han Sans CN"/>
                <a:ea typeface="Source Han Sans CN"/>
              </a:rPr>
              <a:t>(t)·y</a:t>
            </a:r>
            <a:r>
              <a:rPr lang="en-US" sz="825" b="1">
                <a:solidFill>
                  <a:srgbClr val="0E3F8C"/>
                </a:solidFill>
                <a:latin typeface="Source Han Sans CN"/>
                <a:ea typeface="Source Han Sans CN"/>
              </a:rPr>
              <a:t>j</a:t>
            </a:r>
            <a:r>
              <a:rPr lang="zh-CN" sz="1425">
                <a:solidFill>
                  <a:srgbClr val="4A5568"/>
                </a:solidFill>
                <a:latin typeface="Source Han Sans CN"/>
                <a:ea typeface="Source Han Sans CN"/>
              </a:rPr>
              <a:t>（事后统计指标）　　</a:t>
            </a:r>
            <a:r>
              <a:rPr lang="en-US" sz="1425" b="1">
                <a:solidFill>
                  <a:srgbClr val="0E3F8C"/>
                </a:solidFill>
                <a:latin typeface="Source Han Sans CN"/>
                <a:ea typeface="Source Han Sans CN"/>
              </a:rPr>
              <a:t>min F</a:t>
            </a:r>
            <a:r>
              <a:rPr lang="en-US" sz="900" b="1">
                <a:solidFill>
                  <a:srgbClr val="0E3F8C"/>
                </a:solidFill>
                <a:latin typeface="Source Han Sans CN"/>
                <a:ea typeface="Source Han Sans CN"/>
              </a:rPr>
              <a:t>2</a:t>
            </a:r>
            <a:r>
              <a:rPr lang="en-US" sz="1425" b="1">
                <a:solidFill>
                  <a:srgbClr val="0E3F8C"/>
                </a:solidFill>
                <a:latin typeface="Source Han Sans CN"/>
                <a:ea typeface="Source Han Sans CN"/>
              </a:rPr>
              <a:t> = C(x, π, z, y)</a:t>
            </a:r>
            <a:endParaRPr/>
          </a:p>
        </p:txBody>
      </p:sp>
      <p:sp>
        <p:nvSpPr>
          <p:cNvPr id="482" name="文本框 512" descr="{&quot;isTemplate&quot;:true,&quot;type&quot;:&quot;text&quot;}"/>
          <p:cNvSpPr txBox="1"/>
          <p:nvPr/>
        </p:nvSpPr>
        <p:spPr>
          <a:xfrm>
            <a:off x="552450" y="4095750"/>
            <a:ext cx="5467350" cy="533400"/>
          </a:xfrm>
          <a:prstGeom prst="rect">
            <a:avLst/>
          </a:prstGeom>
        </p:spPr>
        <p:txBody>
          <a:bodyPr wrap="square" lIns="0" tIns="0" rIns="0" bIns="0">
            <a:normAutofit/>
          </a:bodyPr>
          <a:lstStyle/>
          <a:p>
            <a:pPr>
              <a:lnSpc>
                <a:spcPct val="165000"/>
              </a:lnSpc>
            </a:pPr>
            <a:r>
              <a:rPr lang="en-US" sz="1050">
                <a:solidFill>
                  <a:srgbClr val="4A5568"/>
                </a:solidFill>
                <a:latin typeface="Source Han Sans CN"/>
                <a:ea typeface="Source Han Sans CN"/>
              </a:rPr>
              <a:t>F2 综合三维飞行代价与约束惩罚（航程、时间窗、终点可达、机巢容量末态泊位、三维地理、访问顺序）；「能装必交付」由覆盖门禁保证——F1 恒常、退化为事后指标</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endParaRPr/>
          </a:p>
        </p:txBody>
      </p:sp>
      <p:sp>
        <p:nvSpPr>
          <p:cNvPr id="483" name="矩形: 圆角 513"/>
          <p:cNvSpPr/>
          <p:nvPr/>
        </p:nvSpPr>
        <p:spPr>
          <a:xfrm>
            <a:off x="381000" y="4895850"/>
            <a:ext cx="5810250" cy="1076325"/>
          </a:xfrm>
          <a:prstGeom prst="roundRect">
            <a:avLst>
              <a:gd name="adj" fmla="val 8850"/>
            </a:avLst>
          </a:prstGeom>
          <a:solidFill>
            <a:srgbClr val="0E3F8C"/>
          </a:solidFill>
          <a:ln/>
        </p:spPr>
        <p:txBody>
          <a:bodyPr/>
          <a:lstStyle/>
          <a:p>
            <a:endParaRPr/>
          </a:p>
        </p:txBody>
      </p:sp>
      <p:sp>
        <p:nvSpPr>
          <p:cNvPr id="484" name="文本框 514" descr="{&quot;isTemplate&quot;:true,&quot;type&quot;:&quot;text&quot;}"/>
          <p:cNvSpPr txBox="1"/>
          <p:nvPr/>
        </p:nvSpPr>
        <p:spPr>
          <a:xfrm>
            <a:off x="552450" y="5019675"/>
            <a:ext cx="5467350" cy="828675"/>
          </a:xfrm>
          <a:prstGeom prst="rect">
            <a:avLst/>
          </a:prstGeom>
        </p:spPr>
        <p:txBody>
          <a:bodyPr wrap="square" lIns="0" tIns="0" rIns="0" bIns="0">
            <a:normAutofit/>
          </a:bodyPr>
          <a:lstStyle/>
          <a:p>
            <a:pPr>
              <a:lnSpc>
                <a:spcPct val="160000"/>
              </a:lnSpc>
            </a:pPr>
            <a:r>
              <a:rPr lang="zh-CN" sz="1125" b="1">
                <a:solidFill>
                  <a:srgbClr val="FFFFFF"/>
                </a:solidFill>
                <a:latin typeface="Source Han Sans CN"/>
                <a:ea typeface="Source Han Sans CN"/>
              </a:rPr>
              <a:t>终点机巢子问题：给定路线后</a:t>
            </a:r>
            <a:r>
              <a:rPr lang="en-US" sz="1125" b="1">
                <a:solidFill>
                  <a:srgbClr val="FFFFFF"/>
                </a:solidFill>
                <a:latin typeface="Source Han Sans CN"/>
                <a:ea typeface="Source Han Sans CN"/>
              </a:rPr>
              <a:t> min Σ c</a:t>
            </a:r>
            <a:r>
              <a:rPr lang="en-US" sz="825" b="1">
                <a:solidFill>
                  <a:srgbClr val="FFFFFF"/>
                </a:solidFill>
                <a:latin typeface="Source Han Sans CN"/>
                <a:ea typeface="Source Han Sans CN"/>
              </a:rPr>
              <a:t>ub</a:t>
            </a:r>
            <a:r>
              <a:rPr lang="en-US" sz="1125" b="1">
                <a:solidFill>
                  <a:srgbClr val="FFFFFF"/>
                </a:solidFill>
                <a:latin typeface="Source Han Sans CN"/>
                <a:ea typeface="Source Han Sans CN"/>
              </a:rPr>
              <a:t>(π</a:t>
            </a:r>
            <a:r>
              <a:rPr lang="en-US" sz="825" b="1">
                <a:solidFill>
                  <a:srgbClr val="FFFFFF"/>
                </a:solidFill>
                <a:latin typeface="Source Han Sans CN"/>
                <a:ea typeface="Source Han Sans CN"/>
              </a:rPr>
              <a:t>u</a:t>
            </a:r>
            <a:r>
              <a:rPr lang="en-US" sz="1125" b="1">
                <a:solidFill>
                  <a:srgbClr val="FFFFFF"/>
                </a:solidFill>
                <a:latin typeface="Source Han Sans CN"/>
                <a:ea typeface="Source Han Sans CN"/>
              </a:rPr>
              <a:t>)·z</a:t>
            </a:r>
            <a:r>
              <a:rPr lang="en-US" sz="825" b="1">
                <a:solidFill>
                  <a:srgbClr val="FFFFFF"/>
                </a:solidFill>
                <a:latin typeface="Source Han Sans CN"/>
                <a:ea typeface="Source Han Sans CN"/>
              </a:rPr>
              <a:t>ub</a:t>
            </a:r>
            <a:r>
              <a:rPr lang="zh-CN" sz="1125" b="1">
                <a:solidFill>
                  <a:srgbClr val="FFFFFF"/>
                </a:solidFill>
                <a:latin typeface="Source Han Sans CN"/>
                <a:ea typeface="Source Han Sans CN"/>
              </a:rPr>
              <a:t>（容量约束），结构是小规模运输问题——用最小费用流</a:t>
            </a:r>
            <a:r>
              <a:rPr lang="zh-CN" sz="1125" b="1">
                <a:solidFill>
                  <a:srgbClr val="FFC107"/>
                </a:solidFill>
                <a:latin typeface="Source Han Sans CN"/>
                <a:ea typeface="Source Han Sans CN"/>
              </a:rPr>
              <a:t>精确求解</a:t>
            </a:r>
            <a:r>
              <a:rPr lang="zh-CN" sz="1125" b="1">
                <a:solidFill>
                  <a:srgbClr val="FFFFFF"/>
                </a:solidFill>
                <a:latin typeface="Source Han Sans CN"/>
                <a:ea typeface="Source Han Sans CN"/>
              </a:rPr>
              <a:t>，联合考虑所有</a:t>
            </a:r>
            <a:r>
              <a:rPr lang="en-US" sz="1125" b="1">
                <a:solidFill>
                  <a:srgbClr val="FFFFFF"/>
                </a:solidFill>
                <a:latin typeface="Source Han Sans CN"/>
                <a:ea typeface="Source Han Sans CN"/>
              </a:rPr>
              <a:t> UAV </a:t>
            </a:r>
            <a:r>
              <a:rPr lang="zh-CN" sz="1125" b="1">
                <a:solidFill>
                  <a:srgbClr val="FFFFFF"/>
                </a:solidFill>
                <a:latin typeface="Source Han Sans CN"/>
                <a:ea typeface="Source Han Sans CN"/>
              </a:rPr>
              <a:t>的终点竞争，返航代价进入完整成本评价。</a:t>
            </a:r>
            <a:endParaRPr/>
          </a:p>
        </p:txBody>
      </p:sp>
      <p:sp>
        <p:nvSpPr>
          <p:cNvPr id="485" name="矩形: 圆角 515"/>
          <p:cNvSpPr/>
          <p:nvPr/>
        </p:nvSpPr>
        <p:spPr>
          <a:xfrm>
            <a:off x="6419850" y="1143000"/>
            <a:ext cx="5391150" cy="2952750"/>
          </a:xfrm>
          <a:prstGeom prst="roundRect">
            <a:avLst>
              <a:gd name="adj" fmla="val 3226"/>
            </a:avLst>
          </a:prstGeom>
          <a:solidFill>
            <a:srgbClr val="F0F5FC"/>
          </a:solidFill>
          <a:ln/>
        </p:spPr>
        <p:txBody>
          <a:bodyPr/>
          <a:lstStyle/>
          <a:p>
            <a:endParaRPr/>
          </a:p>
        </p:txBody>
      </p:sp>
      <p:sp>
        <p:nvSpPr>
          <p:cNvPr id="486" name="任意多边形: 形状 516"/>
          <p:cNvSpPr/>
          <p:nvPr/>
        </p:nvSpPr>
        <p:spPr>
          <a:xfrm>
            <a:off x="6419850" y="1143000"/>
            <a:ext cx="5391150" cy="2952750"/>
          </a:xfrm>
          <a:custGeom>
            <a:avLst/>
            <a:gdLst/>
            <a:ahLst/>
            <a:cxnLst/>
            <a:rect l="0" t="0" r="0" b="0"/>
            <a:pathLst>
              <a:path w="566" h="310">
                <a:moveTo>
                  <a:pt x="556" y="0"/>
                </a:moveTo>
                <a:cubicBezTo>
                  <a:pt x="561" y="0"/>
                  <a:pt x="565" y="4"/>
                  <a:pt x="566" y="8"/>
                </a:cubicBezTo>
                <a:cubicBezTo>
                  <a:pt x="565" y="6"/>
                  <a:pt x="563" y="4"/>
                  <a:pt x="560" y="4"/>
                </a:cubicBezTo>
                <a:lnTo>
                  <a:pt x="6" y="4"/>
                </a:lnTo>
                <a:cubicBezTo>
                  <a:pt x="3" y="4"/>
                  <a:pt x="1" y="6"/>
                  <a:pt x="0" y="9"/>
                </a:cubicBezTo>
                <a:cubicBezTo>
                  <a:pt x="1" y="4"/>
                  <a:pt x="5" y="0"/>
                  <a:pt x="10" y="0"/>
                </a:cubicBezTo>
                <a:lnTo>
                  <a:pt x="556" y="0"/>
                </a:lnTo>
                <a:close/>
              </a:path>
            </a:pathLst>
          </a:custGeom>
          <a:solidFill>
            <a:srgbClr val="1E4FA8"/>
          </a:solidFill>
          <a:ln/>
        </p:spPr>
        <p:txBody>
          <a:bodyPr/>
          <a:lstStyle/>
          <a:p>
            <a:endParaRPr/>
          </a:p>
        </p:txBody>
      </p:sp>
      <p:sp>
        <p:nvSpPr>
          <p:cNvPr id="487" name="文本框 517" descr="{&quot;isTemplate&quot;:true,&quot;type&quot;:&quot;text&quot;}"/>
          <p:cNvSpPr txBox="1"/>
          <p:nvPr/>
        </p:nvSpPr>
        <p:spPr>
          <a:xfrm>
            <a:off x="6591300" y="1276350"/>
            <a:ext cx="5048250" cy="209550"/>
          </a:xfrm>
          <a:prstGeom prst="rect">
            <a:avLst/>
          </a:prstGeom>
        </p:spPr>
        <p:txBody>
          <a:bodyPr wrap="none" lIns="0" tIns="0" rIns="0" bIns="0"/>
          <a:lstStyle/>
          <a:p>
            <a:pPr>
              <a:lnSpc>
                <a:spcPct val="100000"/>
              </a:lnSpc>
            </a:pPr>
            <a:r>
              <a:rPr lang="en-US" sz="1350" b="1">
                <a:solidFill>
                  <a:srgbClr val="0E3F8C"/>
                </a:solidFill>
                <a:latin typeface="Source Han Sans CN"/>
                <a:ea typeface="Source Han Sans CN"/>
              </a:rPr>
              <a:t>③ </a:t>
            </a:r>
            <a:r>
              <a:rPr lang="zh-CN" sz="1350" b="1">
                <a:solidFill>
                  <a:srgbClr val="0E3F8C"/>
                </a:solidFill>
                <a:latin typeface="Source Han Sans CN"/>
                <a:ea typeface="Source Han Sans CN"/>
              </a:rPr>
              <a:t>进化评价：四层准字典序（覆盖门禁口径）</a:t>
            </a:r>
            <a:endParaRPr/>
          </a:p>
        </p:txBody>
      </p:sp>
      <p:sp>
        <p:nvSpPr>
          <p:cNvPr id="488" name="矩形: 圆角 518"/>
          <p:cNvSpPr/>
          <p:nvPr/>
        </p:nvSpPr>
        <p:spPr>
          <a:xfrm>
            <a:off x="6591300" y="1581150"/>
            <a:ext cx="5048250" cy="895350"/>
          </a:xfrm>
          <a:prstGeom prst="roundRect">
            <a:avLst>
              <a:gd name="adj" fmla="val 8511"/>
            </a:avLst>
          </a:prstGeom>
          <a:solidFill>
            <a:srgbClr val="FFFFFF"/>
          </a:solidFill>
          <a:ln/>
        </p:spPr>
        <p:txBody>
          <a:bodyPr/>
          <a:lstStyle/>
          <a:p>
            <a:endParaRPr/>
          </a:p>
        </p:txBody>
      </p:sp>
      <p:sp>
        <p:nvSpPr>
          <p:cNvPr id="489" name="文本框 519" descr="{&quot;isTemplate&quot;:true,&quot;type&quot;:&quot;text&quot;}"/>
          <p:cNvSpPr txBox="1"/>
          <p:nvPr/>
        </p:nvSpPr>
        <p:spPr>
          <a:xfrm>
            <a:off x="6724650" y="1695450"/>
            <a:ext cx="4781550" cy="666750"/>
          </a:xfrm>
          <a:prstGeom prst="rect">
            <a:avLst/>
          </a:prstGeom>
        </p:spPr>
        <p:txBody>
          <a:bodyPr wrap="square" lIns="0" tIns="0" rIns="0" bIns="0">
            <a:normAutofit/>
          </a:bodyPr>
          <a:lstStyle/>
          <a:p>
            <a:pPr>
              <a:lnSpc>
                <a:spcPct val="170000"/>
              </a:lnSpc>
            </a:pPr>
            <a:r>
              <a:rPr lang="en-US" sz="1275" b="1">
                <a:solidFill>
                  <a:srgbClr val="0E3F8C"/>
                </a:solidFill>
                <a:latin typeface="Source Han Sans CN"/>
                <a:ea typeface="Source Han Sans CN"/>
              </a:rPr>
              <a:t>f = W</a:t>
            </a:r>
            <a:r>
              <a:rPr lang="en-US" sz="825" b="1">
                <a:solidFill>
                  <a:srgbClr val="0E3F8C"/>
                </a:solidFill>
                <a:latin typeface="Source Han Sans CN"/>
                <a:ea typeface="Source Han Sans CN"/>
              </a:rPr>
              <a:t>hard</a:t>
            </a:r>
            <a:r>
              <a:rPr lang="en-US" sz="1275" b="1">
                <a:solidFill>
                  <a:srgbClr val="0E3F8C"/>
                </a:solidFill>
                <a:latin typeface="Source Han Sans CN"/>
                <a:ea typeface="Source Han Sans CN"/>
              </a:rPr>
              <a:t>·n</a:t>
            </a:r>
            <a:r>
              <a:rPr lang="en-US" sz="825" b="1">
                <a:solidFill>
                  <a:srgbClr val="0E3F8C"/>
                </a:solidFill>
                <a:latin typeface="Source Han Sans CN"/>
                <a:ea typeface="Source Han Sans CN"/>
              </a:rPr>
              <a:t>hard</a:t>
            </a:r>
            <a:r>
              <a:rPr lang="en-US" sz="1275" b="1">
                <a:solidFill>
                  <a:srgbClr val="0E3F8C"/>
                </a:solidFill>
                <a:latin typeface="Source Han Sans CN"/>
                <a:ea typeface="Source Han Sans CN"/>
              </a:rPr>
              <a:t> + w</a:t>
            </a:r>
            <a:r>
              <a:rPr lang="en-US" sz="825" b="1">
                <a:solidFill>
                  <a:srgbClr val="0E3F8C"/>
                </a:solidFill>
                <a:latin typeface="Source Han Sans CN"/>
                <a:ea typeface="Source Han Sans CN"/>
              </a:rPr>
              <a:t>exc</a:t>
            </a:r>
            <a:r>
              <a:rPr lang="en-US" sz="1275" b="1">
                <a:solidFill>
                  <a:srgbClr val="0E3F8C"/>
                </a:solidFill>
                <a:latin typeface="Source Han Sans CN"/>
                <a:ea typeface="Source Han Sans CN"/>
              </a:rPr>
              <a:t>·excess</a:t>
            </a:r>
            <a:r>
              <a:rPr lang="en-US" sz="825" b="1">
                <a:solidFill>
                  <a:srgbClr val="0E3F8C"/>
                </a:solidFill>
                <a:latin typeface="Source Han Sans CN"/>
                <a:ea typeface="Source Han Sans CN"/>
              </a:rPr>
              <a:t>m</a:t>
            </a:r>
            <a:r>
              <a:rPr lang="en-US" sz="1275" b="1">
                <a:solidFill>
                  <a:srgbClr val="0E3F8C"/>
                </a:solidFill>
                <a:latin typeface="Source Han Sans CN"/>
                <a:ea typeface="Source Han Sans CN"/>
              </a:rPr>
              <a:t> + W</a:t>
            </a:r>
            <a:r>
              <a:rPr lang="en-US" sz="825" b="1">
                <a:solidFill>
                  <a:srgbClr val="0E3F8C"/>
                </a:solidFill>
                <a:latin typeface="Source Han Sans CN"/>
                <a:ea typeface="Source Han Sans CN"/>
              </a:rPr>
              <a:t>skip</a:t>
            </a:r>
            <a:r>
              <a:rPr lang="en-US" sz="1275" b="1">
                <a:solidFill>
                  <a:srgbClr val="0E3F8C"/>
                </a:solidFill>
                <a:latin typeface="Source Han Sans CN"/>
                <a:ea typeface="Source Han Sans CN"/>
              </a:rPr>
              <a:t>·n</a:t>
            </a:r>
            <a:r>
              <a:rPr lang="en-US" sz="825" b="1">
                <a:solidFill>
                  <a:srgbClr val="0E3F8C"/>
                </a:solidFill>
                <a:latin typeface="Source Han Sans CN"/>
                <a:ea typeface="Source Han Sans CN"/>
              </a:rPr>
              <a:t>skip</a:t>
            </a:r>
            <a:r>
              <a:rPr lang="en-US" sz="1275" b="1">
                <a:solidFill>
                  <a:srgbClr val="0E3F8C"/>
                </a:solidFill>
                <a:latin typeface="Source Han Sans CN"/>
                <a:ea typeface="Source Han Sans CN"/>
              </a:rPr>
              <a:t> + w</a:t>
            </a:r>
            <a:r>
              <a:rPr lang="en-US" sz="825" b="1">
                <a:solidFill>
                  <a:srgbClr val="0E3F8C"/>
                </a:solidFill>
                <a:latin typeface="Source Han Sans CN"/>
                <a:ea typeface="Source Han Sans CN"/>
              </a:rPr>
              <a:t>late</a:t>
            </a:r>
            <a:r>
              <a:rPr lang="en-US" sz="1275" b="1">
                <a:solidFill>
                  <a:srgbClr val="0E3F8C"/>
                </a:solidFill>
                <a:latin typeface="Source Han Sans CN"/>
                <a:ea typeface="Source Han Sans CN"/>
              </a:rPr>
              <a:t>·L_tot + λ·path + w</a:t>
            </a:r>
            <a:r>
              <a:rPr lang="en-US" sz="825" b="1">
                <a:solidFill>
                  <a:srgbClr val="0E3F8C"/>
                </a:solidFill>
                <a:latin typeface="Source Han Sans CN"/>
                <a:ea typeface="Source Han Sans CN"/>
              </a:rPr>
              <a:t>time</a:t>
            </a:r>
            <a:r>
              <a:rPr lang="en-US" sz="1275" b="1">
                <a:solidFill>
                  <a:srgbClr val="0E3F8C"/>
                </a:solidFill>
                <a:latin typeface="Source Han Sans CN"/>
                <a:ea typeface="Source Han Sans CN"/>
              </a:rPr>
              <a:t>·F</a:t>
            </a:r>
            <a:r>
              <a:rPr lang="en-US" sz="825" b="1">
                <a:solidFill>
                  <a:srgbClr val="0E3F8C"/>
                </a:solidFill>
                <a:latin typeface="Source Han Sans CN"/>
                <a:ea typeface="Source Han Sans CN"/>
              </a:rPr>
              <a:t>3</a:t>
            </a:r>
            <a:endParaRPr/>
          </a:p>
        </p:txBody>
      </p:sp>
      <p:sp>
        <p:nvSpPr>
          <p:cNvPr id="490" name="矩形: 圆角 520"/>
          <p:cNvSpPr/>
          <p:nvPr/>
        </p:nvSpPr>
        <p:spPr>
          <a:xfrm>
            <a:off x="6591300" y="2571750"/>
            <a:ext cx="1104900" cy="200025"/>
          </a:xfrm>
          <a:prstGeom prst="roundRect">
            <a:avLst>
              <a:gd name="adj" fmla="val 19048"/>
            </a:avLst>
          </a:prstGeom>
          <a:solidFill>
            <a:srgbClr val="1E4FA8"/>
          </a:solidFill>
          <a:ln/>
        </p:spPr>
        <p:txBody>
          <a:bodyPr/>
          <a:lstStyle/>
          <a:p>
            <a:endParaRPr/>
          </a:p>
        </p:txBody>
      </p:sp>
      <p:sp>
        <p:nvSpPr>
          <p:cNvPr id="491" name="文本框 521" descr="{&quot;isTemplate&quot;:true,&quot;type&quot;:&quot;text&quot;}"/>
          <p:cNvSpPr txBox="1"/>
          <p:nvPr/>
        </p:nvSpPr>
        <p:spPr>
          <a:xfrm>
            <a:off x="6657975" y="2600325"/>
            <a:ext cx="981075" cy="142875"/>
          </a:xfrm>
          <a:prstGeom prst="rect">
            <a:avLst/>
          </a:prstGeom>
        </p:spPr>
        <p:txBody>
          <a:bodyPr wrap="none" lIns="0" tIns="0" rIns="0" bIns="0"/>
          <a:lstStyle/>
          <a:p>
            <a:pPr>
              <a:lnSpc>
                <a:spcPct val="100000"/>
              </a:lnSpc>
            </a:pPr>
            <a:r>
              <a:rPr lang="en-US" sz="900" b="1">
                <a:solidFill>
                  <a:srgbClr val="FFFFFF"/>
                </a:solidFill>
                <a:latin typeface="Source Han Sans CN"/>
                <a:ea typeface="Source Han Sans CN"/>
              </a:rPr>
              <a:t>T0 </a:t>
            </a:r>
            <a:r>
              <a:rPr lang="zh-CN" sz="900" b="1">
                <a:solidFill>
                  <a:srgbClr val="FFFFFF"/>
                </a:solidFill>
                <a:latin typeface="Source Han Sans CN"/>
                <a:ea typeface="Source Han Sans CN"/>
              </a:rPr>
              <a:t>物理硬约束</a:t>
            </a:r>
            <a:endParaRPr/>
          </a:p>
        </p:txBody>
      </p:sp>
      <p:sp>
        <p:nvSpPr>
          <p:cNvPr id="492" name="文本框 522" descr="{&quot;isTemplate&quot;:true,&quot;type&quot;:&quot;text&quot;}"/>
          <p:cNvSpPr txBox="1"/>
          <p:nvPr/>
        </p:nvSpPr>
        <p:spPr>
          <a:xfrm>
            <a:off x="7791450" y="2571750"/>
            <a:ext cx="3848100" cy="466725"/>
          </a:xfrm>
          <a:prstGeom prst="rect">
            <a:avLst/>
          </a:prstGeom>
        </p:spPr>
        <p:txBody>
          <a:bodyPr wrap="square" lIns="0" tIns="0" rIns="0" bIns="0">
            <a:normAutofit/>
          </a:bodyPr>
          <a:lstStyle/>
          <a:p>
            <a:pPr>
              <a:lnSpc>
                <a:spcPct val="155000"/>
              </a:lnSpc>
            </a:pPr>
            <a:r>
              <a:rPr lang="en-US" sz="975">
                <a:solidFill>
                  <a:srgbClr val="4A5568"/>
                </a:solidFill>
                <a:latin typeface="Source Han Sans CN"/>
                <a:ea typeface="Source Han Sans CN"/>
              </a:rPr>
              <a:t>W_hard = κ·m·R_pool</a:t>
            </a:r>
            <a:r>
              <a:rPr lang="zh-CN" sz="975">
                <a:solidFill>
                  <a:srgbClr val="4A5568"/>
                </a:solidFill>
                <a:latin typeface="Source Han Sans CN"/>
                <a:ea typeface="Source Han Sans CN"/>
              </a:rPr>
              <a:t>：任一次物理违约压倒其余各层全部差异——幽灵交付永不入选</a:t>
            </a:r>
            <a:endParaRPr/>
          </a:p>
        </p:txBody>
      </p:sp>
      <p:sp>
        <p:nvSpPr>
          <p:cNvPr id="493" name="矩形: 圆角 523"/>
          <p:cNvSpPr/>
          <p:nvPr/>
        </p:nvSpPr>
        <p:spPr>
          <a:xfrm>
            <a:off x="6591300" y="3095625"/>
            <a:ext cx="1104900" cy="200025"/>
          </a:xfrm>
          <a:prstGeom prst="roundRect">
            <a:avLst>
              <a:gd name="adj" fmla="val 19048"/>
            </a:avLst>
          </a:prstGeom>
          <a:solidFill>
            <a:srgbClr val="1E4FA8"/>
          </a:solidFill>
          <a:ln/>
        </p:spPr>
        <p:txBody>
          <a:bodyPr/>
          <a:lstStyle/>
          <a:p>
            <a:endParaRPr/>
          </a:p>
        </p:txBody>
      </p:sp>
      <p:sp>
        <p:nvSpPr>
          <p:cNvPr id="494" name="文本框 524" descr="{&quot;isTemplate&quot;:true,&quot;type&quot;:&quot;text&quot;}"/>
          <p:cNvSpPr txBox="1"/>
          <p:nvPr/>
        </p:nvSpPr>
        <p:spPr>
          <a:xfrm>
            <a:off x="6829425" y="3124200"/>
            <a:ext cx="787400" cy="142875"/>
          </a:xfrm>
          <a:prstGeom prst="rect">
            <a:avLst/>
          </a:prstGeom>
        </p:spPr>
        <p:txBody>
          <a:bodyPr wrap="none" lIns="0" tIns="0" rIns="0" bIns="0"/>
          <a:lstStyle/>
          <a:p>
            <a:pPr>
              <a:lnSpc>
                <a:spcPct val="100000"/>
              </a:lnSpc>
            </a:pPr>
            <a:r>
              <a:rPr lang="en-US" sz="900" b="1">
                <a:solidFill>
                  <a:srgbClr val="FFFFFF"/>
                </a:solidFill>
                <a:latin typeface="Source Han Sans CN"/>
                <a:ea typeface="Source Han Sans CN"/>
              </a:rPr>
              <a:t>T0.5 </a:t>
            </a:r>
            <a:r>
              <a:rPr lang="zh-CN" sz="900" b="1">
                <a:solidFill>
                  <a:srgbClr val="FFFFFF"/>
                </a:solidFill>
                <a:latin typeface="Source Han Sans CN"/>
                <a:ea typeface="Source Han Sans CN"/>
              </a:rPr>
              <a:t>覆盖门禁</a:t>
            </a:r>
            <a:endParaRPr/>
          </a:p>
        </p:txBody>
      </p:sp>
      <p:sp>
        <p:nvSpPr>
          <p:cNvPr id="495" name="文本框 525" descr="{&quot;isTemplate&quot;:true,&quot;type&quot;:&quot;text&quot;}"/>
          <p:cNvSpPr txBox="1"/>
          <p:nvPr/>
        </p:nvSpPr>
        <p:spPr>
          <a:xfrm>
            <a:off x="7791450" y="3095625"/>
            <a:ext cx="3848100" cy="238125"/>
          </a:xfrm>
          <a:prstGeom prst="rect">
            <a:avLst/>
          </a:prstGeom>
        </p:spPr>
        <p:txBody>
          <a:bodyPr wrap="none" lIns="0" tIns="0" rIns="0" bIns="0"/>
          <a:lstStyle/>
          <a:p>
            <a:pPr>
              <a:lnSpc>
                <a:spcPct val="155000"/>
              </a:lnSpc>
            </a:pPr>
            <a:r>
              <a:rPr lang="en-US" sz="975">
                <a:solidFill>
                  <a:srgbClr val="4A5568"/>
                </a:solidFill>
                <a:latin typeface="Source Han Sans CN"/>
                <a:ea typeface="Source Han Sans CN"/>
              </a:rPr>
              <a:t>W_skip·n_skip：「能装却没装」即非法，不许成本权衡；构造修复下恒 0</a:t>
            </a:r>
            <a:r>
              <a:rPr lang="zh-CN" sz="975">
                <a:solidFill>
                  <a:srgbClr val="4A5568"/>
                </a:solidFill>
                <a:latin typeface="Source Han Sans CN"/>
                <a:ea typeface="Source Han Sans CN"/>
              </a:rPr>
              <a:t/>
            </a:r>
            <a:r>
              <a:rPr lang="en-US" sz="975">
                <a:solidFill>
                  <a:srgbClr val="4A5568"/>
                </a:solidFill>
                <a:latin typeface="Source Han Sans CN"/>
                <a:ea typeface="Source Han Sans CN"/>
              </a:rPr>
              <a:t/>
            </a:r>
            <a:r>
              <a:rPr lang="zh-CN" sz="975">
                <a:solidFill>
                  <a:srgbClr val="4A5568"/>
                </a:solidFill>
                <a:latin typeface="Source Han Sans CN"/>
                <a:ea typeface="Source Han Sans CN"/>
              </a:rPr>
              <a:t/>
            </a:r>
            <a:r>
              <a:rPr lang="en-US" sz="975">
                <a:solidFill>
                  <a:srgbClr val="4A5568"/>
                </a:solidFill>
                <a:latin typeface="Source Han Sans CN"/>
                <a:ea typeface="Source Han Sans CN"/>
              </a:rPr>
              <a:t/>
            </a:r>
            <a:endParaRPr/>
          </a:p>
        </p:txBody>
      </p:sp>
      <p:sp>
        <p:nvSpPr>
          <p:cNvPr id="496" name="矩形: 圆角 526"/>
          <p:cNvSpPr/>
          <p:nvPr/>
        </p:nvSpPr>
        <p:spPr>
          <a:xfrm>
            <a:off x="6591300" y="3390900"/>
            <a:ext cx="1104900" cy="200025"/>
          </a:xfrm>
          <a:prstGeom prst="roundRect">
            <a:avLst>
              <a:gd name="adj" fmla="val 19048"/>
            </a:avLst>
          </a:prstGeom>
          <a:solidFill>
            <a:srgbClr val="1E4FA8"/>
          </a:solidFill>
          <a:ln/>
        </p:spPr>
        <p:txBody>
          <a:bodyPr/>
          <a:lstStyle/>
          <a:p>
            <a:endParaRPr/>
          </a:p>
        </p:txBody>
      </p:sp>
      <p:sp>
        <p:nvSpPr>
          <p:cNvPr id="497" name="文本框 527" descr="{&quot;isTemplate&quot;:true,&quot;type&quot;:&quot;text&quot;}"/>
          <p:cNvSpPr txBox="1"/>
          <p:nvPr/>
        </p:nvSpPr>
        <p:spPr>
          <a:xfrm>
            <a:off x="6772275" y="3419475"/>
            <a:ext cx="752475" cy="142875"/>
          </a:xfrm>
          <a:prstGeom prst="rect">
            <a:avLst/>
          </a:prstGeom>
        </p:spPr>
        <p:txBody>
          <a:bodyPr wrap="none" lIns="0" tIns="0" rIns="0" bIns="0"/>
          <a:lstStyle/>
          <a:p>
            <a:pPr>
              <a:lnSpc>
                <a:spcPct val="100000"/>
              </a:lnSpc>
            </a:pPr>
            <a:r>
              <a:rPr lang="en-US" sz="900" b="1">
                <a:solidFill>
                  <a:srgbClr val="FFFFFF"/>
                </a:solidFill>
                <a:latin typeface="Source Han Sans CN"/>
                <a:ea typeface="Source Han Sans CN"/>
              </a:rPr>
              <a:t>T2 </a:t>
            </a:r>
            <a:r>
              <a:rPr lang="zh-CN" sz="900" b="1">
                <a:solidFill>
                  <a:srgbClr val="FFFFFF"/>
                </a:solidFill>
                <a:latin typeface="Source Han Sans CN"/>
                <a:ea typeface="Source Han Sans CN"/>
              </a:rPr>
              <a:t>迟到（软）</a:t>
            </a:r>
            <a:endParaRPr/>
          </a:p>
        </p:txBody>
      </p:sp>
      <p:sp>
        <p:nvSpPr>
          <p:cNvPr id="498" name="文本框 528" descr="{&quot;isTemplate&quot;:true,&quot;type&quot;:&quot;text&quot;}"/>
          <p:cNvSpPr txBox="1"/>
          <p:nvPr/>
        </p:nvSpPr>
        <p:spPr>
          <a:xfrm>
            <a:off x="7791450" y="3390900"/>
            <a:ext cx="3848100" cy="238125"/>
          </a:xfrm>
          <a:prstGeom prst="rect">
            <a:avLst/>
          </a:prstGeom>
        </p:spPr>
        <p:txBody>
          <a:bodyPr wrap="none" lIns="0" tIns="0" rIns="0" bIns="0"/>
          <a:lstStyle/>
          <a:p>
            <a:pPr>
              <a:lnSpc>
                <a:spcPct val="155000"/>
              </a:lnSpc>
            </a:pPr>
            <a:r>
              <a:rPr lang="en-US" sz="975">
                <a:solidFill>
                  <a:srgbClr val="4A5568"/>
                </a:solidFill>
                <a:latin typeface="Source Han Sans CN"/>
                <a:ea typeface="Source Han Sans CN"/>
              </a:rPr>
              <a:t>w_late=0.01/s</a:t>
            </a:r>
            <a:r>
              <a:rPr lang="zh-CN" sz="975">
                <a:solidFill>
                  <a:srgbClr val="4A5568"/>
                </a:solidFill>
                <a:latin typeface="Source Han Sans CN"/>
                <a:ea typeface="Source Han Sans CN"/>
              </a:rPr>
              <a:t>：迟到可接受但不免费，与航程代价同台竞争</a:t>
            </a:r>
            <a:endParaRPr/>
          </a:p>
        </p:txBody>
      </p:sp>
      <p:sp>
        <p:nvSpPr>
          <p:cNvPr id="499" name="矩形: 圆角 529"/>
          <p:cNvSpPr/>
          <p:nvPr/>
        </p:nvSpPr>
        <p:spPr>
          <a:xfrm>
            <a:off x="6591300" y="3686175"/>
            <a:ext cx="1104900" cy="200025"/>
          </a:xfrm>
          <a:prstGeom prst="roundRect">
            <a:avLst>
              <a:gd name="adj" fmla="val 19048"/>
            </a:avLst>
          </a:prstGeom>
          <a:solidFill>
            <a:srgbClr val="1E4FA8"/>
          </a:solidFill>
          <a:ln/>
        </p:spPr>
        <p:txBody>
          <a:bodyPr/>
          <a:lstStyle/>
          <a:p>
            <a:endParaRPr/>
          </a:p>
        </p:txBody>
      </p:sp>
      <p:sp>
        <p:nvSpPr>
          <p:cNvPr id="500" name="文本框 530" descr="{&quot;isTemplate&quot;:true,&quot;type&quot;:&quot;text&quot;}"/>
          <p:cNvSpPr txBox="1"/>
          <p:nvPr/>
        </p:nvSpPr>
        <p:spPr>
          <a:xfrm>
            <a:off x="6800850" y="3714750"/>
            <a:ext cx="695325" cy="142875"/>
          </a:xfrm>
          <a:prstGeom prst="rect">
            <a:avLst/>
          </a:prstGeom>
        </p:spPr>
        <p:txBody>
          <a:bodyPr wrap="none" lIns="0" tIns="0" rIns="0" bIns="0"/>
          <a:lstStyle/>
          <a:p>
            <a:pPr>
              <a:lnSpc>
                <a:spcPct val="100000"/>
              </a:lnSpc>
            </a:pPr>
            <a:r>
              <a:rPr lang="en-US" sz="900" b="1">
                <a:solidFill>
                  <a:srgbClr val="FFFFFF"/>
                </a:solidFill>
                <a:latin typeface="Source Han Sans CN"/>
                <a:ea typeface="Source Han Sans CN"/>
              </a:rPr>
              <a:t>T3 </a:t>
            </a:r>
            <a:r>
              <a:rPr lang="zh-CN" sz="900" b="1">
                <a:solidFill>
                  <a:srgbClr val="FFFFFF"/>
                </a:solidFill>
                <a:latin typeface="Source Han Sans CN"/>
                <a:ea typeface="Source Han Sans CN"/>
              </a:rPr>
              <a:t>航程与时间</a:t>
            </a:r>
            <a:r>
              <a:rPr lang="en-US" sz="900" b="1">
                <a:solidFill>
                  <a:srgbClr val="FFFFFF"/>
                </a:solidFill>
                <a:latin typeface="Source Han Sans CN"/>
                <a:ea typeface="Source Han Sans CN"/>
              </a:rPr>
              <a:t/>
            </a:r>
            <a:r>
              <a:rPr lang="zh-CN" sz="900" b="1">
                <a:solidFill>
                  <a:srgbClr val="FFFFFF"/>
                </a:solidFill>
                <a:latin typeface="Source Han Sans CN"/>
                <a:ea typeface="Source Han Sans CN"/>
              </a:rPr>
              <a:t/>
            </a:r>
            <a:endParaRPr/>
          </a:p>
        </p:txBody>
      </p:sp>
      <p:sp>
        <p:nvSpPr>
          <p:cNvPr id="501" name="文本框 531" descr="{&quot;isTemplate&quot;:true,&quot;type&quot;:&quot;text&quot;}"/>
          <p:cNvSpPr txBox="1"/>
          <p:nvPr/>
        </p:nvSpPr>
        <p:spPr>
          <a:xfrm>
            <a:off x="7791450" y="3686175"/>
            <a:ext cx="3848100" cy="238125"/>
          </a:xfrm>
          <a:prstGeom prst="rect">
            <a:avLst/>
          </a:prstGeom>
        </p:spPr>
        <p:txBody>
          <a:bodyPr wrap="none" lIns="0" tIns="0" rIns="0" bIns="0"/>
          <a:lstStyle/>
          <a:p>
            <a:pPr>
              <a:lnSpc>
                <a:spcPct val="155000"/>
              </a:lnSpc>
            </a:pPr>
            <a:r>
              <a:rPr lang="en-US" sz="975">
                <a:solidFill>
                  <a:srgbClr val="4A5568"/>
                </a:solidFill>
                <a:latin typeface="Source Han Sans CN"/>
                <a:ea typeface="Source Han Sans CN"/>
              </a:rPr>
              <a:t>λ·path + w_time·F3</a:t>
            </a:r>
            <a:r>
              <a:rPr lang="zh-CN" sz="975">
                <a:solidFill>
                  <a:srgbClr val="4A5568"/>
                </a:solidFill>
                <a:latin typeface="Source Han Sans CN"/>
                <a:ea typeface="Source Han Sans CN"/>
              </a:rPr>
              <a:t>，</a:t>
            </a:r>
            <a:r>
              <a:rPr lang="en-US" sz="975">
                <a:solidFill>
                  <a:srgbClr val="4A5568"/>
                </a:solidFill>
                <a:latin typeface="Source Han Sans CN"/>
                <a:ea typeface="Source Han Sans CN"/>
              </a:rPr>
              <a:t>F3 = max_u T_u</a:t>
            </a:r>
            <a:r>
              <a:rPr lang="zh-CN" sz="975">
                <a:solidFill>
                  <a:srgbClr val="4A5568"/>
                </a:solidFill>
                <a:latin typeface="Source Han Sans CN"/>
                <a:ea typeface="Source Han Sans CN"/>
              </a:rPr>
              <a:t>（最坏机时间）</a:t>
            </a:r>
            <a:endParaRPr/>
          </a:p>
        </p:txBody>
      </p:sp>
      <p:sp>
        <p:nvSpPr>
          <p:cNvPr id="502" name="矩形: 圆角 532"/>
          <p:cNvSpPr/>
          <p:nvPr/>
        </p:nvSpPr>
        <p:spPr>
          <a:xfrm>
            <a:off x="6419850" y="4191000"/>
            <a:ext cx="5391150" cy="1314450"/>
          </a:xfrm>
          <a:prstGeom prst="roundRect">
            <a:avLst>
              <a:gd name="adj" fmla="val 7246"/>
            </a:avLst>
          </a:prstGeom>
          <a:solidFill>
            <a:srgbClr val="F7F9FC"/>
          </a:solidFill>
          <a:ln w="12700">
            <a:solidFill>
              <a:srgbClr val="D6DCE5"/>
            </a:solidFill>
            <a:prstDash val="solid"/>
          </a:ln>
        </p:spPr>
        <p:txBody>
          <a:bodyPr/>
          <a:lstStyle/>
          <a:p>
            <a:endParaRPr/>
          </a:p>
        </p:txBody>
      </p:sp>
      <p:sp>
        <p:nvSpPr>
          <p:cNvPr id="503" name="文本框 533" descr="{&quot;isTemplate&quot;:true,&quot;type&quot;:&quot;text&quot;}"/>
          <p:cNvSpPr txBox="1"/>
          <p:nvPr/>
        </p:nvSpPr>
        <p:spPr>
          <a:xfrm>
            <a:off x="6591300" y="4314825"/>
            <a:ext cx="5048250" cy="190500"/>
          </a:xfrm>
          <a:prstGeom prst="rect">
            <a:avLst/>
          </a:prstGeom>
        </p:spPr>
        <p:txBody>
          <a:bodyPr wrap="none" lIns="0" tIns="0" rIns="0" bIns="0"/>
          <a:lstStyle/>
          <a:p>
            <a:pPr>
              <a:lnSpc>
                <a:spcPct val="100000"/>
              </a:lnSpc>
            </a:pPr>
            <a:r>
              <a:rPr lang="zh-CN" sz="1200" b="1">
                <a:solidFill>
                  <a:srgbClr val="0E3F8C"/>
                </a:solidFill>
                <a:latin typeface="Source Han Sans CN"/>
                <a:ea typeface="Source Han Sans CN"/>
              </a:rPr>
              <a:t>设计判断</a:t>
            </a:r>
            <a:endParaRPr/>
          </a:p>
        </p:txBody>
      </p:sp>
      <p:sp>
        <p:nvSpPr>
          <p:cNvPr id="504" name="文本框 534" descr="{&quot;isTemplate&quot;:true,&quot;type&quot;:&quot;text&quot;}"/>
          <p:cNvSpPr txBox="1"/>
          <p:nvPr/>
        </p:nvSpPr>
        <p:spPr>
          <a:xfrm>
            <a:off x="6591300" y="4562475"/>
            <a:ext cx="504825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固定表述：搜索用 f 不含 −m·F1，F1 只作事后指标——「能装必交付」由覆盖门禁承担、非加权近似；W_hard/W_skip 由指标上下界推导，λ/w_late/w_time 层内标定；big-M 旧式（−m·F1_eff）留作消融对照。</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zh-CN" sz="1050" b="1">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endParaRPr/>
          </a:p>
        </p:txBody>
      </p:sp>
      <p:sp>
        <p:nvSpPr>
          <p:cNvPr id="505" name="矩形 535"/>
          <p:cNvSpPr/>
          <p:nvPr/>
        </p:nvSpPr>
        <p:spPr>
          <a:xfrm>
            <a:off x="0" y="6448425"/>
            <a:ext cx="12192000" cy="409575"/>
          </a:xfrm>
          <a:prstGeom prst="rect">
            <a:avLst/>
          </a:prstGeom>
          <a:solidFill>
            <a:srgbClr val="F7F9FC"/>
          </a:solidFill>
          <a:ln/>
        </p:spPr>
        <p:txBody>
          <a:bodyPr/>
          <a:lstStyle/>
          <a:p>
            <a:endParaRPr/>
          </a:p>
        </p:txBody>
      </p:sp>
      <p:sp>
        <p:nvSpPr>
          <p:cNvPr id="506" name="任意多边形: 形状 536"/>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507" name="文本框 537"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508" name="文本框 538"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09 / 16</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2" name="矩形 431"/>
          <p:cNvSpPr/>
          <p:nvPr/>
        </p:nvSpPr>
        <p:spPr>
          <a:xfrm>
            <a:off x="0" y="0"/>
            <a:ext cx="12192000" cy="6858000"/>
          </a:xfrm>
          <a:prstGeom prst="rect">
            <a:avLst/>
          </a:prstGeom>
          <a:solidFill>
            <a:srgbClr val="FFFFFF"/>
          </a:solidFill>
          <a:ln/>
        </p:spPr>
        <p:txBody>
          <a:bodyPr/>
          <a:lstStyle/>
          <a:p>
            <a:endParaRPr/>
          </a:p>
        </p:txBody>
      </p:sp>
      <p:sp>
        <p:nvSpPr>
          <p:cNvPr id="433" name="矩形 432"/>
          <p:cNvSpPr/>
          <p:nvPr/>
        </p:nvSpPr>
        <p:spPr>
          <a:xfrm>
            <a:off x="0" y="0"/>
            <a:ext cx="12192000" cy="114300"/>
          </a:xfrm>
          <a:prstGeom prst="rect">
            <a:avLst/>
          </a:prstGeom>
          <a:solidFill>
            <a:srgbClr val="1E4FA8"/>
          </a:solidFill>
          <a:ln/>
        </p:spPr>
        <p:txBody>
          <a:bodyPr/>
          <a:lstStyle/>
          <a:p>
            <a:endParaRPr/>
          </a:p>
        </p:txBody>
      </p:sp>
      <p:sp>
        <p:nvSpPr>
          <p:cNvPr id="434" name="矩形 433"/>
          <p:cNvSpPr/>
          <p:nvPr/>
        </p:nvSpPr>
        <p:spPr>
          <a:xfrm>
            <a:off x="381000" y="314325"/>
            <a:ext cx="57150" cy="323850"/>
          </a:xfrm>
          <a:prstGeom prst="rect">
            <a:avLst/>
          </a:prstGeom>
          <a:solidFill>
            <a:srgbClr val="1E4FA8"/>
          </a:solidFill>
          <a:ln/>
        </p:spPr>
        <p:txBody>
          <a:bodyPr/>
          <a:lstStyle/>
          <a:p>
            <a:endParaRPr/>
          </a:p>
        </p:txBody>
      </p:sp>
      <p:sp>
        <p:nvSpPr>
          <p:cNvPr id="435" name="文本框 434" descr="{&quot;isTemplate&quot;:true,&quot;type&quot;:&quot;text&quot;}"/>
          <p:cNvSpPr txBox="1"/>
          <p:nvPr/>
        </p:nvSpPr>
        <p:spPr>
          <a:xfrm>
            <a:off x="571500" y="285750"/>
            <a:ext cx="462915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改进离散映射差分进化（</a:t>
            </a:r>
            <a:r>
              <a:rPr lang="en-US" sz="2400" b="1">
                <a:solidFill>
                  <a:srgbClr val="0E3F8C"/>
                </a:solidFill>
                <a:latin typeface="Source Han Sans CN"/>
                <a:ea typeface="Source Han Sans CN"/>
              </a:rPr>
              <a:t>DMDE</a:t>
            </a:r>
            <a:r>
              <a:rPr lang="zh-CN" sz="2400" b="1">
                <a:solidFill>
                  <a:srgbClr val="0E3F8C"/>
                </a:solidFill>
                <a:latin typeface="Source Han Sans CN"/>
                <a:ea typeface="Source Han Sans CN"/>
              </a:rPr>
              <a:t>）</a:t>
            </a:r>
            <a:endParaRPr/>
          </a:p>
        </p:txBody>
      </p:sp>
      <p:sp>
        <p:nvSpPr>
          <p:cNvPr id="436" name="文本框 435" descr="{&quot;isTemplate&quot;:true,&quot;type&quot;:&quot;text&quot;}"/>
          <p:cNvSpPr txBox="1"/>
          <p:nvPr/>
        </p:nvSpPr>
        <p:spPr>
          <a:xfrm>
            <a:off x="571500" y="742950"/>
            <a:ext cx="4962525" cy="171450"/>
          </a:xfrm>
          <a:prstGeom prst="rect">
            <a:avLst/>
          </a:prstGeom>
        </p:spPr>
        <p:txBody>
          <a:bodyPr wrap="none" lIns="0" tIns="0" rIns="0" bIns="0"/>
          <a:lstStyle/>
          <a:p>
            <a:pPr>
              <a:lnSpc>
                <a:spcPct val="100000"/>
              </a:lnSpc>
            </a:pPr>
            <a:r>
              <a:rPr lang="zh-CN" sz="1125">
                <a:solidFill>
                  <a:srgbClr val="8B97A8"/>
                </a:solidFill>
                <a:latin typeface="Source Han Sans CN"/>
                <a:ea typeface="Source Han Sans CN"/>
              </a:rPr>
              <a:t>连续编码承载「</a:t>
            </a:r>
            <a:r>
              <a:rPr lang="en-US" sz="1125">
                <a:solidFill>
                  <a:srgbClr val="8B97A8"/>
                </a:solidFill>
                <a:latin typeface="Source Han Sans CN"/>
                <a:ea typeface="Source Han Sans CN"/>
              </a:rPr>
              <a:t>UAV </a:t>
            </a:r>
            <a:r>
              <a:rPr lang="zh-CN" sz="1125">
                <a:solidFill>
                  <a:srgbClr val="8B97A8"/>
                </a:solidFill>
                <a:latin typeface="Source Han Sans CN"/>
                <a:ea typeface="Source Han Sans CN"/>
              </a:rPr>
              <a:t>归属</a:t>
            </a:r>
            <a:r>
              <a:rPr lang="en-US" sz="1125">
                <a:solidFill>
                  <a:srgbClr val="8B97A8"/>
                </a:solidFill>
                <a:latin typeface="Source Han Sans CN"/>
                <a:ea typeface="Source Han Sans CN"/>
              </a:rPr>
              <a:t> + </a:t>
            </a:r>
            <a:r>
              <a:rPr lang="zh-CN" sz="1125">
                <a:solidFill>
                  <a:srgbClr val="8B97A8"/>
                </a:solidFill>
                <a:latin typeface="Source Han Sans CN"/>
                <a:ea typeface="Source Han Sans CN"/>
              </a:rPr>
              <a:t>访问顺序」，差分算子的搜索方向由地理代价引导</a:t>
            </a:r>
            <a:endParaRPr/>
          </a:p>
        </p:txBody>
      </p:sp>
      <p:pic>
        <p:nvPicPr>
          <p:cNvPr id="437" name="图形 436"/>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71500" y="933450"/>
            <a:ext cx="11049000" cy="2400300"/>
          </a:xfrm>
          <a:prstGeom prst="rect">
            <a:avLst/>
          </a:prstGeom>
          <a:ln/>
        </p:spPr>
      </p:pic>
      <p:sp>
        <p:nvSpPr>
          <p:cNvPr id="438" name="矩形: 圆角 437"/>
          <p:cNvSpPr/>
          <p:nvPr/>
        </p:nvSpPr>
        <p:spPr>
          <a:xfrm>
            <a:off x="571500" y="3543300"/>
            <a:ext cx="323850" cy="323850"/>
          </a:xfrm>
          <a:prstGeom prst="roundRect">
            <a:avLst>
              <a:gd name="adj" fmla="val 50000"/>
            </a:avLst>
          </a:prstGeom>
          <a:solidFill>
            <a:srgbClr val="1E4FA8"/>
          </a:solidFill>
          <a:ln/>
        </p:spPr>
        <p:txBody>
          <a:bodyPr/>
          <a:lstStyle/>
          <a:p>
            <a:endParaRPr/>
          </a:p>
        </p:txBody>
      </p:sp>
      <p:sp>
        <p:nvSpPr>
          <p:cNvPr id="439" name="文本框 438" descr="{&quot;isTemplate&quot;:true,&quot;type&quot;:&quot;text&quot;}"/>
          <p:cNvSpPr txBox="1"/>
          <p:nvPr/>
        </p:nvSpPr>
        <p:spPr>
          <a:xfrm>
            <a:off x="685800" y="360997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1</a:t>
            </a:r>
            <a:endParaRPr/>
          </a:p>
        </p:txBody>
      </p:sp>
      <p:sp>
        <p:nvSpPr>
          <p:cNvPr id="440" name="文本框 439" descr="{&quot;isTemplate&quot;:true,&quot;type&quot;:&quot;text&quot;}"/>
          <p:cNvSpPr txBox="1"/>
          <p:nvPr/>
        </p:nvSpPr>
        <p:spPr>
          <a:xfrm>
            <a:off x="990600" y="3600450"/>
            <a:ext cx="857250" cy="209550"/>
          </a:xfrm>
          <a:prstGeom prst="rect">
            <a:avLst/>
          </a:prstGeom>
        </p:spPr>
        <p:txBody>
          <a:bodyPr wrap="none" lIns="0" tIns="0" rIns="0" bIns="0"/>
          <a:lstStyle/>
          <a:p>
            <a:pPr>
              <a:lnSpc>
                <a:spcPct val="100000"/>
              </a:lnSpc>
            </a:pPr>
            <a:r>
              <a:rPr lang="zh-CN" sz="1350" b="1">
                <a:solidFill>
                  <a:srgbClr val="0E3F8C"/>
                </a:solidFill>
                <a:latin typeface="Source Han Sans CN"/>
                <a:ea typeface="Source Han Sans CN"/>
              </a:rPr>
              <a:t>首任务匹配</a:t>
            </a:r>
            <a:endParaRPr/>
          </a:p>
        </p:txBody>
      </p:sp>
      <p:sp>
        <p:nvSpPr>
          <p:cNvPr id="441" name="文本框 440" descr="{&quot;isTemplate&quot;:true,&quot;type&quot;:&quot;text&quot;}"/>
          <p:cNvSpPr txBox="1"/>
          <p:nvPr/>
        </p:nvSpPr>
        <p:spPr>
          <a:xfrm>
            <a:off x="571500" y="3943350"/>
            <a:ext cx="2667000" cy="495300"/>
          </a:xfrm>
          <a:prstGeom prst="rect">
            <a:avLst/>
          </a:prstGeom>
        </p:spPr>
        <p:txBody>
          <a:bodyPr wrap="square" lIns="0" tIns="0" rIns="114300" bIns="0">
            <a:normAutofit/>
          </a:bodyPr>
          <a:lstStyle/>
          <a:p>
            <a:pPr>
              <a:lnSpc>
                <a:spcPct val="160000"/>
              </a:lnSpc>
            </a:pPr>
            <a:r>
              <a:rPr lang="zh-CN" sz="1013">
                <a:solidFill>
                  <a:srgbClr val="4A5568"/>
                </a:solidFill>
                <a:latin typeface="Source Han Sans CN"/>
                <a:ea typeface="Source Han Sans CN"/>
              </a:rPr>
              <a:t>温度自适应</a:t>
            </a:r>
            <a:r>
              <a:rPr lang="en-US" sz="1013">
                <a:solidFill>
                  <a:srgbClr val="4A5568"/>
                </a:solidFill>
                <a:latin typeface="Source Han Sans CN"/>
                <a:ea typeface="Source Han Sans CN"/>
              </a:rPr>
              <a:t> softmax</a:t>
            </a:r>
            <a:r>
              <a:rPr lang="zh-CN" sz="1013">
                <a:solidFill>
                  <a:srgbClr val="4A5568"/>
                </a:solidFill>
                <a:latin typeface="Source Han Sans CN"/>
                <a:ea typeface="Source Han Sans CN"/>
              </a:rPr>
              <a:t>：早期较大候选集软采样保多样性，随温度衰减收敛为贪心匹配</a:t>
            </a:r>
            <a:endParaRPr/>
          </a:p>
        </p:txBody>
      </p:sp>
      <p:sp>
        <p:nvSpPr>
          <p:cNvPr id="442" name="矩形: 圆角 441"/>
          <p:cNvSpPr/>
          <p:nvPr/>
        </p:nvSpPr>
        <p:spPr>
          <a:xfrm>
            <a:off x="3362325" y="3543300"/>
            <a:ext cx="323850" cy="323850"/>
          </a:xfrm>
          <a:prstGeom prst="roundRect">
            <a:avLst>
              <a:gd name="adj" fmla="val 50000"/>
            </a:avLst>
          </a:prstGeom>
          <a:solidFill>
            <a:srgbClr val="1E4FA8"/>
          </a:solidFill>
          <a:ln/>
        </p:spPr>
        <p:txBody>
          <a:bodyPr/>
          <a:lstStyle/>
          <a:p>
            <a:endParaRPr/>
          </a:p>
        </p:txBody>
      </p:sp>
      <p:sp>
        <p:nvSpPr>
          <p:cNvPr id="443" name="文本框 442" descr="{&quot;isTemplate&quot;:true,&quot;type&quot;:&quot;text&quot;}"/>
          <p:cNvSpPr txBox="1"/>
          <p:nvPr/>
        </p:nvSpPr>
        <p:spPr>
          <a:xfrm>
            <a:off x="3476625" y="360997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2</a:t>
            </a:r>
            <a:endParaRPr/>
          </a:p>
        </p:txBody>
      </p:sp>
      <p:sp>
        <p:nvSpPr>
          <p:cNvPr id="444" name="文本框 443" descr="{&quot;isTemplate&quot;:true,&quot;type&quot;:&quot;text&quot;}"/>
          <p:cNvSpPr txBox="1"/>
          <p:nvPr/>
        </p:nvSpPr>
        <p:spPr>
          <a:xfrm>
            <a:off x="3781425" y="3600450"/>
            <a:ext cx="857250" cy="209550"/>
          </a:xfrm>
          <a:prstGeom prst="rect">
            <a:avLst/>
          </a:prstGeom>
        </p:spPr>
        <p:txBody>
          <a:bodyPr wrap="none" lIns="0" tIns="0" rIns="0" bIns="0"/>
          <a:lstStyle/>
          <a:p>
            <a:pPr>
              <a:lnSpc>
                <a:spcPct val="100000"/>
              </a:lnSpc>
            </a:pPr>
            <a:r>
              <a:rPr lang="zh-CN" sz="1350" b="1">
                <a:solidFill>
                  <a:srgbClr val="0E3F8C"/>
                </a:solidFill>
                <a:latin typeface="Source Han Sans CN"/>
                <a:ea typeface="Source Han Sans CN"/>
              </a:rPr>
              <a:t>巡游边匹配</a:t>
            </a:r>
            <a:endParaRPr/>
          </a:p>
        </p:txBody>
      </p:sp>
      <p:sp>
        <p:nvSpPr>
          <p:cNvPr id="445" name="文本框 444" descr="{&quot;isTemplate&quot;:true,&quot;type&quot;:&quot;text&quot;}"/>
          <p:cNvSpPr txBox="1"/>
          <p:nvPr/>
        </p:nvSpPr>
        <p:spPr>
          <a:xfrm>
            <a:off x="3362325" y="3943350"/>
            <a:ext cx="2543175" cy="742950"/>
          </a:xfrm>
          <a:prstGeom prst="rect">
            <a:avLst/>
          </a:prstGeom>
        </p:spPr>
        <p:txBody>
          <a:bodyPr wrap="square" lIns="0" tIns="0" rIns="114300" bIns="0">
            <a:normAutofit/>
          </a:bodyPr>
          <a:lstStyle/>
          <a:p>
            <a:pPr>
              <a:lnSpc>
                <a:spcPct val="160000"/>
              </a:lnSpc>
            </a:pPr>
            <a:r>
              <a:rPr lang="zh-CN" sz="1013">
                <a:solidFill>
                  <a:srgbClr val="4A5568"/>
                </a:solidFill>
                <a:latin typeface="Source Han Sans CN"/>
                <a:ea typeface="Source Han Sans CN"/>
              </a:rPr>
              <a:t>按迭代行替换：以已访问任务为新起点行继续匹配——访问顺序真正进入进化搜索空间</a:t>
            </a:r>
            <a:endParaRPr/>
          </a:p>
        </p:txBody>
      </p:sp>
      <p:sp>
        <p:nvSpPr>
          <p:cNvPr id="446" name="矩形: 圆角 445"/>
          <p:cNvSpPr/>
          <p:nvPr/>
        </p:nvSpPr>
        <p:spPr>
          <a:xfrm>
            <a:off x="6029325" y="3543300"/>
            <a:ext cx="323850" cy="323850"/>
          </a:xfrm>
          <a:prstGeom prst="roundRect">
            <a:avLst>
              <a:gd name="adj" fmla="val 50000"/>
            </a:avLst>
          </a:prstGeom>
          <a:solidFill>
            <a:srgbClr val="1E4FA8"/>
          </a:solidFill>
          <a:ln/>
        </p:spPr>
        <p:txBody>
          <a:bodyPr/>
          <a:lstStyle/>
          <a:p>
            <a:endParaRPr/>
          </a:p>
        </p:txBody>
      </p:sp>
      <p:sp>
        <p:nvSpPr>
          <p:cNvPr id="447" name="文本框 446" descr="{&quot;isTemplate&quot;:true,&quot;type&quot;:&quot;text&quot;}"/>
          <p:cNvSpPr txBox="1"/>
          <p:nvPr/>
        </p:nvSpPr>
        <p:spPr>
          <a:xfrm>
            <a:off x="6143625" y="360997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3</a:t>
            </a:r>
            <a:endParaRPr/>
          </a:p>
        </p:txBody>
      </p:sp>
      <p:sp>
        <p:nvSpPr>
          <p:cNvPr id="448" name="文本框 447" descr="{&quot;isTemplate&quot;:true,&quot;type&quot;:&quot;text&quot;}"/>
          <p:cNvSpPr txBox="1"/>
          <p:nvPr/>
        </p:nvSpPr>
        <p:spPr>
          <a:xfrm>
            <a:off x="6448425" y="3600450"/>
            <a:ext cx="685800" cy="209550"/>
          </a:xfrm>
          <a:prstGeom prst="rect">
            <a:avLst/>
          </a:prstGeom>
        </p:spPr>
        <p:txBody>
          <a:bodyPr wrap="none" lIns="0" tIns="0" rIns="0" bIns="0"/>
          <a:lstStyle/>
          <a:p>
            <a:pPr>
              <a:lnSpc>
                <a:spcPct val="100000"/>
              </a:lnSpc>
            </a:pPr>
            <a:r>
              <a:rPr lang="zh-CN" sz="1350" b="1">
                <a:solidFill>
                  <a:srgbClr val="0E3F8C"/>
                </a:solidFill>
                <a:latin typeface="Source Han Sans CN"/>
                <a:ea typeface="Source Han Sans CN"/>
              </a:rPr>
              <a:t>扰动增强</a:t>
            </a:r>
            <a:endParaRPr/>
          </a:p>
        </p:txBody>
      </p:sp>
      <p:sp>
        <p:nvSpPr>
          <p:cNvPr id="449" name="文本框 448" descr="{&quot;isTemplate&quot;:true,&quot;type&quot;:&quot;text&quot;}"/>
          <p:cNvSpPr txBox="1"/>
          <p:nvPr/>
        </p:nvSpPr>
        <p:spPr>
          <a:xfrm>
            <a:off x="6029325" y="3943350"/>
            <a:ext cx="2543175" cy="495300"/>
          </a:xfrm>
          <a:prstGeom prst="rect">
            <a:avLst/>
          </a:prstGeom>
        </p:spPr>
        <p:txBody>
          <a:bodyPr wrap="square" lIns="0" tIns="0" rIns="114300" bIns="0">
            <a:normAutofit/>
          </a:bodyPr>
          <a:lstStyle/>
          <a:p>
            <a:pPr>
              <a:lnSpc>
                <a:spcPct val="160000"/>
              </a:lnSpc>
            </a:pPr>
            <a:r>
              <a:rPr lang="zh-CN" sz="1013">
                <a:solidFill>
                  <a:srgbClr val="4A5568"/>
                </a:solidFill>
                <a:latin typeface="Source Han Sans CN"/>
                <a:ea typeface="Source Han Sans CN"/>
              </a:rPr>
              <a:t>匹配后辅以</a:t>
            </a:r>
            <a:r>
              <a:rPr lang="en-US" sz="1013">
                <a:solidFill>
                  <a:srgbClr val="4A5568"/>
                </a:solidFill>
                <a:latin typeface="Source Han Sans CN"/>
                <a:ea typeface="Source Han Sans CN"/>
              </a:rPr>
              <a:t> swap / insert / reverse </a:t>
            </a:r>
            <a:r>
              <a:rPr lang="zh-CN" sz="1013">
                <a:solidFill>
                  <a:srgbClr val="4A5568"/>
                </a:solidFill>
                <a:latin typeface="Source Han Sans CN"/>
                <a:ea typeface="Source Han Sans CN"/>
              </a:rPr>
              <a:t>扰动，跳出局部结构</a:t>
            </a:r>
            <a:endParaRPr/>
          </a:p>
        </p:txBody>
      </p:sp>
      <p:sp>
        <p:nvSpPr>
          <p:cNvPr id="450" name="矩形: 圆角 449"/>
          <p:cNvSpPr/>
          <p:nvPr/>
        </p:nvSpPr>
        <p:spPr>
          <a:xfrm>
            <a:off x="8696325" y="3543300"/>
            <a:ext cx="323850" cy="323850"/>
          </a:xfrm>
          <a:prstGeom prst="roundRect">
            <a:avLst>
              <a:gd name="adj" fmla="val 50000"/>
            </a:avLst>
          </a:prstGeom>
          <a:solidFill>
            <a:srgbClr val="1E4FA8"/>
          </a:solidFill>
          <a:ln/>
        </p:spPr>
        <p:txBody>
          <a:bodyPr/>
          <a:lstStyle/>
          <a:p>
            <a:endParaRPr/>
          </a:p>
        </p:txBody>
      </p:sp>
      <p:sp>
        <p:nvSpPr>
          <p:cNvPr id="451" name="文本框 450" descr="{&quot;isTemplate&quot;:true,&quot;type&quot;:&quot;text&quot;}"/>
          <p:cNvSpPr txBox="1"/>
          <p:nvPr/>
        </p:nvSpPr>
        <p:spPr>
          <a:xfrm>
            <a:off x="8810625" y="360997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4</a:t>
            </a:r>
            <a:endParaRPr/>
          </a:p>
        </p:txBody>
      </p:sp>
      <p:sp>
        <p:nvSpPr>
          <p:cNvPr id="452" name="文本框 451" descr="{&quot;isTemplate&quot;:true,&quot;type&quot;:&quot;text&quot;}"/>
          <p:cNvSpPr txBox="1"/>
          <p:nvPr/>
        </p:nvSpPr>
        <p:spPr>
          <a:xfrm>
            <a:off x="9115425" y="3600450"/>
            <a:ext cx="1028700" cy="209550"/>
          </a:xfrm>
          <a:prstGeom prst="rect">
            <a:avLst/>
          </a:prstGeom>
        </p:spPr>
        <p:txBody>
          <a:bodyPr wrap="none" lIns="0" tIns="0" rIns="0" bIns="0"/>
          <a:lstStyle/>
          <a:p>
            <a:pPr>
              <a:lnSpc>
                <a:spcPct val="100000"/>
              </a:lnSpc>
            </a:pPr>
            <a:r>
              <a:rPr lang="zh-CN" sz="1350" b="1">
                <a:solidFill>
                  <a:srgbClr val="0E3F8C"/>
                </a:solidFill>
                <a:latin typeface="Source Han Sans CN"/>
                <a:ea typeface="Source Han Sans CN"/>
              </a:rPr>
              <a:t>段结构规范化</a:t>
            </a:r>
            <a:endParaRPr/>
          </a:p>
        </p:txBody>
      </p:sp>
      <p:sp>
        <p:nvSpPr>
          <p:cNvPr id="453" name="文本框 452" descr="{&quot;isTemplate&quot;:true,&quot;type&quot;:&quot;text&quot;}"/>
          <p:cNvSpPr txBox="1"/>
          <p:nvPr/>
        </p:nvSpPr>
        <p:spPr>
          <a:xfrm>
            <a:off x="8696325" y="3943350"/>
            <a:ext cx="2543175" cy="742950"/>
          </a:xfrm>
          <a:prstGeom prst="rect">
            <a:avLst/>
          </a:prstGeom>
        </p:spPr>
        <p:txBody>
          <a:bodyPr wrap="square" lIns="0" tIns="0" rIns="114300" bIns="0">
            <a:normAutofit/>
          </a:bodyPr>
          <a:lstStyle/>
          <a:p>
            <a:pPr>
              <a:lnSpc>
                <a:spcPct val="160000"/>
              </a:lnSpc>
            </a:pPr>
            <a:r>
              <a:rPr lang="zh-CN" sz="1013">
                <a:solidFill>
                  <a:srgbClr val="4A5568"/>
                </a:solidFill>
                <a:latin typeface="Source Han Sans CN"/>
                <a:ea typeface="Source Han Sans CN"/>
              </a:rPr>
              <a:t>重建航次分段：起始基因按 UAV 升序、巡游基因紧跟其段——SRP 不变式（每任务恰一次、无终止基因）</a:t>
            </a:r>
            <a:r>
              <a:rPr lang="en-US" sz="1013">
                <a:solidFill>
                  <a:srgbClr val="4A5568"/>
                </a:solidFill>
                <a:latin typeface="Source Han Sans CN"/>
                <a:ea typeface="Source Han Sans CN"/>
              </a:rPr>
              <a:t/>
            </a:r>
            <a:r>
              <a:rPr lang="zh-CN" sz="1013">
                <a:solidFill>
                  <a:srgbClr val="4A5568"/>
                </a:solidFill>
                <a:latin typeface="Source Han Sans CN"/>
                <a:ea typeface="Source Han Sans CN"/>
              </a:rPr>
              <a:t/>
            </a:r>
            <a:r>
              <a:rPr lang="en-US" sz="1013">
                <a:solidFill>
                  <a:srgbClr val="4A5568"/>
                </a:solidFill>
                <a:latin typeface="Source Han Sans CN"/>
                <a:ea typeface="Source Han Sans CN"/>
              </a:rPr>
              <a:t/>
            </a:r>
            <a:r>
              <a:rPr lang="zh-CN" sz="1013">
                <a:solidFill>
                  <a:srgbClr val="4A5568"/>
                </a:solidFill>
                <a:latin typeface="Source Han Sans CN"/>
                <a:ea typeface="Source Han Sans CN"/>
              </a:rPr>
              <a:t/>
            </a:r>
            <a:endParaRPr/>
          </a:p>
        </p:txBody>
      </p:sp>
      <p:sp>
        <p:nvSpPr>
          <p:cNvPr id="454" name="矩形: 圆角 453"/>
          <p:cNvSpPr/>
          <p:nvPr/>
        </p:nvSpPr>
        <p:spPr>
          <a:xfrm>
            <a:off x="609600" y="4762500"/>
            <a:ext cx="5429250" cy="990600"/>
          </a:xfrm>
          <a:prstGeom prst="roundRect">
            <a:avLst>
              <a:gd name="adj" fmla="val 9615"/>
            </a:avLst>
          </a:prstGeom>
          <a:solidFill>
            <a:srgbClr val="F0F5FC"/>
          </a:solidFill>
          <a:ln/>
        </p:spPr>
        <p:txBody>
          <a:bodyPr/>
          <a:lstStyle/>
          <a:p>
            <a:endParaRPr/>
          </a:p>
        </p:txBody>
      </p:sp>
      <p:sp>
        <p:nvSpPr>
          <p:cNvPr id="455" name="任意多边形: 形状 454"/>
          <p:cNvSpPr/>
          <p:nvPr/>
        </p:nvSpPr>
        <p:spPr>
          <a:xfrm>
            <a:off x="609600" y="4762500"/>
            <a:ext cx="5429250" cy="990600"/>
          </a:xfrm>
          <a:custGeom>
            <a:avLst/>
            <a:gdLst/>
            <a:ahLst/>
            <a:cxnLst/>
            <a:rect l="0" t="0" r="0" b="0"/>
            <a:pathLst>
              <a:path w="570" h="104">
                <a:moveTo>
                  <a:pt x="9" y="0"/>
                </a:moveTo>
                <a:cubicBezTo>
                  <a:pt x="6" y="0"/>
                  <a:pt x="4" y="3"/>
                  <a:pt x="4" y="6"/>
                </a:cubicBezTo>
                <a:lnTo>
                  <a:pt x="4" y="98"/>
                </a:lnTo>
                <a:cubicBezTo>
                  <a:pt x="4" y="101"/>
                  <a:pt x="6" y="103"/>
                  <a:pt x="9" y="104"/>
                </a:cubicBezTo>
                <a:cubicBezTo>
                  <a:pt x="4" y="103"/>
                  <a:pt x="0" y="99"/>
                  <a:pt x="0" y="94"/>
                </a:cubicBezTo>
                <a:lnTo>
                  <a:pt x="0" y="10"/>
                </a:lnTo>
                <a:cubicBezTo>
                  <a:pt x="0" y="5"/>
                  <a:pt x="4" y="0"/>
                  <a:pt x="10" y="0"/>
                </a:cubicBezTo>
                <a:close/>
              </a:path>
            </a:pathLst>
          </a:custGeom>
          <a:solidFill>
            <a:srgbClr val="1E4FA8"/>
          </a:solidFill>
          <a:ln/>
        </p:spPr>
        <p:txBody>
          <a:bodyPr/>
          <a:lstStyle/>
          <a:p>
            <a:endParaRPr/>
          </a:p>
        </p:txBody>
      </p:sp>
      <p:sp>
        <p:nvSpPr>
          <p:cNvPr id="456" name="文本框 455" descr="{&quot;isTemplate&quot;:true,&quot;type&quot;:&quot;text&quot;}"/>
          <p:cNvSpPr txBox="1"/>
          <p:nvPr/>
        </p:nvSpPr>
        <p:spPr>
          <a:xfrm>
            <a:off x="781050" y="4886325"/>
            <a:ext cx="5048250" cy="180975"/>
          </a:xfrm>
          <a:prstGeom prst="rect">
            <a:avLst/>
          </a:prstGeom>
        </p:spPr>
        <p:txBody>
          <a:bodyPr wrap="none" lIns="0" tIns="0" rIns="0" bIns="0"/>
          <a:lstStyle/>
          <a:p>
            <a:pPr>
              <a:lnSpc>
                <a:spcPct val="100000"/>
              </a:lnSpc>
            </a:pPr>
            <a:r>
              <a:rPr lang="zh-CN" sz="1163" b="1">
                <a:solidFill>
                  <a:srgbClr val="0E3F8C"/>
                </a:solidFill>
                <a:latin typeface="Source Han Sans CN"/>
                <a:ea typeface="Source Han Sans CN"/>
              </a:rPr>
              <a:t>选择性</a:t>
            </a:r>
            <a:r>
              <a:rPr lang="en-US" sz="1163" b="1">
                <a:solidFill>
                  <a:srgbClr val="0E3F8C"/>
                </a:solidFill>
                <a:latin typeface="Source Han Sans CN"/>
                <a:ea typeface="Source Han Sans CN"/>
              </a:rPr>
              <a:t> y=0 </a:t>
            </a:r>
            <a:r>
              <a:rPr lang="zh-CN" sz="1163" b="1">
                <a:solidFill>
                  <a:srgbClr val="0E3F8C"/>
                </a:solidFill>
                <a:latin typeface="Source Han Sans CN"/>
                <a:ea typeface="Source Han Sans CN"/>
              </a:rPr>
              <a:t>的决策位置：不占编码维度</a:t>
            </a:r>
            <a:endParaRPr/>
          </a:p>
        </p:txBody>
      </p:sp>
      <p:sp>
        <p:nvSpPr>
          <p:cNvPr id="457" name="文本框 456" descr="{&quot;isTemplate&quot;:true,&quot;type&quot;:&quot;text&quot;}"/>
          <p:cNvSpPr txBox="1"/>
          <p:nvPr/>
        </p:nvSpPr>
        <p:spPr>
          <a:xfrm>
            <a:off x="781050" y="5114925"/>
            <a:ext cx="5048250" cy="514350"/>
          </a:xfrm>
          <a:prstGeom prst="rect">
            <a:avLst/>
          </a:prstGeom>
        </p:spPr>
        <p:txBody>
          <a:bodyPr wrap="square" lIns="0" tIns="0" rIns="0" bIns="0">
            <a:normAutofit fontScale="77500" lnSpcReduction="20000"/>
          </a:bodyPr>
          <a:lstStyle/>
          <a:p>
            <a:pPr>
              <a:lnSpc>
                <a:spcPct val="165000"/>
              </a:lnSpc>
            </a:pPr>
            <a:r>
              <a:rPr lang="en-US" sz="1013" dirty="0">
                <a:solidFill>
                  <a:srgbClr val="4A5568"/>
                </a:solidFill>
                <a:latin typeface="Source Han Sans CN"/>
                <a:ea typeface="Source Han Sans CN"/>
              </a:rPr>
              <a:t>DE 空间中每个任务都被分配，「暂不执行」不占基因维度——由解码端修复链裁量（物理不可行才移除/改派，能装必装由覆盖门禁保证），并支持「任务少时并入更少机」的合并修复 _consolidate：空闲是解码侧概念，不进基因。</a:t>
            </a:r>
            <a:r>
              <a:rPr lang="zh-CN" sz="1013" dirty="0">
                <a:solidFill>
                  <a:srgbClr val="4A5568"/>
                </a:solidFill>
                <a:latin typeface="Source Han Sans CN"/>
                <a:ea typeface="Source Han Sans CN"/>
              </a:rPr>
              <a:t/>
            </a:r>
            <a:r>
              <a:rPr lang="zh-CN" altLang="en-US" sz="1013" dirty="0">
                <a:solidFill>
                  <a:srgbClr val="4A5568"/>
                </a:solidFill>
                <a:latin typeface="Source Han Sans CN"/>
                <a:ea typeface="Source Han Sans CN"/>
              </a:rPr>
              <a:t/>
            </a:r>
            <a:r>
              <a:rPr lang="en-US" altLang="zh-CN" sz="1013" dirty="0">
                <a:solidFill>
                  <a:srgbClr val="4A5568"/>
                </a:solidFill>
                <a:latin typeface="Source Han Sans CN"/>
                <a:ea typeface="Source Han Sans CN"/>
              </a:rPr>
              <a:t/>
            </a:r>
            <a:r>
              <a:rPr lang="zh-CN" altLang="en-US" sz="1013" dirty="0">
                <a:solidFill>
                  <a:srgbClr val="4A5568"/>
                </a:solidFill>
                <a:latin typeface="Source Han Sans CN"/>
                <a:ea typeface="Source Han Sans CN"/>
              </a:rPr>
              <a:t/>
            </a:r>
            <a:r>
              <a:rPr lang="en-US" altLang="zh-CN" sz="1013" dirty="0">
                <a:solidFill>
                  <a:srgbClr val="4A5568"/>
                </a:solidFill>
                <a:latin typeface="Source Han Sans CN"/>
                <a:ea typeface="Source Han Sans CN"/>
              </a:rPr>
              <a:t/>
            </a:r>
            <a:r>
              <a:rPr lang="zh-CN" altLang="en-US" sz="1013" dirty="0">
                <a:solidFill>
                  <a:srgbClr val="4A5568"/>
                </a:solidFill>
                <a:latin typeface="Source Han Sans CN"/>
                <a:ea typeface="Source Han Sans CN"/>
              </a:rPr>
              <a:t/>
            </a:r>
            <a:r>
              <a:rPr lang="en-US" altLang="zh-CN" sz="1013" dirty="0">
                <a:solidFill>
                  <a:srgbClr val="4A5568"/>
                </a:solidFill>
                <a:latin typeface="Source Han Sans CN"/>
                <a:ea typeface="Source Han Sans CN"/>
              </a:rPr>
              <a:t/>
            </a:r>
            <a:r>
              <a:rPr lang="zh-CN" altLang="en-US" sz="1013" dirty="0">
                <a:solidFill>
                  <a:srgbClr val="4A5568"/>
                </a:solidFill>
                <a:latin typeface="Source Han Sans CN"/>
                <a:ea typeface="Source Han Sans CN"/>
              </a:rPr>
              <a:t/>
            </a:r>
            <a:r>
              <a:rPr lang="en-US" altLang="zh-CN" sz="1013" dirty="0">
                <a:solidFill>
                  <a:srgbClr val="4A5568"/>
                </a:solidFill>
                <a:latin typeface="Source Han Sans CN"/>
                <a:ea typeface="Source Han Sans CN"/>
              </a:rPr>
              <a:t/>
            </a:r>
            <a:r>
              <a:rPr lang="zh-CN" altLang="en-US" sz="1013" dirty="0">
                <a:solidFill>
                  <a:srgbClr val="4A5568"/>
                </a:solidFill>
                <a:latin typeface="Source Han Sans CN"/>
                <a:ea typeface="Source Han Sans CN"/>
              </a:rPr>
              <a:t/>
            </a:r>
            <a:endParaRPr dirty="0"/>
          </a:p>
        </p:txBody>
      </p:sp>
      <p:sp>
        <p:nvSpPr>
          <p:cNvPr id="458" name="矩形: 圆角 457"/>
          <p:cNvSpPr/>
          <p:nvPr/>
        </p:nvSpPr>
        <p:spPr>
          <a:xfrm>
            <a:off x="6229350" y="4762500"/>
            <a:ext cx="5429250" cy="990600"/>
          </a:xfrm>
          <a:prstGeom prst="roundRect">
            <a:avLst>
              <a:gd name="adj" fmla="val 9615"/>
            </a:avLst>
          </a:prstGeom>
          <a:solidFill>
            <a:srgbClr val="F0F5FC"/>
          </a:solidFill>
          <a:ln/>
        </p:spPr>
        <p:txBody>
          <a:bodyPr/>
          <a:lstStyle/>
          <a:p>
            <a:endParaRPr/>
          </a:p>
        </p:txBody>
      </p:sp>
      <p:sp>
        <p:nvSpPr>
          <p:cNvPr id="459" name="任意多边形: 形状 458"/>
          <p:cNvSpPr/>
          <p:nvPr/>
        </p:nvSpPr>
        <p:spPr>
          <a:xfrm>
            <a:off x="6229350" y="4762500"/>
            <a:ext cx="5429250" cy="990600"/>
          </a:xfrm>
          <a:custGeom>
            <a:avLst/>
            <a:gdLst/>
            <a:ahLst/>
            <a:cxnLst/>
            <a:rect l="0" t="0" r="0" b="0"/>
            <a:pathLst>
              <a:path w="570" h="104">
                <a:moveTo>
                  <a:pt x="9" y="0"/>
                </a:moveTo>
                <a:cubicBezTo>
                  <a:pt x="6" y="0"/>
                  <a:pt x="4" y="3"/>
                  <a:pt x="4" y="6"/>
                </a:cubicBezTo>
                <a:lnTo>
                  <a:pt x="4" y="98"/>
                </a:lnTo>
                <a:cubicBezTo>
                  <a:pt x="4" y="101"/>
                  <a:pt x="6" y="103"/>
                  <a:pt x="9" y="104"/>
                </a:cubicBezTo>
                <a:cubicBezTo>
                  <a:pt x="4" y="103"/>
                  <a:pt x="0" y="99"/>
                  <a:pt x="0" y="94"/>
                </a:cubicBezTo>
                <a:lnTo>
                  <a:pt x="0" y="10"/>
                </a:lnTo>
                <a:cubicBezTo>
                  <a:pt x="0" y="5"/>
                  <a:pt x="4" y="0"/>
                  <a:pt x="10" y="0"/>
                </a:cubicBezTo>
                <a:close/>
              </a:path>
            </a:pathLst>
          </a:custGeom>
          <a:solidFill>
            <a:srgbClr val="0E3F8C"/>
          </a:solidFill>
          <a:ln/>
        </p:spPr>
        <p:txBody>
          <a:bodyPr/>
          <a:lstStyle/>
          <a:p>
            <a:endParaRPr/>
          </a:p>
        </p:txBody>
      </p:sp>
      <p:sp>
        <p:nvSpPr>
          <p:cNvPr id="460" name="文本框 459" descr="{&quot;isTemplate&quot;:true,&quot;type&quot;:&quot;text&quot;}"/>
          <p:cNvSpPr txBox="1"/>
          <p:nvPr/>
        </p:nvSpPr>
        <p:spPr>
          <a:xfrm>
            <a:off x="6400800" y="4886325"/>
            <a:ext cx="5048250" cy="180975"/>
          </a:xfrm>
          <a:prstGeom prst="rect">
            <a:avLst/>
          </a:prstGeom>
        </p:spPr>
        <p:txBody>
          <a:bodyPr wrap="none" lIns="0" tIns="0" rIns="0" bIns="0"/>
          <a:lstStyle/>
          <a:p>
            <a:pPr>
              <a:lnSpc>
                <a:spcPct val="100000"/>
              </a:lnSpc>
            </a:pPr>
            <a:r>
              <a:rPr lang="en-US" sz="1163" b="1">
                <a:solidFill>
                  <a:srgbClr val="0E3F8C"/>
                </a:solidFill>
                <a:latin typeface="Source Han Sans CN"/>
                <a:ea typeface="Source Han Sans CN"/>
              </a:rPr>
              <a:t>Lamarckian </a:t>
            </a:r>
            <a:r>
              <a:rPr lang="zh-CN" sz="1163" b="1">
                <a:solidFill>
                  <a:srgbClr val="0E3F8C"/>
                </a:solidFill>
                <a:latin typeface="Source Han Sans CN"/>
                <a:ea typeface="Source Han Sans CN"/>
              </a:rPr>
              <a:t>回写：只回写起始基因</a:t>
            </a:r>
            <a:endParaRPr/>
          </a:p>
        </p:txBody>
      </p:sp>
      <p:sp>
        <p:nvSpPr>
          <p:cNvPr id="461" name="文本框 460" descr="{&quot;isTemplate&quot;:true,&quot;type&quot;:&quot;text&quot;}"/>
          <p:cNvSpPr txBox="1"/>
          <p:nvPr/>
        </p:nvSpPr>
        <p:spPr>
          <a:xfrm>
            <a:off x="6400800" y="5114925"/>
            <a:ext cx="5048250" cy="514350"/>
          </a:xfrm>
          <a:prstGeom prst="rect">
            <a:avLst/>
          </a:prstGeom>
        </p:spPr>
        <p:txBody>
          <a:bodyPr wrap="square" lIns="0" tIns="0" rIns="0" bIns="0">
            <a:normAutofit/>
          </a:bodyPr>
          <a:lstStyle/>
          <a:p>
            <a:pPr>
              <a:lnSpc>
                <a:spcPct val="165000"/>
              </a:lnSpc>
            </a:pPr>
            <a:r>
              <a:rPr lang="zh-CN" sz="1013">
                <a:solidFill>
                  <a:srgbClr val="4A5568"/>
                </a:solidFill>
                <a:latin typeface="Source Han Sans CN"/>
                <a:ea typeface="Source Han Sans CN"/>
              </a:rPr>
              <a:t>修复解只把首任务写回获胜个体的起始基因，巡游基因原样保留、绝不增删——基因长度恒定，这是「每任务恰出现一次」不变式下可安全落地的关键。</a:t>
            </a:r>
            <a:endParaRPr/>
          </a:p>
        </p:txBody>
      </p:sp>
      <p:sp>
        <p:nvSpPr>
          <p:cNvPr id="462" name="矩形 461"/>
          <p:cNvSpPr/>
          <p:nvPr/>
        </p:nvSpPr>
        <p:spPr>
          <a:xfrm>
            <a:off x="0" y="6448425"/>
            <a:ext cx="12192000" cy="409575"/>
          </a:xfrm>
          <a:prstGeom prst="rect">
            <a:avLst/>
          </a:prstGeom>
          <a:solidFill>
            <a:srgbClr val="F7F9FC"/>
          </a:solidFill>
          <a:ln/>
        </p:spPr>
        <p:txBody>
          <a:bodyPr/>
          <a:lstStyle/>
          <a:p>
            <a:endParaRPr/>
          </a:p>
        </p:txBody>
      </p:sp>
      <p:sp>
        <p:nvSpPr>
          <p:cNvPr id="463" name="任意多边形: 形状 462"/>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464" name="文本框 463"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465" name="文本框 464"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10 / 16</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矩形 56"/>
          <p:cNvSpPr/>
          <p:nvPr/>
        </p:nvSpPr>
        <p:spPr>
          <a:xfrm>
            <a:off x="0" y="0"/>
            <a:ext cx="12192000" cy="6858000"/>
          </a:xfrm>
          <a:prstGeom prst="rect">
            <a:avLst/>
          </a:prstGeom>
          <a:solidFill>
            <a:srgbClr val="FFFFFF"/>
          </a:solidFill>
          <a:ln/>
        </p:spPr>
        <p:txBody>
          <a:bodyPr/>
          <a:lstStyle/>
          <a:p>
            <a:endParaRPr/>
          </a:p>
        </p:txBody>
      </p:sp>
      <p:sp>
        <p:nvSpPr>
          <p:cNvPr id="23" name="矩形 57"/>
          <p:cNvSpPr/>
          <p:nvPr/>
        </p:nvSpPr>
        <p:spPr>
          <a:xfrm>
            <a:off x="0" y="0"/>
            <a:ext cx="12192000" cy="114300"/>
          </a:xfrm>
          <a:prstGeom prst="rect">
            <a:avLst/>
          </a:prstGeom>
          <a:solidFill>
            <a:srgbClr val="1E4FA8"/>
          </a:solidFill>
          <a:ln/>
        </p:spPr>
        <p:txBody>
          <a:bodyPr/>
          <a:lstStyle/>
          <a:p>
            <a:endParaRPr/>
          </a:p>
        </p:txBody>
      </p:sp>
      <p:sp>
        <p:nvSpPr>
          <p:cNvPr id="24" name="文本框 58" descr="{&quot;isTemplate&quot;:true,&quot;type&quot;:&quot;text&quot;}"/>
          <p:cNvSpPr txBox="1"/>
          <p:nvPr/>
        </p:nvSpPr>
        <p:spPr>
          <a:xfrm>
            <a:off x="7734300" y="1238250"/>
            <a:ext cx="3886200" cy="3771900"/>
          </a:xfrm>
          <a:prstGeom prst="rect">
            <a:avLst/>
          </a:prstGeom>
        </p:spPr>
        <p:txBody>
          <a:bodyPr wrap="none" lIns="0" tIns="0" rIns="0" bIns="0"/>
          <a:lstStyle/>
          <a:p>
            <a:pPr>
              <a:lnSpc>
                <a:spcPct val="100000"/>
              </a:lnSpc>
            </a:pPr>
            <a:r>
              <a:rPr lang="en-US" sz="24750" b="1">
                <a:solidFill>
                  <a:srgbClr val="E8EFF8"/>
                </a:solidFill>
                <a:latin typeface="Source Han Sans CN"/>
                <a:ea typeface="Source Han Sans CN"/>
              </a:rPr>
              <a:t>04</a:t>
            </a:r>
            <a:endParaRPr/>
          </a:p>
        </p:txBody>
      </p:sp>
      <p:sp>
        <p:nvSpPr>
          <p:cNvPr id="25" name="矩形 59"/>
          <p:cNvSpPr/>
          <p:nvPr/>
        </p:nvSpPr>
        <p:spPr>
          <a:xfrm>
            <a:off x="762000" y="1990725"/>
            <a:ext cx="381000" cy="38100"/>
          </a:xfrm>
          <a:prstGeom prst="rect">
            <a:avLst/>
          </a:prstGeom>
          <a:solidFill>
            <a:srgbClr val="FFC107"/>
          </a:solidFill>
          <a:ln/>
        </p:spPr>
        <p:txBody>
          <a:bodyPr/>
          <a:lstStyle/>
          <a:p>
            <a:endParaRPr/>
          </a:p>
        </p:txBody>
      </p:sp>
      <p:sp>
        <p:nvSpPr>
          <p:cNvPr id="26" name="文本框 60" descr="{&quot;isTemplate&quot;:true,&quot;type&quot;:&quot;text&quot;}"/>
          <p:cNvSpPr txBox="1"/>
          <p:nvPr/>
        </p:nvSpPr>
        <p:spPr>
          <a:xfrm>
            <a:off x="1276350" y="1905000"/>
            <a:ext cx="1457325" cy="200025"/>
          </a:xfrm>
          <a:prstGeom prst="rect">
            <a:avLst/>
          </a:prstGeom>
        </p:spPr>
        <p:txBody>
          <a:bodyPr wrap="none" lIns="0" tIns="0" rIns="0" bIns="0"/>
          <a:lstStyle/>
          <a:p>
            <a:pPr>
              <a:lnSpc>
                <a:spcPct val="100000"/>
              </a:lnSpc>
            </a:pPr>
            <a:r>
              <a:rPr lang="en-US" sz="1275" spc="375">
                <a:solidFill>
                  <a:srgbClr val="3D7BD9"/>
                </a:solidFill>
                <a:latin typeface="Source Han Sans CN"/>
                <a:ea typeface="Source Han Sans CN"/>
              </a:rPr>
              <a:t>CHAPTER 04</a:t>
            </a:r>
            <a:endParaRPr/>
          </a:p>
        </p:txBody>
      </p:sp>
      <p:sp>
        <p:nvSpPr>
          <p:cNvPr id="27" name="文本框 61" descr="{&quot;isTemplate&quot;:true,&quot;type&quot;:&quot;text&quot;}"/>
          <p:cNvSpPr txBox="1"/>
          <p:nvPr/>
        </p:nvSpPr>
        <p:spPr>
          <a:xfrm>
            <a:off x="762000" y="2276475"/>
            <a:ext cx="7239000" cy="504825"/>
          </a:xfrm>
          <a:prstGeom prst="rect">
            <a:avLst/>
          </a:prstGeom>
        </p:spPr>
        <p:txBody>
          <a:bodyPr wrap="none" lIns="0" tIns="0" rIns="0" bIns="0"/>
          <a:lstStyle/>
          <a:p>
            <a:pPr>
              <a:lnSpc>
                <a:spcPct val="100000"/>
              </a:lnSpc>
            </a:pPr>
            <a:r>
              <a:rPr lang="zh-CN" sz="3300" b="1">
                <a:solidFill>
                  <a:srgbClr val="0E3F8C"/>
                </a:solidFill>
                <a:latin typeface="Source Han Sans CN"/>
                <a:ea typeface="Source Han Sans CN"/>
              </a:rPr>
              <a:t>实验验证与下一步</a:t>
            </a:r>
            <a:endParaRPr/>
          </a:p>
        </p:txBody>
      </p:sp>
      <p:sp>
        <p:nvSpPr>
          <p:cNvPr id="28" name="矩形: 圆角 62"/>
          <p:cNvSpPr/>
          <p:nvPr/>
        </p:nvSpPr>
        <p:spPr>
          <a:xfrm>
            <a:off x="762000" y="3209925"/>
            <a:ext cx="76200" cy="76200"/>
          </a:xfrm>
          <a:prstGeom prst="roundRect">
            <a:avLst>
              <a:gd name="adj" fmla="val 50000"/>
            </a:avLst>
          </a:prstGeom>
          <a:solidFill>
            <a:srgbClr val="1E4FA8"/>
          </a:solidFill>
          <a:ln/>
        </p:spPr>
        <p:txBody>
          <a:bodyPr/>
          <a:lstStyle/>
          <a:p>
            <a:endParaRPr/>
          </a:p>
        </p:txBody>
      </p:sp>
      <p:sp>
        <p:nvSpPr>
          <p:cNvPr id="29" name="文本框 63" descr="{&quot;isTemplate&quot;:true,&quot;type&quot;:&quot;text&quot;}"/>
          <p:cNvSpPr txBox="1"/>
          <p:nvPr/>
        </p:nvSpPr>
        <p:spPr>
          <a:xfrm>
            <a:off x="952500" y="3105150"/>
            <a:ext cx="7048500" cy="371475"/>
          </a:xfrm>
          <a:prstGeom prst="rect">
            <a:avLst/>
          </a:prstGeom>
        </p:spPr>
        <p:txBody>
          <a:bodyPr wrap="none" lIns="0" tIns="0" rIns="0" bIns="0"/>
          <a:lstStyle/>
          <a:p>
            <a:pPr>
              <a:lnSpc>
                <a:spcPct val="170000"/>
              </a:lnSpc>
            </a:pPr>
            <a:r>
              <a:rPr lang="en-US" sz="1425">
                <a:solidFill>
                  <a:srgbClr val="1A2230"/>
                </a:solidFill>
                <a:latin typeface="Source Han Sans CN"/>
                <a:ea typeface="Source Han Sans CN"/>
              </a:rPr>
              <a:t>exp01 </a:t>
            </a:r>
            <a:r>
              <a:rPr lang="zh-CN" sz="1425">
                <a:solidFill>
                  <a:srgbClr val="1A2230"/>
                </a:solidFill>
                <a:latin typeface="Source Han Sans CN"/>
                <a:ea typeface="Source Han Sans CN"/>
              </a:rPr>
              <a:t>多</a:t>
            </a:r>
            <a:r>
              <a:rPr lang="en-US" sz="1425">
                <a:solidFill>
                  <a:srgbClr val="1A2230"/>
                </a:solidFill>
                <a:latin typeface="Source Han Sans CN"/>
                <a:ea typeface="Source Han Sans CN"/>
              </a:rPr>
              <a:t> seed </a:t>
            </a:r>
            <a:r>
              <a:rPr lang="zh-CN" sz="1425">
                <a:solidFill>
                  <a:srgbClr val="1A2230"/>
                </a:solidFill>
                <a:latin typeface="Source Han Sans CN"/>
                <a:ea typeface="Source Han Sans CN"/>
              </a:rPr>
              <a:t>阶梯：改进方向</a:t>
            </a:r>
            <a:r>
              <a:rPr lang="en-US" sz="1425">
                <a:solidFill>
                  <a:srgbClr val="1A2230"/>
                </a:solidFill>
                <a:latin typeface="Source Han Sans CN"/>
                <a:ea typeface="Source Han Sans CN"/>
              </a:rPr>
              <a:t> </a:t>
            </a:r>
            <a:r>
              <a:rPr lang="en-US" sz="1425" b="1">
                <a:solidFill>
                  <a:srgbClr val="1A2230"/>
                </a:solidFill>
                <a:latin typeface="Source Han Sans CN"/>
                <a:ea typeface="Source Han Sans CN"/>
              </a:rPr>
              <a:t>3/3 seed </a:t>
            </a:r>
            <a:r>
              <a:rPr lang="zh-CN" sz="1425" b="1">
                <a:solidFill>
                  <a:srgbClr val="1A2230"/>
                </a:solidFill>
                <a:latin typeface="Source Han Sans CN"/>
                <a:ea typeface="Source Han Sans CN"/>
              </a:rPr>
              <a:t>一致</a:t>
            </a:r>
            <a:r>
              <a:rPr lang="zh-CN" sz="1425">
                <a:solidFill>
                  <a:srgbClr val="1A2230"/>
                </a:solidFill>
                <a:latin typeface="Source Han Sans CN"/>
                <a:ea typeface="Source Han Sans CN"/>
              </a:rPr>
              <a:t>、可逐位复现，幅度</a:t>
            </a:r>
            <a:r>
              <a:rPr lang="en-US" sz="1425">
                <a:solidFill>
                  <a:srgbClr val="1A2230"/>
                </a:solidFill>
                <a:latin typeface="Source Han Sans CN"/>
                <a:ea typeface="Source Han Sans CN"/>
              </a:rPr>
              <a:t> seed-dependent</a:t>
            </a:r>
            <a:endParaRPr/>
          </a:p>
        </p:txBody>
      </p:sp>
      <p:sp>
        <p:nvSpPr>
          <p:cNvPr id="30" name="矩形: 圆角 64"/>
          <p:cNvSpPr/>
          <p:nvPr/>
        </p:nvSpPr>
        <p:spPr>
          <a:xfrm>
            <a:off x="762000" y="3752850"/>
            <a:ext cx="76200" cy="76200"/>
          </a:xfrm>
          <a:prstGeom prst="roundRect">
            <a:avLst>
              <a:gd name="adj" fmla="val 50000"/>
            </a:avLst>
          </a:prstGeom>
          <a:solidFill>
            <a:srgbClr val="1E4FA8"/>
          </a:solidFill>
          <a:ln/>
        </p:spPr>
        <p:txBody>
          <a:bodyPr/>
          <a:lstStyle/>
          <a:p>
            <a:endParaRPr/>
          </a:p>
        </p:txBody>
      </p:sp>
      <p:sp>
        <p:nvSpPr>
          <p:cNvPr id="31" name="文本框 65" descr="{&quot;isTemplate&quot;:true,&quot;type&quot;:&quot;text&quot;}"/>
          <p:cNvSpPr txBox="1"/>
          <p:nvPr/>
        </p:nvSpPr>
        <p:spPr>
          <a:xfrm>
            <a:off x="952500" y="3648075"/>
            <a:ext cx="7048500" cy="371475"/>
          </a:xfrm>
          <a:prstGeom prst="rect">
            <a:avLst/>
          </a:prstGeom>
        </p:spPr>
        <p:txBody>
          <a:bodyPr wrap="none" lIns="0" tIns="0" rIns="0" bIns="0"/>
          <a:lstStyle/>
          <a:p>
            <a:pPr>
              <a:lnSpc>
                <a:spcPct val="170000"/>
              </a:lnSpc>
            </a:pPr>
            <a:r>
              <a:rPr lang="en-US" sz="1425">
                <a:solidFill>
                  <a:srgbClr val="1A2230"/>
                </a:solidFill>
                <a:latin typeface="Source Han Sans CN"/>
                <a:ea typeface="Source Han Sans CN"/>
              </a:rPr>
              <a:t>exp02 </a:t>
            </a:r>
            <a:r>
              <a:rPr lang="zh-CN" sz="1425">
                <a:solidFill>
                  <a:srgbClr val="1A2230"/>
                </a:solidFill>
                <a:latin typeface="Source Han Sans CN"/>
                <a:ea typeface="Source Han Sans CN"/>
              </a:rPr>
              <a:t>规模标定：</a:t>
            </a:r>
            <a:r>
              <a:rPr lang="zh-CN" sz="1425" b="1">
                <a:solidFill>
                  <a:srgbClr val="1A2230"/>
                </a:solidFill>
                <a:latin typeface="Source Han Sans CN"/>
                <a:ea typeface="Source Han Sans CN"/>
              </a:rPr>
              <a:t>求解规模与任务规模</a:t>
            </a:r>
            <a:r>
              <a:rPr lang="en-US" sz="1425" b="1">
                <a:solidFill>
                  <a:srgbClr val="1A2230"/>
                </a:solidFill>
                <a:latin typeface="Source Han Sans CN"/>
                <a:ea typeface="Source Han Sans CN"/>
              </a:rPr>
              <a:t> N </a:t>
            </a:r>
            <a:r>
              <a:rPr lang="zh-CN" sz="1425" b="1">
                <a:solidFill>
                  <a:srgbClr val="1A2230"/>
                </a:solidFill>
                <a:latin typeface="Source Han Sans CN"/>
                <a:ea typeface="Source Han Sans CN"/>
              </a:rPr>
              <a:t>解耦</a:t>
            </a:r>
            <a:r>
              <a:rPr lang="zh-CN" sz="1425">
                <a:solidFill>
                  <a:srgbClr val="1A2230"/>
                </a:solidFill>
                <a:latin typeface="Source Han Sans CN"/>
                <a:ea typeface="Source Han Sans CN"/>
              </a:rPr>
              <a:t>，瓶颈定位到选择名额而非候选比例</a:t>
            </a:r>
            <a:endParaRPr/>
          </a:p>
        </p:txBody>
      </p:sp>
      <p:sp>
        <p:nvSpPr>
          <p:cNvPr id="32" name="文本框 66" descr="{&quot;isTemplate&quot;:true,&quot;type&quot;:&quot;text&quot;}"/>
          <p:cNvSpPr txBox="1"/>
          <p:nvPr/>
        </p:nvSpPr>
        <p:spPr>
          <a:xfrm>
            <a:off x="762000" y="4305300"/>
            <a:ext cx="7239000" cy="666750"/>
          </a:xfrm>
          <a:prstGeom prst="rect">
            <a:avLst/>
          </a:prstGeom>
        </p:spPr>
        <p:txBody>
          <a:bodyPr wrap="square" lIns="0" tIns="0" rIns="0" bIns="0">
            <a:normAutofit/>
          </a:bodyPr>
          <a:lstStyle/>
          <a:p>
            <a:pPr>
              <a:lnSpc>
                <a:spcPct val="180000"/>
              </a:lnSpc>
            </a:pPr>
            <a:r>
              <a:rPr lang="zh-CN" sz="1200">
                <a:solidFill>
                  <a:srgbClr val="4A5568"/>
                </a:solidFill>
                <a:latin typeface="Source Han Sans CN"/>
                <a:ea typeface="Source Han Sans CN"/>
              </a:rPr>
              <a:t>评估口径：长程滚动</a:t>
            </a:r>
            <a:r>
              <a:rPr lang="en-US" sz="1200">
                <a:solidFill>
                  <a:srgbClr val="4A5568"/>
                </a:solidFill>
                <a:latin typeface="Source Han Sans CN"/>
                <a:ea typeface="Source Han Sans CN"/>
              </a:rPr>
              <a:t> 24 </a:t>
            </a:r>
            <a:r>
              <a:rPr lang="zh-CN" sz="1200">
                <a:solidFill>
                  <a:srgbClr val="4A5568"/>
                </a:solidFill>
                <a:latin typeface="Source Han Sans CN"/>
                <a:ea typeface="Source Han Sans CN"/>
              </a:rPr>
              <a:t>周期、</a:t>
            </a:r>
            <a:r>
              <a:rPr lang="en-US" sz="1200">
                <a:solidFill>
                  <a:srgbClr val="4A5568"/>
                </a:solidFill>
                <a:latin typeface="Source Han Sans CN"/>
                <a:ea typeface="Source Han Sans CN"/>
              </a:rPr>
              <a:t>Poisson λ=5 </a:t>
            </a:r>
            <a:r>
              <a:rPr lang="zh-CN" sz="1200">
                <a:solidFill>
                  <a:srgbClr val="4A5568"/>
                </a:solidFill>
                <a:latin typeface="Source Han Sans CN"/>
                <a:ea typeface="Source Han Sans CN"/>
              </a:rPr>
              <a:t>到达；「任务不被完成只有物理约束被违反」——完成只认物理约束，迟到折价而非废飞。所有数字来自实验</a:t>
            </a:r>
            <a:r>
              <a:rPr lang="en-US" sz="1200">
                <a:solidFill>
                  <a:srgbClr val="4A5568"/>
                </a:solidFill>
                <a:latin typeface="Source Han Sans CN"/>
                <a:ea typeface="Source Han Sans CN"/>
              </a:rPr>
              <a:t> metrics </a:t>
            </a:r>
            <a:r>
              <a:rPr lang="zh-CN" sz="1200">
                <a:solidFill>
                  <a:srgbClr val="4A5568"/>
                </a:solidFill>
                <a:latin typeface="Source Han Sans CN"/>
                <a:ea typeface="Source Han Sans CN"/>
              </a:rPr>
              <a:t>原始记录。</a:t>
            </a:r>
            <a:endParaRPr/>
          </a:p>
        </p:txBody>
      </p:sp>
      <p:sp>
        <p:nvSpPr>
          <p:cNvPr id="33" name="矩形: 圆角 67"/>
          <p:cNvSpPr/>
          <p:nvPr/>
        </p:nvSpPr>
        <p:spPr>
          <a:xfrm>
            <a:off x="762000" y="5200650"/>
            <a:ext cx="1104900" cy="295275"/>
          </a:xfrm>
          <a:prstGeom prst="roundRect">
            <a:avLst>
              <a:gd name="adj" fmla="val 19355"/>
            </a:avLst>
          </a:prstGeom>
          <a:solidFill>
            <a:srgbClr val="1E4FA8"/>
          </a:solidFill>
          <a:ln/>
        </p:spPr>
        <p:txBody>
          <a:bodyPr/>
          <a:lstStyle/>
          <a:p>
            <a:endParaRPr/>
          </a:p>
        </p:txBody>
      </p:sp>
      <p:sp>
        <p:nvSpPr>
          <p:cNvPr id="34" name="文本框 68" descr="{&quot;isTemplate&quot;:true,&quot;type&quot;:&quot;text&quot;}"/>
          <p:cNvSpPr txBox="1"/>
          <p:nvPr/>
        </p:nvSpPr>
        <p:spPr>
          <a:xfrm>
            <a:off x="914400" y="5267325"/>
            <a:ext cx="800100"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P12 · exp01</a:t>
            </a:r>
            <a:endParaRPr/>
          </a:p>
        </p:txBody>
      </p:sp>
      <p:sp>
        <p:nvSpPr>
          <p:cNvPr id="35" name="矩形: 圆角 69"/>
          <p:cNvSpPr/>
          <p:nvPr/>
        </p:nvSpPr>
        <p:spPr>
          <a:xfrm>
            <a:off x="1981200" y="5200650"/>
            <a:ext cx="1104900" cy="295275"/>
          </a:xfrm>
          <a:prstGeom prst="roundRect">
            <a:avLst>
              <a:gd name="adj" fmla="val 19355"/>
            </a:avLst>
          </a:prstGeom>
          <a:solidFill>
            <a:srgbClr val="1E4FA8"/>
          </a:solidFill>
          <a:ln/>
        </p:spPr>
        <p:txBody>
          <a:bodyPr/>
          <a:lstStyle/>
          <a:p>
            <a:endParaRPr/>
          </a:p>
        </p:txBody>
      </p:sp>
      <p:sp>
        <p:nvSpPr>
          <p:cNvPr id="36" name="文本框 70" descr="{&quot;isTemplate&quot;:true,&quot;type&quot;:&quot;text&quot;}"/>
          <p:cNvSpPr txBox="1"/>
          <p:nvPr/>
        </p:nvSpPr>
        <p:spPr>
          <a:xfrm>
            <a:off x="2133600" y="5267325"/>
            <a:ext cx="800100"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P13 · exp02</a:t>
            </a:r>
            <a:endParaRPr/>
          </a:p>
        </p:txBody>
      </p:sp>
      <p:sp>
        <p:nvSpPr>
          <p:cNvPr id="37" name="矩形: 圆角 71"/>
          <p:cNvSpPr/>
          <p:nvPr/>
        </p:nvSpPr>
        <p:spPr>
          <a:xfrm>
            <a:off x="3200400" y="5200650"/>
            <a:ext cx="1228725" cy="295275"/>
          </a:xfrm>
          <a:prstGeom prst="roundRect">
            <a:avLst>
              <a:gd name="adj" fmla="val 19355"/>
            </a:avLst>
          </a:prstGeom>
          <a:solidFill>
            <a:srgbClr val="1E4FA8"/>
          </a:solidFill>
          <a:ln/>
        </p:spPr>
        <p:txBody>
          <a:bodyPr/>
          <a:lstStyle/>
          <a:p>
            <a:endParaRPr/>
          </a:p>
        </p:txBody>
      </p:sp>
      <p:sp>
        <p:nvSpPr>
          <p:cNvPr id="38" name="文本框 72" descr="{&quot;isTemplate&quot;:true,&quot;type&quot;:&quot;text&quot;}"/>
          <p:cNvSpPr txBox="1"/>
          <p:nvPr/>
        </p:nvSpPr>
        <p:spPr>
          <a:xfrm>
            <a:off x="3352800" y="5267325"/>
            <a:ext cx="923925"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P14 · </a:t>
            </a:r>
            <a:r>
              <a:rPr lang="zh-CN" sz="1050" b="1">
                <a:solidFill>
                  <a:srgbClr val="FFFFFF"/>
                </a:solidFill>
                <a:latin typeface="Source Han Sans CN"/>
                <a:ea typeface="Source Han Sans CN"/>
              </a:rPr>
              <a:t>性能瓶颈</a:t>
            </a:r>
            <a:endParaRPr/>
          </a:p>
        </p:txBody>
      </p:sp>
      <p:sp>
        <p:nvSpPr>
          <p:cNvPr id="39" name="矩形: 圆角 73"/>
          <p:cNvSpPr/>
          <p:nvPr/>
        </p:nvSpPr>
        <p:spPr>
          <a:xfrm>
            <a:off x="4543425" y="5200650"/>
            <a:ext cx="1362075" cy="295275"/>
          </a:xfrm>
          <a:prstGeom prst="roundRect">
            <a:avLst>
              <a:gd name="adj" fmla="val 19355"/>
            </a:avLst>
          </a:prstGeom>
          <a:solidFill>
            <a:srgbClr val="1E4FA8"/>
          </a:solidFill>
          <a:ln/>
        </p:spPr>
        <p:txBody>
          <a:bodyPr/>
          <a:lstStyle/>
          <a:p>
            <a:endParaRPr/>
          </a:p>
        </p:txBody>
      </p:sp>
      <p:sp>
        <p:nvSpPr>
          <p:cNvPr id="40" name="文本框 74" descr="{&quot;isTemplate&quot;:true,&quot;type&quot;:&quot;text&quot;}"/>
          <p:cNvSpPr txBox="1"/>
          <p:nvPr/>
        </p:nvSpPr>
        <p:spPr>
          <a:xfrm>
            <a:off x="4695825" y="5267325"/>
            <a:ext cx="1057275"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P15 · </a:t>
            </a:r>
            <a:r>
              <a:rPr lang="zh-CN" sz="1050" b="1">
                <a:solidFill>
                  <a:srgbClr val="FFFFFF"/>
                </a:solidFill>
                <a:latin typeface="Source Han Sans CN"/>
                <a:ea typeface="Source Han Sans CN"/>
              </a:rPr>
              <a:t>边界与计划</a:t>
            </a:r>
            <a:endParaRPr/>
          </a:p>
        </p:txBody>
      </p:sp>
      <p:sp>
        <p:nvSpPr>
          <p:cNvPr id="41" name="矩形: 圆角 75"/>
          <p:cNvSpPr/>
          <p:nvPr/>
        </p:nvSpPr>
        <p:spPr>
          <a:xfrm>
            <a:off x="9763125" y="4572000"/>
            <a:ext cx="1666875"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42" name="文本框 76" descr="{&quot;isTemplate&quot;:true,&quot;type&quot;:&quot;text&quot;}"/>
          <p:cNvSpPr txBox="1"/>
          <p:nvPr/>
        </p:nvSpPr>
        <p:spPr>
          <a:xfrm>
            <a:off x="9934575" y="4648200"/>
            <a:ext cx="1323975"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按时率</a:t>
            </a:r>
            <a:r>
              <a:rPr lang="en-US" sz="1125" b="1">
                <a:solidFill>
                  <a:srgbClr val="1E4FA8"/>
                </a:solidFill>
                <a:latin typeface="Source Han Sans CN"/>
                <a:ea typeface="Source Han Sans CN"/>
              </a:rPr>
              <a:t> 93.3% ± 3.6</a:t>
            </a:r>
            <a:endParaRPr/>
          </a:p>
        </p:txBody>
      </p:sp>
      <p:sp>
        <p:nvSpPr>
          <p:cNvPr id="43" name="矩形: 圆角 77"/>
          <p:cNvSpPr/>
          <p:nvPr/>
        </p:nvSpPr>
        <p:spPr>
          <a:xfrm>
            <a:off x="9772650" y="5010150"/>
            <a:ext cx="1657350"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44" name="文本框 78" descr="{&quot;isTemplate&quot;:true,&quot;type&quot;:&quot;text&quot;}"/>
          <p:cNvSpPr txBox="1"/>
          <p:nvPr/>
        </p:nvSpPr>
        <p:spPr>
          <a:xfrm>
            <a:off x="9944100" y="5086350"/>
            <a:ext cx="1314450"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完成</a:t>
            </a:r>
            <a:r>
              <a:rPr lang="en-US" sz="1125" b="1">
                <a:solidFill>
                  <a:srgbClr val="1E4FA8"/>
                </a:solidFill>
                <a:latin typeface="Source Han Sans CN"/>
                <a:ea typeface="Source Han Sans CN"/>
              </a:rPr>
              <a:t> 60/60 · </a:t>
            </a:r>
            <a:r>
              <a:rPr lang="zh-CN" sz="1125" b="1">
                <a:solidFill>
                  <a:srgbClr val="1E4FA8"/>
                </a:solidFill>
                <a:latin typeface="Source Han Sans CN"/>
                <a:ea typeface="Source Han Sans CN"/>
              </a:rPr>
              <a:t>废飞</a:t>
            </a:r>
            <a:r>
              <a:rPr lang="en-US" sz="1125" b="1">
                <a:solidFill>
                  <a:srgbClr val="1E4FA8"/>
                </a:solidFill>
                <a:latin typeface="Source Han Sans CN"/>
                <a:ea typeface="Source Han Sans CN"/>
              </a:rPr>
              <a:t> 0</a:t>
            </a:r>
            <a:endParaRPr/>
          </a:p>
        </p:txBody>
      </p:sp>
      <p:sp>
        <p:nvSpPr>
          <p:cNvPr id="45" name="矩形: 圆角 79"/>
          <p:cNvSpPr/>
          <p:nvPr/>
        </p:nvSpPr>
        <p:spPr>
          <a:xfrm>
            <a:off x="9877425" y="5448300"/>
            <a:ext cx="1552575"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46" name="文本框 80" descr="{&quot;isTemplate&quot;:true,&quot;type&quot;:&quot;text&quot;}"/>
          <p:cNvSpPr txBox="1"/>
          <p:nvPr/>
        </p:nvSpPr>
        <p:spPr>
          <a:xfrm>
            <a:off x="10048875" y="5524500"/>
            <a:ext cx="1209675"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求解规模与</a:t>
            </a:r>
            <a:r>
              <a:rPr lang="en-US" sz="1125" b="1">
                <a:solidFill>
                  <a:srgbClr val="1E4FA8"/>
                </a:solidFill>
                <a:latin typeface="Source Han Sans CN"/>
                <a:ea typeface="Source Han Sans CN"/>
              </a:rPr>
              <a:t> N </a:t>
            </a:r>
            <a:r>
              <a:rPr lang="zh-CN" sz="1125" b="1">
                <a:solidFill>
                  <a:srgbClr val="1E4FA8"/>
                </a:solidFill>
                <a:latin typeface="Source Han Sans CN"/>
                <a:ea typeface="Source Han Sans CN"/>
              </a:rPr>
              <a:t>解耦</a:t>
            </a:r>
            <a:endParaRPr/>
          </a:p>
        </p:txBody>
      </p:sp>
      <p:sp>
        <p:nvSpPr>
          <p:cNvPr id="47" name="矩形: 圆角 81"/>
          <p:cNvSpPr/>
          <p:nvPr/>
        </p:nvSpPr>
        <p:spPr>
          <a:xfrm>
            <a:off x="762000" y="5857875"/>
            <a:ext cx="476250" cy="276225"/>
          </a:xfrm>
          <a:prstGeom prst="roundRect">
            <a:avLst>
              <a:gd name="adj" fmla="val 48276"/>
            </a:avLst>
          </a:prstGeom>
          <a:solidFill>
            <a:srgbClr val="F0F5FC"/>
          </a:solidFill>
          <a:ln/>
        </p:spPr>
        <p:txBody>
          <a:bodyPr/>
          <a:lstStyle/>
          <a:p>
            <a:endParaRPr/>
          </a:p>
        </p:txBody>
      </p:sp>
      <p:sp>
        <p:nvSpPr>
          <p:cNvPr id="48" name="文本框 82" descr="{&quot;isTemplate&quot;:true,&quot;type&quot;:&quot;text&quot;}"/>
          <p:cNvSpPr txBox="1"/>
          <p:nvPr/>
        </p:nvSpPr>
        <p:spPr>
          <a:xfrm>
            <a:off x="91440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01</a:t>
            </a:r>
            <a:endParaRPr/>
          </a:p>
        </p:txBody>
      </p:sp>
      <p:sp>
        <p:nvSpPr>
          <p:cNvPr id="49" name="矩形: 圆角 83"/>
          <p:cNvSpPr/>
          <p:nvPr/>
        </p:nvSpPr>
        <p:spPr>
          <a:xfrm>
            <a:off x="1352550" y="5857875"/>
            <a:ext cx="476250" cy="276225"/>
          </a:xfrm>
          <a:prstGeom prst="roundRect">
            <a:avLst>
              <a:gd name="adj" fmla="val 48276"/>
            </a:avLst>
          </a:prstGeom>
          <a:solidFill>
            <a:srgbClr val="F0F5FC"/>
          </a:solidFill>
          <a:ln/>
        </p:spPr>
        <p:txBody>
          <a:bodyPr/>
          <a:lstStyle/>
          <a:p>
            <a:endParaRPr/>
          </a:p>
        </p:txBody>
      </p:sp>
      <p:sp>
        <p:nvSpPr>
          <p:cNvPr id="50" name="文本框 84" descr="{&quot;isTemplate&quot;:true,&quot;type&quot;:&quot;text&quot;}"/>
          <p:cNvSpPr txBox="1"/>
          <p:nvPr/>
        </p:nvSpPr>
        <p:spPr>
          <a:xfrm>
            <a:off x="150495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02</a:t>
            </a:r>
            <a:endParaRPr/>
          </a:p>
        </p:txBody>
      </p:sp>
      <p:sp>
        <p:nvSpPr>
          <p:cNvPr id="51" name="矩形: 圆角 85"/>
          <p:cNvSpPr/>
          <p:nvPr/>
        </p:nvSpPr>
        <p:spPr>
          <a:xfrm>
            <a:off x="1943100" y="5857875"/>
            <a:ext cx="476250" cy="276225"/>
          </a:xfrm>
          <a:prstGeom prst="roundRect">
            <a:avLst>
              <a:gd name="adj" fmla="val 48276"/>
            </a:avLst>
          </a:prstGeom>
          <a:solidFill>
            <a:srgbClr val="F0F5FC"/>
          </a:solidFill>
          <a:ln/>
        </p:spPr>
        <p:txBody>
          <a:bodyPr/>
          <a:lstStyle/>
          <a:p>
            <a:endParaRPr/>
          </a:p>
        </p:txBody>
      </p:sp>
      <p:sp>
        <p:nvSpPr>
          <p:cNvPr id="52" name="文本框 86" descr="{&quot;isTemplate&quot;:true,&quot;type&quot;:&quot;text&quot;}"/>
          <p:cNvSpPr txBox="1"/>
          <p:nvPr/>
        </p:nvSpPr>
        <p:spPr>
          <a:xfrm>
            <a:off x="209550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03</a:t>
            </a:r>
            <a:endParaRPr/>
          </a:p>
        </p:txBody>
      </p:sp>
      <p:sp>
        <p:nvSpPr>
          <p:cNvPr id="53" name="矩形: 圆角 87"/>
          <p:cNvSpPr/>
          <p:nvPr/>
        </p:nvSpPr>
        <p:spPr>
          <a:xfrm>
            <a:off x="2533650" y="5857875"/>
            <a:ext cx="476250" cy="276225"/>
          </a:xfrm>
          <a:prstGeom prst="roundRect">
            <a:avLst>
              <a:gd name="adj" fmla="val 48276"/>
            </a:avLst>
          </a:prstGeom>
          <a:solidFill>
            <a:srgbClr val="1E4FA8"/>
          </a:solidFill>
          <a:ln/>
        </p:spPr>
        <p:txBody>
          <a:bodyPr/>
          <a:lstStyle/>
          <a:p>
            <a:endParaRPr/>
          </a:p>
        </p:txBody>
      </p:sp>
      <p:sp>
        <p:nvSpPr>
          <p:cNvPr id="54" name="文本框 88" descr="{&quot;isTemplate&quot;:true,&quot;type&quot;:&quot;text&quot;}"/>
          <p:cNvSpPr txBox="1"/>
          <p:nvPr/>
        </p:nvSpPr>
        <p:spPr>
          <a:xfrm>
            <a:off x="2686050" y="5915025"/>
            <a:ext cx="171450"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04</a:t>
            </a:r>
            <a:endParaRPr/>
          </a:p>
        </p:txBody>
      </p:sp>
      <p:sp>
        <p:nvSpPr>
          <p:cNvPr id="55" name="文本框 89" descr="{&quot;isTemplate&quot;:true,&quot;type&quot;:&quot;text&quot;}"/>
          <p:cNvSpPr txBox="1"/>
          <p:nvPr/>
        </p:nvSpPr>
        <p:spPr>
          <a:xfrm>
            <a:off x="3200400" y="5915025"/>
            <a:ext cx="1962150" cy="161925"/>
          </a:xfrm>
          <a:prstGeom prst="rect">
            <a:avLst/>
          </a:prstGeom>
        </p:spPr>
        <p:txBody>
          <a:bodyPr wrap="none" lIns="0" tIns="0" rIns="0" bIns="0"/>
          <a:lstStyle/>
          <a:p>
            <a:pPr>
              <a:lnSpc>
                <a:spcPct val="100000"/>
              </a:lnSpc>
            </a:pPr>
            <a:r>
              <a:rPr lang="zh-CN" sz="1050">
                <a:solidFill>
                  <a:srgbClr val="8B97A8"/>
                </a:solidFill>
                <a:latin typeface="Source Han Sans CN"/>
                <a:ea typeface="Source Han Sans CN"/>
              </a:rPr>
              <a:t>研究问题</a:t>
            </a:r>
            <a:r>
              <a:rPr lang="en-US" sz="1050">
                <a:solidFill>
                  <a:srgbClr val="8B97A8"/>
                </a:solidFill>
                <a:latin typeface="Source Han Sans CN"/>
                <a:ea typeface="Source Han Sans CN"/>
              </a:rPr>
              <a:t> · </a:t>
            </a:r>
            <a:r>
              <a:rPr lang="zh-CN" sz="1050">
                <a:solidFill>
                  <a:srgbClr val="8B97A8"/>
                </a:solidFill>
                <a:latin typeface="Source Han Sans CN"/>
                <a:ea typeface="Source Han Sans CN"/>
              </a:rPr>
              <a:t>方法两阶段</a:t>
            </a:r>
            <a:r>
              <a:rPr lang="en-US" sz="1050">
                <a:solidFill>
                  <a:srgbClr val="8B97A8"/>
                </a:solidFill>
                <a:latin typeface="Source Han Sans CN"/>
                <a:ea typeface="Source Han Sans CN"/>
              </a:rPr>
              <a:t> · </a:t>
            </a:r>
            <a:r>
              <a:rPr lang="zh-CN" sz="1050">
                <a:solidFill>
                  <a:srgbClr val="8B97A8"/>
                </a:solidFill>
                <a:latin typeface="Source Han Sans CN"/>
                <a:ea typeface="Source Han Sans CN"/>
              </a:rPr>
              <a:t>实验验证</a:t>
            </a:r>
            <a:endParaRPr/>
          </a:p>
        </p:txBody>
      </p:sp>
      <p:sp>
        <p:nvSpPr>
          <p:cNvPr id="56" name="矩形 90"/>
          <p:cNvSpPr/>
          <p:nvPr/>
        </p:nvSpPr>
        <p:spPr>
          <a:xfrm>
            <a:off x="0" y="6448425"/>
            <a:ext cx="12192000" cy="409575"/>
          </a:xfrm>
          <a:prstGeom prst="rect">
            <a:avLst/>
          </a:prstGeom>
          <a:solidFill>
            <a:srgbClr val="F7F9FC"/>
          </a:solidFill>
          <a:ln/>
        </p:spPr>
        <p:txBody>
          <a:bodyPr/>
          <a:lstStyle/>
          <a:p>
            <a:endParaRPr/>
          </a:p>
        </p:txBody>
      </p:sp>
      <p:sp>
        <p:nvSpPr>
          <p:cNvPr id="57" name="任意多边形: 形状 91"/>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58" name="文本框 92"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59" name="文本框 93"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11 / 16</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矩形 95"/>
          <p:cNvSpPr/>
          <p:nvPr/>
        </p:nvSpPr>
        <p:spPr>
          <a:xfrm>
            <a:off x="0" y="0"/>
            <a:ext cx="12192000" cy="6858000"/>
          </a:xfrm>
          <a:prstGeom prst="rect">
            <a:avLst/>
          </a:prstGeom>
          <a:solidFill>
            <a:srgbClr val="FFFFFF"/>
          </a:solidFill>
          <a:ln/>
        </p:spPr>
        <p:txBody>
          <a:bodyPr/>
          <a:lstStyle/>
          <a:p>
            <a:endParaRPr/>
          </a:p>
        </p:txBody>
      </p:sp>
      <p:sp>
        <p:nvSpPr>
          <p:cNvPr id="62" name="矩形 96"/>
          <p:cNvSpPr/>
          <p:nvPr/>
        </p:nvSpPr>
        <p:spPr>
          <a:xfrm>
            <a:off x="0" y="0"/>
            <a:ext cx="12192000" cy="114300"/>
          </a:xfrm>
          <a:prstGeom prst="rect">
            <a:avLst/>
          </a:prstGeom>
          <a:solidFill>
            <a:srgbClr val="1E4FA8"/>
          </a:solidFill>
          <a:ln/>
        </p:spPr>
        <p:txBody>
          <a:bodyPr/>
          <a:lstStyle/>
          <a:p>
            <a:endParaRPr/>
          </a:p>
        </p:txBody>
      </p:sp>
      <p:sp>
        <p:nvSpPr>
          <p:cNvPr id="63" name="矩形 97"/>
          <p:cNvSpPr/>
          <p:nvPr/>
        </p:nvSpPr>
        <p:spPr>
          <a:xfrm>
            <a:off x="381000" y="314325"/>
            <a:ext cx="57150" cy="323850"/>
          </a:xfrm>
          <a:prstGeom prst="rect">
            <a:avLst/>
          </a:prstGeom>
          <a:solidFill>
            <a:srgbClr val="1E4FA8"/>
          </a:solidFill>
          <a:ln/>
        </p:spPr>
        <p:txBody>
          <a:bodyPr/>
          <a:lstStyle/>
          <a:p>
            <a:endParaRPr/>
          </a:p>
        </p:txBody>
      </p:sp>
      <p:sp>
        <p:nvSpPr>
          <p:cNvPr id="64" name="文本框 98" descr="{&quot;isTemplate&quot;:true,&quot;type&quot;:&quot;text&quot;}"/>
          <p:cNvSpPr txBox="1"/>
          <p:nvPr/>
        </p:nvSpPr>
        <p:spPr>
          <a:xfrm>
            <a:off x="571500" y="285750"/>
            <a:ext cx="6753225" cy="371475"/>
          </a:xfrm>
          <a:prstGeom prst="rect">
            <a:avLst/>
          </a:prstGeom>
        </p:spPr>
        <p:txBody>
          <a:bodyPr wrap="none" lIns="0" tIns="0" rIns="0" bIns="0"/>
          <a:lstStyle/>
          <a:p>
            <a:pPr>
              <a:lnSpc>
                <a:spcPct val="100000"/>
              </a:lnSpc>
            </a:pPr>
            <a:r>
              <a:rPr lang="en-US" sz="2400" b="1">
                <a:solidFill>
                  <a:srgbClr val="0E3F8C"/>
                </a:solidFill>
                <a:latin typeface="Source Han Sans CN"/>
                <a:ea typeface="Source Han Sans CN"/>
              </a:rPr>
              <a:t>exp01</a:t>
            </a:r>
            <a:r>
              <a:rPr lang="zh-CN" sz="2400" b="1">
                <a:solidFill>
                  <a:srgbClr val="0E3F8C"/>
                </a:solidFill>
                <a:latin typeface="Source Han Sans CN"/>
                <a:ea typeface="Source Han Sans CN"/>
              </a:rPr>
              <a:t>：多</a:t>
            </a:r>
            <a:r>
              <a:rPr lang="en-US" sz="2400" b="1">
                <a:solidFill>
                  <a:srgbClr val="0E3F8C"/>
                </a:solidFill>
                <a:latin typeface="Source Han Sans CN"/>
                <a:ea typeface="Source Han Sans CN"/>
              </a:rPr>
              <a:t> seed </a:t>
            </a:r>
            <a:r>
              <a:rPr lang="zh-CN" sz="2400" b="1">
                <a:solidFill>
                  <a:srgbClr val="0E3F8C"/>
                </a:solidFill>
                <a:latin typeface="Source Han Sans CN"/>
                <a:ea typeface="Source Han Sans CN"/>
              </a:rPr>
              <a:t>阶梯——改进方向一致且可复现</a:t>
            </a:r>
            <a:endParaRPr/>
          </a:p>
        </p:txBody>
      </p:sp>
      <p:sp>
        <p:nvSpPr>
          <p:cNvPr id="65" name="文本框 99" descr="{&quot;isTemplate&quot;:true,&quot;type&quot;:&quot;text&quot;}"/>
          <p:cNvSpPr txBox="1"/>
          <p:nvPr/>
        </p:nvSpPr>
        <p:spPr>
          <a:xfrm>
            <a:off x="571500" y="742950"/>
            <a:ext cx="4381500" cy="171450"/>
          </a:xfrm>
          <a:prstGeom prst="rect">
            <a:avLst/>
          </a:prstGeom>
        </p:spPr>
        <p:txBody>
          <a:bodyPr wrap="none" lIns="0" tIns="0" rIns="0" bIns="0"/>
          <a:lstStyle/>
          <a:p>
            <a:pPr>
              <a:lnSpc>
                <a:spcPct val="100000"/>
              </a:lnSpc>
            </a:pPr>
            <a:r>
              <a:rPr lang="zh-CN" sz="1125">
                <a:solidFill>
                  <a:srgbClr val="8B97A8"/>
                </a:solidFill>
                <a:latin typeface="Source Han Sans CN"/>
                <a:ea typeface="Source Han Sans CN"/>
              </a:rPr>
              <a:t>长程滚动 24 周期 · Poisson λ=5 · 3 seed 复跑（10-21 代码口径）</a:t>
            </a:r>
            <a:r>
              <a:rPr lang="en-US" sz="1125">
                <a:solidFill>
                  <a:srgbClr val="8B97A8"/>
                </a:solidFill>
                <a:latin typeface="Source Han Sans CN"/>
                <a:ea typeface="Source Han Sans CN"/>
              </a:rPr>
              <a:t/>
            </a:r>
            <a:r>
              <a:rPr lang="zh-CN" sz="1125">
                <a:solidFill>
                  <a:srgbClr val="8B97A8"/>
                </a:solidFill>
                <a:latin typeface="Source Han Sans CN"/>
                <a:ea typeface="Source Han Sans CN"/>
              </a:rPr>
              <a:t/>
            </a:r>
            <a:r>
              <a:rPr lang="en-US" sz="1125">
                <a:solidFill>
                  <a:srgbClr val="8B97A8"/>
                </a:solidFill>
                <a:latin typeface="Source Han Sans CN"/>
                <a:ea typeface="Source Han Sans CN"/>
              </a:rPr>
              <a:t/>
            </a:r>
            <a:r>
              <a:rPr lang="zh-CN" sz="1125">
                <a:solidFill>
                  <a:srgbClr val="8B97A8"/>
                </a:solidFill>
                <a:latin typeface="Source Han Sans CN"/>
                <a:ea typeface="Source Han Sans CN"/>
              </a:rPr>
              <a:t/>
            </a:r>
            <a:endParaRPr/>
          </a:p>
        </p:txBody>
      </p:sp>
      <p:sp>
        <p:nvSpPr>
          <p:cNvPr id="66" name="矩形: 圆角 100"/>
          <p:cNvSpPr/>
          <p:nvPr/>
        </p:nvSpPr>
        <p:spPr>
          <a:xfrm>
            <a:off x="381000" y="1104900"/>
            <a:ext cx="3619500" cy="5086350"/>
          </a:xfrm>
          <a:prstGeom prst="roundRect">
            <a:avLst>
              <a:gd name="adj" fmla="val 3158"/>
            </a:avLst>
          </a:prstGeom>
          <a:solidFill>
            <a:srgbClr val="0E3F8C"/>
          </a:solidFill>
          <a:ln/>
        </p:spPr>
        <p:txBody>
          <a:bodyPr/>
          <a:lstStyle/>
          <a:p>
            <a:endParaRPr/>
          </a:p>
        </p:txBody>
      </p:sp>
      <p:sp>
        <p:nvSpPr>
          <p:cNvPr id="67" name="文本框 101" descr="{&quot;isTemplate&quot;:true,&quot;type&quot;:&quot;text&quot;}"/>
          <p:cNvSpPr txBox="1"/>
          <p:nvPr/>
        </p:nvSpPr>
        <p:spPr>
          <a:xfrm>
            <a:off x="666750" y="1428750"/>
            <a:ext cx="3048000" cy="171450"/>
          </a:xfrm>
          <a:prstGeom prst="rect">
            <a:avLst/>
          </a:prstGeom>
        </p:spPr>
        <p:txBody>
          <a:bodyPr wrap="none" lIns="0" tIns="0" rIns="0" bIns="0"/>
          <a:lstStyle/>
          <a:p>
            <a:pPr>
              <a:lnSpc>
                <a:spcPct val="100000"/>
              </a:lnSpc>
            </a:pPr>
            <a:r>
              <a:rPr lang="zh-CN" sz="1125" spc="150">
                <a:solidFill>
                  <a:srgbClr val="85B7EB"/>
                </a:solidFill>
                <a:latin typeface="Source Han Sans CN"/>
                <a:ea typeface="Source Han Sans CN"/>
              </a:rPr>
              <a:t>按时率（</a:t>
            </a:r>
            <a:r>
              <a:rPr lang="en-US" sz="1125" spc="150">
                <a:solidFill>
                  <a:srgbClr val="85B7EB"/>
                </a:solidFill>
                <a:latin typeface="Source Han Sans CN"/>
                <a:ea typeface="Source Han Sans CN"/>
              </a:rPr>
              <a:t>memetic </a:t>
            </a:r>
            <a:r>
              <a:rPr lang="zh-CN" sz="1125" spc="150">
                <a:solidFill>
                  <a:srgbClr val="85B7EB"/>
                </a:solidFill>
                <a:latin typeface="Source Han Sans CN"/>
                <a:ea typeface="Source Han Sans CN"/>
              </a:rPr>
              <a:t>口径，</a:t>
            </a:r>
            <a:r>
              <a:rPr lang="en-US" sz="1125" spc="150">
                <a:solidFill>
                  <a:srgbClr val="85B7EB"/>
                </a:solidFill>
                <a:latin typeface="Source Han Sans CN"/>
                <a:ea typeface="Source Han Sans CN"/>
              </a:rPr>
              <a:t>n=3</a:t>
            </a:r>
            <a:r>
              <a:rPr lang="zh-CN" sz="1125" spc="150">
                <a:solidFill>
                  <a:srgbClr val="85B7EB"/>
                </a:solidFill>
                <a:latin typeface="Source Han Sans CN"/>
                <a:ea typeface="Source Han Sans CN"/>
              </a:rPr>
              <a:t>）</a:t>
            </a:r>
            <a:endParaRPr/>
          </a:p>
        </p:txBody>
      </p:sp>
      <p:sp>
        <p:nvSpPr>
          <p:cNvPr id="68" name="文本框 102" descr="{&quot;isTemplate&quot;:true,&quot;type&quot;:&quot;text&quot;}"/>
          <p:cNvSpPr txBox="1"/>
          <p:nvPr/>
        </p:nvSpPr>
        <p:spPr>
          <a:xfrm>
            <a:off x="666750" y="1657350"/>
            <a:ext cx="3048000" cy="1028700"/>
          </a:xfrm>
          <a:prstGeom prst="rect">
            <a:avLst/>
          </a:prstGeom>
        </p:spPr>
        <p:txBody>
          <a:bodyPr wrap="none" lIns="0" tIns="0" rIns="0" bIns="0"/>
          <a:lstStyle/>
          <a:p>
            <a:pPr>
              <a:lnSpc>
                <a:spcPct val="114999"/>
              </a:lnSpc>
            </a:pPr>
            <a:r>
              <a:rPr lang="en-US" sz="5850" b="1">
                <a:solidFill>
                  <a:srgbClr val="FFFFFF"/>
                </a:solidFill>
                <a:latin typeface="Source Han Sans CN"/>
                <a:ea typeface="Source Han Sans CN"/>
              </a:rPr>
              <a:t>93.3</a:t>
            </a:r>
            <a:r>
              <a:rPr lang="en-US" sz="2550" b="1">
                <a:solidFill>
                  <a:srgbClr val="FFFFFF"/>
                </a:solidFill>
                <a:latin typeface="Source Han Sans CN"/>
                <a:ea typeface="Source Han Sans CN"/>
              </a:rPr>
              <a:t>%</a:t>
            </a:r>
            <a:endParaRPr/>
          </a:p>
        </p:txBody>
      </p:sp>
      <p:sp>
        <p:nvSpPr>
          <p:cNvPr id="69" name="文本框 103" descr="{&quot;isTemplate&quot;:true,&quot;type&quot;:&quot;text&quot;}"/>
          <p:cNvSpPr txBox="1"/>
          <p:nvPr/>
        </p:nvSpPr>
        <p:spPr>
          <a:xfrm>
            <a:off x="666750" y="2705100"/>
            <a:ext cx="3048000" cy="200025"/>
          </a:xfrm>
          <a:prstGeom prst="rect">
            <a:avLst/>
          </a:prstGeom>
        </p:spPr>
        <p:txBody>
          <a:bodyPr wrap="none" lIns="0" tIns="0" rIns="0" bIns="0"/>
          <a:lstStyle/>
          <a:p>
            <a:pPr>
              <a:lnSpc>
                <a:spcPct val="100000"/>
              </a:lnSpc>
            </a:pPr>
            <a:r>
              <a:rPr lang="en-US" sz="1275">
                <a:solidFill>
                  <a:srgbClr val="B5D4F4"/>
                </a:solidFill>
                <a:latin typeface="Source Han Sans CN"/>
                <a:ea typeface="Source Han Sans CN"/>
              </a:rPr>
              <a:t>± 3.6</a:t>
            </a:r>
            <a:r>
              <a:rPr lang="zh-CN" sz="1275">
                <a:solidFill>
                  <a:srgbClr val="B5D4F4"/>
                </a:solidFill>
                <a:latin typeface="Source Han Sans CN"/>
                <a:ea typeface="Source Han Sans CN"/>
              </a:rPr>
              <a:t>（</a:t>
            </a:r>
            <a:r>
              <a:rPr lang="en-US" sz="1275">
                <a:solidFill>
                  <a:srgbClr val="B5D4F4"/>
                </a:solidFill>
                <a:latin typeface="Source Han Sans CN"/>
                <a:ea typeface="Source Han Sans CN"/>
              </a:rPr>
              <a:t>83.9 → 91.7 → 93.3</a:t>
            </a:r>
            <a:r>
              <a:rPr lang="zh-CN" sz="1275">
                <a:solidFill>
                  <a:srgbClr val="B5D4F4"/>
                </a:solidFill>
                <a:latin typeface="Source Han Sans CN"/>
                <a:ea typeface="Source Han Sans CN"/>
              </a:rPr>
              <a:t>）</a:t>
            </a:r>
            <a:endParaRPr/>
          </a:p>
        </p:txBody>
      </p:sp>
      <p:sp>
        <p:nvSpPr>
          <p:cNvPr id="70" name="矩形 104"/>
          <p:cNvSpPr/>
          <p:nvPr/>
        </p:nvSpPr>
        <p:spPr>
          <a:xfrm>
            <a:off x="666750" y="3114675"/>
            <a:ext cx="419100" cy="28575"/>
          </a:xfrm>
          <a:prstGeom prst="rect">
            <a:avLst/>
          </a:prstGeom>
          <a:solidFill>
            <a:srgbClr val="FFC107"/>
          </a:solidFill>
          <a:ln/>
        </p:spPr>
        <p:txBody>
          <a:bodyPr/>
          <a:lstStyle/>
          <a:p>
            <a:endParaRPr/>
          </a:p>
        </p:txBody>
      </p:sp>
      <p:sp>
        <p:nvSpPr>
          <p:cNvPr id="71" name="文本框 105" descr="{&quot;isTemplate&quot;:true,&quot;type&quot;:&quot;text&quot;}"/>
          <p:cNvSpPr txBox="1"/>
          <p:nvPr/>
        </p:nvSpPr>
        <p:spPr>
          <a:xfrm>
            <a:off x="666750" y="3371850"/>
            <a:ext cx="533400" cy="161925"/>
          </a:xfrm>
          <a:prstGeom prst="rect">
            <a:avLst/>
          </a:prstGeom>
        </p:spPr>
        <p:txBody>
          <a:bodyPr wrap="none" lIns="0" tIns="0" rIns="0" bIns="0"/>
          <a:lstStyle/>
          <a:p>
            <a:pPr>
              <a:lnSpc>
                <a:spcPct val="100000"/>
              </a:lnSpc>
            </a:pPr>
            <a:r>
              <a:rPr lang="zh-CN" sz="1050">
                <a:solidFill>
                  <a:srgbClr val="B5D4F4"/>
                </a:solidFill>
                <a:latin typeface="Source Han Sans CN"/>
                <a:ea typeface="Source Han Sans CN"/>
              </a:rPr>
              <a:t>任务完成</a:t>
            </a:r>
            <a:endParaRPr/>
          </a:p>
        </p:txBody>
      </p:sp>
      <p:sp>
        <p:nvSpPr>
          <p:cNvPr id="72" name="文本框 106" descr="{&quot;isTemplate&quot;:true,&quot;type&quot;:&quot;text&quot;}"/>
          <p:cNvSpPr txBox="1"/>
          <p:nvPr/>
        </p:nvSpPr>
        <p:spPr>
          <a:xfrm>
            <a:off x="2466975" y="3352800"/>
            <a:ext cx="1247775" cy="200025"/>
          </a:xfrm>
          <a:prstGeom prst="rect">
            <a:avLst/>
          </a:prstGeom>
        </p:spPr>
        <p:txBody>
          <a:bodyPr wrap="none" lIns="0" tIns="0" rIns="0" bIns="0"/>
          <a:lstStyle/>
          <a:p>
            <a:pPr>
              <a:lnSpc>
                <a:spcPct val="100000"/>
              </a:lnSpc>
            </a:pPr>
            <a:r>
              <a:rPr lang="en-US" sz="1275" b="1">
                <a:solidFill>
                  <a:srgbClr val="FFFFFF"/>
                </a:solidFill>
                <a:latin typeface="Source Han Sans CN"/>
                <a:ea typeface="Source Han Sans CN"/>
              </a:rPr>
              <a:t>60 / 60 = 100%</a:t>
            </a:r>
            <a:endParaRPr/>
          </a:p>
        </p:txBody>
      </p:sp>
      <p:sp>
        <p:nvSpPr>
          <p:cNvPr id="73" name="文本框 107" descr="{&quot;isTemplate&quot;:true,&quot;type&quot;:&quot;text&quot;}"/>
          <p:cNvSpPr txBox="1"/>
          <p:nvPr/>
        </p:nvSpPr>
        <p:spPr>
          <a:xfrm>
            <a:off x="666750" y="3705225"/>
            <a:ext cx="1162050" cy="161925"/>
          </a:xfrm>
          <a:prstGeom prst="rect">
            <a:avLst/>
          </a:prstGeom>
        </p:spPr>
        <p:txBody>
          <a:bodyPr wrap="none" lIns="0" tIns="0" rIns="0" bIns="0"/>
          <a:lstStyle/>
          <a:p>
            <a:pPr>
              <a:lnSpc>
                <a:spcPct val="100000"/>
              </a:lnSpc>
            </a:pPr>
            <a:r>
              <a:rPr lang="zh-CN" sz="1050">
                <a:solidFill>
                  <a:srgbClr val="B5D4F4"/>
                </a:solidFill>
                <a:latin typeface="Source Han Sans CN"/>
                <a:ea typeface="Source Han Sans CN"/>
              </a:rPr>
              <a:t>废飞</a:t>
            </a:r>
            <a:r>
              <a:rPr lang="en-US" sz="1050">
                <a:solidFill>
                  <a:srgbClr val="B5D4F4"/>
                </a:solidFill>
                <a:latin typeface="Source Han Sans CN"/>
                <a:ea typeface="Source Han Sans CN"/>
              </a:rPr>
              <a:t> · </a:t>
            </a:r>
            <a:r>
              <a:rPr lang="zh-CN" sz="1050">
                <a:solidFill>
                  <a:srgbClr val="B5D4F4"/>
                </a:solidFill>
                <a:latin typeface="Source Han Sans CN"/>
                <a:ea typeface="Source Han Sans CN"/>
              </a:rPr>
              <a:t>淘汰</a:t>
            </a:r>
            <a:r>
              <a:rPr lang="en-US" sz="1050">
                <a:solidFill>
                  <a:srgbClr val="B5D4F4"/>
                </a:solidFill>
                <a:latin typeface="Source Han Sans CN"/>
                <a:ea typeface="Source Han Sans CN"/>
              </a:rPr>
              <a:t> · </a:t>
            </a:r>
            <a:r>
              <a:rPr lang="zh-CN" sz="1050">
                <a:solidFill>
                  <a:srgbClr val="B5D4F4"/>
                </a:solidFill>
                <a:latin typeface="Source Han Sans CN"/>
                <a:ea typeface="Source Han Sans CN"/>
              </a:rPr>
              <a:t>不可达</a:t>
            </a:r>
            <a:endParaRPr/>
          </a:p>
        </p:txBody>
      </p:sp>
      <p:sp>
        <p:nvSpPr>
          <p:cNvPr id="74" name="文本框 108" descr="{&quot;isTemplate&quot;:true,&quot;type&quot;:&quot;text&quot;}"/>
          <p:cNvSpPr txBox="1"/>
          <p:nvPr/>
        </p:nvSpPr>
        <p:spPr>
          <a:xfrm>
            <a:off x="3076575" y="3686175"/>
            <a:ext cx="638175" cy="200025"/>
          </a:xfrm>
          <a:prstGeom prst="rect">
            <a:avLst/>
          </a:prstGeom>
        </p:spPr>
        <p:txBody>
          <a:bodyPr wrap="none" lIns="0" tIns="0" rIns="0" bIns="0"/>
          <a:lstStyle/>
          <a:p>
            <a:pPr>
              <a:lnSpc>
                <a:spcPct val="100000"/>
              </a:lnSpc>
            </a:pPr>
            <a:r>
              <a:rPr lang="zh-CN" sz="1275" b="1">
                <a:solidFill>
                  <a:srgbClr val="FFFFFF"/>
                </a:solidFill>
                <a:latin typeface="Source Han Sans CN"/>
                <a:ea typeface="Source Han Sans CN"/>
              </a:rPr>
              <a:t>全部为</a:t>
            </a:r>
            <a:r>
              <a:rPr lang="en-US" sz="1275" b="1">
                <a:solidFill>
                  <a:srgbClr val="FFFFFF"/>
                </a:solidFill>
                <a:latin typeface="Source Han Sans CN"/>
                <a:ea typeface="Source Han Sans CN"/>
              </a:rPr>
              <a:t> 0</a:t>
            </a:r>
            <a:endParaRPr/>
          </a:p>
        </p:txBody>
      </p:sp>
      <p:sp>
        <p:nvSpPr>
          <p:cNvPr id="75" name="文本框 109" descr="{&quot;isTemplate&quot;:true,&quot;type&quot;:&quot;text&quot;}"/>
          <p:cNvSpPr txBox="1"/>
          <p:nvPr/>
        </p:nvSpPr>
        <p:spPr>
          <a:xfrm>
            <a:off x="666750" y="4038600"/>
            <a:ext cx="1638300" cy="161925"/>
          </a:xfrm>
          <a:prstGeom prst="rect">
            <a:avLst/>
          </a:prstGeom>
        </p:spPr>
        <p:txBody>
          <a:bodyPr wrap="none" lIns="0" tIns="0" rIns="0" bIns="0"/>
          <a:lstStyle/>
          <a:p>
            <a:pPr>
              <a:lnSpc>
                <a:spcPct val="100000"/>
              </a:lnSpc>
            </a:pPr>
            <a:r>
              <a:rPr lang="zh-CN" sz="1050">
                <a:solidFill>
                  <a:srgbClr val="B5D4F4"/>
                </a:solidFill>
                <a:latin typeface="Source Han Sans CN"/>
                <a:ea typeface="Source Han Sans CN"/>
              </a:rPr>
              <a:t>物理违约（</a:t>
            </a:r>
            <a:r>
              <a:rPr lang="en-US" sz="1050">
                <a:solidFill>
                  <a:srgbClr val="B5D4F4"/>
                </a:solidFill>
                <a:latin typeface="Source Han Sans CN"/>
                <a:ea typeface="Source Han Sans CN"/>
              </a:rPr>
              <a:t>22423 </a:t>
            </a:r>
            <a:r>
              <a:rPr lang="zh-CN" sz="1050">
                <a:solidFill>
                  <a:srgbClr val="B5D4F4"/>
                </a:solidFill>
                <a:latin typeface="Source Han Sans CN"/>
                <a:ea typeface="Source Han Sans CN"/>
              </a:rPr>
              <a:t>次评估）</a:t>
            </a:r>
            <a:endParaRPr/>
          </a:p>
        </p:txBody>
      </p:sp>
      <p:sp>
        <p:nvSpPr>
          <p:cNvPr id="76" name="文本框 110" descr="{&quot;isTemplate&quot;:true,&quot;type&quot;:&quot;text&quot;}"/>
          <p:cNvSpPr txBox="1"/>
          <p:nvPr/>
        </p:nvSpPr>
        <p:spPr>
          <a:xfrm>
            <a:off x="3400425" y="4019550"/>
            <a:ext cx="314325" cy="200025"/>
          </a:xfrm>
          <a:prstGeom prst="rect">
            <a:avLst/>
          </a:prstGeom>
        </p:spPr>
        <p:txBody>
          <a:bodyPr wrap="none" lIns="0" tIns="0" rIns="0" bIns="0"/>
          <a:lstStyle/>
          <a:p>
            <a:pPr>
              <a:lnSpc>
                <a:spcPct val="100000"/>
              </a:lnSpc>
            </a:pPr>
            <a:r>
              <a:rPr lang="en-US" sz="1275" b="1">
                <a:solidFill>
                  <a:srgbClr val="FFFFFF"/>
                </a:solidFill>
                <a:latin typeface="Source Han Sans CN"/>
                <a:ea typeface="Source Han Sans CN"/>
              </a:rPr>
              <a:t>0 </a:t>
            </a:r>
            <a:r>
              <a:rPr lang="zh-CN" sz="1275" b="1">
                <a:solidFill>
                  <a:srgbClr val="FFFFFF"/>
                </a:solidFill>
                <a:latin typeface="Source Han Sans CN"/>
                <a:ea typeface="Source Han Sans CN"/>
              </a:rPr>
              <a:t>次</a:t>
            </a:r>
            <a:endParaRPr/>
          </a:p>
        </p:txBody>
      </p:sp>
      <p:sp>
        <p:nvSpPr>
          <p:cNvPr id="77" name="文本框 111" descr="{&quot;isTemplate&quot;:true,&quot;type&quot;:&quot;text&quot;}"/>
          <p:cNvSpPr txBox="1"/>
          <p:nvPr/>
        </p:nvSpPr>
        <p:spPr>
          <a:xfrm>
            <a:off x="666750" y="4371975"/>
            <a:ext cx="800100" cy="161925"/>
          </a:xfrm>
          <a:prstGeom prst="rect">
            <a:avLst/>
          </a:prstGeom>
        </p:spPr>
        <p:txBody>
          <a:bodyPr wrap="none" lIns="0" tIns="0" rIns="0" bIns="0"/>
          <a:lstStyle/>
          <a:p>
            <a:pPr>
              <a:lnSpc>
                <a:spcPct val="100000"/>
              </a:lnSpc>
            </a:pPr>
            <a:r>
              <a:rPr lang="zh-CN" sz="1050">
                <a:solidFill>
                  <a:srgbClr val="B5D4F4"/>
                </a:solidFill>
                <a:latin typeface="Source Han Sans CN"/>
                <a:ea typeface="Source Han Sans CN"/>
              </a:rPr>
              <a:t>平均迟到深度</a:t>
            </a:r>
            <a:endParaRPr/>
          </a:p>
        </p:txBody>
      </p:sp>
      <p:sp>
        <p:nvSpPr>
          <p:cNvPr id="78" name="文本框 112" descr="{&quot;isTemplate&quot;:true,&quot;type&quot;:&quot;text&quot;}"/>
          <p:cNvSpPr txBox="1"/>
          <p:nvPr/>
        </p:nvSpPr>
        <p:spPr>
          <a:xfrm>
            <a:off x="2486025" y="4352925"/>
            <a:ext cx="1228725" cy="200025"/>
          </a:xfrm>
          <a:prstGeom prst="rect">
            <a:avLst/>
          </a:prstGeom>
        </p:spPr>
        <p:txBody>
          <a:bodyPr wrap="none" lIns="0" tIns="0" rIns="0" bIns="0"/>
          <a:lstStyle/>
          <a:p>
            <a:pPr>
              <a:lnSpc>
                <a:spcPct val="100000"/>
              </a:lnSpc>
            </a:pPr>
            <a:r>
              <a:rPr lang="en-US" sz="1275" b="1">
                <a:solidFill>
                  <a:srgbClr val="FFFFFF"/>
                </a:solidFill>
                <a:latin typeface="Source Han Sans CN"/>
                <a:ea typeface="Source Han Sans CN"/>
              </a:rPr>
              <a:t>575 s</a:t>
            </a:r>
            <a:r>
              <a:rPr lang="zh-CN" sz="1275" b="1">
                <a:solidFill>
                  <a:srgbClr val="FFFFFF"/>
                </a:solidFill>
                <a:latin typeface="Source Han Sans CN"/>
                <a:ea typeface="Source Han Sans CN"/>
              </a:rPr>
              <a:t>（−</a:t>
            </a:r>
            <a:r>
              <a:rPr lang="en-US" sz="1275" b="1">
                <a:solidFill>
                  <a:srgbClr val="FFFFFF"/>
                </a:solidFill>
                <a:latin typeface="Source Han Sans CN"/>
                <a:ea typeface="Source Han Sans CN"/>
              </a:rPr>
              <a:t>22%</a:t>
            </a:r>
            <a:r>
              <a:rPr lang="zh-CN" sz="1275" b="1">
                <a:solidFill>
                  <a:srgbClr val="FFFFFF"/>
                </a:solidFill>
                <a:latin typeface="Source Han Sans CN"/>
                <a:ea typeface="Source Han Sans CN"/>
              </a:rPr>
              <a:t>）</a:t>
            </a:r>
            <a:endParaRPr/>
          </a:p>
        </p:txBody>
      </p:sp>
      <p:sp>
        <p:nvSpPr>
          <p:cNvPr id="79" name="文本框 113" descr="{&quot;isTemplate&quot;:true,&quot;type&quot;:&quot;text&quot;}"/>
          <p:cNvSpPr txBox="1"/>
          <p:nvPr/>
        </p:nvSpPr>
        <p:spPr>
          <a:xfrm>
            <a:off x="666750" y="4800600"/>
            <a:ext cx="3048000" cy="819150"/>
          </a:xfrm>
          <a:prstGeom prst="rect">
            <a:avLst/>
          </a:prstGeom>
        </p:spPr>
        <p:txBody>
          <a:bodyPr wrap="square" lIns="0" tIns="0" rIns="0" bIns="0">
            <a:normAutofit/>
          </a:bodyPr>
          <a:lstStyle/>
          <a:p>
            <a:pPr>
              <a:lnSpc>
                <a:spcPct val="170000"/>
              </a:lnSpc>
            </a:pPr>
            <a:r>
              <a:rPr lang="zh-CN" sz="1050">
                <a:solidFill>
                  <a:srgbClr val="DCE7F5"/>
                </a:solidFill>
                <a:latin typeface="Source Han Sans CN"/>
                <a:ea typeface="Source Han Sans CN"/>
              </a:rPr>
              <a:t>「不被完成只有物理约束被违反」在全部</a:t>
            </a:r>
            <a:r>
              <a:rPr lang="en-US" sz="1050">
                <a:solidFill>
                  <a:srgbClr val="DCE7F5"/>
                </a:solidFill>
                <a:latin typeface="Source Han Sans CN"/>
                <a:ea typeface="Source Han Sans CN"/>
              </a:rPr>
              <a:t> 9 </a:t>
            </a:r>
            <a:r>
              <a:rPr lang="zh-CN" sz="1050">
                <a:solidFill>
                  <a:srgbClr val="DCE7F5"/>
                </a:solidFill>
                <a:latin typeface="Source Han Sans CN"/>
                <a:ea typeface="Source Han Sans CN"/>
              </a:rPr>
              <a:t>个实验格成立：能力范围内解决更多当下的任务，而非凑完成率。</a:t>
            </a:r>
            <a:endParaRPr/>
          </a:p>
        </p:txBody>
      </p:sp>
      <p:graphicFrame>
        <p:nvGraphicFramePr>
          <p:cNvPr id="80" name="表格 114"/>
          <p:cNvGraphicFramePr/>
          <p:nvPr/>
        </p:nvGraphicFramePr>
        <p:xfrm>
          <a:off x="4229100" y="1104900"/>
          <a:ext cx="7581899" cy="2393379"/>
        </p:xfrm>
        <a:graphic>
          <a:graphicData uri="http://schemas.openxmlformats.org/drawingml/2006/table">
            <a:tbl>
              <a:tblPr/>
              <a:tblGrid>
                <a:gridCol w="2501520">
                  <a:extLst>
                    <a:ext uri="{9D8B030D-6E8A-4147-A177-3AD203B41FA5}">
                      <a16:colId xmlns:a16="http://schemas.microsoft.com/office/drawing/2014/main" val="1"/>
                    </a:ext>
                  </a:extLst>
                </a:gridCol>
                <a:gridCol w="1141419">
                  <a:extLst>
                    <a:ext uri="{9D8B030D-6E8A-4147-A177-3AD203B41FA5}">
                      <a16:colId xmlns:a16="http://schemas.microsoft.com/office/drawing/2014/main" val="2"/>
                    </a:ext>
                  </a:extLst>
                </a:gridCol>
                <a:gridCol w="1008075">
                  <a:extLst>
                    <a:ext uri="{9D8B030D-6E8A-4147-A177-3AD203B41FA5}">
                      <a16:colId xmlns:a16="http://schemas.microsoft.com/office/drawing/2014/main" val="3"/>
                    </a:ext>
                  </a:extLst>
                </a:gridCol>
                <a:gridCol w="1088081">
                  <a:extLst>
                    <a:ext uri="{9D8B030D-6E8A-4147-A177-3AD203B41FA5}">
                      <a16:colId xmlns:a16="http://schemas.microsoft.com/office/drawing/2014/main" val="4"/>
                    </a:ext>
                  </a:extLst>
                </a:gridCol>
                <a:gridCol w="728054">
                  <a:extLst>
                    <a:ext uri="{9D8B030D-6E8A-4147-A177-3AD203B41FA5}">
                      <a16:colId xmlns:a16="http://schemas.microsoft.com/office/drawing/2014/main" val="5"/>
                    </a:ext>
                  </a:extLst>
                </a:gridCol>
                <a:gridCol w="1114750">
                  <a:extLst>
                    <a:ext uri="{9D8B030D-6E8A-4147-A177-3AD203B41FA5}">
                      <a16:colId xmlns:a16="http://schemas.microsoft.com/office/drawing/2014/main" val="6"/>
                    </a:ext>
                  </a:extLst>
                </a:gridCol>
              </a:tblGrid>
              <a:tr h="381000">
                <a:tc>
                  <a:txBody>
                    <a:bodyPr/>
                    <a:lstStyle/>
                    <a:p>
                      <a:pPr marL="114300" marR="114300" algn="l">
                        <a:lnSpc>
                          <a:spcPct val="120000"/>
                        </a:lnSpc>
                      </a:pPr>
                      <a:r>
                        <a:rPr sz="1125" b="1">
                          <a:solidFill>
                            <a:srgbClr val="FFFFFF"/>
                          </a:solidFill>
                          <a:latin typeface="Microsoft YaHei"/>
                          <a:ea typeface="Microsoft YaHei"/>
                        </a:rPr>
                        <a:t>配置（3 seed 均值±std）</a:t>
                      </a:r>
                      <a:endParaRPr/>
                    </a:p>
                  </a:txBody>
                  <a:tcPr marL="45720" marR="45720" anchor="ctr">
                    <a:lnL>
                      <a:noFill/>
                    </a:lnL>
                    <a:lnR>
                      <a:noFill/>
                    </a:lnR>
                    <a:lnT>
                      <a:noFill/>
                    </a:lnT>
                    <a:lnB>
                      <a:noFill/>
                    </a:lnB>
                    <a:solidFill>
                      <a:srgbClr val="1E4FA8"/>
                    </a:solidFill>
                  </a:tcPr>
                </a:tc>
                <a:tc>
                  <a:txBody>
                    <a:bodyPr/>
                    <a:lstStyle/>
                    <a:p>
                      <a:pPr marL="114300" marR="114300" algn="l">
                        <a:lnSpc>
                          <a:spcPct val="120000"/>
                        </a:lnSpc>
                      </a:pPr>
                      <a:r>
                        <a:rPr sz="1125" b="1">
                          <a:solidFill>
                            <a:srgbClr val="FFFFFF"/>
                          </a:solidFill>
                          <a:latin typeface="Microsoft YaHei"/>
                          <a:ea typeface="Microsoft YaHei"/>
                        </a:rPr>
                        <a:t>按时率 %</a:t>
                      </a:r>
                      <a:endParaRPr/>
                    </a:p>
                  </a:txBody>
                  <a:tcPr marL="45720" marR="45720" anchor="ctr">
                    <a:lnL>
                      <a:noFill/>
                    </a:lnL>
                    <a:lnR>
                      <a:noFill/>
                    </a:lnR>
                    <a:lnT>
                      <a:noFill/>
                    </a:lnT>
                    <a:lnB>
                      <a:noFill/>
                    </a:lnB>
                    <a:solidFill>
                      <a:srgbClr val="1E4FA8"/>
                    </a:solidFill>
                  </a:tcPr>
                </a:tc>
                <a:tc>
                  <a:txBody>
                    <a:bodyPr/>
                    <a:lstStyle/>
                    <a:p>
                      <a:pPr marL="114300" marR="114300" algn="l">
                        <a:lnSpc>
                          <a:spcPct val="120000"/>
                        </a:lnSpc>
                      </a:pPr>
                      <a:r>
                        <a:rPr sz="1125" b="1">
                          <a:solidFill>
                            <a:srgbClr val="FFFFFF"/>
                          </a:solidFill>
                          <a:latin typeface="Microsoft YaHei"/>
                          <a:ea typeface="Microsoft YaHei"/>
                        </a:rPr>
                        <a:t>迟到数</a:t>
                      </a:r>
                      <a:endParaRPr/>
                    </a:p>
                  </a:txBody>
                  <a:tcPr marL="45720" marR="45720" anchor="ctr">
                    <a:lnL>
                      <a:noFill/>
                    </a:lnL>
                    <a:lnR>
                      <a:noFill/>
                    </a:lnR>
                    <a:lnT>
                      <a:noFill/>
                    </a:lnT>
                    <a:lnB>
                      <a:noFill/>
                    </a:lnB>
                    <a:solidFill>
                      <a:srgbClr val="1E4FA8"/>
                    </a:solidFill>
                  </a:tcPr>
                </a:tc>
                <a:tc>
                  <a:txBody>
                    <a:bodyPr/>
                    <a:lstStyle/>
                    <a:p>
                      <a:pPr marL="114300" marR="114300" algn="l">
                        <a:lnSpc>
                          <a:spcPct val="120000"/>
                        </a:lnSpc>
                      </a:pPr>
                      <a:r>
                        <a:rPr sz="1125" b="1">
                          <a:solidFill>
                            <a:srgbClr val="FFFFFF"/>
                          </a:solidFill>
                          <a:latin typeface="Microsoft YaHei"/>
                          <a:ea typeface="Microsoft YaHei"/>
                        </a:rPr>
                        <a:t>平均迟到 s</a:t>
                      </a:r>
                      <a:endParaRPr/>
                    </a:p>
                  </a:txBody>
                  <a:tcPr marL="45720" marR="45720" anchor="ctr">
                    <a:lnL>
                      <a:noFill/>
                    </a:lnL>
                    <a:lnR>
                      <a:noFill/>
                    </a:lnR>
                    <a:lnT>
                      <a:noFill/>
                    </a:lnT>
                    <a:lnB>
                      <a:noFill/>
                    </a:lnB>
                    <a:solidFill>
                      <a:srgbClr val="1E4FA8"/>
                    </a:solidFill>
                  </a:tcPr>
                </a:tc>
                <a:tc>
                  <a:txBody>
                    <a:bodyPr/>
                    <a:lstStyle/>
                    <a:p>
                      <a:pPr marL="114300" marR="114300" algn="l">
                        <a:lnSpc>
                          <a:spcPct val="120000"/>
                        </a:lnSpc>
                      </a:pPr>
                      <a:r>
                        <a:rPr sz="1125" b="1">
                          <a:solidFill>
                            <a:srgbClr val="FFFFFF"/>
                          </a:solidFill>
                          <a:latin typeface="Microsoft YaHei"/>
                          <a:ea typeface="Microsoft YaHei"/>
                        </a:rPr>
                        <a:t>总奖励</a:t>
                      </a:r>
                      <a:endParaRPr/>
                    </a:p>
                  </a:txBody>
                  <a:tcPr marL="45720" marR="45720" anchor="ctr">
                    <a:lnL>
                      <a:noFill/>
                    </a:lnL>
                    <a:lnR>
                      <a:noFill/>
                    </a:lnR>
                    <a:lnT>
                      <a:noFill/>
                    </a:lnT>
                    <a:lnB>
                      <a:noFill/>
                    </a:lnB>
                    <a:solidFill>
                      <a:srgbClr val="1E4FA8"/>
                    </a:solidFill>
                  </a:tcPr>
                </a:tc>
                <a:tc>
                  <a:txBody>
                    <a:bodyPr/>
                    <a:lstStyle/>
                    <a:p>
                      <a:pPr marL="114300" marR="114300" algn="l">
                        <a:lnSpc>
                          <a:spcPct val="120000"/>
                        </a:lnSpc>
                      </a:pPr>
                      <a:r>
                        <a:rPr sz="1125" b="1">
                          <a:solidFill>
                            <a:srgbClr val="FFFFFF"/>
                          </a:solidFill>
                          <a:latin typeface="Microsoft YaHei"/>
                          <a:ea typeface="Microsoft YaHei"/>
                        </a:rPr>
                        <a:t>总航程 km</a:t>
                      </a:r>
                      <a:endParaRPr/>
                    </a:p>
                  </a:txBody>
                  <a:tcPr marL="45720" marR="45720" anchor="ctr">
                    <a:lnL>
                      <a:noFill/>
                    </a:lnL>
                    <a:lnR>
                      <a:noFill/>
                    </a:lnR>
                    <a:lnT>
                      <a:noFill/>
                    </a:lnT>
                    <a:lnB>
                      <a:noFill/>
                    </a:lnB>
                    <a:solidFill>
                      <a:srgbClr val="1E4FA8"/>
                    </a:solidFill>
                  </a:tcPr>
                </a:tc>
                <a:extLst>
                  <a:ext uri="{0D108BD9-81ED-4DB2-BD59-A6C34878D82A}">
                    <a16:rowId xmlns:a16="http://schemas.microsoft.com/office/drawing/2014/main" val="1"/>
                  </a:ext>
                </a:extLst>
              </a:tr>
              <a:tr h="381000">
                <a:tc>
                  <a:txBody>
                    <a:bodyPr/>
                    <a:lstStyle/>
                    <a:p>
                      <a:pPr marL="114300" marR="114300" algn="l">
                        <a:lnSpc>
                          <a:spcPct val="120000"/>
                        </a:lnSpc>
                      </a:pPr>
                      <a:r>
                        <a:rPr sz="1125">
                          <a:solidFill>
                            <a:srgbClr val="1A2230"/>
                          </a:solidFill>
                          <a:latin typeface="Microsoft YaHei"/>
                          <a:ea typeface="Microsoft YaHei"/>
                        </a:rPr>
                        <a:t>N 无抛光</a:t>
                      </a:r>
                      <a:endParaRPr/>
                    </a:p>
                  </a:txBody>
                  <a:tcPr marL="45720" marR="45720" anchor="ctr">
                    <a:lnL>
                      <a:noFill/>
                    </a:lnL>
                    <a:lnR>
                      <a:noFill/>
                    </a:lnR>
                    <a:lnT>
                      <a:noFill/>
                    </a:lnT>
                    <a:lnB>
                      <a:noFill/>
                    </a:lnB>
                  </a:tcPr>
                </a:tc>
                <a:tc>
                  <a:txBody>
                    <a:bodyPr/>
                    <a:lstStyle/>
                    <a:p>
                      <a:pPr marL="114300" marR="114300" algn="l">
                        <a:lnSpc>
                          <a:spcPct val="120000"/>
                        </a:lnSpc>
                      </a:pPr>
                      <a:r>
                        <a:rPr sz="1125">
                          <a:solidFill>
                            <a:srgbClr val="1A2230"/>
                          </a:solidFill>
                          <a:latin typeface="Microsoft YaHei"/>
                          <a:ea typeface="Microsoft YaHei"/>
                        </a:rPr>
                        <a:t>83.9 ± 2.1</a:t>
                      </a:r>
                      <a:endParaRPr/>
                    </a:p>
                  </a:txBody>
                  <a:tcPr marL="45720" marR="45720" anchor="ctr">
                    <a:lnL>
                      <a:noFill/>
                    </a:lnL>
                    <a:lnR>
                      <a:noFill/>
                    </a:lnR>
                    <a:lnT>
                      <a:noFill/>
                    </a:lnT>
                    <a:lnB>
                      <a:noFill/>
                    </a:lnB>
                  </a:tcPr>
                </a:tc>
                <a:tc>
                  <a:txBody>
                    <a:bodyPr/>
                    <a:lstStyle/>
                    <a:p>
                      <a:pPr marL="114300" marR="114300" algn="l">
                        <a:lnSpc>
                          <a:spcPct val="120000"/>
                        </a:lnSpc>
                      </a:pPr>
                      <a:r>
                        <a:rPr sz="1125">
                          <a:solidFill>
                            <a:srgbClr val="1A2230"/>
                          </a:solidFill>
                          <a:latin typeface="Microsoft YaHei"/>
                          <a:ea typeface="Microsoft YaHei"/>
                        </a:rPr>
                        <a:t>9.7 ± 1.2</a:t>
                      </a:r>
                      <a:endParaRPr/>
                    </a:p>
                  </a:txBody>
                  <a:tcPr marL="45720" marR="45720" anchor="ctr">
                    <a:lnL>
                      <a:noFill/>
                    </a:lnL>
                    <a:lnR>
                      <a:noFill/>
                    </a:lnR>
                    <a:lnT>
                      <a:noFill/>
                    </a:lnT>
                    <a:lnB>
                      <a:noFill/>
                    </a:lnB>
                  </a:tcPr>
                </a:tc>
                <a:tc>
                  <a:txBody>
                    <a:bodyPr/>
                    <a:lstStyle/>
                    <a:p>
                      <a:pPr marL="114300" marR="114300" algn="l">
                        <a:lnSpc>
                          <a:spcPct val="120000"/>
                        </a:lnSpc>
                      </a:pPr>
                      <a:r>
                        <a:rPr sz="1125">
                          <a:solidFill>
                            <a:srgbClr val="1A2230"/>
                          </a:solidFill>
                          <a:latin typeface="Microsoft YaHei"/>
                          <a:ea typeface="Microsoft YaHei"/>
                        </a:rPr>
                        <a:t>736</a:t>
                      </a:r>
                      <a:endParaRPr/>
                    </a:p>
                  </a:txBody>
                  <a:tcPr marL="45720" marR="45720" anchor="ctr">
                    <a:lnL>
                      <a:noFill/>
                    </a:lnL>
                    <a:lnR>
                      <a:noFill/>
                    </a:lnR>
                    <a:lnT>
                      <a:noFill/>
                    </a:lnT>
                    <a:lnB>
                      <a:noFill/>
                    </a:lnB>
                  </a:tcPr>
                </a:tc>
                <a:tc>
                  <a:txBody>
                    <a:bodyPr/>
                    <a:lstStyle/>
                    <a:p>
                      <a:pPr marL="114300" marR="114300" algn="l">
                        <a:lnSpc>
                          <a:spcPct val="120000"/>
                        </a:lnSpc>
                      </a:pPr>
                      <a:r>
                        <a:rPr sz="1125">
                          <a:solidFill>
                            <a:srgbClr val="1A2230"/>
                          </a:solidFill>
                          <a:latin typeface="Microsoft YaHei"/>
                          <a:ea typeface="Microsoft YaHei"/>
                        </a:rPr>
                        <a:t>309.8</a:t>
                      </a:r>
                      <a:endParaRPr/>
                    </a:p>
                  </a:txBody>
                  <a:tcPr marL="45720" marR="45720" anchor="ctr">
                    <a:lnL>
                      <a:noFill/>
                    </a:lnL>
                    <a:lnR>
                      <a:noFill/>
                    </a:lnR>
                    <a:lnT>
                      <a:noFill/>
                    </a:lnT>
                    <a:lnB>
                      <a:noFill/>
                    </a:lnB>
                  </a:tcPr>
                </a:tc>
                <a:tc>
                  <a:txBody>
                    <a:bodyPr/>
                    <a:lstStyle/>
                    <a:p>
                      <a:pPr marL="114300" marR="114300" algn="l">
                        <a:lnSpc>
                          <a:spcPct val="120000"/>
                        </a:lnSpc>
                      </a:pPr>
                      <a:r>
                        <a:rPr sz="1125">
                          <a:solidFill>
                            <a:srgbClr val="1A2230"/>
                          </a:solidFill>
                          <a:latin typeface="Microsoft YaHei"/>
                          <a:ea typeface="Microsoft YaHei"/>
                        </a:rPr>
                        <a:t>1723.7</a:t>
                      </a:r>
                      <a:endParaRPr/>
                    </a:p>
                  </a:txBody>
                  <a:tcPr marL="45720" marR="45720" anchor="ctr">
                    <a:lnL>
                      <a:noFill/>
                    </a:lnL>
                    <a:lnR>
                      <a:noFill/>
                    </a:lnR>
                    <a:lnT>
                      <a:noFill/>
                    </a:lnT>
                    <a:lnB>
                      <a:noFill/>
                    </a:lnB>
                  </a:tcPr>
                </a:tc>
                <a:extLst>
                  <a:ext uri="{0D108BD9-81ED-4DB2-BD59-A6C34878D82A}">
                    <a16:rowId xmlns:a16="http://schemas.microsoft.com/office/drawing/2014/main" val="2"/>
                  </a:ext>
                </a:extLst>
              </a:tr>
              <a:tr h="381000">
                <a:tc>
                  <a:txBody>
                    <a:bodyPr/>
                    <a:lstStyle/>
                    <a:p>
                      <a:pPr marL="114300" marR="114300" algn="l">
                        <a:lnSpc>
                          <a:spcPct val="120000"/>
                        </a:lnSpc>
                      </a:pPr>
                      <a:r>
                        <a:rPr sz="1125" b="1">
                          <a:solidFill>
                            <a:srgbClr val="1A2230"/>
                          </a:solidFill>
                          <a:latin typeface="Microsoft YaHei"/>
                          <a:ea typeface="Microsoft YaHei"/>
                        </a:rPr>
                        <a:t>P 生产（+polish）</a:t>
                      </a:r>
                      <a:endParaRPr/>
                    </a:p>
                  </a:txBody>
                  <a:tcPr marL="45720" marR="45720" anchor="ctr">
                    <a:lnL>
                      <a:noFill/>
                    </a:lnL>
                    <a:lnR>
                      <a:noFill/>
                    </a:lnR>
                    <a:lnT>
                      <a:noFill/>
                    </a:lnT>
                    <a:lnB>
                      <a:noFill/>
                    </a:lnB>
                  </a:tcPr>
                </a:tc>
                <a:tc>
                  <a:txBody>
                    <a:bodyPr/>
                    <a:lstStyle/>
                    <a:p>
                      <a:pPr marL="114300" marR="114300" algn="l">
                        <a:lnSpc>
                          <a:spcPct val="120000"/>
                        </a:lnSpc>
                      </a:pPr>
                      <a:r>
                        <a:rPr sz="1125" b="1">
                          <a:solidFill>
                            <a:srgbClr val="1E4FA8"/>
                          </a:solidFill>
                          <a:latin typeface="Microsoft YaHei"/>
                          <a:ea typeface="Microsoft YaHei"/>
                        </a:rPr>
                        <a:t>91.7 ± 3.6</a:t>
                      </a:r>
                      <a:endParaRPr/>
                    </a:p>
                  </a:txBody>
                  <a:tcPr marL="45720" marR="45720" anchor="ctr">
                    <a:lnL>
                      <a:noFill/>
                    </a:lnL>
                    <a:lnR>
                      <a:noFill/>
                    </a:lnR>
                    <a:lnT>
                      <a:noFill/>
                    </a:lnT>
                    <a:lnB>
                      <a:noFill/>
                    </a:lnB>
                  </a:tcPr>
                </a:tc>
                <a:tc>
                  <a:txBody>
                    <a:bodyPr/>
                    <a:lstStyle/>
                    <a:p>
                      <a:pPr marL="114300" marR="114300" algn="l">
                        <a:lnSpc>
                          <a:spcPct val="120000"/>
                        </a:lnSpc>
                      </a:pPr>
                      <a:r>
                        <a:rPr sz="1125" b="1">
                          <a:solidFill>
                            <a:srgbClr val="1A2230"/>
                          </a:solidFill>
                          <a:latin typeface="Microsoft YaHei"/>
                          <a:ea typeface="Microsoft YaHei"/>
                        </a:rPr>
                        <a:t>5.0 ± 2.2</a:t>
                      </a:r>
                      <a:endParaRPr/>
                    </a:p>
                  </a:txBody>
                  <a:tcPr marL="45720" marR="45720" anchor="ctr">
                    <a:lnL>
                      <a:noFill/>
                    </a:lnL>
                    <a:lnR>
                      <a:noFill/>
                    </a:lnR>
                    <a:lnT>
                      <a:noFill/>
                    </a:lnT>
                    <a:lnB>
                      <a:noFill/>
                    </a:lnB>
                  </a:tcPr>
                </a:tc>
                <a:tc>
                  <a:txBody>
                    <a:bodyPr/>
                    <a:lstStyle/>
                    <a:p>
                      <a:pPr marL="114300" marR="114300" algn="l">
                        <a:lnSpc>
                          <a:spcPct val="120000"/>
                        </a:lnSpc>
                      </a:pPr>
                      <a:r>
                        <a:rPr sz="1125">
                          <a:solidFill>
                            <a:srgbClr val="1A2230"/>
                          </a:solidFill>
                          <a:latin typeface="Microsoft YaHei"/>
                          <a:ea typeface="Microsoft YaHei"/>
                        </a:rPr>
                        <a:t>732</a:t>
                      </a:r>
                      <a:endParaRPr/>
                    </a:p>
                  </a:txBody>
                  <a:tcPr marL="45720" marR="45720" anchor="ctr">
                    <a:lnL>
                      <a:noFill/>
                    </a:lnL>
                    <a:lnR>
                      <a:noFill/>
                    </a:lnR>
                    <a:lnT>
                      <a:noFill/>
                    </a:lnT>
                    <a:lnB>
                      <a:noFill/>
                    </a:lnB>
                  </a:tcPr>
                </a:tc>
                <a:tc>
                  <a:txBody>
                    <a:bodyPr/>
                    <a:lstStyle/>
                    <a:p>
                      <a:pPr marL="114300" marR="114300" algn="l">
                        <a:lnSpc>
                          <a:spcPct val="120000"/>
                        </a:lnSpc>
                      </a:pPr>
                      <a:r>
                        <a:rPr sz="1125">
                          <a:solidFill>
                            <a:srgbClr val="1A2230"/>
                          </a:solidFill>
                          <a:latin typeface="Microsoft YaHei"/>
                          <a:ea typeface="Microsoft YaHei"/>
                        </a:rPr>
                        <a:t>318.1</a:t>
                      </a:r>
                      <a:endParaRPr/>
                    </a:p>
                  </a:txBody>
                  <a:tcPr marL="45720" marR="45720" anchor="ctr">
                    <a:lnL>
                      <a:noFill/>
                    </a:lnL>
                    <a:lnR>
                      <a:noFill/>
                    </a:lnR>
                    <a:lnT>
                      <a:noFill/>
                    </a:lnT>
                    <a:lnB>
                      <a:noFill/>
                    </a:lnB>
                  </a:tcPr>
                </a:tc>
                <a:tc>
                  <a:txBody>
                    <a:bodyPr/>
                    <a:lstStyle/>
                    <a:p>
                      <a:pPr marL="114300" marR="114300" algn="l">
                        <a:lnSpc>
                          <a:spcPct val="120000"/>
                        </a:lnSpc>
                      </a:pPr>
                      <a:r>
                        <a:rPr sz="1125">
                          <a:solidFill>
                            <a:srgbClr val="1A2230"/>
                          </a:solidFill>
                          <a:latin typeface="Microsoft YaHei"/>
                          <a:ea typeface="Microsoft YaHei"/>
                        </a:rPr>
                        <a:t>1693.0</a:t>
                      </a:r>
                      <a:endParaRPr/>
                    </a:p>
                  </a:txBody>
                  <a:tcPr marL="45720" marR="45720" anchor="ctr">
                    <a:lnL>
                      <a:noFill/>
                    </a:lnL>
                    <a:lnR>
                      <a:noFill/>
                    </a:lnR>
                    <a:lnT>
                      <a:noFill/>
                    </a:lnT>
                    <a:lnB>
                      <a:noFill/>
                    </a:lnB>
                  </a:tcPr>
                </a:tc>
                <a:extLst>
                  <a:ext uri="{0D108BD9-81ED-4DB2-BD59-A6C34878D82A}">
                    <a16:rowId xmlns:a16="http://schemas.microsoft.com/office/drawing/2014/main" val="3"/>
                  </a:ext>
                </a:extLst>
              </a:tr>
              <a:tr h="381000">
                <a:tc>
                  <a:txBody>
                    <a:bodyPr/>
                    <a:lstStyle/>
                    <a:p>
                      <a:pPr marL="114300" marR="114300" algn="l">
                        <a:lnSpc>
                          <a:spcPct val="120000"/>
                        </a:lnSpc>
                      </a:pPr>
                      <a:r>
                        <a:rPr sz="1125">
                          <a:solidFill>
                            <a:srgbClr val="1A2230"/>
                          </a:solidFill>
                          <a:latin typeface="Microsoft YaHei"/>
                          <a:ea typeface="Microsoft YaHei"/>
                        </a:rPr>
                        <a:t>M memetic（M1）</a:t>
                      </a:r>
                      <a:endParaRPr/>
                    </a:p>
                  </a:txBody>
                  <a:tcPr marL="45720" marR="45720" anchor="ctr">
                    <a:lnL>
                      <a:noFill/>
                    </a:lnL>
                    <a:lnR>
                      <a:noFill/>
                    </a:lnR>
                    <a:lnT>
                      <a:noFill/>
                    </a:lnT>
                    <a:lnB>
                      <a:noFill/>
                    </a:lnB>
                    <a:solidFill>
                      <a:srgbClr val="F0F5FC"/>
                    </a:solidFill>
                  </a:tcPr>
                </a:tc>
                <a:tc>
                  <a:txBody>
                    <a:bodyPr/>
                    <a:lstStyle/>
                    <a:p>
                      <a:pPr marL="114300" marR="114300" algn="l">
                        <a:lnSpc>
                          <a:spcPct val="120000"/>
                        </a:lnSpc>
                      </a:pPr>
                      <a:r>
                        <a:rPr sz="1125" b="1">
                          <a:solidFill>
                            <a:srgbClr val="1E4FA8"/>
                          </a:solidFill>
                          <a:latin typeface="Microsoft YaHei"/>
                          <a:ea typeface="Microsoft YaHei"/>
                        </a:rPr>
                        <a:t>93.3 ± 3.6</a:t>
                      </a:r>
                      <a:endParaRPr/>
                    </a:p>
                  </a:txBody>
                  <a:tcPr marL="45720" marR="45720" anchor="ctr">
                    <a:lnL>
                      <a:noFill/>
                    </a:lnL>
                    <a:lnR>
                      <a:noFill/>
                    </a:lnR>
                    <a:lnT>
                      <a:noFill/>
                    </a:lnT>
                    <a:lnB>
                      <a:noFill/>
                    </a:lnB>
                    <a:solidFill>
                      <a:srgbClr val="F0F5FC"/>
                    </a:solidFill>
                  </a:tcPr>
                </a:tc>
                <a:tc>
                  <a:txBody>
                    <a:bodyPr/>
                    <a:lstStyle/>
                    <a:p>
                      <a:pPr marL="114300" marR="114300" algn="l">
                        <a:lnSpc>
                          <a:spcPct val="120000"/>
                        </a:lnSpc>
                      </a:pPr>
                      <a:r>
                        <a:rPr sz="1125" b="1">
                          <a:solidFill>
                            <a:srgbClr val="1A2230"/>
                          </a:solidFill>
                          <a:latin typeface="Microsoft YaHei"/>
                          <a:ea typeface="Microsoft YaHei"/>
                        </a:rPr>
                        <a:t>4.0 ± 2.2</a:t>
                      </a:r>
                      <a:endParaRPr/>
                    </a:p>
                  </a:txBody>
                  <a:tcPr marL="45720" marR="45720" anchor="ctr">
                    <a:lnL>
                      <a:noFill/>
                    </a:lnL>
                    <a:lnR>
                      <a:noFill/>
                    </a:lnR>
                    <a:lnT>
                      <a:noFill/>
                    </a:lnT>
                    <a:lnB>
                      <a:noFill/>
                    </a:lnB>
                    <a:solidFill>
                      <a:srgbClr val="F0F5FC"/>
                    </a:solidFill>
                  </a:tcPr>
                </a:tc>
                <a:tc>
                  <a:txBody>
                    <a:bodyPr/>
                    <a:lstStyle/>
                    <a:p>
                      <a:pPr marL="114300" marR="114300" algn="l">
                        <a:lnSpc>
                          <a:spcPct val="120000"/>
                        </a:lnSpc>
                      </a:pPr>
                      <a:r>
                        <a:rPr sz="1125">
                          <a:solidFill>
                            <a:srgbClr val="1A2230"/>
                          </a:solidFill>
                          <a:latin typeface="Microsoft YaHei"/>
                          <a:ea typeface="Microsoft YaHei"/>
                        </a:rPr>
                        <a:t>575</a:t>
                      </a:r>
                      <a:endParaRPr/>
                    </a:p>
                  </a:txBody>
                  <a:tcPr marL="45720" marR="45720" anchor="ctr">
                    <a:lnL>
                      <a:noFill/>
                    </a:lnL>
                    <a:lnR>
                      <a:noFill/>
                    </a:lnR>
                    <a:lnT>
                      <a:noFill/>
                    </a:lnT>
                    <a:lnB>
                      <a:noFill/>
                    </a:lnB>
                    <a:solidFill>
                      <a:srgbClr val="F0F5FC"/>
                    </a:solidFill>
                  </a:tcPr>
                </a:tc>
                <a:tc>
                  <a:txBody>
                    <a:bodyPr/>
                    <a:lstStyle/>
                    <a:p>
                      <a:pPr marL="114300" marR="114300" algn="l">
                        <a:lnSpc>
                          <a:spcPct val="120000"/>
                        </a:lnSpc>
                      </a:pPr>
                      <a:r>
                        <a:rPr sz="1125">
                          <a:solidFill>
                            <a:srgbClr val="1A2230"/>
                          </a:solidFill>
                          <a:latin typeface="Microsoft YaHei"/>
                          <a:ea typeface="Microsoft YaHei"/>
                        </a:rPr>
                        <a:t>319.7</a:t>
                      </a:r>
                      <a:endParaRPr/>
                    </a:p>
                  </a:txBody>
                  <a:tcPr marL="45720" marR="45720" anchor="ctr">
                    <a:lnL>
                      <a:noFill/>
                    </a:lnL>
                    <a:lnR>
                      <a:noFill/>
                    </a:lnR>
                    <a:lnT>
                      <a:noFill/>
                    </a:lnT>
                    <a:lnB>
                      <a:noFill/>
                    </a:lnB>
                    <a:solidFill>
                      <a:srgbClr val="F0F5FC"/>
                    </a:solidFill>
                  </a:tcPr>
                </a:tc>
                <a:tc>
                  <a:txBody>
                    <a:bodyPr/>
                    <a:lstStyle/>
                    <a:p>
                      <a:pPr marL="114300" marR="114300" algn="l">
                        <a:lnSpc>
                          <a:spcPct val="120000"/>
                        </a:lnSpc>
                      </a:pPr>
                      <a:r>
                        <a:rPr sz="1125">
                          <a:solidFill>
                            <a:srgbClr val="1A2230"/>
                          </a:solidFill>
                          <a:latin typeface="Microsoft YaHei"/>
                          <a:ea typeface="Microsoft YaHei"/>
                        </a:rPr>
                        <a:t>1662.9</a:t>
                      </a:r>
                      <a:endParaRPr/>
                    </a:p>
                  </a:txBody>
                  <a:tcPr marL="45720" marR="45720" anchor="ctr">
                    <a:lnL>
                      <a:noFill/>
                    </a:lnL>
                    <a:lnR>
                      <a:noFill/>
                    </a:lnR>
                    <a:lnT>
                      <a:noFill/>
                    </a:lnT>
                    <a:lnB>
                      <a:noFill/>
                    </a:lnB>
                    <a:solidFill>
                      <a:srgbClr val="F0F5FC"/>
                    </a:solidFill>
                  </a:tcPr>
                </a:tc>
                <a:extLst>
                  <a:ext uri="{0D108BD9-81ED-4DB2-BD59-A6C34878D82A}">
                    <a16:rowId xmlns:a16="http://schemas.microsoft.com/office/drawing/2014/main" val="4"/>
                  </a:ext>
                </a:extLst>
              </a:tr>
              <a:tr h="381000">
                <a:tc>
                  <a:txBody>
                    <a:bodyPr/>
                    <a:lstStyle/>
                    <a:p>
                      <a:pPr marL="114300" marR="114300" algn="l">
                        <a:lnSpc>
                          <a:spcPct val="120000"/>
                        </a:lnSpc>
                      </a:pPr>
                      <a:r>
                        <a:rPr sz="1125" b="1">
                          <a:solidFill>
                            <a:srgbClr val="3B6D11"/>
                          </a:solidFill>
                          <a:latin typeface="Microsoft YaHei"/>
                          <a:ea typeface="Microsoft YaHei"/>
                        </a:rPr>
                        <a:t>P − N</a:t>
                      </a:r>
                      <a:endParaRPr/>
                    </a:p>
                  </a:txBody>
                  <a:tcPr marL="45720" marR="45720" anchor="ctr">
                    <a:lnL>
                      <a:noFill/>
                    </a:lnL>
                    <a:lnR>
                      <a:noFill/>
                    </a:lnR>
                    <a:lnT>
                      <a:noFill/>
                    </a:lnT>
                    <a:lnB>
                      <a:noFill/>
                    </a:lnB>
                  </a:tcPr>
                </a:tc>
                <a:tc>
                  <a:txBody>
                    <a:bodyPr/>
                    <a:lstStyle/>
                    <a:p>
                      <a:pPr marL="114300" marR="114300" algn="l">
                        <a:lnSpc>
                          <a:spcPct val="120000"/>
                        </a:lnSpc>
                      </a:pPr>
                      <a:r>
                        <a:rPr sz="1125" b="1">
                          <a:solidFill>
                            <a:srgbClr val="3B6D11"/>
                          </a:solidFill>
                          <a:latin typeface="Microsoft YaHei"/>
                          <a:ea typeface="Microsoft YaHei"/>
                        </a:rPr>
                        <a:t>+7.8 pp</a:t>
                      </a:r>
                      <a:endParaRPr/>
                    </a:p>
                  </a:txBody>
                  <a:tcPr marL="45720" marR="45720" anchor="ctr">
                    <a:lnL>
                      <a:noFill/>
                    </a:lnL>
                    <a:lnR>
                      <a:noFill/>
                    </a:lnR>
                    <a:lnT>
                      <a:noFill/>
                    </a:lnT>
                    <a:lnB>
                      <a:noFill/>
                    </a:lnB>
                  </a:tcPr>
                </a:tc>
                <a:tc>
                  <a:txBody>
                    <a:bodyPr/>
                    <a:lstStyle/>
                    <a:p>
                      <a:pPr marL="114300" marR="114300" algn="l">
                        <a:lnSpc>
                          <a:spcPct val="120000"/>
                        </a:lnSpc>
                      </a:pPr>
                      <a:r>
                        <a:rPr sz="1125" b="1">
                          <a:solidFill>
                            <a:srgbClr val="3B6D11"/>
                          </a:solidFill>
                          <a:latin typeface="Microsoft YaHei"/>
                          <a:ea typeface="Microsoft YaHei"/>
                        </a:rPr>
                        <a:t>−4.7</a:t>
                      </a:r>
                      <a:endParaRPr/>
                    </a:p>
                  </a:txBody>
                  <a:tcPr marL="45720" marR="45720" anchor="ctr">
                    <a:lnL>
                      <a:noFill/>
                    </a:lnL>
                    <a:lnR>
                      <a:noFill/>
                    </a:lnR>
                    <a:lnT>
                      <a:noFill/>
                    </a:lnT>
                    <a:lnB>
                      <a:noFill/>
                    </a:lnB>
                  </a:tcPr>
                </a:tc>
                <a:tc>
                  <a:txBody>
                    <a:bodyPr/>
                    <a:lstStyle/>
                    <a:p>
                      <a:pPr marL="114300" marR="114300" algn="l">
                        <a:lnSpc>
                          <a:spcPct val="120000"/>
                        </a:lnSpc>
                      </a:pPr>
                      <a:r>
                        <a:rPr sz="1125">
                          <a:solidFill>
                            <a:srgbClr val="3B6D11"/>
                          </a:solidFill>
                          <a:latin typeface="Microsoft YaHei"/>
                          <a:ea typeface="Microsoft YaHei"/>
                        </a:rPr>
                        <a:t>−4</a:t>
                      </a:r>
                      <a:endParaRPr/>
                    </a:p>
                  </a:txBody>
                  <a:tcPr marL="45720" marR="45720" anchor="ctr">
                    <a:lnL>
                      <a:noFill/>
                    </a:lnL>
                    <a:lnR>
                      <a:noFill/>
                    </a:lnR>
                    <a:lnT>
                      <a:noFill/>
                    </a:lnT>
                    <a:lnB>
                      <a:noFill/>
                    </a:lnB>
                  </a:tcPr>
                </a:tc>
                <a:tc>
                  <a:txBody>
                    <a:bodyPr/>
                    <a:lstStyle/>
                    <a:p>
                      <a:pPr marL="114300" marR="114300" algn="l">
                        <a:lnSpc>
                          <a:spcPct val="120000"/>
                        </a:lnSpc>
                      </a:pPr>
                      <a:r>
                        <a:rPr sz="1125">
                          <a:solidFill>
                            <a:srgbClr val="3B6D11"/>
                          </a:solidFill>
                          <a:latin typeface="Microsoft YaHei"/>
                          <a:ea typeface="Microsoft YaHei"/>
                        </a:rPr>
                        <a:t>+8.3</a:t>
                      </a:r>
                      <a:endParaRPr/>
                    </a:p>
                  </a:txBody>
                  <a:tcPr marL="45720" marR="45720" anchor="ctr">
                    <a:lnL>
                      <a:noFill/>
                    </a:lnL>
                    <a:lnR>
                      <a:noFill/>
                    </a:lnR>
                    <a:lnT>
                      <a:noFill/>
                    </a:lnT>
                    <a:lnB>
                      <a:noFill/>
                    </a:lnB>
                  </a:tcPr>
                </a:tc>
                <a:tc>
                  <a:txBody>
                    <a:bodyPr/>
                    <a:lstStyle/>
                    <a:p>
                      <a:pPr marL="114300" marR="114300" algn="l">
                        <a:lnSpc>
                          <a:spcPct val="120000"/>
                        </a:lnSpc>
                      </a:pPr>
                      <a:r>
                        <a:rPr sz="1125">
                          <a:solidFill>
                            <a:srgbClr val="3B6D11"/>
                          </a:solidFill>
                          <a:latin typeface="Microsoft YaHei"/>
                          <a:ea typeface="Microsoft YaHei"/>
                        </a:rPr>
                        <a:t>−30.7</a:t>
                      </a:r>
                      <a:endParaRPr/>
                    </a:p>
                  </a:txBody>
                  <a:tcPr marL="45720" marR="45720" anchor="ctr">
                    <a:lnL>
                      <a:noFill/>
                    </a:lnL>
                    <a:lnR>
                      <a:noFill/>
                    </a:lnR>
                    <a:lnT>
                      <a:noFill/>
                    </a:lnT>
                    <a:lnB>
                      <a:noFill/>
                    </a:lnB>
                  </a:tcPr>
                </a:tc>
                <a:extLst>
                  <a:ext uri="{0D108BD9-81ED-4DB2-BD59-A6C34878D82A}">
                    <a16:rowId xmlns:a16="http://schemas.microsoft.com/office/drawing/2014/main" val="5"/>
                  </a:ext>
                </a:extLst>
              </a:tr>
              <a:tr h="381000">
                <a:tc>
                  <a:txBody>
                    <a:bodyPr/>
                    <a:lstStyle/>
                    <a:p>
                      <a:pPr marL="114300" marR="114300" algn="l">
                        <a:lnSpc>
                          <a:spcPct val="120000"/>
                        </a:lnSpc>
                      </a:pPr>
                      <a:r>
                        <a:rPr sz="1125" b="1">
                          <a:solidFill>
                            <a:srgbClr val="3B6D11"/>
                          </a:solidFill>
                          <a:latin typeface="Microsoft YaHei"/>
                          <a:ea typeface="Microsoft YaHei"/>
                        </a:rPr>
                        <a:t>M − P</a:t>
                      </a:r>
                      <a:endParaRPr/>
                    </a:p>
                  </a:txBody>
                  <a:tcPr marL="45720" marR="45720" anchor="ctr">
                    <a:lnL>
                      <a:noFill/>
                    </a:lnL>
                    <a:lnR>
                      <a:noFill/>
                    </a:lnR>
                    <a:lnT>
                      <a:noFill/>
                    </a:lnT>
                    <a:lnB>
                      <a:noFill/>
                    </a:lnB>
                    <a:solidFill>
                      <a:srgbClr val="F7F9FC"/>
                    </a:solidFill>
                  </a:tcPr>
                </a:tc>
                <a:tc>
                  <a:txBody>
                    <a:bodyPr/>
                    <a:lstStyle/>
                    <a:p>
                      <a:pPr marL="114300" marR="114300" algn="l">
                        <a:lnSpc>
                          <a:spcPct val="120000"/>
                        </a:lnSpc>
                      </a:pPr>
                      <a:r>
                        <a:rPr sz="1125" b="1">
                          <a:solidFill>
                            <a:srgbClr val="3B6D11"/>
                          </a:solidFill>
                          <a:latin typeface="Microsoft YaHei"/>
                          <a:ea typeface="Microsoft YaHei"/>
                        </a:rPr>
                        <a:t>+1.7 pp</a:t>
                      </a:r>
                      <a:endParaRPr/>
                    </a:p>
                  </a:txBody>
                  <a:tcPr marL="45720" marR="45720" anchor="ctr">
                    <a:lnL>
                      <a:noFill/>
                    </a:lnL>
                    <a:lnR>
                      <a:noFill/>
                    </a:lnR>
                    <a:lnT>
                      <a:noFill/>
                    </a:lnT>
                    <a:lnB>
                      <a:noFill/>
                    </a:lnB>
                    <a:solidFill>
                      <a:srgbClr val="F7F9FC"/>
                    </a:solidFill>
                  </a:tcPr>
                </a:tc>
                <a:tc>
                  <a:txBody>
                    <a:bodyPr/>
                    <a:lstStyle/>
                    <a:p>
                      <a:pPr marL="114300" marR="114300" algn="l">
                        <a:lnSpc>
                          <a:spcPct val="120000"/>
                        </a:lnSpc>
                      </a:pPr>
                      <a:r>
                        <a:rPr sz="1125" b="1">
                          <a:solidFill>
                            <a:srgbClr val="3B6D11"/>
                          </a:solidFill>
                          <a:latin typeface="Microsoft YaHei"/>
                          <a:ea typeface="Microsoft YaHei"/>
                        </a:rPr>
                        <a:t>−1.0</a:t>
                      </a:r>
                      <a:endParaRPr/>
                    </a:p>
                  </a:txBody>
                  <a:tcPr marL="45720" marR="45720" anchor="ctr">
                    <a:lnL>
                      <a:noFill/>
                    </a:lnL>
                    <a:lnR>
                      <a:noFill/>
                    </a:lnR>
                    <a:lnT>
                      <a:noFill/>
                    </a:lnT>
                    <a:lnB>
                      <a:noFill/>
                    </a:lnB>
                    <a:solidFill>
                      <a:srgbClr val="F7F9FC"/>
                    </a:solidFill>
                  </a:tcPr>
                </a:tc>
                <a:tc>
                  <a:txBody>
                    <a:bodyPr/>
                    <a:lstStyle/>
                    <a:p>
                      <a:pPr marL="114300" marR="114300" algn="l">
                        <a:lnSpc>
                          <a:spcPct val="120000"/>
                        </a:lnSpc>
                      </a:pPr>
                      <a:r>
                        <a:rPr sz="1125">
                          <a:solidFill>
                            <a:srgbClr val="3B6D11"/>
                          </a:solidFill>
                          <a:latin typeface="Microsoft YaHei"/>
                          <a:ea typeface="Microsoft YaHei"/>
                        </a:rPr>
                        <a:t>−157</a:t>
                      </a:r>
                      <a:endParaRPr/>
                    </a:p>
                  </a:txBody>
                  <a:tcPr marL="45720" marR="45720" anchor="ctr">
                    <a:lnL>
                      <a:noFill/>
                    </a:lnL>
                    <a:lnR>
                      <a:noFill/>
                    </a:lnR>
                    <a:lnT>
                      <a:noFill/>
                    </a:lnT>
                    <a:lnB>
                      <a:noFill/>
                    </a:lnB>
                    <a:solidFill>
                      <a:srgbClr val="F7F9FC"/>
                    </a:solidFill>
                  </a:tcPr>
                </a:tc>
                <a:tc>
                  <a:txBody>
                    <a:bodyPr/>
                    <a:lstStyle/>
                    <a:p>
                      <a:pPr marL="114300" marR="114300" algn="l">
                        <a:lnSpc>
                          <a:spcPct val="120000"/>
                        </a:lnSpc>
                      </a:pPr>
                      <a:r>
                        <a:rPr sz="1125">
                          <a:solidFill>
                            <a:srgbClr val="3B6D11"/>
                          </a:solidFill>
                          <a:latin typeface="Microsoft YaHei"/>
                          <a:ea typeface="Microsoft YaHei"/>
                        </a:rPr>
                        <a:t>+1.6</a:t>
                      </a:r>
                      <a:endParaRPr/>
                    </a:p>
                  </a:txBody>
                  <a:tcPr marL="45720" marR="45720" anchor="ctr">
                    <a:lnL>
                      <a:noFill/>
                    </a:lnL>
                    <a:lnR>
                      <a:noFill/>
                    </a:lnR>
                    <a:lnT>
                      <a:noFill/>
                    </a:lnT>
                    <a:lnB>
                      <a:noFill/>
                    </a:lnB>
                    <a:solidFill>
                      <a:srgbClr val="F7F9FC"/>
                    </a:solidFill>
                  </a:tcPr>
                </a:tc>
                <a:tc>
                  <a:txBody>
                    <a:bodyPr/>
                    <a:lstStyle/>
                    <a:p>
                      <a:pPr marL="114300" marR="114300" algn="l">
                        <a:lnSpc>
                          <a:spcPct val="120000"/>
                        </a:lnSpc>
                      </a:pPr>
                      <a:r>
                        <a:rPr sz="1125">
                          <a:solidFill>
                            <a:srgbClr val="3B6D11"/>
                          </a:solidFill>
                          <a:latin typeface="Microsoft YaHei"/>
                          <a:ea typeface="Microsoft YaHei"/>
                        </a:rPr>
                        <a:t>−30.1</a:t>
                      </a:r>
                      <a:endParaRPr/>
                    </a:p>
                  </a:txBody>
                  <a:tcPr marL="45720" marR="45720" anchor="ctr">
                    <a:lnL>
                      <a:noFill/>
                    </a:lnL>
                    <a:lnR>
                      <a:noFill/>
                    </a:lnR>
                    <a:lnT>
                      <a:noFill/>
                    </a:lnT>
                    <a:lnB>
                      <a:noFill/>
                    </a:lnB>
                    <a:solidFill>
                      <a:srgbClr val="F7F9FC"/>
                    </a:solidFill>
                  </a:tcPr>
                </a:tc>
                <a:extLst>
                  <a:ext uri="{0D108BD9-81ED-4DB2-BD59-A6C34878D82A}">
                    <a16:rowId xmlns:a16="http://schemas.microsoft.com/office/drawing/2014/main" val="6"/>
                  </a:ext>
                </a:extLst>
              </a:tr>
            </a:tbl>
          </a:graphicData>
        </a:graphic>
      </p:graphicFrame>
      <p:sp>
        <p:nvSpPr>
          <p:cNvPr id="81" name="矩形: 圆角 115"/>
          <p:cNvSpPr/>
          <p:nvPr/>
        </p:nvSpPr>
        <p:spPr>
          <a:xfrm>
            <a:off x="4229100" y="3543300"/>
            <a:ext cx="7581900" cy="1400175"/>
          </a:xfrm>
          <a:prstGeom prst="roundRect">
            <a:avLst>
              <a:gd name="adj" fmla="val 6803"/>
            </a:avLst>
          </a:prstGeom>
          <a:solidFill>
            <a:srgbClr val="F7F9FC"/>
          </a:solidFill>
          <a:ln w="12700">
            <a:solidFill>
              <a:srgbClr val="D6DCE5"/>
            </a:solidFill>
            <a:prstDash val="solid"/>
          </a:ln>
        </p:spPr>
        <p:txBody>
          <a:bodyPr/>
          <a:lstStyle/>
          <a:p>
            <a:endParaRPr/>
          </a:p>
        </p:txBody>
      </p:sp>
      <p:sp>
        <p:nvSpPr>
          <p:cNvPr id="82" name="文本框 116" descr="{&quot;isTemplate&quot;:true,&quot;type&quot;:&quot;text&quot;}"/>
          <p:cNvSpPr txBox="1"/>
          <p:nvPr/>
        </p:nvSpPr>
        <p:spPr>
          <a:xfrm>
            <a:off x="4400550" y="3676650"/>
            <a:ext cx="7239000" cy="190500"/>
          </a:xfrm>
          <a:prstGeom prst="rect">
            <a:avLst/>
          </a:prstGeom>
        </p:spPr>
        <p:txBody>
          <a:bodyPr wrap="none" lIns="0" tIns="0" rIns="0" bIns="0"/>
          <a:lstStyle/>
          <a:p>
            <a:pPr>
              <a:lnSpc>
                <a:spcPct val="100000"/>
              </a:lnSpc>
            </a:pPr>
            <a:r>
              <a:rPr lang="zh-CN" sz="1200" b="1">
                <a:solidFill>
                  <a:srgbClr val="0E3F8C"/>
                </a:solidFill>
                <a:latin typeface="Source Han Sans CN"/>
                <a:ea typeface="Source Han Sans CN"/>
              </a:rPr>
              <a:t>每</a:t>
            </a:r>
            <a:r>
              <a:rPr lang="en-US" sz="1200" b="1">
                <a:solidFill>
                  <a:srgbClr val="0E3F8C"/>
                </a:solidFill>
                <a:latin typeface="Source Han Sans CN"/>
                <a:ea typeface="Source Han Sans CN"/>
              </a:rPr>
              <a:t> seed </a:t>
            </a:r>
            <a:r>
              <a:rPr lang="zh-CN" sz="1200" b="1">
                <a:solidFill>
                  <a:srgbClr val="0E3F8C"/>
                </a:solidFill>
                <a:latin typeface="Source Han Sans CN"/>
                <a:ea typeface="Source Han Sans CN"/>
              </a:rPr>
              <a:t>增益：方向</a:t>
            </a:r>
            <a:r>
              <a:rPr lang="en-US" sz="1200" b="1">
                <a:solidFill>
                  <a:srgbClr val="0E3F8C"/>
                </a:solidFill>
                <a:latin typeface="Source Han Sans CN"/>
                <a:ea typeface="Source Han Sans CN"/>
              </a:rPr>
              <a:t> 3/3 </a:t>
            </a:r>
            <a:r>
              <a:rPr lang="zh-CN" sz="1200" b="1">
                <a:solidFill>
                  <a:srgbClr val="0E3F8C"/>
                </a:solidFill>
                <a:latin typeface="Source Han Sans CN"/>
                <a:ea typeface="Source Han Sans CN"/>
              </a:rPr>
              <a:t>一致，幅度差</a:t>
            </a:r>
            <a:r>
              <a:rPr lang="en-US" sz="1200" b="1">
                <a:solidFill>
                  <a:srgbClr val="0E3F8C"/>
                </a:solidFill>
                <a:latin typeface="Source Han Sans CN"/>
                <a:ea typeface="Source Han Sans CN"/>
              </a:rPr>
              <a:t> 4 </a:t>
            </a:r>
            <a:r>
              <a:rPr lang="zh-CN" sz="1200" b="1">
                <a:solidFill>
                  <a:srgbClr val="0E3F8C"/>
                </a:solidFill>
                <a:latin typeface="Source Han Sans CN"/>
                <a:ea typeface="Source Han Sans CN"/>
              </a:rPr>
              <a:t>倍</a:t>
            </a:r>
            <a:endParaRPr/>
          </a:p>
        </p:txBody>
      </p:sp>
      <p:sp>
        <p:nvSpPr>
          <p:cNvPr id="83" name="文本框 117" descr="{&quot;isTemplate&quot;:true,&quot;type&quot;:&quot;text&quot;}"/>
          <p:cNvSpPr txBox="1"/>
          <p:nvPr/>
        </p:nvSpPr>
        <p:spPr>
          <a:xfrm>
            <a:off x="4400550" y="3924300"/>
            <a:ext cx="7239000" cy="285750"/>
          </a:xfrm>
          <a:prstGeom prst="rect">
            <a:avLst/>
          </a:prstGeom>
        </p:spPr>
        <p:txBody>
          <a:bodyPr wrap="none" lIns="0" tIns="0" rIns="0" bIns="0"/>
          <a:lstStyle/>
          <a:p>
            <a:pPr>
              <a:lnSpc>
                <a:spcPct val="175000"/>
              </a:lnSpc>
            </a:pPr>
            <a:r>
              <a:rPr lang="en-US" sz="1050">
                <a:solidFill>
                  <a:srgbClr val="4A5568"/>
                </a:solidFill>
                <a:latin typeface="Source Han Sans CN"/>
                <a:ea typeface="Source Han Sans CN"/>
              </a:rPr>
              <a:t>s42</a:t>
            </a:r>
            <a:r>
              <a:rPr lang="zh-CN" sz="1050">
                <a:solidFill>
                  <a:srgbClr val="4A5568"/>
                </a:solidFill>
                <a:latin typeface="Source Han Sans CN"/>
                <a:ea typeface="Source Han Sans CN"/>
              </a:rPr>
              <a:t>：</a:t>
            </a:r>
            <a:r>
              <a:rPr lang="en-US" sz="1050">
                <a:solidFill>
                  <a:srgbClr val="4A5568"/>
                </a:solidFill>
                <a:latin typeface="Source Han Sans CN"/>
                <a:ea typeface="Source Han Sans CN"/>
              </a:rPr>
              <a:t>polish </a:t>
            </a:r>
            <a:r>
              <a:rPr lang="en-US" sz="1050" b="1">
                <a:solidFill>
                  <a:srgbClr val="1E4FA8"/>
                </a:solidFill>
                <a:latin typeface="Source Han Sans CN"/>
                <a:ea typeface="Source Han Sans CN"/>
              </a:rPr>
              <a:t>+6.7pp</a:t>
            </a:r>
            <a:r>
              <a:rPr lang="zh-CN" sz="1050">
                <a:solidFill>
                  <a:srgbClr val="4A5568"/>
                </a:solidFill>
                <a:latin typeface="Source Han Sans CN"/>
                <a:ea typeface="Source Han Sans CN"/>
              </a:rPr>
              <a:t>、</a:t>
            </a:r>
            <a:r>
              <a:rPr lang="en-US" sz="1050">
                <a:solidFill>
                  <a:srgbClr val="4A5568"/>
                </a:solidFill>
                <a:latin typeface="Source Han Sans CN"/>
                <a:ea typeface="Source Han Sans CN"/>
              </a:rPr>
              <a:t>memetic +3.3pp</a:t>
            </a:r>
            <a:r>
              <a:rPr lang="zh-CN" sz="1050">
                <a:solidFill>
                  <a:srgbClr val="4A5568"/>
                </a:solidFill>
                <a:latin typeface="Source Han Sans CN"/>
                <a:ea typeface="Source Han Sans CN"/>
              </a:rPr>
              <a:t>；　</a:t>
            </a:r>
            <a:r>
              <a:rPr lang="en-US" sz="1050">
                <a:solidFill>
                  <a:srgbClr val="4A5568"/>
                </a:solidFill>
                <a:latin typeface="Source Han Sans CN"/>
                <a:ea typeface="Source Han Sans CN"/>
              </a:rPr>
              <a:t>s43</a:t>
            </a:r>
            <a:r>
              <a:rPr lang="zh-CN" sz="1050">
                <a:solidFill>
                  <a:srgbClr val="4A5568"/>
                </a:solidFill>
                <a:latin typeface="Source Han Sans CN"/>
                <a:ea typeface="Source Han Sans CN"/>
              </a:rPr>
              <a:t>：</a:t>
            </a:r>
            <a:r>
              <a:rPr lang="en-US" sz="1050">
                <a:solidFill>
                  <a:srgbClr val="4A5568"/>
                </a:solidFill>
                <a:latin typeface="Source Han Sans CN"/>
                <a:ea typeface="Source Han Sans CN"/>
              </a:rPr>
              <a:t>+13.3pp</a:t>
            </a:r>
            <a:r>
              <a:rPr lang="zh-CN" sz="1050">
                <a:solidFill>
                  <a:srgbClr val="4A5568"/>
                </a:solidFill>
                <a:latin typeface="Source Han Sans CN"/>
                <a:ea typeface="Source Han Sans CN"/>
              </a:rPr>
              <a:t>、</a:t>
            </a:r>
            <a:r>
              <a:rPr lang="en-US" sz="1050">
                <a:solidFill>
                  <a:srgbClr val="4A5568"/>
                </a:solidFill>
                <a:latin typeface="Source Han Sans CN"/>
                <a:ea typeface="Source Han Sans CN"/>
              </a:rPr>
              <a:t>+1.7pp</a:t>
            </a:r>
            <a:r>
              <a:rPr lang="zh-CN" sz="1050">
                <a:solidFill>
                  <a:srgbClr val="4A5568"/>
                </a:solidFill>
                <a:latin typeface="Source Han Sans CN"/>
                <a:ea typeface="Source Han Sans CN"/>
              </a:rPr>
              <a:t>；　</a:t>
            </a:r>
            <a:r>
              <a:rPr lang="en-US" sz="1050">
                <a:solidFill>
                  <a:srgbClr val="4A5568"/>
                </a:solidFill>
                <a:latin typeface="Source Han Sans CN"/>
                <a:ea typeface="Source Han Sans CN"/>
              </a:rPr>
              <a:t>s44</a:t>
            </a:r>
            <a:r>
              <a:rPr lang="zh-CN" sz="1050">
                <a:solidFill>
                  <a:srgbClr val="4A5568"/>
                </a:solidFill>
                <a:latin typeface="Source Han Sans CN"/>
                <a:ea typeface="Source Han Sans CN"/>
              </a:rPr>
              <a:t>：</a:t>
            </a:r>
            <a:r>
              <a:rPr lang="en-US" sz="1050">
                <a:solidFill>
                  <a:srgbClr val="4A5568"/>
                </a:solidFill>
                <a:latin typeface="Source Han Sans CN"/>
                <a:ea typeface="Source Han Sans CN"/>
              </a:rPr>
              <a:t>+3.3pp</a:t>
            </a:r>
            <a:r>
              <a:rPr lang="zh-CN" sz="1050">
                <a:solidFill>
                  <a:srgbClr val="4A5568"/>
                </a:solidFill>
                <a:latin typeface="Source Han Sans CN"/>
                <a:ea typeface="Source Han Sans CN"/>
              </a:rPr>
              <a:t>、</a:t>
            </a:r>
            <a:r>
              <a:rPr lang="en-US" sz="1050" b="1">
                <a:solidFill>
                  <a:srgbClr val="D9534F"/>
                </a:solidFill>
                <a:latin typeface="Source Han Sans CN"/>
                <a:ea typeface="Source Han Sans CN"/>
              </a:rPr>
              <a:t>+0.0pp</a:t>
            </a:r>
            <a:endParaRPr/>
          </a:p>
        </p:txBody>
      </p:sp>
      <p:sp>
        <p:nvSpPr>
          <p:cNvPr id="84" name="文本框 118" descr="{&quot;isTemplate&quot;:true,&quot;type&quot;:&quot;text&quot;}"/>
          <p:cNvSpPr txBox="1"/>
          <p:nvPr/>
        </p:nvSpPr>
        <p:spPr>
          <a:xfrm>
            <a:off x="4400550" y="4248150"/>
            <a:ext cx="7239000" cy="561975"/>
          </a:xfrm>
          <a:prstGeom prst="rect">
            <a:avLst/>
          </a:prstGeom>
        </p:spPr>
        <p:txBody>
          <a:bodyPr wrap="square" lIns="0" tIns="0" rIns="0" bIns="0">
            <a:normAutofit/>
          </a:bodyPr>
          <a:lstStyle/>
          <a:p>
            <a:pPr>
              <a:lnSpc>
                <a:spcPct val="175000"/>
              </a:lnSpc>
            </a:pPr>
            <a:r>
              <a:rPr lang="en-US" sz="1050">
                <a:solidFill>
                  <a:srgbClr val="4A5568"/>
                </a:solidFill>
                <a:latin typeface="Source Han Sans CN"/>
                <a:ea typeface="Source Han Sans CN"/>
              </a:rPr>
              <a:t>s44 </a:t>
            </a:r>
            <a:r>
              <a:rPr lang="zh-CN" sz="1050">
                <a:solidFill>
                  <a:srgbClr val="4A5568"/>
                </a:solidFill>
                <a:latin typeface="Source Han Sans CN"/>
                <a:ea typeface="Source Han Sans CN"/>
              </a:rPr>
              <a:t>零增益机制已定性：单任务周期无路由改进空间，档案增益只降路径、被持平规则拒收——论文按</a:t>
            </a:r>
            <a:r>
              <a:rPr lang="en-US" sz="1050">
                <a:solidFill>
                  <a:srgbClr val="4A5568"/>
                </a:solidFill>
                <a:latin typeface="Source Han Sans CN"/>
                <a:ea typeface="Source Han Sans CN"/>
              </a:rPr>
              <a:t> seed-dependent </a:t>
            </a:r>
            <a:r>
              <a:rPr lang="zh-CN" sz="1050">
                <a:solidFill>
                  <a:srgbClr val="4A5568"/>
                </a:solidFill>
                <a:latin typeface="Source Han Sans CN"/>
                <a:ea typeface="Source Han Sans CN"/>
              </a:rPr>
              <a:t>报区间「</a:t>
            </a:r>
            <a:r>
              <a:rPr lang="en-US" sz="1050">
                <a:solidFill>
                  <a:srgbClr val="4A5568"/>
                </a:solidFill>
                <a:latin typeface="Source Han Sans CN"/>
                <a:ea typeface="Source Han Sans CN"/>
              </a:rPr>
              <a:t>+0~+3.3pp</a:t>
            </a:r>
            <a:r>
              <a:rPr lang="zh-CN" sz="1050">
                <a:solidFill>
                  <a:srgbClr val="4A5568"/>
                </a:solidFill>
                <a:latin typeface="Source Han Sans CN"/>
                <a:ea typeface="Source Han Sans CN"/>
              </a:rPr>
              <a:t>，均值</a:t>
            </a:r>
            <a:r>
              <a:rPr lang="en-US" sz="1050">
                <a:solidFill>
                  <a:srgbClr val="4A5568"/>
                </a:solidFill>
                <a:latin typeface="Source Han Sans CN"/>
                <a:ea typeface="Source Han Sans CN"/>
              </a:rPr>
              <a:t> +1.7pp</a:t>
            </a:r>
            <a:r>
              <a:rPr lang="zh-CN" sz="1050">
                <a:solidFill>
                  <a:srgbClr val="4A5568"/>
                </a:solidFill>
                <a:latin typeface="Source Han Sans CN"/>
                <a:ea typeface="Source Han Sans CN"/>
              </a:rPr>
              <a:t>」，不报单点。</a:t>
            </a:r>
            <a:endParaRPr/>
          </a:p>
        </p:txBody>
      </p:sp>
      <p:sp>
        <p:nvSpPr>
          <p:cNvPr id="85" name="矩形: 圆角 119"/>
          <p:cNvSpPr/>
          <p:nvPr/>
        </p:nvSpPr>
        <p:spPr>
          <a:xfrm>
            <a:off x="4267200" y="5076825"/>
            <a:ext cx="7581900" cy="781050"/>
          </a:xfrm>
          <a:prstGeom prst="roundRect">
            <a:avLst>
              <a:gd name="adj" fmla="val 9756"/>
            </a:avLst>
          </a:prstGeom>
          <a:solidFill>
            <a:srgbClr val="F0F5FC"/>
          </a:solidFill>
          <a:ln/>
        </p:spPr>
        <p:txBody>
          <a:bodyPr/>
          <a:lstStyle/>
          <a:p>
            <a:endParaRPr/>
          </a:p>
        </p:txBody>
      </p:sp>
      <p:sp>
        <p:nvSpPr>
          <p:cNvPr id="86" name="任意多边形: 形状 120"/>
          <p:cNvSpPr/>
          <p:nvPr/>
        </p:nvSpPr>
        <p:spPr>
          <a:xfrm>
            <a:off x="4267200" y="5076825"/>
            <a:ext cx="7581900" cy="781050"/>
          </a:xfrm>
          <a:custGeom>
            <a:avLst/>
            <a:gdLst/>
            <a:ahLst/>
            <a:cxnLst/>
            <a:rect l="0" t="0" r="0" b="0"/>
            <a:pathLst>
              <a:path w="796" h="82">
                <a:moveTo>
                  <a:pt x="8" y="0"/>
                </a:moveTo>
                <a:cubicBezTo>
                  <a:pt x="6" y="0"/>
                  <a:pt x="4" y="2"/>
                  <a:pt x="4" y="4"/>
                </a:cubicBezTo>
                <a:lnTo>
                  <a:pt x="4" y="78"/>
                </a:lnTo>
                <a:cubicBezTo>
                  <a:pt x="4" y="80"/>
                  <a:pt x="5" y="82"/>
                  <a:pt x="7" y="82"/>
                </a:cubicBezTo>
                <a:cubicBezTo>
                  <a:pt x="3" y="82"/>
                  <a:pt x="0" y="78"/>
                  <a:pt x="0" y="74"/>
                </a:cubicBezTo>
                <a:lnTo>
                  <a:pt x="0" y="8"/>
                </a:lnTo>
                <a:cubicBezTo>
                  <a:pt x="0" y="4"/>
                  <a:pt x="3" y="0"/>
                  <a:pt x="8" y="0"/>
                </a:cubicBezTo>
                <a:close/>
              </a:path>
            </a:pathLst>
          </a:custGeom>
          <a:solidFill>
            <a:srgbClr val="1E4FA8"/>
          </a:solidFill>
          <a:ln/>
        </p:spPr>
        <p:txBody>
          <a:bodyPr/>
          <a:lstStyle/>
          <a:p>
            <a:endParaRPr/>
          </a:p>
        </p:txBody>
      </p:sp>
      <p:sp>
        <p:nvSpPr>
          <p:cNvPr id="87" name="文本框 121" descr="{&quot;isTemplate&quot;:true,&quot;type&quot;:&quot;text&quot;}"/>
          <p:cNvSpPr txBox="1"/>
          <p:nvPr/>
        </p:nvSpPr>
        <p:spPr>
          <a:xfrm>
            <a:off x="4438650" y="5191125"/>
            <a:ext cx="7200900" cy="552450"/>
          </a:xfrm>
          <a:prstGeom prst="rect">
            <a:avLst/>
          </a:prstGeom>
        </p:spPr>
        <p:txBody>
          <a:bodyPr wrap="square" lIns="0" tIns="0" rIns="0" bIns="0">
            <a:normAutofit/>
          </a:bodyPr>
          <a:lstStyle/>
          <a:p>
            <a:pPr>
              <a:lnSpc>
                <a:spcPct val="160000"/>
              </a:lnSpc>
            </a:pPr>
            <a:r>
              <a:rPr lang="zh-CN" sz="1125" b="1">
                <a:solidFill>
                  <a:srgbClr val="0E3F8C"/>
                </a:solidFill>
                <a:latin typeface="Source Han Sans CN"/>
                <a:ea typeface="Source Han Sans CN"/>
              </a:rPr>
              <a:t>判断：抛光与</a:t>
            </a:r>
            <a:r>
              <a:rPr lang="en-US" sz="1125" b="1">
                <a:solidFill>
                  <a:srgbClr val="0E3F8C"/>
                </a:solidFill>
                <a:latin typeface="Source Han Sans CN"/>
                <a:ea typeface="Source Han Sans CN"/>
              </a:rPr>
              <a:t> memetic </a:t>
            </a:r>
            <a:r>
              <a:rPr lang="zh-CN" sz="1125" b="1">
                <a:solidFill>
                  <a:srgbClr val="0E3F8C"/>
                </a:solidFill>
                <a:latin typeface="Source Han Sans CN"/>
                <a:ea typeface="Source Han Sans CN"/>
              </a:rPr>
              <a:t>的改进不是单</a:t>
            </a:r>
            <a:r>
              <a:rPr lang="en-US" sz="1125" b="1">
                <a:solidFill>
                  <a:srgbClr val="0E3F8C"/>
                </a:solidFill>
                <a:latin typeface="Source Han Sans CN"/>
                <a:ea typeface="Source Han Sans CN"/>
              </a:rPr>
              <a:t> seed </a:t>
            </a:r>
            <a:r>
              <a:rPr lang="zh-CN" sz="1125" b="1">
                <a:solidFill>
                  <a:srgbClr val="0E3F8C"/>
                </a:solidFill>
                <a:latin typeface="Source Han Sans CN"/>
                <a:ea typeface="Source Han Sans CN"/>
              </a:rPr>
              <a:t>巧合——方向全部一致；同时幅度依赖</a:t>
            </a:r>
            <a:r>
              <a:rPr lang="en-US" sz="1125" b="1">
                <a:solidFill>
                  <a:srgbClr val="0E3F8C"/>
                </a:solidFill>
                <a:latin typeface="Source Han Sans CN"/>
                <a:ea typeface="Source Han Sans CN"/>
              </a:rPr>
              <a:t> seed</a:t>
            </a:r>
            <a:r>
              <a:rPr lang="zh-CN" sz="1125" b="1">
                <a:solidFill>
                  <a:srgbClr val="0E3F8C"/>
                </a:solidFill>
                <a:latin typeface="Source Han Sans CN"/>
                <a:ea typeface="Source Han Sans CN"/>
              </a:rPr>
              <a:t>，说明「后验抛光能修多少」取决于</a:t>
            </a:r>
            <a:r>
              <a:rPr lang="en-US" sz="1125" b="1">
                <a:solidFill>
                  <a:srgbClr val="0E3F8C"/>
                </a:solidFill>
                <a:latin typeface="Source Han Sans CN"/>
                <a:ea typeface="Source Han Sans CN"/>
              </a:rPr>
              <a:t> DMDE </a:t>
            </a:r>
            <a:r>
              <a:rPr lang="zh-CN" sz="1125" b="1">
                <a:solidFill>
                  <a:srgbClr val="0E3F8C"/>
                </a:solidFill>
                <a:latin typeface="Source Han Sans CN"/>
                <a:ea typeface="Source Han Sans CN"/>
              </a:rPr>
              <a:t>收敛解离局部最优的距离。</a:t>
            </a:r>
            <a:endParaRPr/>
          </a:p>
        </p:txBody>
      </p:sp>
      <p:sp>
        <p:nvSpPr>
          <p:cNvPr id="88" name="矩形 122"/>
          <p:cNvSpPr/>
          <p:nvPr/>
        </p:nvSpPr>
        <p:spPr>
          <a:xfrm>
            <a:off x="0" y="6448425"/>
            <a:ext cx="12192000" cy="409575"/>
          </a:xfrm>
          <a:prstGeom prst="rect">
            <a:avLst/>
          </a:prstGeom>
          <a:solidFill>
            <a:srgbClr val="F7F9FC"/>
          </a:solidFill>
          <a:ln/>
        </p:spPr>
        <p:txBody>
          <a:bodyPr/>
          <a:lstStyle/>
          <a:p>
            <a:endParaRPr/>
          </a:p>
        </p:txBody>
      </p:sp>
      <p:sp>
        <p:nvSpPr>
          <p:cNvPr id="89" name="任意多边形: 形状 123"/>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90" name="文本框 124"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91" name="文本框 125"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12 / 16</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 name="矩形 127"/>
          <p:cNvSpPr/>
          <p:nvPr/>
        </p:nvSpPr>
        <p:spPr>
          <a:xfrm>
            <a:off x="0" y="0"/>
            <a:ext cx="12192000" cy="6858000"/>
          </a:xfrm>
          <a:prstGeom prst="rect">
            <a:avLst/>
          </a:prstGeom>
          <a:solidFill>
            <a:srgbClr val="FFFFFF"/>
          </a:solidFill>
          <a:ln/>
        </p:spPr>
        <p:txBody>
          <a:bodyPr/>
          <a:lstStyle/>
          <a:p>
            <a:endParaRPr/>
          </a:p>
        </p:txBody>
      </p:sp>
      <p:sp>
        <p:nvSpPr>
          <p:cNvPr id="94" name="矩形 128"/>
          <p:cNvSpPr/>
          <p:nvPr/>
        </p:nvSpPr>
        <p:spPr>
          <a:xfrm>
            <a:off x="0" y="0"/>
            <a:ext cx="12192000" cy="114300"/>
          </a:xfrm>
          <a:prstGeom prst="rect">
            <a:avLst/>
          </a:prstGeom>
          <a:solidFill>
            <a:srgbClr val="1E4FA8"/>
          </a:solidFill>
          <a:ln/>
        </p:spPr>
        <p:txBody>
          <a:bodyPr/>
          <a:lstStyle/>
          <a:p>
            <a:endParaRPr/>
          </a:p>
        </p:txBody>
      </p:sp>
      <p:sp>
        <p:nvSpPr>
          <p:cNvPr id="95" name="矩形 129"/>
          <p:cNvSpPr/>
          <p:nvPr/>
        </p:nvSpPr>
        <p:spPr>
          <a:xfrm>
            <a:off x="381000" y="314325"/>
            <a:ext cx="57150" cy="323850"/>
          </a:xfrm>
          <a:prstGeom prst="rect">
            <a:avLst/>
          </a:prstGeom>
          <a:solidFill>
            <a:srgbClr val="1E4FA8"/>
          </a:solidFill>
          <a:ln/>
        </p:spPr>
        <p:txBody>
          <a:bodyPr/>
          <a:lstStyle/>
          <a:p>
            <a:endParaRPr/>
          </a:p>
        </p:txBody>
      </p:sp>
      <p:sp>
        <p:nvSpPr>
          <p:cNvPr id="96" name="文本框 130" descr="{&quot;isTemplate&quot;:true,&quot;type&quot;:&quot;text&quot;}"/>
          <p:cNvSpPr txBox="1"/>
          <p:nvPr/>
        </p:nvSpPr>
        <p:spPr>
          <a:xfrm>
            <a:off x="571500" y="285750"/>
            <a:ext cx="6915150" cy="371475"/>
          </a:xfrm>
          <a:prstGeom prst="rect">
            <a:avLst/>
          </a:prstGeom>
        </p:spPr>
        <p:txBody>
          <a:bodyPr wrap="none" lIns="0" tIns="0" rIns="0" bIns="0"/>
          <a:lstStyle/>
          <a:p>
            <a:pPr>
              <a:lnSpc>
                <a:spcPct val="100000"/>
              </a:lnSpc>
            </a:pPr>
            <a:r>
              <a:rPr lang="en-US" sz="2400" b="1">
                <a:solidFill>
                  <a:srgbClr val="0E3F8C"/>
                </a:solidFill>
                <a:latin typeface="Source Han Sans CN"/>
                <a:ea typeface="Source Han Sans CN"/>
              </a:rPr>
              <a:t>exp02</a:t>
            </a:r>
            <a:r>
              <a:rPr lang="zh-CN" sz="2400" b="1">
                <a:solidFill>
                  <a:srgbClr val="0E3F8C"/>
                </a:solidFill>
                <a:latin typeface="Source Han Sans CN"/>
                <a:ea typeface="Source Han Sans CN"/>
              </a:rPr>
              <a:t>：规模标定——求解规模与任务规模</a:t>
            </a:r>
            <a:r>
              <a:rPr lang="en-US" sz="2400" b="1">
                <a:solidFill>
                  <a:srgbClr val="0E3F8C"/>
                </a:solidFill>
                <a:latin typeface="Source Han Sans CN"/>
                <a:ea typeface="Source Han Sans CN"/>
              </a:rPr>
              <a:t> N </a:t>
            </a:r>
            <a:r>
              <a:rPr lang="zh-CN" sz="2400" b="1">
                <a:solidFill>
                  <a:srgbClr val="0E3F8C"/>
                </a:solidFill>
                <a:latin typeface="Source Han Sans CN"/>
                <a:ea typeface="Source Han Sans CN"/>
              </a:rPr>
              <a:t>解耦</a:t>
            </a:r>
            <a:endParaRPr/>
          </a:p>
        </p:txBody>
      </p:sp>
      <p:sp>
        <p:nvSpPr>
          <p:cNvPr id="97" name="文本框 131" descr="{&quot;isTemplate&quot;:true,&quot;type&quot;:&quot;text&quot;}"/>
          <p:cNvSpPr txBox="1"/>
          <p:nvPr/>
        </p:nvSpPr>
        <p:spPr>
          <a:xfrm>
            <a:off x="571500" y="742950"/>
            <a:ext cx="6410325" cy="171450"/>
          </a:xfrm>
          <a:prstGeom prst="rect">
            <a:avLst/>
          </a:prstGeom>
        </p:spPr>
        <p:txBody>
          <a:bodyPr wrap="none" lIns="0" tIns="0" rIns="0" bIns="0"/>
          <a:lstStyle/>
          <a:p>
            <a:pPr>
              <a:lnSpc>
                <a:spcPct val="100000"/>
              </a:lnSpc>
            </a:pPr>
            <a:r>
              <a:rPr lang="en-US" sz="1125">
                <a:solidFill>
                  <a:srgbClr val="8B97A8"/>
                </a:solidFill>
                <a:latin typeface="Source Han Sans CN"/>
                <a:ea typeface="Source Han Sans CN"/>
              </a:rPr>
              <a:t>17 格变体扫描（N = 50/100/200 × 名额族与能力族，10-20 扫描口径），下图为「吞吐—耗时—质量」权衡核心图</a:t>
            </a:r>
            <a:r>
              <a:rPr lang="zh-CN" sz="1125">
                <a:solidFill>
                  <a:srgbClr val="8B97A8"/>
                </a:solidFill>
                <a:latin typeface="Source Han Sans CN"/>
                <a:ea typeface="Source Han Sans CN"/>
              </a:rPr>
              <a:t/>
            </a:r>
            <a:r>
              <a:rPr lang="en-US" sz="1125">
                <a:solidFill>
                  <a:srgbClr val="8B97A8"/>
                </a:solidFill>
                <a:latin typeface="Source Han Sans CN"/>
                <a:ea typeface="Source Han Sans CN"/>
              </a:rPr>
              <a:t/>
            </a:r>
            <a:r>
              <a:rPr lang="zh-CN" sz="1125">
                <a:solidFill>
                  <a:srgbClr val="8B97A8"/>
                </a:solidFill>
                <a:latin typeface="Source Han Sans CN"/>
                <a:ea typeface="Source Han Sans CN"/>
              </a:rPr>
              <a:t/>
            </a:r>
            <a:endParaRPr/>
          </a:p>
        </p:txBody>
      </p:sp>
      <p:sp>
        <p:nvSpPr>
          <p:cNvPr id="98" name="矩形: 圆角 132"/>
          <p:cNvSpPr/>
          <p:nvPr/>
        </p:nvSpPr>
        <p:spPr>
          <a:xfrm>
            <a:off x="571500" y="1066800"/>
            <a:ext cx="11049000" cy="4524375"/>
          </a:xfrm>
          <a:prstGeom prst="roundRect">
            <a:avLst>
              <a:gd name="adj" fmla="val 2105"/>
            </a:avLst>
          </a:prstGeom>
          <a:solidFill>
            <a:srgbClr val="FFFFFF"/>
          </a:solidFill>
          <a:ln w="12700">
            <a:solidFill>
              <a:srgbClr val="D6DCE5"/>
            </a:solidFill>
            <a:prstDash val="solid"/>
          </a:ln>
        </p:spPr>
        <p:txBody>
          <a:bodyPr/>
          <a:lstStyle/>
          <a:p>
            <a:endParaRPr/>
          </a:p>
        </p:txBody>
      </p:sp>
      <p:pic>
        <p:nvPicPr>
          <p:cNvPr id="99" name="图片 133"/>
          <p:cNvPicPr>
            <a:picLocks noChangeAspect="1"/>
          </p:cNvPicPr>
          <p:nvPr/>
        </p:nvPicPr>
        <p:blipFill>
          <a:blip r:embed="rId2"/>
          <a:srcRect l="4" r="4"/>
          <a:stretch>
            <a:fillRect/>
          </a:stretch>
        </p:blipFill>
        <p:spPr>
          <a:xfrm>
            <a:off x="647700" y="1143000"/>
            <a:ext cx="10896600" cy="4371975"/>
          </a:xfrm>
          <a:prstGeom prst="roundRect">
            <a:avLst>
              <a:gd name="adj" fmla="val 1307"/>
            </a:avLst>
          </a:prstGeom>
          <a:ln/>
        </p:spPr>
      </p:pic>
      <p:sp>
        <p:nvSpPr>
          <p:cNvPr id="100" name="矩形: 圆角 134"/>
          <p:cNvSpPr/>
          <p:nvPr/>
        </p:nvSpPr>
        <p:spPr>
          <a:xfrm>
            <a:off x="571500" y="5638800"/>
            <a:ext cx="11049000" cy="600075"/>
          </a:xfrm>
          <a:prstGeom prst="roundRect">
            <a:avLst>
              <a:gd name="adj" fmla="val 15873"/>
            </a:avLst>
          </a:prstGeom>
          <a:solidFill>
            <a:srgbClr val="0E3F8C"/>
          </a:solidFill>
          <a:ln/>
        </p:spPr>
        <p:txBody>
          <a:bodyPr/>
          <a:lstStyle/>
          <a:p>
            <a:endParaRPr/>
          </a:p>
        </p:txBody>
      </p:sp>
      <p:sp>
        <p:nvSpPr>
          <p:cNvPr id="101" name="文本框 135" descr="{&quot;isTemplate&quot;:true,&quot;type&quot;:&quot;text&quot;}"/>
          <p:cNvSpPr txBox="1"/>
          <p:nvPr/>
        </p:nvSpPr>
        <p:spPr>
          <a:xfrm>
            <a:off x="781050" y="5772150"/>
            <a:ext cx="5524500" cy="333375"/>
          </a:xfrm>
          <a:prstGeom prst="rect">
            <a:avLst/>
          </a:prstGeom>
        </p:spPr>
        <p:txBody>
          <a:bodyPr wrap="none" lIns="0" tIns="0" rIns="0" bIns="0"/>
          <a:lstStyle/>
          <a:p>
            <a:pPr>
              <a:lnSpc>
                <a:spcPct val="150000"/>
              </a:lnSpc>
            </a:pPr>
            <a:r>
              <a:rPr lang="zh-CN" sz="1425" b="1">
                <a:solidFill>
                  <a:srgbClr val="FFFFFF"/>
                </a:solidFill>
                <a:latin typeface="Source Han Sans CN"/>
                <a:ea typeface="Source Han Sans CN"/>
              </a:rPr>
              <a:t>核心结论：把筛选交给能力标定</a:t>
            </a:r>
            <a:r>
              <a:rPr lang="en-US" sz="1425" b="1">
                <a:solidFill>
                  <a:srgbClr val="FFFFFF"/>
                </a:solidFill>
                <a:latin typeface="Source Han Sans CN"/>
                <a:ea typeface="Source Han Sans CN"/>
              </a:rPr>
              <a:t> cap(t)</a:t>
            </a:r>
            <a:r>
              <a:rPr lang="zh-CN" sz="1425" b="1">
                <a:solidFill>
                  <a:srgbClr val="FFFFFF"/>
                </a:solidFill>
                <a:latin typeface="Source Han Sans CN"/>
                <a:ea typeface="Source Han Sans CN"/>
              </a:rPr>
              <a:t>，求解规模恒定——二阶段耗时与任务规模</a:t>
            </a:r>
            <a:r>
              <a:rPr lang="en-US" sz="1425" b="1">
                <a:solidFill>
                  <a:srgbClr val="FFFFFF"/>
                </a:solidFill>
                <a:latin typeface="Source Han Sans CN"/>
                <a:ea typeface="Source Han Sans CN"/>
              </a:rPr>
              <a:t> N </a:t>
            </a:r>
            <a:r>
              <a:rPr lang="zh-CN" sz="1425" b="1">
                <a:solidFill>
                  <a:srgbClr val="FFFFFF"/>
                </a:solidFill>
                <a:latin typeface="Source Han Sans CN"/>
                <a:ea typeface="Source Han Sans CN"/>
              </a:rPr>
              <a:t>无关</a:t>
            </a:r>
            <a:endParaRPr/>
          </a:p>
        </p:txBody>
      </p:sp>
      <p:sp>
        <p:nvSpPr>
          <p:cNvPr id="102" name="矩形: 圆角 136"/>
          <p:cNvSpPr/>
          <p:nvPr/>
        </p:nvSpPr>
        <p:spPr>
          <a:xfrm>
            <a:off x="6477000" y="5791200"/>
            <a:ext cx="1257300" cy="295275"/>
          </a:xfrm>
          <a:prstGeom prst="roundRect">
            <a:avLst>
              <a:gd name="adj" fmla="val 45161"/>
            </a:avLst>
          </a:prstGeom>
          <a:solidFill>
            <a:srgbClr val="1E4FA8"/>
          </a:solidFill>
          <a:ln/>
        </p:spPr>
        <p:txBody>
          <a:bodyPr/>
          <a:lstStyle/>
          <a:p>
            <a:endParaRPr/>
          </a:p>
        </p:txBody>
      </p:sp>
      <p:sp>
        <p:nvSpPr>
          <p:cNvPr id="103" name="文本框 137" descr="{&quot;isTemplate&quot;:true,&quot;type&quot;:&quot;text&quot;}"/>
          <p:cNvSpPr txBox="1"/>
          <p:nvPr/>
        </p:nvSpPr>
        <p:spPr>
          <a:xfrm>
            <a:off x="6610350" y="5857875"/>
            <a:ext cx="990600" cy="161925"/>
          </a:xfrm>
          <a:prstGeom prst="rect">
            <a:avLst/>
          </a:prstGeom>
        </p:spPr>
        <p:txBody>
          <a:bodyPr wrap="none" lIns="0" tIns="0" rIns="0" bIns="0"/>
          <a:lstStyle/>
          <a:p>
            <a:pPr>
              <a:lnSpc>
                <a:spcPct val="100000"/>
              </a:lnSpc>
            </a:pPr>
            <a:r>
              <a:rPr lang="zh-CN" sz="1013" b="1">
                <a:solidFill>
                  <a:srgbClr val="FFFFFF"/>
                </a:solidFill>
                <a:latin typeface="Source Han Sans CN"/>
                <a:ea typeface="Source Han Sans CN"/>
              </a:rPr>
              <a:t>候选</a:t>
            </a:r>
            <a:r>
              <a:rPr lang="en-US" sz="1013" b="1">
                <a:solidFill>
                  <a:srgbClr val="FFFFFF"/>
                </a:solidFill>
                <a:latin typeface="Source Han Sans CN"/>
                <a:ea typeface="Source Han Sans CN"/>
              </a:rPr>
              <a:t> k </a:t>
            </a:r>
            <a:r>
              <a:rPr lang="zh-CN" sz="1013" b="1">
                <a:solidFill>
                  <a:srgbClr val="FFFFFF"/>
                </a:solidFill>
                <a:latin typeface="Source Han Sans CN"/>
                <a:ea typeface="Source Han Sans CN"/>
              </a:rPr>
              <a:t>与</a:t>
            </a:r>
            <a:r>
              <a:rPr lang="en-US" sz="1013" b="1">
                <a:solidFill>
                  <a:srgbClr val="FFFFFF"/>
                </a:solidFill>
                <a:latin typeface="Source Han Sans CN"/>
                <a:ea typeface="Source Han Sans CN"/>
              </a:rPr>
              <a:t> N </a:t>
            </a:r>
            <a:r>
              <a:rPr lang="zh-CN" sz="1013" b="1">
                <a:solidFill>
                  <a:srgbClr val="FFFFFF"/>
                </a:solidFill>
                <a:latin typeface="Source Han Sans CN"/>
                <a:ea typeface="Source Han Sans CN"/>
              </a:rPr>
              <a:t>无关</a:t>
            </a:r>
            <a:endParaRPr/>
          </a:p>
        </p:txBody>
      </p:sp>
      <p:sp>
        <p:nvSpPr>
          <p:cNvPr id="104" name="矩形: 圆角 138"/>
          <p:cNvSpPr/>
          <p:nvPr/>
        </p:nvSpPr>
        <p:spPr>
          <a:xfrm>
            <a:off x="7905750" y="5791200"/>
            <a:ext cx="1524000" cy="295275"/>
          </a:xfrm>
          <a:prstGeom prst="roundRect">
            <a:avLst>
              <a:gd name="adj" fmla="val 45161"/>
            </a:avLst>
          </a:prstGeom>
          <a:solidFill>
            <a:srgbClr val="1E4FA8"/>
          </a:solidFill>
          <a:ln/>
        </p:spPr>
        <p:txBody>
          <a:bodyPr/>
          <a:lstStyle/>
          <a:p>
            <a:endParaRPr/>
          </a:p>
        </p:txBody>
      </p:sp>
      <p:sp>
        <p:nvSpPr>
          <p:cNvPr id="105" name="文本框 139" descr="{&quot;isTemplate&quot;:true,&quot;type&quot;:&quot;text&quot;}"/>
          <p:cNvSpPr txBox="1"/>
          <p:nvPr/>
        </p:nvSpPr>
        <p:spPr>
          <a:xfrm>
            <a:off x="8039100" y="5857875"/>
            <a:ext cx="1257300" cy="161925"/>
          </a:xfrm>
          <a:prstGeom prst="rect">
            <a:avLst/>
          </a:prstGeom>
        </p:spPr>
        <p:txBody>
          <a:bodyPr wrap="none" lIns="0" tIns="0" rIns="0" bIns="0"/>
          <a:lstStyle/>
          <a:p>
            <a:pPr>
              <a:lnSpc>
                <a:spcPct val="100000"/>
              </a:lnSpc>
            </a:pPr>
            <a:r>
              <a:rPr lang="en-US" sz="1013" b="1">
                <a:solidFill>
                  <a:srgbClr val="FFFFFF"/>
                </a:solidFill>
                <a:latin typeface="Source Han Sans CN"/>
                <a:ea typeface="Source Han Sans CN"/>
              </a:rPr>
              <a:t>k=16 </a:t>
            </a:r>
            <a:r>
              <a:rPr lang="zh-CN" sz="1013" b="1">
                <a:solidFill>
                  <a:srgbClr val="FFFFFF"/>
                </a:solidFill>
                <a:latin typeface="Source Han Sans CN"/>
                <a:ea typeface="Source Han Sans CN"/>
              </a:rPr>
              <a:t>时</a:t>
            </a:r>
            <a:r>
              <a:rPr lang="en-US" sz="1013" b="1">
                <a:solidFill>
                  <a:srgbClr val="FFFFFF"/>
                </a:solidFill>
                <a:latin typeface="Source Han Sans CN"/>
                <a:ea typeface="Source Han Sans CN"/>
              </a:rPr>
              <a:t> 25.0~25.3s</a:t>
            </a:r>
            <a:endParaRPr/>
          </a:p>
        </p:txBody>
      </p:sp>
      <p:sp>
        <p:nvSpPr>
          <p:cNvPr id="106" name="矩形: 圆角 140"/>
          <p:cNvSpPr/>
          <p:nvPr/>
        </p:nvSpPr>
        <p:spPr>
          <a:xfrm>
            <a:off x="9601200" y="5791200"/>
            <a:ext cx="1809750" cy="295275"/>
          </a:xfrm>
          <a:prstGeom prst="roundRect">
            <a:avLst>
              <a:gd name="adj" fmla="val 45161"/>
            </a:avLst>
          </a:prstGeom>
          <a:solidFill>
            <a:srgbClr val="FFC107"/>
          </a:solidFill>
          <a:ln/>
        </p:spPr>
        <p:txBody>
          <a:bodyPr/>
          <a:lstStyle/>
          <a:p>
            <a:endParaRPr/>
          </a:p>
        </p:txBody>
      </p:sp>
      <p:sp>
        <p:nvSpPr>
          <p:cNvPr id="107" name="文本框 141" descr="{&quot;isTemplate&quot;:true,&quot;type&quot;:&quot;text&quot;}"/>
          <p:cNvSpPr txBox="1"/>
          <p:nvPr/>
        </p:nvSpPr>
        <p:spPr>
          <a:xfrm>
            <a:off x="9734550" y="5857875"/>
            <a:ext cx="1543050" cy="161925"/>
          </a:xfrm>
          <a:prstGeom prst="rect">
            <a:avLst/>
          </a:prstGeom>
        </p:spPr>
        <p:txBody>
          <a:bodyPr wrap="none" lIns="0" tIns="0" rIns="0" bIns="0"/>
          <a:lstStyle/>
          <a:p>
            <a:pPr>
              <a:lnSpc>
                <a:spcPct val="100000"/>
              </a:lnSpc>
            </a:pPr>
            <a:r>
              <a:rPr lang="en-US" sz="1013" b="1">
                <a:solidFill>
                  <a:srgbClr val="0E3F8C"/>
                </a:solidFill>
                <a:latin typeface="Source Han Sans CN"/>
                <a:ea typeface="Source Han Sans CN"/>
              </a:rPr>
              <a:t>F1 </a:t>
            </a:r>
            <a:r>
              <a:rPr lang="zh-CN" sz="1013" b="1">
                <a:solidFill>
                  <a:srgbClr val="0E3F8C"/>
                </a:solidFill>
                <a:latin typeface="Source Han Sans CN"/>
                <a:ea typeface="Source Han Sans CN"/>
              </a:rPr>
              <a:t>保全量</a:t>
            </a:r>
            <a:r>
              <a:rPr lang="en-US" sz="1013" b="1">
                <a:solidFill>
                  <a:srgbClr val="0E3F8C"/>
                </a:solidFill>
                <a:latin typeface="Source Han Sans CN"/>
                <a:ea typeface="Source Han Sans CN"/>
              </a:rPr>
              <a:t> 93.5% / 83.4%</a:t>
            </a:r>
            <a:endParaRPr/>
          </a:p>
        </p:txBody>
      </p:sp>
      <p:sp>
        <p:nvSpPr>
          <p:cNvPr id="108" name="矩形 142"/>
          <p:cNvSpPr/>
          <p:nvPr/>
        </p:nvSpPr>
        <p:spPr>
          <a:xfrm>
            <a:off x="0" y="6448425"/>
            <a:ext cx="12192000" cy="409575"/>
          </a:xfrm>
          <a:prstGeom prst="rect">
            <a:avLst/>
          </a:prstGeom>
          <a:solidFill>
            <a:srgbClr val="F7F9FC"/>
          </a:solidFill>
          <a:ln/>
        </p:spPr>
        <p:txBody>
          <a:bodyPr/>
          <a:lstStyle/>
          <a:p>
            <a:endParaRPr/>
          </a:p>
        </p:txBody>
      </p:sp>
      <p:sp>
        <p:nvSpPr>
          <p:cNvPr id="109" name="任意多边形: 形状 143"/>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110" name="文本框 144"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111" name="文本框 145"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13 / 16</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 name="矩形 147"/>
          <p:cNvSpPr/>
          <p:nvPr/>
        </p:nvSpPr>
        <p:spPr>
          <a:xfrm>
            <a:off x="0" y="0"/>
            <a:ext cx="12192000" cy="6858000"/>
          </a:xfrm>
          <a:prstGeom prst="rect">
            <a:avLst/>
          </a:prstGeom>
          <a:solidFill>
            <a:srgbClr val="FFFFFF"/>
          </a:solidFill>
          <a:ln/>
        </p:spPr>
        <p:txBody>
          <a:bodyPr/>
          <a:lstStyle/>
          <a:p>
            <a:endParaRPr/>
          </a:p>
        </p:txBody>
      </p:sp>
      <p:sp>
        <p:nvSpPr>
          <p:cNvPr id="114" name="矩形 148"/>
          <p:cNvSpPr/>
          <p:nvPr/>
        </p:nvSpPr>
        <p:spPr>
          <a:xfrm>
            <a:off x="0" y="0"/>
            <a:ext cx="12192000" cy="114300"/>
          </a:xfrm>
          <a:prstGeom prst="rect">
            <a:avLst/>
          </a:prstGeom>
          <a:solidFill>
            <a:srgbClr val="1E4FA8"/>
          </a:solidFill>
          <a:ln/>
        </p:spPr>
        <p:txBody>
          <a:bodyPr/>
          <a:lstStyle/>
          <a:p>
            <a:endParaRPr/>
          </a:p>
        </p:txBody>
      </p:sp>
      <p:sp>
        <p:nvSpPr>
          <p:cNvPr id="115" name="矩形 149"/>
          <p:cNvSpPr/>
          <p:nvPr/>
        </p:nvSpPr>
        <p:spPr>
          <a:xfrm>
            <a:off x="381000" y="314325"/>
            <a:ext cx="57150" cy="323850"/>
          </a:xfrm>
          <a:prstGeom prst="rect">
            <a:avLst/>
          </a:prstGeom>
          <a:solidFill>
            <a:srgbClr val="1E4FA8"/>
          </a:solidFill>
          <a:ln/>
        </p:spPr>
        <p:txBody>
          <a:bodyPr/>
          <a:lstStyle/>
          <a:p>
            <a:endParaRPr/>
          </a:p>
        </p:txBody>
      </p:sp>
      <p:sp>
        <p:nvSpPr>
          <p:cNvPr id="116" name="文本框 150" descr="{&quot;isTemplate&quot;:true,&quot;type&quot;:&quot;text&quot;}"/>
          <p:cNvSpPr txBox="1"/>
          <p:nvPr/>
        </p:nvSpPr>
        <p:spPr>
          <a:xfrm>
            <a:off x="571500" y="285750"/>
            <a:ext cx="548640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性能瓶颈定位与消除：代价矩阵延迟构建</a:t>
            </a:r>
            <a:endParaRPr/>
          </a:p>
        </p:txBody>
      </p:sp>
      <p:sp>
        <p:nvSpPr>
          <p:cNvPr id="117" name="文本框 151" descr="{&quot;isTemplate&quot;:true,&quot;type&quot;:&quot;text&quot;}"/>
          <p:cNvSpPr txBox="1"/>
          <p:nvPr/>
        </p:nvSpPr>
        <p:spPr>
          <a:xfrm>
            <a:off x="571500" y="742950"/>
            <a:ext cx="4467225" cy="171450"/>
          </a:xfrm>
          <a:prstGeom prst="rect">
            <a:avLst/>
          </a:prstGeom>
        </p:spPr>
        <p:txBody>
          <a:bodyPr wrap="none" lIns="0" tIns="0" rIns="0" bIns="0"/>
          <a:lstStyle/>
          <a:p>
            <a:pPr>
              <a:lnSpc>
                <a:spcPct val="100000"/>
              </a:lnSpc>
            </a:pPr>
            <a:r>
              <a:rPr lang="zh-CN" sz="1125">
                <a:solidFill>
                  <a:srgbClr val="8B97A8"/>
                </a:solidFill>
                <a:latin typeface="Source Han Sans CN"/>
                <a:ea typeface="Source Han Sans CN"/>
              </a:rPr>
              <a:t>一阶段前不再对全量任务建</a:t>
            </a:r>
            <a:r>
              <a:rPr lang="en-US" sz="1125">
                <a:solidFill>
                  <a:srgbClr val="8B97A8"/>
                </a:solidFill>
                <a:latin typeface="Source Han Sans CN"/>
                <a:ea typeface="Source Han Sans CN"/>
              </a:rPr>
              <a:t> O(n²) </a:t>
            </a:r>
            <a:r>
              <a:rPr lang="zh-CN" sz="1125">
                <a:solidFill>
                  <a:srgbClr val="8B97A8"/>
                </a:solidFill>
                <a:latin typeface="Source Han Sans CN"/>
                <a:ea typeface="Source Han Sans CN"/>
              </a:rPr>
              <a:t>矩阵——惰性代价表按需估算并缓存</a:t>
            </a:r>
            <a:endParaRPr/>
          </a:p>
        </p:txBody>
      </p:sp>
      <p:sp>
        <p:nvSpPr>
          <p:cNvPr id="118" name="矩形: 圆角 152"/>
          <p:cNvSpPr/>
          <p:nvPr/>
        </p:nvSpPr>
        <p:spPr>
          <a:xfrm>
            <a:off x="381000" y="1104900"/>
            <a:ext cx="3810000" cy="2371725"/>
          </a:xfrm>
          <a:prstGeom prst="roundRect">
            <a:avLst>
              <a:gd name="adj" fmla="val 4819"/>
            </a:avLst>
          </a:prstGeom>
          <a:solidFill>
            <a:srgbClr val="F0F5FC"/>
          </a:solidFill>
          <a:ln w="12700">
            <a:solidFill>
              <a:srgbClr val="D6DCE5"/>
            </a:solidFill>
            <a:prstDash val="solid"/>
          </a:ln>
        </p:spPr>
        <p:txBody>
          <a:bodyPr/>
          <a:lstStyle/>
          <a:p>
            <a:endParaRPr/>
          </a:p>
        </p:txBody>
      </p:sp>
      <p:sp>
        <p:nvSpPr>
          <p:cNvPr id="119" name="文本框 153" descr="{&quot;isTemplate&quot;:true,&quot;type&quot;:&quot;text&quot;}"/>
          <p:cNvSpPr txBox="1"/>
          <p:nvPr/>
        </p:nvSpPr>
        <p:spPr>
          <a:xfrm>
            <a:off x="628650" y="1333500"/>
            <a:ext cx="3314700" cy="171450"/>
          </a:xfrm>
          <a:prstGeom prst="rect">
            <a:avLst/>
          </a:prstGeom>
        </p:spPr>
        <p:txBody>
          <a:bodyPr wrap="none" lIns="0" tIns="0" rIns="0" bIns="0"/>
          <a:lstStyle/>
          <a:p>
            <a:pPr>
              <a:lnSpc>
                <a:spcPct val="100000"/>
              </a:lnSpc>
            </a:pPr>
            <a:r>
              <a:rPr lang="en-US" sz="1125">
                <a:solidFill>
                  <a:srgbClr val="4A5568"/>
                </a:solidFill>
                <a:latin typeface="Source Han Sans CN"/>
                <a:ea typeface="Source Han Sans CN"/>
              </a:rPr>
              <a:t>O(n²) </a:t>
            </a:r>
            <a:r>
              <a:rPr lang="zh-CN" sz="1125">
                <a:solidFill>
                  <a:srgbClr val="4A5568"/>
                </a:solidFill>
                <a:latin typeface="Source Han Sans CN"/>
                <a:ea typeface="Source Han Sans CN"/>
              </a:rPr>
              <a:t>矩阵构建占端到端比例（</a:t>
            </a:r>
            <a:r>
              <a:rPr lang="en-US" sz="1125">
                <a:solidFill>
                  <a:srgbClr val="4A5568"/>
                </a:solidFill>
                <a:latin typeface="Source Han Sans CN"/>
                <a:ea typeface="Source Han Sans CN"/>
              </a:rPr>
              <a:t>N=200</a:t>
            </a:r>
            <a:r>
              <a:rPr lang="zh-CN" sz="1125">
                <a:solidFill>
                  <a:srgbClr val="4A5568"/>
                </a:solidFill>
                <a:latin typeface="Source Han Sans CN"/>
                <a:ea typeface="Source Han Sans CN"/>
              </a:rPr>
              <a:t>）</a:t>
            </a:r>
            <a:endParaRPr/>
          </a:p>
        </p:txBody>
      </p:sp>
      <p:sp>
        <p:nvSpPr>
          <p:cNvPr id="120" name="文本框 154" descr="{&quot;isTemplate&quot;:true,&quot;type&quot;:&quot;text&quot;}"/>
          <p:cNvSpPr txBox="1"/>
          <p:nvPr/>
        </p:nvSpPr>
        <p:spPr>
          <a:xfrm>
            <a:off x="628650" y="1600200"/>
            <a:ext cx="1495425" cy="714375"/>
          </a:xfrm>
          <a:prstGeom prst="rect">
            <a:avLst/>
          </a:prstGeom>
        </p:spPr>
        <p:txBody>
          <a:bodyPr wrap="none" lIns="0" tIns="0" rIns="0" bIns="0"/>
          <a:lstStyle/>
          <a:p>
            <a:pPr>
              <a:lnSpc>
                <a:spcPct val="100000"/>
              </a:lnSpc>
            </a:pPr>
            <a:r>
              <a:rPr lang="en-US" sz="4650" b="1">
                <a:solidFill>
                  <a:srgbClr val="D9534F"/>
                </a:solidFill>
                <a:latin typeface="Source Han Sans CN"/>
                <a:ea typeface="Source Han Sans CN"/>
              </a:rPr>
              <a:t>85.6</a:t>
            </a:r>
            <a:r>
              <a:rPr lang="en-US" sz="1950" b="1">
                <a:solidFill>
                  <a:srgbClr val="D9534F"/>
                </a:solidFill>
                <a:latin typeface="Source Han Sans CN"/>
                <a:ea typeface="Source Han Sans CN"/>
              </a:rPr>
              <a:t>%</a:t>
            </a:r>
            <a:endParaRPr/>
          </a:p>
        </p:txBody>
      </p:sp>
      <p:sp>
        <p:nvSpPr>
          <p:cNvPr id="121" name="文本框 155" descr="{&quot;isTemplate&quot;:true,&quot;type&quot;:&quot;text&quot;}"/>
          <p:cNvSpPr txBox="1"/>
          <p:nvPr/>
        </p:nvSpPr>
        <p:spPr>
          <a:xfrm>
            <a:off x="2257425" y="1914525"/>
            <a:ext cx="285750" cy="400050"/>
          </a:xfrm>
          <a:prstGeom prst="rect">
            <a:avLst/>
          </a:prstGeom>
        </p:spPr>
        <p:txBody>
          <a:bodyPr wrap="none" lIns="0" tIns="0" rIns="0" bIns="42863"/>
          <a:lstStyle/>
          <a:p>
            <a:pPr>
              <a:lnSpc>
                <a:spcPct val="100000"/>
              </a:lnSpc>
            </a:pPr>
            <a:r>
              <a:rPr sz="2250">
                <a:solidFill>
                  <a:srgbClr val="8B97A8"/>
                </a:solidFill>
                <a:latin typeface="Source Han Sans CN"/>
                <a:ea typeface="Source Han Sans CN"/>
              </a:rPr>
              <a:t>→</a:t>
            </a:r>
            <a:endParaRPr/>
          </a:p>
        </p:txBody>
      </p:sp>
      <p:sp>
        <p:nvSpPr>
          <p:cNvPr id="122" name="文本框 156" descr="{&quot;isTemplate&quot;:true,&quot;type&quot;:&quot;text&quot;}"/>
          <p:cNvSpPr txBox="1"/>
          <p:nvPr/>
        </p:nvSpPr>
        <p:spPr>
          <a:xfrm>
            <a:off x="2676525" y="1600200"/>
            <a:ext cx="1133475" cy="714375"/>
          </a:xfrm>
          <a:prstGeom prst="rect">
            <a:avLst/>
          </a:prstGeom>
        </p:spPr>
        <p:txBody>
          <a:bodyPr wrap="none" lIns="0" tIns="0" rIns="0" bIns="0"/>
          <a:lstStyle/>
          <a:p>
            <a:pPr>
              <a:lnSpc>
                <a:spcPct val="100000"/>
              </a:lnSpc>
            </a:pPr>
            <a:r>
              <a:rPr lang="en-US" sz="4650" b="1">
                <a:solidFill>
                  <a:srgbClr val="3B6D11"/>
                </a:solidFill>
                <a:latin typeface="Source Han Sans CN"/>
                <a:ea typeface="Source Han Sans CN"/>
              </a:rPr>
              <a:t>3.7</a:t>
            </a:r>
            <a:r>
              <a:rPr lang="en-US" sz="1950" b="1">
                <a:solidFill>
                  <a:srgbClr val="3B6D11"/>
                </a:solidFill>
                <a:latin typeface="Source Han Sans CN"/>
                <a:ea typeface="Source Han Sans CN"/>
              </a:rPr>
              <a:t>%</a:t>
            </a:r>
            <a:endParaRPr/>
          </a:p>
        </p:txBody>
      </p:sp>
      <p:sp>
        <p:nvSpPr>
          <p:cNvPr id="123" name="矩形: 圆角 157"/>
          <p:cNvSpPr/>
          <p:nvPr/>
        </p:nvSpPr>
        <p:spPr>
          <a:xfrm>
            <a:off x="628650" y="2466975"/>
            <a:ext cx="3314700" cy="95250"/>
          </a:xfrm>
          <a:prstGeom prst="roundRect">
            <a:avLst>
              <a:gd name="adj" fmla="val 50000"/>
            </a:avLst>
          </a:prstGeom>
          <a:solidFill>
            <a:srgbClr val="D6DCE5"/>
          </a:solidFill>
          <a:ln/>
        </p:spPr>
        <p:txBody>
          <a:bodyPr/>
          <a:lstStyle/>
          <a:p>
            <a:endParaRPr/>
          </a:p>
        </p:txBody>
      </p:sp>
      <p:sp>
        <p:nvSpPr>
          <p:cNvPr id="124" name="矩形: 圆角 158"/>
          <p:cNvSpPr/>
          <p:nvPr/>
        </p:nvSpPr>
        <p:spPr>
          <a:xfrm>
            <a:off x="628650" y="2466975"/>
            <a:ext cx="142875" cy="95250"/>
          </a:xfrm>
          <a:prstGeom prst="roundRect">
            <a:avLst>
              <a:gd name="adj" fmla="val 50000"/>
            </a:avLst>
          </a:prstGeom>
          <a:solidFill>
            <a:srgbClr val="3B6D11"/>
          </a:solidFill>
          <a:ln/>
        </p:spPr>
        <p:txBody>
          <a:bodyPr/>
          <a:lstStyle/>
          <a:p>
            <a:endParaRPr/>
          </a:p>
        </p:txBody>
      </p:sp>
      <p:sp>
        <p:nvSpPr>
          <p:cNvPr id="125" name="文本框 159" descr="{&quot;isTemplate&quot;:true,&quot;type&quot;:&quot;text&quot;}"/>
          <p:cNvSpPr txBox="1"/>
          <p:nvPr/>
        </p:nvSpPr>
        <p:spPr>
          <a:xfrm>
            <a:off x="628650" y="2695575"/>
            <a:ext cx="3314700" cy="5524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现算边数</a:t>
            </a:r>
            <a:r>
              <a:rPr lang="en-US" sz="1050">
                <a:solidFill>
                  <a:srgbClr val="4A5568"/>
                </a:solidFill>
                <a:latin typeface="Source Han Sans CN"/>
                <a:ea typeface="Source Han Sans CN"/>
              </a:rPr>
              <a:t> 2 164 / 43 264</a:t>
            </a:r>
            <a:r>
              <a:rPr lang="zh-CN" sz="1050">
                <a:solidFill>
                  <a:srgbClr val="4A5568"/>
                </a:solidFill>
                <a:latin typeface="Source Han Sans CN"/>
                <a:ea typeface="Source Han Sans CN"/>
              </a:rPr>
              <a:t>（</a:t>
            </a:r>
            <a:r>
              <a:rPr lang="en-US" sz="1050" b="1">
                <a:solidFill>
                  <a:srgbClr val="4A5568"/>
                </a:solidFill>
                <a:latin typeface="Source Han Sans CN"/>
                <a:ea typeface="Source Han Sans CN"/>
              </a:rPr>
              <a:t>5.0%</a:t>
            </a:r>
            <a:r>
              <a:rPr lang="zh-CN" sz="1050">
                <a:solidFill>
                  <a:srgbClr val="4A5568"/>
                </a:solidFill>
                <a:latin typeface="Source Han Sans CN"/>
                <a:ea typeface="Source Han Sans CN"/>
              </a:rPr>
              <a:t>）；子集构建</a:t>
            </a:r>
            <a:r>
              <a:rPr lang="en-US" sz="1050">
                <a:solidFill>
                  <a:srgbClr val="4A5568"/>
                </a:solidFill>
                <a:latin typeface="Source Han Sans CN"/>
                <a:ea typeface="Source Han Sans CN"/>
              </a:rPr>
              <a:t> 66ms</a:t>
            </a:r>
            <a:r>
              <a:rPr lang="zh-CN" sz="1050">
                <a:solidFill>
                  <a:srgbClr val="4A5568"/>
                </a:solidFill>
                <a:latin typeface="Source Han Sans CN"/>
                <a:ea typeface="Source Han Sans CN"/>
              </a:rPr>
              <a:t>，对比全量预建约</a:t>
            </a:r>
            <a:r>
              <a:rPr lang="en-US" sz="1050">
                <a:solidFill>
                  <a:srgbClr val="4A5568"/>
                </a:solidFill>
                <a:latin typeface="Source Han Sans CN"/>
                <a:ea typeface="Source Han Sans CN"/>
              </a:rPr>
              <a:t> 16.8s</a:t>
            </a:r>
            <a:endParaRPr/>
          </a:p>
        </p:txBody>
      </p:sp>
      <p:sp>
        <p:nvSpPr>
          <p:cNvPr id="126" name="矩形: 圆角 160"/>
          <p:cNvSpPr/>
          <p:nvPr/>
        </p:nvSpPr>
        <p:spPr>
          <a:xfrm>
            <a:off x="381000" y="3629025"/>
            <a:ext cx="3810000" cy="1333500"/>
          </a:xfrm>
          <a:prstGeom prst="roundRect">
            <a:avLst>
              <a:gd name="adj" fmla="val 7143"/>
            </a:avLst>
          </a:prstGeom>
          <a:solidFill>
            <a:srgbClr val="F7F9FC"/>
          </a:solidFill>
          <a:ln w="12700">
            <a:solidFill>
              <a:srgbClr val="D6DCE5"/>
            </a:solidFill>
            <a:prstDash val="solid"/>
          </a:ln>
        </p:spPr>
        <p:txBody>
          <a:bodyPr/>
          <a:lstStyle/>
          <a:p>
            <a:endParaRPr/>
          </a:p>
        </p:txBody>
      </p:sp>
      <p:sp>
        <p:nvSpPr>
          <p:cNvPr id="127" name="文本框 161" descr="{&quot;isTemplate&quot;:true,&quot;type&quot;:&quot;text&quot;}"/>
          <p:cNvSpPr txBox="1"/>
          <p:nvPr/>
        </p:nvSpPr>
        <p:spPr>
          <a:xfrm>
            <a:off x="571500" y="3762375"/>
            <a:ext cx="3429000" cy="190500"/>
          </a:xfrm>
          <a:prstGeom prst="rect">
            <a:avLst/>
          </a:prstGeom>
        </p:spPr>
        <p:txBody>
          <a:bodyPr wrap="none" lIns="0" tIns="0" rIns="0" bIns="0"/>
          <a:lstStyle/>
          <a:p>
            <a:pPr>
              <a:lnSpc>
                <a:spcPct val="100000"/>
              </a:lnSpc>
            </a:pPr>
            <a:r>
              <a:rPr lang="zh-CN" sz="1200" b="1">
                <a:solidFill>
                  <a:srgbClr val="0E3F8C"/>
                </a:solidFill>
                <a:latin typeface="Source Han Sans CN"/>
                <a:ea typeface="Source Han Sans CN"/>
              </a:rPr>
              <a:t>机制：惰性代价表</a:t>
            </a:r>
            <a:r>
              <a:rPr lang="en-US" sz="1200" b="1">
                <a:solidFill>
                  <a:srgbClr val="0E3F8C"/>
                </a:solidFill>
                <a:latin typeface="Source Han Sans CN"/>
                <a:ea typeface="Source Han Sans CN"/>
              </a:rPr>
              <a:t> LazyPairwiseCost</a:t>
            </a:r>
            <a:endParaRPr/>
          </a:p>
        </p:txBody>
      </p:sp>
      <p:sp>
        <p:nvSpPr>
          <p:cNvPr id="128" name="文本框 162" descr="{&quot;isTemplate&quot;:true,&quot;type&quot;:&quot;text&quot;}"/>
          <p:cNvSpPr txBox="1"/>
          <p:nvPr/>
        </p:nvSpPr>
        <p:spPr>
          <a:xfrm>
            <a:off x="571500" y="4010025"/>
            <a:ext cx="342900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映射协议</a:t>
            </a:r>
            <a:r>
              <a:rPr lang="en-US" sz="1050">
                <a:solidFill>
                  <a:srgbClr val="4A5568"/>
                </a:solidFill>
                <a:latin typeface="Source Han Sans CN"/>
                <a:ea typeface="Source Han Sans CN"/>
              </a:rPr>
              <a:t> + </a:t>
            </a:r>
            <a:r>
              <a:rPr lang="zh-CN" sz="1050">
                <a:solidFill>
                  <a:srgbClr val="4A5568"/>
                </a:solidFill>
                <a:latin typeface="Source Han Sans CN"/>
                <a:ea typeface="Source Han Sans CN"/>
              </a:rPr>
              <a:t>按需估算</a:t>
            </a:r>
            <a:r>
              <a:rPr lang="en-US" sz="1050">
                <a:solidFill>
                  <a:srgbClr val="4A5568"/>
                </a:solidFill>
                <a:latin typeface="Source Han Sans CN"/>
                <a:ea typeface="Source Han Sans CN"/>
              </a:rPr>
              <a:t> + </a:t>
            </a:r>
            <a:r>
              <a:rPr lang="zh-CN" sz="1050">
                <a:solidFill>
                  <a:srgbClr val="4A5568"/>
                </a:solidFill>
                <a:latin typeface="Source Han Sans CN"/>
                <a:ea typeface="Source Han Sans CN"/>
              </a:rPr>
              <a:t>缓存，一阶段只触</a:t>
            </a:r>
            <a:r>
              <a:rPr lang="en-US" sz="1050">
                <a:solidFill>
                  <a:srgbClr val="4A5568"/>
                </a:solidFill>
                <a:latin typeface="Source Han Sans CN"/>
                <a:ea typeface="Source Han Sans CN"/>
              </a:rPr>
              <a:t> O(n·K + k²) </a:t>
            </a:r>
            <a:r>
              <a:rPr lang="zh-CN" sz="1050">
                <a:solidFill>
                  <a:srgbClr val="4A5568"/>
                </a:solidFill>
                <a:latin typeface="Source Han Sans CN"/>
                <a:ea typeface="Source Han Sans CN"/>
              </a:rPr>
              <a:t>条边；候选确定后仅对子集精建</a:t>
            </a:r>
            <a:r>
              <a:rPr lang="en-US" sz="1050">
                <a:solidFill>
                  <a:srgbClr val="4A5568"/>
                </a:solidFill>
                <a:latin typeface="Source Han Sans CN"/>
                <a:ea typeface="Source Han Sans CN"/>
              </a:rPr>
              <a:t> 4 </a:t>
            </a:r>
            <a:r>
              <a:rPr lang="zh-CN" sz="1050">
                <a:solidFill>
                  <a:srgbClr val="4A5568"/>
                </a:solidFill>
                <a:latin typeface="Source Han Sans CN"/>
                <a:ea typeface="Source Han Sans CN"/>
              </a:rPr>
              <a:t>个代价矩阵。值与全量建表</a:t>
            </a:r>
            <a:r>
              <a:rPr lang="zh-CN" sz="1050" b="1">
                <a:solidFill>
                  <a:srgbClr val="4A5568"/>
                </a:solidFill>
                <a:latin typeface="Source Han Sans CN"/>
                <a:ea typeface="Source Han Sans CN"/>
              </a:rPr>
              <a:t>逐位一致</a:t>
            </a:r>
            <a:r>
              <a:rPr lang="zh-CN" sz="1050">
                <a:solidFill>
                  <a:srgbClr val="4A5568"/>
                </a:solidFill>
                <a:latin typeface="Source Han Sans CN"/>
                <a:ea typeface="Source Han Sans CN"/>
              </a:rPr>
              <a:t>。</a:t>
            </a:r>
            <a:endParaRPr/>
          </a:p>
        </p:txBody>
      </p:sp>
      <p:sp>
        <p:nvSpPr>
          <p:cNvPr id="129" name="矩形: 圆角 163"/>
          <p:cNvSpPr/>
          <p:nvPr/>
        </p:nvSpPr>
        <p:spPr>
          <a:xfrm>
            <a:off x="381000" y="5095875"/>
            <a:ext cx="3810000" cy="1076325"/>
          </a:xfrm>
          <a:prstGeom prst="roundRect">
            <a:avLst>
              <a:gd name="adj" fmla="val 8850"/>
            </a:avLst>
          </a:prstGeom>
          <a:solidFill>
            <a:srgbClr val="0E3F8C"/>
          </a:solidFill>
          <a:ln/>
        </p:spPr>
        <p:txBody>
          <a:bodyPr/>
          <a:lstStyle/>
          <a:p>
            <a:endParaRPr/>
          </a:p>
        </p:txBody>
      </p:sp>
      <p:sp>
        <p:nvSpPr>
          <p:cNvPr id="130" name="文本框 164" descr="{&quot;isTemplate&quot;:true,&quot;type&quot;:&quot;text&quot;}"/>
          <p:cNvSpPr txBox="1"/>
          <p:nvPr/>
        </p:nvSpPr>
        <p:spPr>
          <a:xfrm>
            <a:off x="571500" y="5219700"/>
            <a:ext cx="3429000" cy="828675"/>
          </a:xfrm>
          <a:prstGeom prst="rect">
            <a:avLst/>
          </a:prstGeom>
        </p:spPr>
        <p:txBody>
          <a:bodyPr wrap="square" lIns="0" tIns="0" rIns="0" bIns="0">
            <a:normAutofit/>
          </a:bodyPr>
          <a:lstStyle/>
          <a:p>
            <a:pPr>
              <a:lnSpc>
                <a:spcPct val="160000"/>
              </a:lnSpc>
            </a:pPr>
            <a:r>
              <a:rPr lang="zh-CN" sz="1125" b="1">
                <a:solidFill>
                  <a:srgbClr val="FFFFFF"/>
                </a:solidFill>
                <a:latin typeface="Source Han Sans CN"/>
                <a:ea typeface="Source Han Sans CN"/>
              </a:rPr>
              <a:t>无损验证：</a:t>
            </a:r>
            <a:r>
              <a:rPr lang="en-US" sz="1125" b="1">
                <a:solidFill>
                  <a:srgbClr val="FFFFFF"/>
                </a:solidFill>
                <a:latin typeface="Source Han Sans CN"/>
                <a:ea typeface="Source Han Sans CN"/>
              </a:rPr>
              <a:t>7 </a:t>
            </a:r>
            <a:r>
              <a:rPr lang="zh-CN" sz="1125" b="1">
                <a:solidFill>
                  <a:srgbClr val="FFFFFF"/>
                </a:solidFill>
                <a:latin typeface="Source Han Sans CN"/>
                <a:ea typeface="Source Han Sans CN"/>
              </a:rPr>
              <a:t>个实验格与旧代码逐位复现（</a:t>
            </a:r>
            <a:r>
              <a:rPr lang="en-US" sz="1125" b="1">
                <a:solidFill>
                  <a:srgbClr val="FFFFFF"/>
                </a:solidFill>
                <a:latin typeface="Source Han Sans CN"/>
                <a:ea typeface="Source Han Sans CN"/>
              </a:rPr>
              <a:t>bit-exact</a:t>
            </a:r>
            <a:r>
              <a:rPr lang="zh-CN" sz="1125" b="1">
                <a:solidFill>
                  <a:srgbClr val="FFFFFF"/>
                </a:solidFill>
                <a:latin typeface="Source Han Sans CN"/>
                <a:ea typeface="Source Han Sans CN"/>
              </a:rPr>
              <a:t>）——性能优化不改变任何决策结果，两阶段耗时分解见右图。</a:t>
            </a:r>
            <a:endParaRPr/>
          </a:p>
        </p:txBody>
      </p:sp>
      <p:sp>
        <p:nvSpPr>
          <p:cNvPr id="131" name="矩形: 圆角 165"/>
          <p:cNvSpPr/>
          <p:nvPr/>
        </p:nvSpPr>
        <p:spPr>
          <a:xfrm>
            <a:off x="4419600" y="1104900"/>
            <a:ext cx="7391400" cy="2800350"/>
          </a:xfrm>
          <a:prstGeom prst="roundRect">
            <a:avLst>
              <a:gd name="adj" fmla="val 3401"/>
            </a:avLst>
          </a:prstGeom>
          <a:solidFill>
            <a:srgbClr val="FFFFFF"/>
          </a:solidFill>
          <a:ln w="12700">
            <a:solidFill>
              <a:srgbClr val="D6DCE5"/>
            </a:solidFill>
            <a:prstDash val="solid"/>
          </a:ln>
        </p:spPr>
        <p:txBody>
          <a:bodyPr/>
          <a:lstStyle/>
          <a:p>
            <a:endParaRPr/>
          </a:p>
        </p:txBody>
      </p:sp>
      <p:pic>
        <p:nvPicPr>
          <p:cNvPr id="132" name="图片 166"/>
          <p:cNvPicPr>
            <a:picLocks noChangeAspect="1"/>
          </p:cNvPicPr>
          <p:nvPr/>
        </p:nvPicPr>
        <p:blipFill>
          <a:blip r:embed="rId2"/>
          <a:srcRect t="26" b="26"/>
          <a:stretch>
            <a:fillRect/>
          </a:stretch>
        </p:blipFill>
        <p:spPr>
          <a:xfrm>
            <a:off x="4495800" y="1181100"/>
            <a:ext cx="7239000" cy="2647950"/>
          </a:xfrm>
          <a:prstGeom prst="roundRect">
            <a:avLst>
              <a:gd name="adj" fmla="val 2158"/>
            </a:avLst>
          </a:prstGeom>
          <a:ln/>
        </p:spPr>
      </p:pic>
      <p:sp>
        <p:nvSpPr>
          <p:cNvPr id="133" name="文本框 167" descr="{&quot;isTemplate&quot;:true,&quot;type&quot;:&quot;text&quot;}"/>
          <p:cNvSpPr txBox="1"/>
          <p:nvPr/>
        </p:nvSpPr>
        <p:spPr>
          <a:xfrm>
            <a:off x="4419600" y="3981450"/>
            <a:ext cx="7391400" cy="161925"/>
          </a:xfrm>
          <a:prstGeom prst="rect">
            <a:avLst/>
          </a:prstGeom>
        </p:spPr>
        <p:txBody>
          <a:bodyPr wrap="none" lIns="0" tIns="0" rIns="0" bIns="0"/>
          <a:lstStyle/>
          <a:p>
            <a:pPr>
              <a:lnSpc>
                <a:spcPct val="100000"/>
              </a:lnSpc>
            </a:pPr>
            <a:r>
              <a:rPr lang="zh-CN" sz="1050">
                <a:solidFill>
                  <a:srgbClr val="8B97A8"/>
                </a:solidFill>
                <a:latin typeface="Source Han Sans CN"/>
                <a:ea typeface="Source Han Sans CN"/>
              </a:rPr>
              <a:t>耗时分解（</a:t>
            </a:r>
            <a:r>
              <a:rPr lang="en-US" sz="1050">
                <a:solidFill>
                  <a:srgbClr val="8B97A8"/>
                </a:solidFill>
                <a:latin typeface="Source Han Sans CN"/>
                <a:ea typeface="Source Han Sans CN"/>
              </a:rPr>
              <a:t>t_hint / t_selection / t_build / t_muas</a:t>
            </a:r>
            <a:r>
              <a:rPr lang="zh-CN" sz="1050">
                <a:solidFill>
                  <a:srgbClr val="8B97A8"/>
                </a:solidFill>
                <a:latin typeface="Source Han Sans CN"/>
                <a:ea typeface="Source Han Sans CN"/>
              </a:rPr>
              <a:t>）：构建与选择阶段开销可忽略，耗时集中在第二阶段求解</a:t>
            </a:r>
            <a:endParaRPr/>
          </a:p>
        </p:txBody>
      </p:sp>
      <p:sp>
        <p:nvSpPr>
          <p:cNvPr id="134" name="矩形: 圆角 168"/>
          <p:cNvSpPr/>
          <p:nvPr/>
        </p:nvSpPr>
        <p:spPr>
          <a:xfrm>
            <a:off x="4457700" y="4276725"/>
            <a:ext cx="7391400" cy="1390650"/>
          </a:xfrm>
          <a:prstGeom prst="roundRect">
            <a:avLst>
              <a:gd name="adj" fmla="val 5479"/>
            </a:avLst>
          </a:prstGeom>
          <a:solidFill>
            <a:srgbClr val="F7F9FC"/>
          </a:solidFill>
          <a:ln/>
        </p:spPr>
        <p:txBody>
          <a:bodyPr/>
          <a:lstStyle/>
          <a:p>
            <a:endParaRPr/>
          </a:p>
        </p:txBody>
      </p:sp>
      <p:sp>
        <p:nvSpPr>
          <p:cNvPr id="135" name="任意多边形: 形状 169"/>
          <p:cNvSpPr/>
          <p:nvPr/>
        </p:nvSpPr>
        <p:spPr>
          <a:xfrm>
            <a:off x="4457700" y="4276725"/>
            <a:ext cx="7391400" cy="1390650"/>
          </a:xfrm>
          <a:custGeom>
            <a:avLst/>
            <a:gdLst/>
            <a:ahLst/>
            <a:cxnLst/>
            <a:rect l="0" t="0" r="0" b="0"/>
            <a:pathLst>
              <a:path w="776" h="146">
                <a:moveTo>
                  <a:pt x="8" y="0"/>
                </a:moveTo>
                <a:cubicBezTo>
                  <a:pt x="6" y="0"/>
                  <a:pt x="4" y="2"/>
                  <a:pt x="4" y="4"/>
                </a:cubicBezTo>
                <a:lnTo>
                  <a:pt x="4" y="142"/>
                </a:lnTo>
                <a:cubicBezTo>
                  <a:pt x="4" y="144"/>
                  <a:pt x="5" y="146"/>
                  <a:pt x="7" y="146"/>
                </a:cubicBezTo>
                <a:cubicBezTo>
                  <a:pt x="3" y="146"/>
                  <a:pt x="0" y="142"/>
                  <a:pt x="0" y="138"/>
                </a:cubicBezTo>
                <a:lnTo>
                  <a:pt x="0" y="8"/>
                </a:lnTo>
                <a:cubicBezTo>
                  <a:pt x="0" y="4"/>
                  <a:pt x="3" y="0"/>
                  <a:pt x="8" y="0"/>
                </a:cubicBezTo>
                <a:close/>
              </a:path>
            </a:pathLst>
          </a:custGeom>
          <a:solidFill>
            <a:srgbClr val="1E4FA8"/>
          </a:solidFill>
          <a:ln/>
        </p:spPr>
        <p:txBody>
          <a:bodyPr/>
          <a:lstStyle/>
          <a:p>
            <a:endParaRPr/>
          </a:p>
        </p:txBody>
      </p:sp>
      <p:sp>
        <p:nvSpPr>
          <p:cNvPr id="136" name="文本框 170" descr="{&quot;isTemplate&quot;:true,&quot;type&quot;:&quot;text&quot;}"/>
          <p:cNvSpPr txBox="1"/>
          <p:nvPr/>
        </p:nvSpPr>
        <p:spPr>
          <a:xfrm>
            <a:off x="4648200" y="4410075"/>
            <a:ext cx="6972300" cy="190500"/>
          </a:xfrm>
          <a:prstGeom prst="rect">
            <a:avLst/>
          </a:prstGeom>
        </p:spPr>
        <p:txBody>
          <a:bodyPr wrap="none" lIns="0" tIns="0" rIns="0" bIns="0"/>
          <a:lstStyle/>
          <a:p>
            <a:pPr>
              <a:lnSpc>
                <a:spcPct val="100000"/>
              </a:lnSpc>
            </a:pPr>
            <a:r>
              <a:rPr lang="zh-CN" sz="1200" b="1">
                <a:solidFill>
                  <a:srgbClr val="0E3F8C"/>
                </a:solidFill>
                <a:latin typeface="Source Han Sans CN"/>
                <a:ea typeface="Source Han Sans CN"/>
              </a:rPr>
              <a:t>设计判断</a:t>
            </a:r>
            <a:endParaRPr/>
          </a:p>
        </p:txBody>
      </p:sp>
      <p:sp>
        <p:nvSpPr>
          <p:cNvPr id="137" name="文本框 171" descr="{&quot;isTemplate&quot;:true,&quot;type&quot;:&quot;text&quot;}"/>
          <p:cNvSpPr txBox="1"/>
          <p:nvPr/>
        </p:nvSpPr>
        <p:spPr>
          <a:xfrm>
            <a:off x="4648200" y="4657725"/>
            <a:ext cx="6972300" cy="876300"/>
          </a:xfrm>
          <a:prstGeom prst="rect">
            <a:avLst/>
          </a:prstGeom>
        </p:spPr>
        <p:txBody>
          <a:bodyPr wrap="square" lIns="0" tIns="0" rIns="0" bIns="0">
            <a:normAutofit/>
          </a:bodyPr>
          <a:lstStyle/>
          <a:p>
            <a:pPr>
              <a:lnSpc>
                <a:spcPct val="175000"/>
              </a:lnSpc>
            </a:pPr>
            <a:r>
              <a:rPr lang="zh-CN" sz="1088">
                <a:solidFill>
                  <a:srgbClr val="4A5568"/>
                </a:solidFill>
                <a:latin typeface="Source Han Sans CN"/>
                <a:ea typeface="Source Han Sans CN"/>
              </a:rPr>
              <a:t>瓶颈消除后，选择阶段的职能从「成本控制器」变为「质量控制器」：候选名额不再是耗时瓶颈，真正的代价在第二阶段随</a:t>
            </a:r>
            <a:r>
              <a:rPr lang="en-US" sz="1088">
                <a:solidFill>
                  <a:srgbClr val="4A5568"/>
                </a:solidFill>
                <a:latin typeface="Source Han Sans CN"/>
                <a:ea typeface="Source Han Sans CN"/>
              </a:rPr>
              <a:t> k² </a:t>
            </a:r>
            <a:r>
              <a:rPr lang="zh-CN" sz="1088">
                <a:solidFill>
                  <a:srgbClr val="4A5568"/>
                </a:solidFill>
                <a:latin typeface="Source Han Sans CN"/>
                <a:ea typeface="Source Han Sans CN"/>
              </a:rPr>
              <a:t>增长的求解——这正是「</a:t>
            </a:r>
            <a:r>
              <a:rPr lang="en-US" sz="1088">
                <a:solidFill>
                  <a:srgbClr val="4A5568"/>
                </a:solidFill>
                <a:latin typeface="Source Han Sans CN"/>
                <a:ea typeface="Source Han Sans CN"/>
              </a:rPr>
              <a:t>k ≈ cap(t) </a:t>
            </a:r>
            <a:r>
              <a:rPr lang="zh-CN" sz="1088">
                <a:solidFill>
                  <a:srgbClr val="4A5568"/>
                </a:solidFill>
                <a:latin typeface="Source Han Sans CN"/>
                <a:ea typeface="Source Han Sans CN"/>
              </a:rPr>
              <a:t>是甜点、超过后收益速衰」标定结论的机理来源，也解释了</a:t>
            </a:r>
            <a:r>
              <a:rPr lang="en-US" sz="1088">
                <a:solidFill>
                  <a:srgbClr val="4A5568"/>
                </a:solidFill>
                <a:latin typeface="Source Han Sans CN"/>
                <a:ea typeface="Source Han Sans CN"/>
              </a:rPr>
              <a:t> exp02 </a:t>
            </a:r>
            <a:r>
              <a:rPr lang="zh-CN" sz="1088">
                <a:solidFill>
                  <a:srgbClr val="4A5568"/>
                </a:solidFill>
                <a:latin typeface="Source Han Sans CN"/>
                <a:ea typeface="Source Han Sans CN"/>
              </a:rPr>
              <a:t>中</a:t>
            </a:r>
            <a:r>
              <a:rPr lang="en-US" sz="1088">
                <a:solidFill>
                  <a:srgbClr val="4A5568"/>
                </a:solidFill>
                <a:latin typeface="Source Han Sans CN"/>
                <a:ea typeface="Source Han Sans CN"/>
              </a:rPr>
              <a:t> k=40→41 </a:t>
            </a:r>
            <a:r>
              <a:rPr lang="zh-CN" sz="1088">
                <a:solidFill>
                  <a:srgbClr val="4A5568"/>
                </a:solidFill>
                <a:latin typeface="Source Han Sans CN"/>
                <a:ea typeface="Source Han Sans CN"/>
              </a:rPr>
              <a:t>的边际收益骤减。</a:t>
            </a:r>
            <a:endParaRPr/>
          </a:p>
        </p:txBody>
      </p:sp>
      <p:sp>
        <p:nvSpPr>
          <p:cNvPr id="138" name="矩形 172"/>
          <p:cNvSpPr/>
          <p:nvPr/>
        </p:nvSpPr>
        <p:spPr>
          <a:xfrm>
            <a:off x="0" y="6448425"/>
            <a:ext cx="12192000" cy="409575"/>
          </a:xfrm>
          <a:prstGeom prst="rect">
            <a:avLst/>
          </a:prstGeom>
          <a:solidFill>
            <a:srgbClr val="F7F9FC"/>
          </a:solidFill>
          <a:ln/>
        </p:spPr>
        <p:txBody>
          <a:bodyPr/>
          <a:lstStyle/>
          <a:p>
            <a:endParaRPr/>
          </a:p>
        </p:txBody>
      </p:sp>
      <p:sp>
        <p:nvSpPr>
          <p:cNvPr id="139" name="任意多边形: 形状 173"/>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140" name="文本框 174"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141" name="文本框 175"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14 / 16</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 name="矩形 177"/>
          <p:cNvSpPr/>
          <p:nvPr/>
        </p:nvSpPr>
        <p:spPr>
          <a:xfrm>
            <a:off x="0" y="0"/>
            <a:ext cx="12192000" cy="6858000"/>
          </a:xfrm>
          <a:prstGeom prst="rect">
            <a:avLst/>
          </a:prstGeom>
          <a:solidFill>
            <a:srgbClr val="FFFFFF"/>
          </a:solidFill>
          <a:ln/>
        </p:spPr>
        <p:txBody>
          <a:bodyPr/>
          <a:lstStyle/>
          <a:p>
            <a:endParaRPr/>
          </a:p>
        </p:txBody>
      </p:sp>
      <p:sp>
        <p:nvSpPr>
          <p:cNvPr id="144" name="矩形 178"/>
          <p:cNvSpPr/>
          <p:nvPr/>
        </p:nvSpPr>
        <p:spPr>
          <a:xfrm>
            <a:off x="0" y="0"/>
            <a:ext cx="12192000" cy="114300"/>
          </a:xfrm>
          <a:prstGeom prst="rect">
            <a:avLst/>
          </a:prstGeom>
          <a:solidFill>
            <a:srgbClr val="1E4FA8"/>
          </a:solidFill>
          <a:ln/>
        </p:spPr>
        <p:txBody>
          <a:bodyPr/>
          <a:lstStyle/>
          <a:p>
            <a:endParaRPr/>
          </a:p>
        </p:txBody>
      </p:sp>
      <p:sp>
        <p:nvSpPr>
          <p:cNvPr id="145" name="矩形 179"/>
          <p:cNvSpPr/>
          <p:nvPr/>
        </p:nvSpPr>
        <p:spPr>
          <a:xfrm>
            <a:off x="381000" y="314325"/>
            <a:ext cx="57150" cy="323850"/>
          </a:xfrm>
          <a:prstGeom prst="rect">
            <a:avLst/>
          </a:prstGeom>
          <a:solidFill>
            <a:srgbClr val="1E4FA8"/>
          </a:solidFill>
          <a:ln/>
        </p:spPr>
        <p:txBody>
          <a:bodyPr/>
          <a:lstStyle/>
          <a:p>
            <a:endParaRPr/>
          </a:p>
        </p:txBody>
      </p:sp>
      <p:sp>
        <p:nvSpPr>
          <p:cNvPr id="146" name="文本框 180" descr="{&quot;isTemplate&quot;:true,&quot;type&quot;:&quot;text&quot;}"/>
          <p:cNvSpPr txBox="1"/>
          <p:nvPr/>
        </p:nvSpPr>
        <p:spPr>
          <a:xfrm>
            <a:off x="571500" y="285750"/>
            <a:ext cx="304800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证据边界与下一步计划</a:t>
            </a:r>
            <a:endParaRPr/>
          </a:p>
        </p:txBody>
      </p:sp>
      <p:sp>
        <p:nvSpPr>
          <p:cNvPr id="147" name="文本框 181" descr="{&quot;isTemplate&quot;:true,&quot;type&quot;:&quot;text&quot;}"/>
          <p:cNvSpPr txBox="1"/>
          <p:nvPr/>
        </p:nvSpPr>
        <p:spPr>
          <a:xfrm>
            <a:off x="571500" y="742950"/>
            <a:ext cx="3714750" cy="171450"/>
          </a:xfrm>
          <a:prstGeom prst="rect">
            <a:avLst/>
          </a:prstGeom>
        </p:spPr>
        <p:txBody>
          <a:bodyPr wrap="none" lIns="0" tIns="0" rIns="0" bIns="0"/>
          <a:lstStyle/>
          <a:p>
            <a:pPr>
              <a:lnSpc>
                <a:spcPct val="100000"/>
              </a:lnSpc>
            </a:pPr>
            <a:r>
              <a:rPr lang="zh-CN" sz="1125">
                <a:solidFill>
                  <a:srgbClr val="8B97A8"/>
                </a:solidFill>
                <a:latin typeface="Source Han Sans CN"/>
                <a:ea typeface="Source Han Sans CN"/>
              </a:rPr>
              <a:t>已成立的是内部有效性；外部有效性是当前最大的证据缺口</a:t>
            </a:r>
            <a:endParaRPr/>
          </a:p>
        </p:txBody>
      </p:sp>
      <p:sp>
        <p:nvSpPr>
          <p:cNvPr id="148" name="矩形: 圆角 182"/>
          <p:cNvSpPr/>
          <p:nvPr/>
        </p:nvSpPr>
        <p:spPr>
          <a:xfrm>
            <a:off x="419100" y="1104900"/>
            <a:ext cx="6096000" cy="1076325"/>
          </a:xfrm>
          <a:prstGeom prst="roundRect">
            <a:avLst>
              <a:gd name="adj" fmla="val 8850"/>
            </a:avLst>
          </a:prstGeom>
          <a:solidFill>
            <a:srgbClr val="F7F9FC"/>
          </a:solidFill>
          <a:ln/>
        </p:spPr>
        <p:txBody>
          <a:bodyPr/>
          <a:lstStyle/>
          <a:p>
            <a:endParaRPr/>
          </a:p>
        </p:txBody>
      </p:sp>
      <p:sp>
        <p:nvSpPr>
          <p:cNvPr id="149" name="任意多边形: 形状 183"/>
          <p:cNvSpPr/>
          <p:nvPr/>
        </p:nvSpPr>
        <p:spPr>
          <a:xfrm>
            <a:off x="419100" y="1104900"/>
            <a:ext cx="6096000" cy="1076325"/>
          </a:xfrm>
          <a:custGeom>
            <a:avLst/>
            <a:gdLst/>
            <a:ahLst/>
            <a:cxnLst/>
            <a:rect l="0" t="0" r="0" b="0"/>
            <a:pathLst>
              <a:path w="640" h="113">
                <a:moveTo>
                  <a:pt x="9" y="0"/>
                </a:moveTo>
                <a:cubicBezTo>
                  <a:pt x="6" y="0"/>
                  <a:pt x="4" y="3"/>
                  <a:pt x="4" y="6"/>
                </a:cubicBezTo>
                <a:lnTo>
                  <a:pt x="4" y="107"/>
                </a:lnTo>
                <a:cubicBezTo>
                  <a:pt x="4" y="110"/>
                  <a:pt x="6" y="112"/>
                  <a:pt x="9" y="113"/>
                </a:cubicBezTo>
                <a:cubicBezTo>
                  <a:pt x="4" y="112"/>
                  <a:pt x="0" y="108"/>
                  <a:pt x="0" y="103"/>
                </a:cubicBezTo>
                <a:lnTo>
                  <a:pt x="0" y="10"/>
                </a:lnTo>
                <a:cubicBezTo>
                  <a:pt x="0" y="5"/>
                  <a:pt x="4" y="0"/>
                  <a:pt x="10" y="0"/>
                </a:cubicBezTo>
                <a:close/>
              </a:path>
            </a:pathLst>
          </a:custGeom>
          <a:solidFill>
            <a:srgbClr val="D9534F"/>
          </a:solidFill>
          <a:ln/>
        </p:spPr>
        <p:txBody>
          <a:bodyPr/>
          <a:lstStyle/>
          <a:p>
            <a:endParaRPr/>
          </a:p>
        </p:txBody>
      </p:sp>
      <p:sp>
        <p:nvSpPr>
          <p:cNvPr id="150" name="文本框 184" descr="{&quot;isTemplate&quot;:true,&quot;type&quot;:&quot;text&quot;}"/>
          <p:cNvSpPr txBox="1"/>
          <p:nvPr/>
        </p:nvSpPr>
        <p:spPr>
          <a:xfrm>
            <a:off x="609600" y="1238250"/>
            <a:ext cx="5676900" cy="200025"/>
          </a:xfrm>
          <a:prstGeom prst="rect">
            <a:avLst/>
          </a:prstGeom>
        </p:spPr>
        <p:txBody>
          <a:bodyPr wrap="none" lIns="0" tIns="0" rIns="0" bIns="0"/>
          <a:lstStyle/>
          <a:p>
            <a:pPr>
              <a:lnSpc>
                <a:spcPct val="100000"/>
              </a:lnSpc>
            </a:pPr>
            <a:r>
              <a:rPr lang="zh-CN" sz="1313" b="1">
                <a:solidFill>
                  <a:srgbClr val="1A2230"/>
                </a:solidFill>
                <a:latin typeface="Source Han Sans CN"/>
                <a:ea typeface="Source Han Sans CN"/>
              </a:rPr>
              <a:t>外部基线未补——答不了「优于谁」</a:t>
            </a:r>
            <a:endParaRPr/>
          </a:p>
        </p:txBody>
      </p:sp>
      <p:sp>
        <p:nvSpPr>
          <p:cNvPr id="151" name="文本框 185" descr="{&quot;isTemplate&quot;:true,&quot;type&quot;:&quot;text&quot;}"/>
          <p:cNvSpPr txBox="1"/>
          <p:nvPr/>
        </p:nvSpPr>
        <p:spPr>
          <a:xfrm>
            <a:off x="609600" y="1495425"/>
            <a:ext cx="5676900" cy="552450"/>
          </a:xfrm>
          <a:prstGeom prst="rect">
            <a:avLst/>
          </a:prstGeom>
        </p:spPr>
        <p:txBody>
          <a:bodyPr wrap="square" lIns="0" tIns="0" rIns="0" bIns="0">
            <a:normAutofit/>
          </a:bodyPr>
          <a:lstStyle/>
          <a:p>
            <a:pPr>
              <a:lnSpc>
                <a:spcPct val="170000"/>
              </a:lnSpc>
            </a:pPr>
            <a:r>
              <a:rPr lang="en-US" sz="1050">
                <a:solidFill>
                  <a:srgbClr val="4A5568"/>
                </a:solidFill>
                <a:latin typeface="Source Han Sans CN"/>
                <a:ea typeface="Source Han Sans CN"/>
              </a:rPr>
              <a:t>baselines </a:t>
            </a:r>
            <a:r>
              <a:rPr lang="zh-CN" sz="1050">
                <a:solidFill>
                  <a:srgbClr val="4A5568"/>
                </a:solidFill>
                <a:latin typeface="Source Han Sans CN"/>
                <a:ea typeface="Source Han Sans CN"/>
              </a:rPr>
              <a:t>目录全部占位；</a:t>
            </a:r>
            <a:r>
              <a:rPr lang="en-US" sz="1050">
                <a:solidFill>
                  <a:srgbClr val="4A5568"/>
                </a:solidFill>
                <a:latin typeface="Source Han Sans CN"/>
                <a:ea typeface="Source Han Sans CN"/>
              </a:rPr>
              <a:t>full MUAS </a:t>
            </a:r>
            <a:r>
              <a:rPr lang="zh-CN" sz="1050">
                <a:solidFill>
                  <a:srgbClr val="4A5568"/>
                </a:solidFill>
                <a:latin typeface="Source Han Sans CN"/>
                <a:ea typeface="Source Han Sans CN"/>
              </a:rPr>
              <a:t>只是同一求解器的质量上界参照，不是竞品。这是答辩最可能被攻击的点。</a:t>
            </a:r>
            <a:endParaRPr/>
          </a:p>
        </p:txBody>
      </p:sp>
      <p:sp>
        <p:nvSpPr>
          <p:cNvPr id="152" name="矩形: 圆角 186"/>
          <p:cNvSpPr/>
          <p:nvPr/>
        </p:nvSpPr>
        <p:spPr>
          <a:xfrm>
            <a:off x="419100" y="2314575"/>
            <a:ext cx="6096000" cy="1343025"/>
          </a:xfrm>
          <a:prstGeom prst="roundRect">
            <a:avLst>
              <a:gd name="adj" fmla="val 7092"/>
            </a:avLst>
          </a:prstGeom>
          <a:solidFill>
            <a:srgbClr val="F7F9FC"/>
          </a:solidFill>
          <a:ln/>
        </p:spPr>
        <p:txBody>
          <a:bodyPr/>
          <a:lstStyle/>
          <a:p>
            <a:endParaRPr/>
          </a:p>
        </p:txBody>
      </p:sp>
      <p:sp>
        <p:nvSpPr>
          <p:cNvPr id="153" name="任意多边形: 形状 187"/>
          <p:cNvSpPr/>
          <p:nvPr/>
        </p:nvSpPr>
        <p:spPr>
          <a:xfrm>
            <a:off x="419100" y="2314575"/>
            <a:ext cx="6096000" cy="1343025"/>
          </a:xfrm>
          <a:custGeom>
            <a:avLst/>
            <a:gdLst/>
            <a:ahLst/>
            <a:cxnLst/>
            <a:rect l="0" t="0" r="0" b="0"/>
            <a:pathLst>
              <a:path w="640" h="141">
                <a:moveTo>
                  <a:pt x="9" y="0"/>
                </a:moveTo>
                <a:cubicBezTo>
                  <a:pt x="6" y="0"/>
                  <a:pt x="4" y="3"/>
                  <a:pt x="4" y="6"/>
                </a:cubicBezTo>
                <a:lnTo>
                  <a:pt x="4" y="135"/>
                </a:lnTo>
                <a:cubicBezTo>
                  <a:pt x="4" y="138"/>
                  <a:pt x="6" y="140"/>
                  <a:pt x="9" y="141"/>
                </a:cubicBezTo>
                <a:cubicBezTo>
                  <a:pt x="4" y="140"/>
                  <a:pt x="0" y="136"/>
                  <a:pt x="0" y="131"/>
                </a:cubicBezTo>
                <a:lnTo>
                  <a:pt x="0" y="10"/>
                </a:lnTo>
                <a:cubicBezTo>
                  <a:pt x="0" y="5"/>
                  <a:pt x="4" y="0"/>
                  <a:pt x="10" y="0"/>
                </a:cubicBezTo>
                <a:close/>
              </a:path>
            </a:pathLst>
          </a:custGeom>
          <a:solidFill>
            <a:srgbClr val="D9534F"/>
          </a:solidFill>
          <a:ln/>
        </p:spPr>
        <p:txBody>
          <a:bodyPr/>
          <a:lstStyle/>
          <a:p>
            <a:endParaRPr/>
          </a:p>
        </p:txBody>
      </p:sp>
      <p:sp>
        <p:nvSpPr>
          <p:cNvPr id="154" name="文本框 188" descr="{&quot;isTemplate&quot;:true,&quot;type&quot;:&quot;text&quot;}"/>
          <p:cNvSpPr txBox="1"/>
          <p:nvPr/>
        </p:nvSpPr>
        <p:spPr>
          <a:xfrm>
            <a:off x="609600" y="2447925"/>
            <a:ext cx="5676900" cy="200025"/>
          </a:xfrm>
          <a:prstGeom prst="rect">
            <a:avLst/>
          </a:prstGeom>
        </p:spPr>
        <p:txBody>
          <a:bodyPr wrap="none" lIns="0" tIns="0" rIns="0" bIns="0"/>
          <a:lstStyle/>
          <a:p>
            <a:pPr>
              <a:lnSpc>
                <a:spcPct val="100000"/>
              </a:lnSpc>
            </a:pPr>
            <a:r>
              <a:rPr lang="zh-CN" sz="1313" b="1">
                <a:solidFill>
                  <a:srgbClr val="1A2230"/>
                </a:solidFill>
                <a:latin typeface="Source Han Sans CN"/>
                <a:ea typeface="Source Han Sans CN"/>
              </a:rPr>
              <a:t>联合域未测——两组实验各覆盖一半工况</a:t>
            </a:r>
            <a:endParaRPr/>
          </a:p>
        </p:txBody>
      </p:sp>
      <p:sp>
        <p:nvSpPr>
          <p:cNvPr id="155" name="文本框 189" descr="{&quot;isTemplate&quot;:true,&quot;type&quot;:&quot;text&quot;}"/>
          <p:cNvSpPr txBox="1"/>
          <p:nvPr/>
        </p:nvSpPr>
        <p:spPr>
          <a:xfrm>
            <a:off x="609600" y="2705100"/>
            <a:ext cx="5676900" cy="819150"/>
          </a:xfrm>
          <a:prstGeom prst="rect">
            <a:avLst/>
          </a:prstGeom>
        </p:spPr>
        <p:txBody>
          <a:bodyPr wrap="square" lIns="0" tIns="0" rIns="0" bIns="0">
            <a:normAutofit/>
          </a:bodyPr>
          <a:lstStyle/>
          <a:p>
            <a:pPr>
              <a:lnSpc>
                <a:spcPct val="170000"/>
              </a:lnSpc>
            </a:pPr>
            <a:r>
              <a:rPr lang="en-US" sz="1050">
                <a:solidFill>
                  <a:srgbClr val="4A5568"/>
                </a:solidFill>
                <a:latin typeface="Source Han Sans CN"/>
                <a:ea typeface="Source Han Sans CN"/>
              </a:rPr>
              <a:t>exp01 </a:t>
            </a:r>
            <a:r>
              <a:rPr lang="zh-CN" sz="1050">
                <a:solidFill>
                  <a:srgbClr val="4A5568"/>
                </a:solidFill>
                <a:latin typeface="Source Han Sans CN"/>
                <a:ea typeface="Source Han Sans CN"/>
              </a:rPr>
              <a:t>机多任务少（压缩机制空转）、</a:t>
            </a:r>
            <a:r>
              <a:rPr lang="en-US" sz="1050">
                <a:solidFill>
                  <a:srgbClr val="4A5568"/>
                </a:solidFill>
                <a:latin typeface="Source Han Sans CN"/>
                <a:ea typeface="Source Han Sans CN"/>
              </a:rPr>
              <a:t>exp02 </a:t>
            </a:r>
            <a:r>
              <a:rPr lang="zh-CN" sz="1050">
                <a:solidFill>
                  <a:srgbClr val="4A5568"/>
                </a:solidFill>
                <a:latin typeface="Source Han Sans CN"/>
                <a:ea typeface="Source Han Sans CN"/>
              </a:rPr>
              <a:t>任务大但无滚动到达。真实生产是「机队规模</a:t>
            </a:r>
            <a:r>
              <a:rPr lang="en-US" sz="1050">
                <a:solidFill>
                  <a:srgbClr val="4A5568"/>
                </a:solidFill>
                <a:latin typeface="Source Han Sans CN"/>
                <a:ea typeface="Source Han Sans CN"/>
              </a:rPr>
              <a:t> × </a:t>
            </a:r>
            <a:r>
              <a:rPr lang="zh-CN" sz="1050">
                <a:solidFill>
                  <a:srgbClr val="4A5568"/>
                </a:solidFill>
                <a:latin typeface="Source Han Sans CN"/>
                <a:ea typeface="Source Han Sans CN"/>
              </a:rPr>
              <a:t>任务压力</a:t>
            </a:r>
            <a:r>
              <a:rPr lang="en-US" sz="1050">
                <a:solidFill>
                  <a:srgbClr val="4A5568"/>
                </a:solidFill>
                <a:latin typeface="Source Han Sans CN"/>
                <a:ea typeface="Source Han Sans CN"/>
              </a:rPr>
              <a:t> × Poisson </a:t>
            </a:r>
            <a:r>
              <a:rPr lang="zh-CN" sz="1050">
                <a:solidFill>
                  <a:srgbClr val="4A5568"/>
                </a:solidFill>
                <a:latin typeface="Source Han Sans CN"/>
                <a:ea typeface="Source Han Sans CN"/>
              </a:rPr>
              <a:t>滚动」叠加：余航程衰减使</a:t>
            </a:r>
            <a:r>
              <a:rPr lang="en-US" sz="1050">
                <a:solidFill>
                  <a:srgbClr val="4A5568"/>
                </a:solidFill>
                <a:latin typeface="Source Han Sans CN"/>
                <a:ea typeface="Source Han Sans CN"/>
              </a:rPr>
              <a:t> cap(t) </a:t>
            </a:r>
            <a:r>
              <a:rPr lang="zh-CN" sz="1050">
                <a:solidFill>
                  <a:srgbClr val="4A5568"/>
                </a:solidFill>
                <a:latin typeface="Source Han Sans CN"/>
                <a:ea typeface="Source Han Sans CN"/>
              </a:rPr>
              <a:t>逐周期收缩，与任务积压增长的交互从未被测量（</a:t>
            </a:r>
            <a:r>
              <a:rPr lang="en-US" sz="1050">
                <a:solidFill>
                  <a:srgbClr val="4A5568"/>
                </a:solidFill>
                <a:latin typeface="Source Han Sans CN"/>
                <a:ea typeface="Source Han Sans CN"/>
              </a:rPr>
              <a:t>exp06 </a:t>
            </a:r>
            <a:r>
              <a:rPr lang="zh-CN" sz="1050">
                <a:solidFill>
                  <a:srgbClr val="4A5568"/>
                </a:solidFill>
                <a:latin typeface="Source Han Sans CN"/>
                <a:ea typeface="Source Han Sans CN"/>
              </a:rPr>
              <a:t>已建设计骨架）。</a:t>
            </a:r>
            <a:endParaRPr/>
          </a:p>
        </p:txBody>
      </p:sp>
      <p:sp>
        <p:nvSpPr>
          <p:cNvPr id="156" name="矩形: 圆角 190"/>
          <p:cNvSpPr/>
          <p:nvPr/>
        </p:nvSpPr>
        <p:spPr>
          <a:xfrm>
            <a:off x="419100" y="3790950"/>
            <a:ext cx="6096000" cy="1076325"/>
          </a:xfrm>
          <a:prstGeom prst="roundRect">
            <a:avLst>
              <a:gd name="adj" fmla="val 8850"/>
            </a:avLst>
          </a:prstGeom>
          <a:solidFill>
            <a:srgbClr val="F7F9FC"/>
          </a:solidFill>
          <a:ln/>
        </p:spPr>
        <p:txBody>
          <a:bodyPr/>
          <a:lstStyle/>
          <a:p>
            <a:endParaRPr/>
          </a:p>
        </p:txBody>
      </p:sp>
      <p:sp>
        <p:nvSpPr>
          <p:cNvPr id="157" name="任意多边形: 形状 191"/>
          <p:cNvSpPr/>
          <p:nvPr/>
        </p:nvSpPr>
        <p:spPr>
          <a:xfrm>
            <a:off x="419100" y="3790950"/>
            <a:ext cx="6096000" cy="1076325"/>
          </a:xfrm>
          <a:custGeom>
            <a:avLst/>
            <a:gdLst/>
            <a:ahLst/>
            <a:cxnLst/>
            <a:rect l="0" t="0" r="0" b="0"/>
            <a:pathLst>
              <a:path w="640" h="113">
                <a:moveTo>
                  <a:pt x="9" y="0"/>
                </a:moveTo>
                <a:cubicBezTo>
                  <a:pt x="6" y="0"/>
                  <a:pt x="4" y="3"/>
                  <a:pt x="4" y="6"/>
                </a:cubicBezTo>
                <a:lnTo>
                  <a:pt x="4" y="107"/>
                </a:lnTo>
                <a:cubicBezTo>
                  <a:pt x="4" y="110"/>
                  <a:pt x="6" y="112"/>
                  <a:pt x="9" y="113"/>
                </a:cubicBezTo>
                <a:cubicBezTo>
                  <a:pt x="4" y="112"/>
                  <a:pt x="0" y="108"/>
                  <a:pt x="0" y="103"/>
                </a:cubicBezTo>
                <a:lnTo>
                  <a:pt x="0" y="10"/>
                </a:lnTo>
                <a:cubicBezTo>
                  <a:pt x="0" y="5"/>
                  <a:pt x="4" y="0"/>
                  <a:pt x="10" y="0"/>
                </a:cubicBezTo>
                <a:close/>
              </a:path>
            </a:pathLst>
          </a:custGeom>
          <a:solidFill>
            <a:srgbClr val="BA7517"/>
          </a:solidFill>
          <a:ln/>
        </p:spPr>
        <p:txBody>
          <a:bodyPr/>
          <a:lstStyle/>
          <a:p>
            <a:endParaRPr/>
          </a:p>
        </p:txBody>
      </p:sp>
      <p:sp>
        <p:nvSpPr>
          <p:cNvPr id="158" name="文本框 192" descr="{&quot;isTemplate&quot;:true,&quot;type&quot;:&quot;text&quot;}"/>
          <p:cNvSpPr txBox="1"/>
          <p:nvPr/>
        </p:nvSpPr>
        <p:spPr>
          <a:xfrm>
            <a:off x="609600" y="3924300"/>
            <a:ext cx="5676900" cy="200025"/>
          </a:xfrm>
          <a:prstGeom prst="rect">
            <a:avLst/>
          </a:prstGeom>
        </p:spPr>
        <p:txBody>
          <a:bodyPr wrap="none" lIns="0" tIns="0" rIns="0" bIns="0"/>
          <a:lstStyle/>
          <a:p>
            <a:pPr>
              <a:lnSpc>
                <a:spcPct val="100000"/>
              </a:lnSpc>
            </a:pPr>
            <a:r>
              <a:rPr lang="zh-CN" sz="1313" b="1">
                <a:solidFill>
                  <a:srgbClr val="1A2230"/>
                </a:solidFill>
                <a:latin typeface="Source Han Sans CN"/>
                <a:ea typeface="Source Han Sans CN"/>
              </a:rPr>
              <a:t>标定结论有附加条件</a:t>
            </a:r>
            <a:endParaRPr/>
          </a:p>
        </p:txBody>
      </p:sp>
      <p:sp>
        <p:nvSpPr>
          <p:cNvPr id="159" name="文本框 193" descr="{&quot;isTemplate&quot;:true,&quot;type&quot;:&quot;text&quot;}"/>
          <p:cNvSpPr txBox="1"/>
          <p:nvPr/>
        </p:nvSpPr>
        <p:spPr>
          <a:xfrm>
            <a:off x="609600" y="4181475"/>
            <a:ext cx="5676900" cy="552450"/>
          </a:xfrm>
          <a:prstGeom prst="rect">
            <a:avLst/>
          </a:prstGeom>
        </p:spPr>
        <p:txBody>
          <a:bodyPr wrap="square" lIns="0" tIns="0" rIns="0" bIns="0">
            <a:normAutofit/>
          </a:bodyPr>
          <a:lstStyle/>
          <a:p>
            <a:pPr>
              <a:lnSpc>
                <a:spcPct val="170000"/>
              </a:lnSpc>
            </a:pPr>
            <a:r>
              <a:rPr lang="en-US" sz="1050">
                <a:solidFill>
                  <a:srgbClr val="4A5568"/>
                </a:solidFill>
                <a:latin typeface="Source Han Sans CN"/>
                <a:ea typeface="Source Han Sans CN"/>
              </a:rPr>
              <a:t>exp02 为单 seed、40 代轻预算，且为 N=50/100/200 旧规模口径（现行 10/50/100 待复跑）；实测数据均在 big-M 旧口径取得、门禁口径待复跑——量的是曲线形状，非生产级解质量。</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endParaRPr/>
          </a:p>
        </p:txBody>
      </p:sp>
      <p:sp>
        <p:nvSpPr>
          <p:cNvPr id="160" name="矩形: 圆角 194"/>
          <p:cNvSpPr/>
          <p:nvPr/>
        </p:nvSpPr>
        <p:spPr>
          <a:xfrm>
            <a:off x="419100" y="5000625"/>
            <a:ext cx="6096000" cy="1133475"/>
          </a:xfrm>
          <a:prstGeom prst="roundRect">
            <a:avLst>
              <a:gd name="adj" fmla="val 6723"/>
            </a:avLst>
          </a:prstGeom>
          <a:solidFill>
            <a:srgbClr val="F0F5FC"/>
          </a:solidFill>
          <a:ln/>
        </p:spPr>
        <p:txBody>
          <a:bodyPr/>
          <a:lstStyle/>
          <a:p>
            <a:endParaRPr/>
          </a:p>
        </p:txBody>
      </p:sp>
      <p:sp>
        <p:nvSpPr>
          <p:cNvPr id="161" name="任意多边形: 形状 195"/>
          <p:cNvSpPr/>
          <p:nvPr/>
        </p:nvSpPr>
        <p:spPr>
          <a:xfrm>
            <a:off x="419100" y="5000625"/>
            <a:ext cx="6096000" cy="1133475"/>
          </a:xfrm>
          <a:custGeom>
            <a:avLst/>
            <a:gdLst/>
            <a:ahLst/>
            <a:cxnLst/>
            <a:rect l="0" t="0" r="0" b="0"/>
            <a:pathLst>
              <a:path w="640" h="119">
                <a:moveTo>
                  <a:pt x="8" y="0"/>
                </a:moveTo>
                <a:cubicBezTo>
                  <a:pt x="6" y="0"/>
                  <a:pt x="4" y="2"/>
                  <a:pt x="4" y="4"/>
                </a:cubicBezTo>
                <a:lnTo>
                  <a:pt x="4" y="115"/>
                </a:lnTo>
                <a:cubicBezTo>
                  <a:pt x="4" y="117"/>
                  <a:pt x="5" y="119"/>
                  <a:pt x="7" y="119"/>
                </a:cubicBezTo>
                <a:cubicBezTo>
                  <a:pt x="3" y="119"/>
                  <a:pt x="0" y="115"/>
                  <a:pt x="0" y="111"/>
                </a:cubicBezTo>
                <a:lnTo>
                  <a:pt x="0" y="8"/>
                </a:lnTo>
                <a:cubicBezTo>
                  <a:pt x="0" y="4"/>
                  <a:pt x="3" y="0"/>
                  <a:pt x="8" y="0"/>
                </a:cubicBezTo>
                <a:close/>
              </a:path>
            </a:pathLst>
          </a:custGeom>
          <a:solidFill>
            <a:srgbClr val="1E4FA8"/>
          </a:solidFill>
          <a:ln/>
        </p:spPr>
        <p:txBody>
          <a:bodyPr/>
          <a:lstStyle/>
          <a:p>
            <a:endParaRPr/>
          </a:p>
        </p:txBody>
      </p:sp>
      <p:sp>
        <p:nvSpPr>
          <p:cNvPr id="162" name="文本框 196" descr="{&quot;isTemplate&quot;:true,&quot;type&quot;:&quot;text&quot;}"/>
          <p:cNvSpPr txBox="1"/>
          <p:nvPr/>
        </p:nvSpPr>
        <p:spPr>
          <a:xfrm>
            <a:off x="609600" y="5124450"/>
            <a:ext cx="5676900" cy="885825"/>
          </a:xfrm>
          <a:prstGeom prst="rect">
            <a:avLst/>
          </a:prstGeom>
        </p:spPr>
        <p:txBody>
          <a:bodyPr wrap="square" lIns="0" tIns="0" rIns="0" bIns="0">
            <a:normAutofit/>
          </a:bodyPr>
          <a:lstStyle/>
          <a:p>
            <a:pPr>
              <a:lnSpc>
                <a:spcPct val="165000"/>
              </a:lnSpc>
            </a:pPr>
            <a:r>
              <a:rPr lang="zh-CN" sz="1163" b="1">
                <a:solidFill>
                  <a:srgbClr val="0E3F8C"/>
                </a:solidFill>
                <a:latin typeface="Source Han Sans CN"/>
                <a:ea typeface="Source Han Sans CN"/>
              </a:rPr>
              <a:t>本方法的定位：本质是「软时间窗带奖励的</a:t>
            </a:r>
            <a:r>
              <a:rPr lang="en-US" sz="1163" b="1">
                <a:solidFill>
                  <a:srgbClr val="0E3F8C"/>
                </a:solidFill>
                <a:latin typeface="Source Han Sans CN"/>
                <a:ea typeface="Source Han Sans CN"/>
              </a:rPr>
              <a:t> VRPTW</a:t>
            </a:r>
            <a:r>
              <a:rPr lang="zh-CN" sz="1163" b="1">
                <a:solidFill>
                  <a:srgbClr val="0E3F8C"/>
                </a:solidFill>
                <a:latin typeface="Source Han Sans CN"/>
                <a:ea typeface="Source Han Sans CN"/>
              </a:rPr>
              <a:t>」——物理违约</a:t>
            </a:r>
            <a:r>
              <a:rPr lang="en-US" sz="1163" b="1">
                <a:solidFill>
                  <a:srgbClr val="0E3F8C"/>
                </a:solidFill>
                <a:latin typeface="Source Han Sans CN"/>
                <a:ea typeface="Source Han Sans CN"/>
              </a:rPr>
              <a:t> 0</a:t>
            </a:r>
            <a:r>
              <a:rPr lang="zh-CN" sz="1163" b="1">
                <a:solidFill>
                  <a:srgbClr val="0E3F8C"/>
                </a:solidFill>
                <a:latin typeface="Source Han Sans CN"/>
                <a:ea typeface="Source Han Sans CN"/>
              </a:rPr>
              <a:t>、迟到占</a:t>
            </a:r>
            <a:r>
              <a:rPr lang="en-US" sz="1163" b="1">
                <a:solidFill>
                  <a:srgbClr val="0E3F8C"/>
                </a:solidFill>
                <a:latin typeface="Source Han Sans CN"/>
                <a:ea typeface="Source Han Sans CN"/>
              </a:rPr>
              <a:t> 99.98%</a:t>
            </a:r>
            <a:r>
              <a:rPr lang="zh-CN" sz="1163" b="1">
                <a:solidFill>
                  <a:srgbClr val="0E3F8C"/>
                </a:solidFill>
                <a:latin typeface="Source Han Sans CN"/>
                <a:ea typeface="Source Han Sans CN"/>
              </a:rPr>
              <a:t>，说明可行域窄在零迟到而非物理不可行。这决定了外部基线的选型（软时间窗</a:t>
            </a:r>
            <a:r>
              <a:rPr lang="en-US" sz="1163" b="1">
                <a:solidFill>
                  <a:srgbClr val="0E3F8C"/>
                </a:solidFill>
                <a:latin typeface="Source Han Sans CN"/>
                <a:ea typeface="Source Han Sans CN"/>
              </a:rPr>
              <a:t> VRPTW </a:t>
            </a:r>
            <a:r>
              <a:rPr lang="zh-CN" sz="1163" b="1">
                <a:solidFill>
                  <a:srgbClr val="0E3F8C"/>
                </a:solidFill>
                <a:latin typeface="Source Han Sans CN"/>
                <a:ea typeface="Source Han Sans CN"/>
              </a:rPr>
              <a:t>启发式），与主指标的呈现方式（</a:t>
            </a:r>
            <a:r>
              <a:rPr lang="en-US" sz="1163" b="1">
                <a:solidFill>
                  <a:srgbClr val="0E3F8C"/>
                </a:solidFill>
                <a:latin typeface="Source Han Sans CN"/>
                <a:ea typeface="Source Han Sans CN"/>
              </a:rPr>
              <a:t>(</a:t>
            </a:r>
            <a:r>
              <a:rPr lang="zh-CN" sz="1163" b="1">
                <a:solidFill>
                  <a:srgbClr val="0E3F8C"/>
                </a:solidFill>
                <a:latin typeface="Source Han Sans CN"/>
                <a:ea typeface="Source Han Sans CN"/>
              </a:rPr>
              <a:t>完成率</a:t>
            </a:r>
            <a:r>
              <a:rPr lang="en-US" sz="1163" b="1">
                <a:solidFill>
                  <a:srgbClr val="0E3F8C"/>
                </a:solidFill>
                <a:latin typeface="Source Han Sans CN"/>
                <a:ea typeface="Source Han Sans CN"/>
              </a:rPr>
              <a:t>, </a:t>
            </a:r>
            <a:r>
              <a:rPr lang="zh-CN" sz="1163" b="1">
                <a:solidFill>
                  <a:srgbClr val="0E3F8C"/>
                </a:solidFill>
                <a:latin typeface="Source Han Sans CN"/>
                <a:ea typeface="Source Han Sans CN"/>
              </a:rPr>
              <a:t>航程</a:t>
            </a:r>
            <a:r>
              <a:rPr lang="en-US" sz="1163" b="1">
                <a:solidFill>
                  <a:srgbClr val="0E3F8C"/>
                </a:solidFill>
                <a:latin typeface="Source Han Sans CN"/>
                <a:ea typeface="Source Han Sans CN"/>
              </a:rPr>
              <a:t>) Pareto </a:t>
            </a:r>
            <a:r>
              <a:rPr lang="zh-CN" sz="1163" b="1">
                <a:solidFill>
                  <a:srgbClr val="0E3F8C"/>
                </a:solidFill>
                <a:latin typeface="Source Han Sans CN"/>
                <a:ea typeface="Source Han Sans CN"/>
              </a:rPr>
              <a:t>前沿）。</a:t>
            </a:r>
            <a:endParaRPr/>
          </a:p>
        </p:txBody>
      </p:sp>
      <p:sp>
        <p:nvSpPr>
          <p:cNvPr id="163" name="矩形: 圆角 197"/>
          <p:cNvSpPr/>
          <p:nvPr/>
        </p:nvSpPr>
        <p:spPr>
          <a:xfrm>
            <a:off x="6705600" y="1104900"/>
            <a:ext cx="5105400" cy="5086350"/>
          </a:xfrm>
          <a:prstGeom prst="roundRect">
            <a:avLst>
              <a:gd name="adj" fmla="val 2247"/>
            </a:avLst>
          </a:prstGeom>
          <a:solidFill>
            <a:srgbClr val="F7F9FC"/>
          </a:solidFill>
          <a:ln w="12700">
            <a:solidFill>
              <a:srgbClr val="D6DCE5"/>
            </a:solidFill>
            <a:prstDash val="solid"/>
          </a:ln>
        </p:spPr>
        <p:txBody>
          <a:bodyPr/>
          <a:lstStyle/>
          <a:p>
            <a:endParaRPr/>
          </a:p>
        </p:txBody>
      </p:sp>
      <p:sp>
        <p:nvSpPr>
          <p:cNvPr id="164" name="文本框 198" descr="{&quot;isTemplate&quot;:true,&quot;type&quot;:&quot;text&quot;}"/>
          <p:cNvSpPr txBox="1"/>
          <p:nvPr/>
        </p:nvSpPr>
        <p:spPr>
          <a:xfrm>
            <a:off x="6953250" y="1314450"/>
            <a:ext cx="4610100" cy="228600"/>
          </a:xfrm>
          <a:prstGeom prst="rect">
            <a:avLst/>
          </a:prstGeom>
        </p:spPr>
        <p:txBody>
          <a:bodyPr wrap="none" lIns="0" tIns="0" rIns="0" bIns="0"/>
          <a:lstStyle/>
          <a:p>
            <a:pPr>
              <a:lnSpc>
                <a:spcPct val="100000"/>
              </a:lnSpc>
            </a:pPr>
            <a:r>
              <a:rPr lang="zh-CN" sz="1500" b="1">
                <a:solidFill>
                  <a:srgbClr val="0E3F8C"/>
                </a:solidFill>
                <a:latin typeface="Source Han Sans CN"/>
                <a:ea typeface="Source Han Sans CN"/>
              </a:rPr>
              <a:t>下一步计划（按优先级）</a:t>
            </a:r>
            <a:endParaRPr/>
          </a:p>
        </p:txBody>
      </p:sp>
      <p:sp>
        <p:nvSpPr>
          <p:cNvPr id="165" name="矩形: 圆角 199"/>
          <p:cNvSpPr/>
          <p:nvPr/>
        </p:nvSpPr>
        <p:spPr>
          <a:xfrm>
            <a:off x="6953250" y="1695450"/>
            <a:ext cx="495300" cy="495300"/>
          </a:xfrm>
          <a:prstGeom prst="roundRect">
            <a:avLst>
              <a:gd name="adj" fmla="val 19231"/>
            </a:avLst>
          </a:prstGeom>
          <a:solidFill>
            <a:srgbClr val="D9534F"/>
          </a:solidFill>
          <a:ln/>
        </p:spPr>
        <p:txBody>
          <a:bodyPr/>
          <a:lstStyle/>
          <a:p>
            <a:endParaRPr/>
          </a:p>
        </p:txBody>
      </p:sp>
      <p:sp>
        <p:nvSpPr>
          <p:cNvPr id="166" name="文本框 200" descr="{&quot;isTemplate&quot;:true,&quot;type&quot;:&quot;text&quot;}"/>
          <p:cNvSpPr txBox="1"/>
          <p:nvPr/>
        </p:nvSpPr>
        <p:spPr>
          <a:xfrm>
            <a:off x="7086600" y="1838325"/>
            <a:ext cx="238125" cy="219075"/>
          </a:xfrm>
          <a:prstGeom prst="rect">
            <a:avLst/>
          </a:prstGeom>
        </p:spPr>
        <p:txBody>
          <a:bodyPr wrap="none" lIns="0" tIns="0" rIns="0" bIns="0"/>
          <a:lstStyle/>
          <a:p>
            <a:pPr>
              <a:lnSpc>
                <a:spcPct val="100000"/>
              </a:lnSpc>
            </a:pPr>
            <a:r>
              <a:rPr lang="en-US" sz="1425" b="1">
                <a:solidFill>
                  <a:srgbClr val="FFFFFF"/>
                </a:solidFill>
                <a:latin typeface="Source Han Sans CN"/>
                <a:ea typeface="Source Han Sans CN"/>
              </a:rPr>
              <a:t>P0</a:t>
            </a:r>
            <a:endParaRPr/>
          </a:p>
        </p:txBody>
      </p:sp>
      <p:sp>
        <p:nvSpPr>
          <p:cNvPr id="167" name="文本框 201" descr="{&quot;isTemplate&quot;:true,&quot;type&quot;:&quot;text&quot;}"/>
          <p:cNvSpPr txBox="1"/>
          <p:nvPr/>
        </p:nvSpPr>
        <p:spPr>
          <a:xfrm>
            <a:off x="7581900" y="1695450"/>
            <a:ext cx="1685925" cy="200025"/>
          </a:xfrm>
          <a:prstGeom prst="rect">
            <a:avLst/>
          </a:prstGeom>
        </p:spPr>
        <p:txBody>
          <a:bodyPr wrap="none" lIns="0" tIns="0" rIns="0" bIns="0"/>
          <a:lstStyle/>
          <a:p>
            <a:pPr>
              <a:lnSpc>
                <a:spcPct val="100000"/>
              </a:lnSpc>
            </a:pPr>
            <a:r>
              <a:rPr lang="zh-CN" sz="1275" b="1">
                <a:solidFill>
                  <a:srgbClr val="1A2230"/>
                </a:solidFill>
                <a:latin typeface="Source Han Sans CN"/>
                <a:ea typeface="Source Han Sans CN"/>
              </a:rPr>
              <a:t>外部基线</a:t>
            </a:r>
            <a:r>
              <a:rPr lang="en-US" sz="1275" b="1">
                <a:solidFill>
                  <a:srgbClr val="1A2230"/>
                </a:solidFill>
                <a:latin typeface="Source Han Sans CN"/>
                <a:ea typeface="Source Han Sans CN"/>
              </a:rPr>
              <a:t> + </a:t>
            </a:r>
            <a:r>
              <a:rPr lang="zh-CN" sz="1275" b="1">
                <a:solidFill>
                  <a:srgbClr val="1A2230"/>
                </a:solidFill>
                <a:latin typeface="Source Han Sans CN"/>
                <a:ea typeface="Source Han Sans CN"/>
              </a:rPr>
              <a:t>联合域首轮</a:t>
            </a:r>
            <a:endParaRPr/>
          </a:p>
        </p:txBody>
      </p:sp>
      <p:sp>
        <p:nvSpPr>
          <p:cNvPr id="168" name="文本框 202" descr="{&quot;isTemplate&quot;:true,&quot;type&quot;:&quot;text&quot;}"/>
          <p:cNvSpPr txBox="1"/>
          <p:nvPr/>
        </p:nvSpPr>
        <p:spPr>
          <a:xfrm>
            <a:off x="9363075" y="1724025"/>
            <a:ext cx="571500" cy="142875"/>
          </a:xfrm>
          <a:prstGeom prst="rect">
            <a:avLst/>
          </a:prstGeom>
        </p:spPr>
        <p:txBody>
          <a:bodyPr wrap="none" lIns="0" tIns="0" rIns="0" bIns="0"/>
          <a:lstStyle/>
          <a:p>
            <a:pPr>
              <a:lnSpc>
                <a:spcPct val="100000"/>
              </a:lnSpc>
            </a:pPr>
            <a:r>
              <a:rPr lang="zh-CN" sz="900" b="1">
                <a:solidFill>
                  <a:srgbClr val="D9534F"/>
                </a:solidFill>
                <a:latin typeface="Source Han Sans CN"/>
                <a:ea typeface="Source Han Sans CN"/>
              </a:rPr>
              <a:t>论文前必补</a:t>
            </a:r>
            <a:endParaRPr/>
          </a:p>
        </p:txBody>
      </p:sp>
      <p:sp>
        <p:nvSpPr>
          <p:cNvPr id="169" name="文本框 203" descr="{&quot;isTemplate&quot;:true,&quot;type&quot;:&quot;text&quot;}"/>
          <p:cNvSpPr txBox="1"/>
          <p:nvPr/>
        </p:nvSpPr>
        <p:spPr>
          <a:xfrm>
            <a:off x="7581900" y="1943100"/>
            <a:ext cx="3981450" cy="514350"/>
          </a:xfrm>
          <a:prstGeom prst="rect">
            <a:avLst/>
          </a:prstGeom>
        </p:spPr>
        <p:txBody>
          <a:bodyPr wrap="square" lIns="0" tIns="0" rIns="0" bIns="0">
            <a:normAutofit/>
          </a:bodyPr>
          <a:lstStyle/>
          <a:p>
            <a:pPr>
              <a:lnSpc>
                <a:spcPct val="165000"/>
              </a:lnSpc>
            </a:pPr>
            <a:r>
              <a:rPr lang="zh-CN" sz="1013">
                <a:solidFill>
                  <a:srgbClr val="4A5568"/>
                </a:solidFill>
                <a:latin typeface="Source Han Sans CN"/>
                <a:ea typeface="Source Han Sans CN"/>
              </a:rPr>
              <a:t>贪心构造</a:t>
            </a:r>
            <a:r>
              <a:rPr lang="en-US" sz="1013">
                <a:solidFill>
                  <a:srgbClr val="4A5568"/>
                </a:solidFill>
                <a:latin typeface="Source Han Sans CN"/>
                <a:ea typeface="Source Han Sans CN"/>
              </a:rPr>
              <a:t> + </a:t>
            </a:r>
            <a:r>
              <a:rPr lang="zh-CN" sz="1013">
                <a:solidFill>
                  <a:srgbClr val="4A5568"/>
                </a:solidFill>
                <a:latin typeface="Source Han Sans CN"/>
                <a:ea typeface="Source Han Sans CN"/>
              </a:rPr>
              <a:t>软时间窗</a:t>
            </a:r>
            <a:r>
              <a:rPr lang="en-US" sz="1013">
                <a:solidFill>
                  <a:srgbClr val="4A5568"/>
                </a:solidFill>
                <a:latin typeface="Source Han Sans CN"/>
                <a:ea typeface="Source Han Sans CN"/>
              </a:rPr>
              <a:t> VRPTW </a:t>
            </a:r>
            <a:r>
              <a:rPr lang="zh-CN" sz="1013">
                <a:solidFill>
                  <a:srgbClr val="4A5568"/>
                </a:solidFill>
                <a:latin typeface="Source Han Sans CN"/>
                <a:ea typeface="Source Han Sans CN"/>
              </a:rPr>
              <a:t>启发式各一；</a:t>
            </a:r>
            <a:r>
              <a:rPr lang="en-US" sz="1013">
                <a:solidFill>
                  <a:srgbClr val="4A5568"/>
                </a:solidFill>
                <a:latin typeface="Source Han Sans CN"/>
                <a:ea typeface="Source Han Sans CN"/>
              </a:rPr>
              <a:t>exp06 </a:t>
            </a:r>
            <a:r>
              <a:rPr lang="zh-CN" sz="1013">
                <a:solidFill>
                  <a:srgbClr val="4A5568"/>
                </a:solidFill>
                <a:latin typeface="Source Han Sans CN"/>
                <a:ea typeface="Source Han Sans CN"/>
              </a:rPr>
              <a:t>联合域首轮（约</a:t>
            </a:r>
            <a:r>
              <a:rPr lang="en-US" sz="1013">
                <a:solidFill>
                  <a:srgbClr val="4A5568"/>
                </a:solidFill>
                <a:latin typeface="Source Han Sans CN"/>
                <a:ea typeface="Source Han Sans CN"/>
              </a:rPr>
              <a:t> 40 </a:t>
            </a:r>
            <a:r>
              <a:rPr lang="zh-CN" sz="1013">
                <a:solidFill>
                  <a:srgbClr val="4A5568"/>
                </a:solidFill>
                <a:latin typeface="Source Han Sans CN"/>
                <a:ea typeface="Source Han Sans CN"/>
              </a:rPr>
              <a:t>分钟）验证「积压增长</a:t>
            </a:r>
            <a:r>
              <a:rPr lang="en-US" sz="1013">
                <a:solidFill>
                  <a:srgbClr val="4A5568"/>
                </a:solidFill>
                <a:latin typeface="Source Han Sans CN"/>
                <a:ea typeface="Source Han Sans CN"/>
              </a:rPr>
              <a:t> vs cap(t) </a:t>
            </a:r>
            <a:r>
              <a:rPr lang="zh-CN" sz="1013">
                <a:solidFill>
                  <a:srgbClr val="4A5568"/>
                </a:solidFill>
                <a:latin typeface="Source Han Sans CN"/>
                <a:ea typeface="Source Han Sans CN"/>
              </a:rPr>
              <a:t>衰减」形态</a:t>
            </a:r>
            <a:endParaRPr/>
          </a:p>
        </p:txBody>
      </p:sp>
      <p:sp>
        <p:nvSpPr>
          <p:cNvPr id="170" name="矩形: 圆角 204"/>
          <p:cNvSpPr/>
          <p:nvPr/>
        </p:nvSpPr>
        <p:spPr>
          <a:xfrm>
            <a:off x="6953250" y="2609850"/>
            <a:ext cx="495300" cy="495300"/>
          </a:xfrm>
          <a:prstGeom prst="roundRect">
            <a:avLst>
              <a:gd name="adj" fmla="val 19231"/>
            </a:avLst>
          </a:prstGeom>
          <a:solidFill>
            <a:srgbClr val="1E4FA8"/>
          </a:solidFill>
          <a:ln/>
        </p:spPr>
        <p:txBody>
          <a:bodyPr/>
          <a:lstStyle/>
          <a:p>
            <a:endParaRPr/>
          </a:p>
        </p:txBody>
      </p:sp>
      <p:sp>
        <p:nvSpPr>
          <p:cNvPr id="171" name="文本框 205" descr="{&quot;isTemplate&quot;:true,&quot;type&quot;:&quot;text&quot;}"/>
          <p:cNvSpPr txBox="1"/>
          <p:nvPr/>
        </p:nvSpPr>
        <p:spPr>
          <a:xfrm>
            <a:off x="7086600" y="2752725"/>
            <a:ext cx="238125" cy="219075"/>
          </a:xfrm>
          <a:prstGeom prst="rect">
            <a:avLst/>
          </a:prstGeom>
        </p:spPr>
        <p:txBody>
          <a:bodyPr wrap="none" lIns="0" tIns="0" rIns="0" bIns="0"/>
          <a:lstStyle/>
          <a:p>
            <a:pPr>
              <a:lnSpc>
                <a:spcPct val="100000"/>
              </a:lnSpc>
            </a:pPr>
            <a:r>
              <a:rPr lang="en-US" sz="1425" b="1">
                <a:solidFill>
                  <a:srgbClr val="FFFFFF"/>
                </a:solidFill>
                <a:latin typeface="Source Han Sans CN"/>
                <a:ea typeface="Source Han Sans CN"/>
              </a:rPr>
              <a:t>P1</a:t>
            </a:r>
            <a:endParaRPr/>
          </a:p>
        </p:txBody>
      </p:sp>
      <p:sp>
        <p:nvSpPr>
          <p:cNvPr id="172" name="文本框 206" descr="{&quot;isTemplate&quot;:true,&quot;type&quot;:&quot;text&quot;}"/>
          <p:cNvSpPr txBox="1"/>
          <p:nvPr/>
        </p:nvSpPr>
        <p:spPr>
          <a:xfrm>
            <a:off x="7581900" y="2609850"/>
            <a:ext cx="1724025" cy="200025"/>
          </a:xfrm>
          <a:prstGeom prst="rect">
            <a:avLst/>
          </a:prstGeom>
        </p:spPr>
        <p:txBody>
          <a:bodyPr wrap="none" lIns="0" tIns="0" rIns="0" bIns="0"/>
          <a:lstStyle/>
          <a:p>
            <a:pPr>
              <a:lnSpc>
                <a:spcPct val="100000"/>
              </a:lnSpc>
            </a:pPr>
            <a:r>
              <a:rPr lang="zh-CN" sz="1275" b="1">
                <a:solidFill>
                  <a:srgbClr val="1A2230"/>
                </a:solidFill>
                <a:latin typeface="Source Han Sans CN"/>
                <a:ea typeface="Source Han Sans CN"/>
              </a:rPr>
              <a:t>抛光扩域</a:t>
            </a:r>
            <a:r>
              <a:rPr lang="en-US" sz="1275" b="1">
                <a:solidFill>
                  <a:srgbClr val="1A2230"/>
                </a:solidFill>
                <a:latin typeface="Source Han Sans CN"/>
                <a:ea typeface="Source Han Sans CN"/>
              </a:rPr>
              <a:t> → </a:t>
            </a:r>
            <a:r>
              <a:rPr lang="zh-CN" sz="1275" b="1">
                <a:solidFill>
                  <a:srgbClr val="1A2230"/>
                </a:solidFill>
                <a:latin typeface="Source Han Sans CN"/>
                <a:ea typeface="Source Han Sans CN"/>
              </a:rPr>
              <a:t>搜索多样性</a:t>
            </a:r>
            <a:endParaRPr/>
          </a:p>
        </p:txBody>
      </p:sp>
      <p:sp>
        <p:nvSpPr>
          <p:cNvPr id="173" name="文本框 207" descr="{&quot;isTemplate&quot;:true,&quot;type&quot;:&quot;text&quot;}"/>
          <p:cNvSpPr txBox="1"/>
          <p:nvPr/>
        </p:nvSpPr>
        <p:spPr>
          <a:xfrm>
            <a:off x="9401175" y="2638425"/>
            <a:ext cx="457200" cy="142875"/>
          </a:xfrm>
          <a:prstGeom prst="rect">
            <a:avLst/>
          </a:prstGeom>
        </p:spPr>
        <p:txBody>
          <a:bodyPr wrap="none" lIns="0" tIns="0" rIns="0" bIns="0"/>
          <a:lstStyle/>
          <a:p>
            <a:pPr>
              <a:lnSpc>
                <a:spcPct val="100000"/>
              </a:lnSpc>
            </a:pPr>
            <a:r>
              <a:rPr lang="zh-CN" sz="900" b="1">
                <a:solidFill>
                  <a:srgbClr val="1E4FA8"/>
                </a:solidFill>
                <a:latin typeface="Source Han Sans CN"/>
                <a:ea typeface="Source Han Sans CN"/>
              </a:rPr>
              <a:t>方法改进</a:t>
            </a:r>
            <a:endParaRPr/>
          </a:p>
        </p:txBody>
      </p:sp>
      <p:sp>
        <p:nvSpPr>
          <p:cNvPr id="174" name="文本框 208" descr="{&quot;isTemplate&quot;:true,&quot;type&quot;:&quot;text&quot;}"/>
          <p:cNvSpPr txBox="1"/>
          <p:nvPr/>
        </p:nvSpPr>
        <p:spPr>
          <a:xfrm>
            <a:off x="7581900" y="2857500"/>
            <a:ext cx="3981450" cy="514350"/>
          </a:xfrm>
          <a:prstGeom prst="rect">
            <a:avLst/>
          </a:prstGeom>
        </p:spPr>
        <p:txBody>
          <a:bodyPr wrap="square" lIns="0" tIns="0" rIns="0" bIns="0">
            <a:normAutofit/>
          </a:bodyPr>
          <a:lstStyle/>
          <a:p>
            <a:pPr>
              <a:lnSpc>
                <a:spcPct val="165000"/>
              </a:lnSpc>
            </a:pPr>
            <a:r>
              <a:rPr lang="en-US" sz="1013">
                <a:solidFill>
                  <a:srgbClr val="4A5568"/>
                </a:solidFill>
                <a:latin typeface="Source Han Sans CN"/>
                <a:ea typeface="Source Han Sans CN"/>
              </a:rPr>
              <a:t>polish </a:t>
            </a:r>
            <a:r>
              <a:rPr lang="zh-CN" sz="1013">
                <a:solidFill>
                  <a:srgbClr val="4A5568"/>
                </a:solidFill>
                <a:latin typeface="Source Han Sans CN"/>
                <a:ea typeface="Source Han Sans CN"/>
              </a:rPr>
              <a:t>邻域扩展（</a:t>
            </a:r>
            <a:r>
              <a:rPr lang="en-US" sz="1013">
                <a:solidFill>
                  <a:srgbClr val="4A5568"/>
                </a:solidFill>
                <a:latin typeface="Source Han Sans CN"/>
                <a:ea typeface="Source Han Sans CN"/>
              </a:rPr>
              <a:t>2-opt / </a:t>
            </a:r>
            <a:r>
              <a:rPr lang="zh-CN" sz="1013">
                <a:solidFill>
                  <a:srgbClr val="4A5568"/>
                </a:solidFill>
                <a:latin typeface="Source Han Sans CN"/>
                <a:ea typeface="Source Han Sans CN"/>
              </a:rPr>
              <a:t>跨机</a:t>
            </a:r>
            <a:r>
              <a:rPr lang="en-US" sz="1013">
                <a:solidFill>
                  <a:srgbClr val="4A5568"/>
                </a:solidFill>
                <a:latin typeface="Source Han Sans CN"/>
                <a:ea typeface="Source Han Sans CN"/>
              </a:rPr>
              <a:t> relocate</a:t>
            </a:r>
            <a:r>
              <a:rPr lang="zh-CN" sz="1013">
                <a:solidFill>
                  <a:srgbClr val="4A5568"/>
                </a:solidFill>
                <a:latin typeface="Source Han Sans CN"/>
                <a:ea typeface="Source Han Sans CN"/>
              </a:rPr>
              <a:t>，过同一修复链）→</a:t>
            </a:r>
            <a:r>
              <a:rPr lang="en-US" sz="1013">
                <a:solidFill>
                  <a:srgbClr val="4A5568"/>
                </a:solidFill>
                <a:latin typeface="Source Han Sans CN"/>
                <a:ea typeface="Source Han Sans CN"/>
              </a:rPr>
              <a:t> </a:t>
            </a:r>
            <a:r>
              <a:rPr lang="zh-CN" sz="1013">
                <a:solidFill>
                  <a:srgbClr val="4A5568"/>
                </a:solidFill>
                <a:latin typeface="Source Han Sans CN"/>
                <a:ea typeface="Source Han Sans CN"/>
              </a:rPr>
              <a:t>多起点置换（治编码顺序依赖）→</a:t>
            </a:r>
            <a:r>
              <a:rPr lang="en-US" sz="1013">
                <a:solidFill>
                  <a:srgbClr val="4A5568"/>
                </a:solidFill>
                <a:latin typeface="Source Han Sans CN"/>
                <a:ea typeface="Source Han Sans CN"/>
              </a:rPr>
              <a:t> </a:t>
            </a:r>
            <a:r>
              <a:rPr lang="zh-CN" sz="1013">
                <a:solidFill>
                  <a:srgbClr val="4A5568"/>
                </a:solidFill>
                <a:latin typeface="Source Han Sans CN"/>
                <a:ea typeface="Source Han Sans CN"/>
              </a:rPr>
              <a:t>停滞重启</a:t>
            </a:r>
            <a:r>
              <a:rPr lang="en-US" sz="1013">
                <a:solidFill>
                  <a:srgbClr val="4A5568"/>
                </a:solidFill>
                <a:latin typeface="Source Han Sans CN"/>
                <a:ea typeface="Source Han Sans CN"/>
              </a:rPr>
              <a:t> + </a:t>
            </a:r>
            <a:r>
              <a:rPr lang="zh-CN" sz="1013">
                <a:solidFill>
                  <a:srgbClr val="4A5568"/>
                </a:solidFill>
                <a:latin typeface="Source Han Sans CN"/>
                <a:ea typeface="Source Han Sans CN"/>
              </a:rPr>
              <a:t>闲置维再</a:t>
            </a:r>
            <a:r>
              <a:rPr lang="en-US" sz="1013">
                <a:solidFill>
                  <a:srgbClr val="4A5568"/>
                </a:solidFill>
                <a:latin typeface="Source Han Sans CN"/>
                <a:ea typeface="Source Han Sans CN"/>
              </a:rPr>
              <a:t> init</a:t>
            </a:r>
            <a:endParaRPr/>
          </a:p>
        </p:txBody>
      </p:sp>
      <p:sp>
        <p:nvSpPr>
          <p:cNvPr id="175" name="矩形: 圆角 209"/>
          <p:cNvSpPr/>
          <p:nvPr/>
        </p:nvSpPr>
        <p:spPr>
          <a:xfrm>
            <a:off x="6953250" y="3524250"/>
            <a:ext cx="495300" cy="495300"/>
          </a:xfrm>
          <a:prstGeom prst="roundRect">
            <a:avLst>
              <a:gd name="adj" fmla="val 19231"/>
            </a:avLst>
          </a:prstGeom>
          <a:solidFill>
            <a:srgbClr val="5F5E5A"/>
          </a:solidFill>
          <a:ln/>
        </p:spPr>
        <p:txBody>
          <a:bodyPr/>
          <a:lstStyle/>
          <a:p>
            <a:endParaRPr/>
          </a:p>
        </p:txBody>
      </p:sp>
      <p:sp>
        <p:nvSpPr>
          <p:cNvPr id="176" name="文本框 210" descr="{&quot;isTemplate&quot;:true,&quot;type&quot;:&quot;text&quot;}"/>
          <p:cNvSpPr txBox="1"/>
          <p:nvPr/>
        </p:nvSpPr>
        <p:spPr>
          <a:xfrm>
            <a:off x="7086600" y="3667125"/>
            <a:ext cx="238125" cy="219075"/>
          </a:xfrm>
          <a:prstGeom prst="rect">
            <a:avLst/>
          </a:prstGeom>
        </p:spPr>
        <p:txBody>
          <a:bodyPr wrap="none" lIns="0" tIns="0" rIns="0" bIns="0"/>
          <a:lstStyle/>
          <a:p>
            <a:pPr>
              <a:lnSpc>
                <a:spcPct val="100000"/>
              </a:lnSpc>
            </a:pPr>
            <a:r>
              <a:rPr lang="en-US" sz="1425" b="1">
                <a:solidFill>
                  <a:srgbClr val="FFFFFF"/>
                </a:solidFill>
                <a:latin typeface="Source Han Sans CN"/>
                <a:ea typeface="Source Han Sans CN"/>
              </a:rPr>
              <a:t>P2</a:t>
            </a:r>
            <a:endParaRPr/>
          </a:p>
        </p:txBody>
      </p:sp>
      <p:sp>
        <p:nvSpPr>
          <p:cNvPr id="177" name="文本框 211" descr="{&quot;isTemplate&quot;:true,&quot;type&quot;:&quot;text&quot;}"/>
          <p:cNvSpPr txBox="1"/>
          <p:nvPr/>
        </p:nvSpPr>
        <p:spPr>
          <a:xfrm>
            <a:off x="7581900" y="3524250"/>
            <a:ext cx="1619250" cy="200025"/>
          </a:xfrm>
          <a:prstGeom prst="rect">
            <a:avLst/>
          </a:prstGeom>
        </p:spPr>
        <p:txBody>
          <a:bodyPr wrap="none" lIns="0" tIns="0" rIns="0" bIns="0"/>
          <a:lstStyle/>
          <a:p>
            <a:pPr>
              <a:lnSpc>
                <a:spcPct val="100000"/>
              </a:lnSpc>
            </a:pPr>
            <a:r>
              <a:rPr lang="zh-CN" sz="1275" b="1">
                <a:solidFill>
                  <a:srgbClr val="1A2230"/>
                </a:solidFill>
                <a:latin typeface="Source Han Sans CN"/>
                <a:ea typeface="Source Han Sans CN"/>
              </a:rPr>
              <a:t>标定结论落地与文档化</a:t>
            </a:r>
            <a:endParaRPr/>
          </a:p>
        </p:txBody>
      </p:sp>
      <p:sp>
        <p:nvSpPr>
          <p:cNvPr id="178" name="文本框 212" descr="{&quot;isTemplate&quot;:true,&quot;type&quot;:&quot;text&quot;}"/>
          <p:cNvSpPr txBox="1"/>
          <p:nvPr/>
        </p:nvSpPr>
        <p:spPr>
          <a:xfrm>
            <a:off x="9296400" y="3552825"/>
            <a:ext cx="685800" cy="142875"/>
          </a:xfrm>
          <a:prstGeom prst="rect">
            <a:avLst/>
          </a:prstGeom>
        </p:spPr>
        <p:txBody>
          <a:bodyPr wrap="none" lIns="0" tIns="0" rIns="0" bIns="0"/>
          <a:lstStyle/>
          <a:p>
            <a:pPr>
              <a:lnSpc>
                <a:spcPct val="100000"/>
              </a:lnSpc>
            </a:pPr>
            <a:r>
              <a:rPr lang="zh-CN" sz="900" b="1">
                <a:solidFill>
                  <a:srgbClr val="5F5E5A"/>
                </a:solidFill>
                <a:latin typeface="Source Han Sans CN"/>
                <a:ea typeface="Source Han Sans CN"/>
              </a:rPr>
              <a:t>口径与生产化</a:t>
            </a:r>
            <a:endParaRPr/>
          </a:p>
        </p:txBody>
      </p:sp>
      <p:sp>
        <p:nvSpPr>
          <p:cNvPr id="179" name="文本框 213" descr="{&quot;isTemplate&quot;:true,&quot;type&quot;:&quot;text&quot;}"/>
          <p:cNvSpPr txBox="1"/>
          <p:nvPr/>
        </p:nvSpPr>
        <p:spPr>
          <a:xfrm>
            <a:off x="7581900" y="3771900"/>
            <a:ext cx="3981450" cy="514350"/>
          </a:xfrm>
          <a:prstGeom prst="rect">
            <a:avLst/>
          </a:prstGeom>
        </p:spPr>
        <p:txBody>
          <a:bodyPr wrap="square" lIns="0" tIns="0" rIns="0" bIns="0">
            <a:normAutofit/>
          </a:bodyPr>
          <a:lstStyle/>
          <a:p>
            <a:pPr>
              <a:lnSpc>
                <a:spcPct val="165000"/>
              </a:lnSpc>
            </a:pPr>
            <a:r>
              <a:rPr lang="en-US" sz="1013">
                <a:solidFill>
                  <a:srgbClr val="4A5568"/>
                </a:solidFill>
                <a:latin typeface="Source Han Sans CN"/>
                <a:ea typeface="Source Han Sans CN"/>
              </a:rPr>
              <a:t>mode=primary </a:t>
            </a:r>
            <a:r>
              <a:rPr lang="zh-CN" sz="1013">
                <a:solidFill>
                  <a:srgbClr val="4A5568"/>
                </a:solidFill>
                <a:latin typeface="Source Han Sans CN"/>
                <a:ea typeface="Source Han Sans CN"/>
              </a:rPr>
              <a:t>生产化走</a:t>
            </a:r>
            <a:r>
              <a:rPr lang="en-US" sz="1013">
                <a:solidFill>
                  <a:srgbClr val="4A5568"/>
                </a:solidFill>
                <a:latin typeface="Source Han Sans CN"/>
                <a:ea typeface="Source Han Sans CN"/>
              </a:rPr>
              <a:t> exp04 </a:t>
            </a:r>
            <a:r>
              <a:rPr lang="zh-CN" sz="1013">
                <a:solidFill>
                  <a:srgbClr val="4A5568"/>
                </a:solidFill>
                <a:latin typeface="Source Han Sans CN"/>
                <a:ea typeface="Source Han Sans CN"/>
              </a:rPr>
              <a:t>消融；</a:t>
            </a:r>
            <a:r>
              <a:rPr lang="en-US" sz="1013">
                <a:solidFill>
                  <a:srgbClr val="4A5568"/>
                </a:solidFill>
                <a:latin typeface="Source Han Sans CN"/>
                <a:ea typeface="Source Han Sans CN"/>
              </a:rPr>
              <a:t>max_ratio </a:t>
            </a:r>
            <a:r>
              <a:rPr lang="zh-CN" sz="1013">
                <a:solidFill>
                  <a:srgbClr val="4A5568"/>
                </a:solidFill>
                <a:latin typeface="Source Han Sans CN"/>
                <a:ea typeface="Source Han Sans CN"/>
              </a:rPr>
              <a:t>与</a:t>
            </a:r>
            <a:r>
              <a:rPr lang="en-US" sz="1013">
                <a:solidFill>
                  <a:srgbClr val="4A5568"/>
                </a:solidFill>
                <a:latin typeface="Source Han Sans CN"/>
                <a:ea typeface="Source Han Sans CN"/>
              </a:rPr>
              <a:t> capability </a:t>
            </a:r>
            <a:r>
              <a:rPr lang="zh-CN" sz="1013">
                <a:solidFill>
                  <a:srgbClr val="4A5568"/>
                </a:solidFill>
                <a:latin typeface="Source Han Sans CN"/>
                <a:ea typeface="Source Han Sans CN"/>
              </a:rPr>
              <a:t>联动写入文档；主指标按</a:t>
            </a:r>
            <a:r>
              <a:rPr lang="en-US" sz="1013">
                <a:solidFill>
                  <a:srgbClr val="4A5568"/>
                </a:solidFill>
                <a:latin typeface="Source Han Sans CN"/>
                <a:ea typeface="Source Han Sans CN"/>
              </a:rPr>
              <a:t> (</a:t>
            </a:r>
            <a:r>
              <a:rPr lang="zh-CN" sz="1013">
                <a:solidFill>
                  <a:srgbClr val="4A5568"/>
                </a:solidFill>
                <a:latin typeface="Source Han Sans CN"/>
                <a:ea typeface="Source Han Sans CN"/>
              </a:rPr>
              <a:t>完成率</a:t>
            </a:r>
            <a:r>
              <a:rPr lang="en-US" sz="1013">
                <a:solidFill>
                  <a:srgbClr val="4A5568"/>
                </a:solidFill>
                <a:latin typeface="Source Han Sans CN"/>
                <a:ea typeface="Source Han Sans CN"/>
              </a:rPr>
              <a:t>, </a:t>
            </a:r>
            <a:r>
              <a:rPr lang="zh-CN" sz="1013">
                <a:solidFill>
                  <a:srgbClr val="4A5568"/>
                </a:solidFill>
                <a:latin typeface="Source Han Sans CN"/>
                <a:ea typeface="Source Han Sans CN"/>
              </a:rPr>
              <a:t>航程</a:t>
            </a:r>
            <a:r>
              <a:rPr lang="en-US" sz="1013">
                <a:solidFill>
                  <a:srgbClr val="4A5568"/>
                </a:solidFill>
                <a:latin typeface="Source Han Sans CN"/>
                <a:ea typeface="Source Han Sans CN"/>
              </a:rPr>
              <a:t>) Pareto </a:t>
            </a:r>
            <a:r>
              <a:rPr lang="zh-CN" sz="1013">
                <a:solidFill>
                  <a:srgbClr val="4A5568"/>
                </a:solidFill>
                <a:latin typeface="Source Han Sans CN"/>
                <a:ea typeface="Source Han Sans CN"/>
              </a:rPr>
              <a:t>前沿呈现</a:t>
            </a:r>
            <a:endParaRPr/>
          </a:p>
        </p:txBody>
      </p:sp>
      <p:sp>
        <p:nvSpPr>
          <p:cNvPr id="180" name="矩形: 圆角 214"/>
          <p:cNvSpPr/>
          <p:nvPr/>
        </p:nvSpPr>
        <p:spPr>
          <a:xfrm>
            <a:off x="6953250" y="5200650"/>
            <a:ext cx="4610100" cy="781050"/>
          </a:xfrm>
          <a:prstGeom prst="roundRect">
            <a:avLst>
              <a:gd name="adj" fmla="val 9756"/>
            </a:avLst>
          </a:prstGeom>
          <a:solidFill>
            <a:srgbClr val="0E3F8C"/>
          </a:solidFill>
          <a:ln/>
        </p:spPr>
        <p:txBody>
          <a:bodyPr/>
          <a:lstStyle/>
          <a:p>
            <a:endParaRPr/>
          </a:p>
        </p:txBody>
      </p:sp>
      <p:sp>
        <p:nvSpPr>
          <p:cNvPr id="181" name="文本框 215" descr="{&quot;isTemplate&quot;:true,&quot;type&quot;:&quot;text&quot;}"/>
          <p:cNvSpPr txBox="1"/>
          <p:nvPr/>
        </p:nvSpPr>
        <p:spPr>
          <a:xfrm>
            <a:off x="7124700" y="5314950"/>
            <a:ext cx="4267200" cy="552450"/>
          </a:xfrm>
          <a:prstGeom prst="rect">
            <a:avLst/>
          </a:prstGeom>
        </p:spPr>
        <p:txBody>
          <a:bodyPr wrap="square" lIns="0" tIns="0" rIns="0" bIns="0">
            <a:normAutofit/>
          </a:bodyPr>
          <a:lstStyle/>
          <a:p>
            <a:pPr>
              <a:lnSpc>
                <a:spcPct val="160000"/>
              </a:lnSpc>
            </a:pPr>
            <a:r>
              <a:rPr lang="zh-CN" sz="1125" b="1">
                <a:solidFill>
                  <a:srgbClr val="FFFFFF"/>
                </a:solidFill>
                <a:latin typeface="Source Han Sans CN"/>
                <a:ea typeface="Source Han Sans CN"/>
              </a:rPr>
              <a:t>判断：科学故事已成立——分层可扩展有标定曲线、顺序依赖有对症解法；当前优先补外部有效性证据，而非继续改算法。</a:t>
            </a:r>
            <a:endParaRPr/>
          </a:p>
        </p:txBody>
      </p:sp>
      <p:sp>
        <p:nvSpPr>
          <p:cNvPr id="182" name="矩形 216"/>
          <p:cNvSpPr/>
          <p:nvPr/>
        </p:nvSpPr>
        <p:spPr>
          <a:xfrm>
            <a:off x="0" y="6448425"/>
            <a:ext cx="12192000" cy="409575"/>
          </a:xfrm>
          <a:prstGeom prst="rect">
            <a:avLst/>
          </a:prstGeom>
          <a:solidFill>
            <a:srgbClr val="F7F9FC"/>
          </a:solidFill>
          <a:ln/>
        </p:spPr>
        <p:txBody>
          <a:bodyPr/>
          <a:lstStyle/>
          <a:p>
            <a:endParaRPr/>
          </a:p>
        </p:txBody>
      </p:sp>
      <p:sp>
        <p:nvSpPr>
          <p:cNvPr id="183" name="任意多边形: 形状 217"/>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184" name="文本框 218"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185" name="文本框 219"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15 / 16</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7" name="矩形 221"/>
          <p:cNvSpPr/>
          <p:nvPr/>
        </p:nvSpPr>
        <p:spPr>
          <a:xfrm>
            <a:off x="0" y="0"/>
            <a:ext cx="12192000" cy="6858000"/>
          </a:xfrm>
          <a:prstGeom prst="rect">
            <a:avLst/>
          </a:prstGeom>
          <a:solidFill>
            <a:srgbClr val="0E3F8C"/>
          </a:solidFill>
          <a:ln/>
        </p:spPr>
        <p:txBody>
          <a:bodyPr/>
          <a:lstStyle/>
          <a:p>
            <a:endParaRPr/>
          </a:p>
        </p:txBody>
      </p:sp>
      <p:sp>
        <p:nvSpPr>
          <p:cNvPr id="188" name="矩形 222"/>
          <p:cNvSpPr/>
          <p:nvPr/>
        </p:nvSpPr>
        <p:spPr>
          <a:xfrm>
            <a:off x="0" y="0"/>
            <a:ext cx="12192000" cy="114300"/>
          </a:xfrm>
          <a:prstGeom prst="rect">
            <a:avLst/>
          </a:prstGeom>
          <a:solidFill>
            <a:srgbClr val="3D7BD9"/>
          </a:solidFill>
          <a:ln/>
        </p:spPr>
        <p:txBody>
          <a:bodyPr/>
          <a:lstStyle/>
          <a:p>
            <a:endParaRPr/>
          </a:p>
        </p:txBody>
      </p:sp>
      <p:sp>
        <p:nvSpPr>
          <p:cNvPr id="189" name="矩形 223"/>
          <p:cNvSpPr/>
          <p:nvPr/>
        </p:nvSpPr>
        <p:spPr>
          <a:xfrm>
            <a:off x="0" y="6743700"/>
            <a:ext cx="12192000" cy="114300"/>
          </a:xfrm>
          <a:prstGeom prst="rect">
            <a:avLst/>
          </a:prstGeom>
          <a:solidFill>
            <a:srgbClr val="3D7BD9"/>
          </a:solidFill>
          <a:ln/>
        </p:spPr>
        <p:txBody>
          <a:bodyPr/>
          <a:lstStyle/>
          <a:p>
            <a:endParaRPr/>
          </a:p>
        </p:txBody>
      </p:sp>
      <p:sp>
        <p:nvSpPr>
          <p:cNvPr id="190" name="矩形: 圆角 224"/>
          <p:cNvSpPr/>
          <p:nvPr/>
        </p:nvSpPr>
        <p:spPr>
          <a:xfrm>
            <a:off x="1333500" y="914400"/>
            <a:ext cx="9525000" cy="400050"/>
          </a:xfrm>
          <a:prstGeom prst="roundRect">
            <a:avLst>
              <a:gd name="adj" fmla="val 57143"/>
            </a:avLst>
          </a:prstGeom>
          <a:solidFill>
            <a:srgbClr val="FFFFFF">
              <a:alpha val="8000"/>
            </a:srgbClr>
          </a:solidFill>
          <a:ln w="12700">
            <a:solidFill>
              <a:srgbClr val="FFFFFF">
                <a:alpha val="25000"/>
              </a:srgbClr>
            </a:solidFill>
            <a:prstDash val="solid"/>
          </a:ln>
        </p:spPr>
        <p:txBody>
          <a:bodyPr/>
          <a:lstStyle/>
          <a:p>
            <a:endParaRPr/>
          </a:p>
        </p:txBody>
      </p:sp>
      <p:sp>
        <p:nvSpPr>
          <p:cNvPr id="191" name="文本框 225" descr="{&quot;isTemplate&quot;:true,&quot;type&quot;:&quot;text&quot;}"/>
          <p:cNvSpPr txBox="1"/>
          <p:nvPr/>
        </p:nvSpPr>
        <p:spPr>
          <a:xfrm>
            <a:off x="3581400" y="1028700"/>
            <a:ext cx="933450" cy="171450"/>
          </a:xfrm>
          <a:prstGeom prst="rect">
            <a:avLst/>
          </a:prstGeom>
        </p:spPr>
        <p:txBody>
          <a:bodyPr wrap="none" lIns="0" tIns="0" rIns="0" bIns="0"/>
          <a:lstStyle/>
          <a:p>
            <a:pPr>
              <a:lnSpc>
                <a:spcPct val="100000"/>
              </a:lnSpc>
            </a:pPr>
            <a:r>
              <a:rPr lang="en-US" sz="1125" b="1">
                <a:solidFill>
                  <a:srgbClr val="FFFFFF"/>
                </a:solidFill>
                <a:latin typeface="Source Han Sans CN"/>
                <a:ea typeface="Source Han Sans CN"/>
              </a:rPr>
              <a:t>01 </a:t>
            </a:r>
            <a:r>
              <a:rPr lang="zh-CN" sz="1125" b="1">
                <a:solidFill>
                  <a:srgbClr val="FFFFFF"/>
                </a:solidFill>
                <a:latin typeface="Source Han Sans CN"/>
                <a:ea typeface="Source Han Sans CN"/>
              </a:rPr>
              <a:t>问题与框架</a:t>
            </a:r>
            <a:endParaRPr/>
          </a:p>
        </p:txBody>
      </p:sp>
      <p:sp>
        <p:nvSpPr>
          <p:cNvPr id="192" name="文本框 226" descr="{&quot;isTemplate&quot;:true,&quot;type&quot;:&quot;text&quot;}"/>
          <p:cNvSpPr txBox="1"/>
          <p:nvPr/>
        </p:nvSpPr>
        <p:spPr>
          <a:xfrm>
            <a:off x="4667250" y="1028700"/>
            <a:ext cx="38100" cy="171450"/>
          </a:xfrm>
          <a:prstGeom prst="rect">
            <a:avLst/>
          </a:prstGeom>
        </p:spPr>
        <p:txBody>
          <a:bodyPr wrap="none" lIns="0" tIns="0" rIns="0" bIns="0"/>
          <a:lstStyle/>
          <a:p>
            <a:pPr>
              <a:lnSpc>
                <a:spcPct val="100000"/>
              </a:lnSpc>
            </a:pPr>
            <a:r>
              <a:rPr sz="1125">
                <a:solidFill>
                  <a:srgbClr val="85B7EB"/>
                </a:solidFill>
                <a:latin typeface="Source Han Sans CN"/>
                <a:ea typeface="Source Han Sans CN"/>
              </a:rPr>
              <a:t>·</a:t>
            </a:r>
            <a:endParaRPr/>
          </a:p>
        </p:txBody>
      </p:sp>
      <p:sp>
        <p:nvSpPr>
          <p:cNvPr id="193" name="文本框 227" descr="{&quot;isTemplate&quot;:true,&quot;type&quot;:&quot;text&quot;}"/>
          <p:cNvSpPr txBox="1"/>
          <p:nvPr/>
        </p:nvSpPr>
        <p:spPr>
          <a:xfrm>
            <a:off x="4857750" y="1028700"/>
            <a:ext cx="790575" cy="171450"/>
          </a:xfrm>
          <a:prstGeom prst="rect">
            <a:avLst/>
          </a:prstGeom>
        </p:spPr>
        <p:txBody>
          <a:bodyPr wrap="none" lIns="0" tIns="0" rIns="0" bIns="0"/>
          <a:lstStyle/>
          <a:p>
            <a:pPr>
              <a:lnSpc>
                <a:spcPct val="100000"/>
              </a:lnSpc>
            </a:pPr>
            <a:r>
              <a:rPr lang="en-US" sz="1125" b="1">
                <a:solidFill>
                  <a:srgbClr val="FFFFFF"/>
                </a:solidFill>
                <a:latin typeface="Source Han Sans CN"/>
                <a:ea typeface="Source Han Sans CN"/>
              </a:rPr>
              <a:t>02 </a:t>
            </a:r>
            <a:r>
              <a:rPr lang="zh-CN" sz="1125" b="1">
                <a:solidFill>
                  <a:srgbClr val="FFFFFF"/>
                </a:solidFill>
                <a:latin typeface="Source Han Sans CN"/>
                <a:ea typeface="Source Han Sans CN"/>
              </a:rPr>
              <a:t>任务选择</a:t>
            </a:r>
            <a:endParaRPr/>
          </a:p>
        </p:txBody>
      </p:sp>
      <p:sp>
        <p:nvSpPr>
          <p:cNvPr id="194" name="文本框 228" descr="{&quot;isTemplate&quot;:true,&quot;type&quot;:&quot;text&quot;}"/>
          <p:cNvSpPr txBox="1"/>
          <p:nvPr/>
        </p:nvSpPr>
        <p:spPr>
          <a:xfrm>
            <a:off x="5800725" y="1028700"/>
            <a:ext cx="38100" cy="171450"/>
          </a:xfrm>
          <a:prstGeom prst="rect">
            <a:avLst/>
          </a:prstGeom>
        </p:spPr>
        <p:txBody>
          <a:bodyPr wrap="none" lIns="0" tIns="0" rIns="0" bIns="0"/>
          <a:lstStyle/>
          <a:p>
            <a:pPr>
              <a:lnSpc>
                <a:spcPct val="100000"/>
              </a:lnSpc>
            </a:pPr>
            <a:r>
              <a:rPr sz="1125">
                <a:solidFill>
                  <a:srgbClr val="85B7EB"/>
                </a:solidFill>
                <a:latin typeface="Source Han Sans CN"/>
                <a:ea typeface="Source Han Sans CN"/>
              </a:rPr>
              <a:t>·</a:t>
            </a:r>
            <a:endParaRPr/>
          </a:p>
        </p:txBody>
      </p:sp>
      <p:sp>
        <p:nvSpPr>
          <p:cNvPr id="195" name="文本框 229" descr="{&quot;isTemplate&quot;:true,&quot;type&quot;:&quot;text&quot;}"/>
          <p:cNvSpPr txBox="1"/>
          <p:nvPr/>
        </p:nvSpPr>
        <p:spPr>
          <a:xfrm>
            <a:off x="5991225" y="1028700"/>
            <a:ext cx="1352550" cy="171450"/>
          </a:xfrm>
          <a:prstGeom prst="rect">
            <a:avLst/>
          </a:prstGeom>
        </p:spPr>
        <p:txBody>
          <a:bodyPr wrap="none" lIns="0" tIns="0" rIns="0" bIns="0"/>
          <a:lstStyle/>
          <a:p>
            <a:pPr>
              <a:lnSpc>
                <a:spcPct val="100000"/>
              </a:lnSpc>
            </a:pPr>
            <a:r>
              <a:rPr lang="en-US" sz="1125" b="1">
                <a:solidFill>
                  <a:srgbClr val="FFFFFF"/>
                </a:solidFill>
                <a:latin typeface="Source Han Sans CN"/>
                <a:ea typeface="Source Han Sans CN"/>
              </a:rPr>
              <a:t>03 MUAS </a:t>
            </a:r>
            <a:r>
              <a:rPr lang="zh-CN" sz="1125" b="1">
                <a:solidFill>
                  <a:srgbClr val="FFFFFF"/>
                </a:solidFill>
                <a:latin typeface="Source Han Sans CN"/>
                <a:ea typeface="Source Han Sans CN"/>
              </a:rPr>
              <a:t>与</a:t>
            </a:r>
            <a:r>
              <a:rPr lang="en-US" sz="1125" b="1">
                <a:solidFill>
                  <a:srgbClr val="FFFFFF"/>
                </a:solidFill>
                <a:latin typeface="Source Han Sans CN"/>
                <a:ea typeface="Source Han Sans CN"/>
              </a:rPr>
              <a:t> DMDE</a:t>
            </a:r>
            <a:endParaRPr/>
          </a:p>
        </p:txBody>
      </p:sp>
      <p:sp>
        <p:nvSpPr>
          <p:cNvPr id="196" name="文本框 230" descr="{&quot;isTemplate&quot;:true,&quot;type&quot;:&quot;text&quot;}"/>
          <p:cNvSpPr txBox="1"/>
          <p:nvPr/>
        </p:nvSpPr>
        <p:spPr>
          <a:xfrm>
            <a:off x="7496175" y="1028700"/>
            <a:ext cx="38100" cy="171450"/>
          </a:xfrm>
          <a:prstGeom prst="rect">
            <a:avLst/>
          </a:prstGeom>
        </p:spPr>
        <p:txBody>
          <a:bodyPr wrap="none" lIns="0" tIns="0" rIns="0" bIns="0"/>
          <a:lstStyle/>
          <a:p>
            <a:pPr>
              <a:lnSpc>
                <a:spcPct val="100000"/>
              </a:lnSpc>
            </a:pPr>
            <a:r>
              <a:rPr sz="1125">
                <a:solidFill>
                  <a:srgbClr val="85B7EB"/>
                </a:solidFill>
                <a:latin typeface="Source Han Sans CN"/>
                <a:ea typeface="Source Han Sans CN"/>
              </a:rPr>
              <a:t>·</a:t>
            </a:r>
            <a:endParaRPr/>
          </a:p>
        </p:txBody>
      </p:sp>
      <p:sp>
        <p:nvSpPr>
          <p:cNvPr id="197" name="文本框 231" descr="{&quot;isTemplate&quot;:true,&quot;type&quot;:&quot;text&quot;}"/>
          <p:cNvSpPr txBox="1"/>
          <p:nvPr/>
        </p:nvSpPr>
        <p:spPr>
          <a:xfrm>
            <a:off x="7686675" y="1028700"/>
            <a:ext cx="933450" cy="171450"/>
          </a:xfrm>
          <a:prstGeom prst="rect">
            <a:avLst/>
          </a:prstGeom>
        </p:spPr>
        <p:txBody>
          <a:bodyPr wrap="none" lIns="0" tIns="0" rIns="0" bIns="0"/>
          <a:lstStyle/>
          <a:p>
            <a:pPr>
              <a:lnSpc>
                <a:spcPct val="100000"/>
              </a:lnSpc>
            </a:pPr>
            <a:r>
              <a:rPr lang="en-US" sz="1125" b="1">
                <a:solidFill>
                  <a:srgbClr val="FFFFFF"/>
                </a:solidFill>
                <a:latin typeface="Source Han Sans CN"/>
                <a:ea typeface="Source Han Sans CN"/>
              </a:rPr>
              <a:t>04 </a:t>
            </a:r>
            <a:r>
              <a:rPr lang="zh-CN" sz="1125" b="1">
                <a:solidFill>
                  <a:srgbClr val="FFFFFF"/>
                </a:solidFill>
                <a:latin typeface="Source Han Sans CN"/>
                <a:ea typeface="Source Han Sans CN"/>
              </a:rPr>
              <a:t>实验与计划</a:t>
            </a:r>
            <a:endParaRPr/>
          </a:p>
        </p:txBody>
      </p:sp>
      <p:sp>
        <p:nvSpPr>
          <p:cNvPr id="198" name="文本框 232" descr="{&quot;isTemplate&quot;:true,&quot;type&quot;:&quot;text&quot;}"/>
          <p:cNvSpPr txBox="1"/>
          <p:nvPr/>
        </p:nvSpPr>
        <p:spPr>
          <a:xfrm>
            <a:off x="5810250" y="1981200"/>
            <a:ext cx="581025" cy="190500"/>
          </a:xfrm>
          <a:prstGeom prst="rect">
            <a:avLst/>
          </a:prstGeom>
        </p:spPr>
        <p:txBody>
          <a:bodyPr wrap="none" lIns="0" tIns="0" rIns="0" bIns="0"/>
          <a:lstStyle/>
          <a:p>
            <a:pPr>
              <a:lnSpc>
                <a:spcPct val="100000"/>
              </a:lnSpc>
            </a:pPr>
            <a:r>
              <a:rPr lang="zh-CN" sz="1200" spc="600">
                <a:solidFill>
                  <a:srgbClr val="85B7EB"/>
                </a:solidFill>
                <a:latin typeface="Source Han Sans CN"/>
                <a:ea typeface="Source Han Sans CN"/>
              </a:rPr>
              <a:t>小</a:t>
            </a:r>
            <a:r>
              <a:rPr lang="en-US" sz="1200" spc="600">
                <a:solidFill>
                  <a:srgbClr val="85B7EB"/>
                </a:solidFill>
                <a:latin typeface="Source Han Sans CN"/>
                <a:ea typeface="Source Han Sans CN"/>
              </a:rPr>
              <a:t> </a:t>
            </a:r>
            <a:r>
              <a:rPr lang="zh-CN" sz="1200" spc="600">
                <a:solidFill>
                  <a:srgbClr val="85B7EB"/>
                </a:solidFill>
                <a:latin typeface="Source Han Sans CN"/>
                <a:ea typeface="Source Han Sans CN"/>
              </a:rPr>
              <a:t>结</a:t>
            </a:r>
            <a:endParaRPr/>
          </a:p>
        </p:txBody>
      </p:sp>
      <p:sp>
        <p:nvSpPr>
          <p:cNvPr id="199" name="文本框 233" descr="{&quot;isTemplate&quot;:true,&quot;type&quot;:&quot;text&quot;}"/>
          <p:cNvSpPr txBox="1"/>
          <p:nvPr/>
        </p:nvSpPr>
        <p:spPr>
          <a:xfrm>
            <a:off x="3295650" y="2400300"/>
            <a:ext cx="5600700" cy="1495425"/>
          </a:xfrm>
          <a:prstGeom prst="rect">
            <a:avLst/>
          </a:prstGeom>
        </p:spPr>
        <p:txBody>
          <a:bodyPr wrap="none" lIns="0" tIns="0" rIns="0" bIns="0"/>
          <a:lstStyle/>
          <a:p>
            <a:pPr algn="ctr">
              <a:lnSpc>
                <a:spcPct val="155000"/>
              </a:lnSpc>
            </a:pPr>
            <a:r>
              <a:rPr lang="zh-CN" sz="3150" b="1">
                <a:solidFill>
                  <a:srgbClr val="FFFFFF"/>
                </a:solidFill>
                <a:latin typeface="Source Han Sans CN"/>
                <a:ea typeface="Source Han Sans CN"/>
              </a:rPr>
              <a:t>分层求解：以能力标定筛选规模</a:t>
            </a:r>
            <a:endParaRPr/>
          </a:p>
          <a:p>
            <a:pPr algn="ctr">
              <a:lnSpc>
                <a:spcPct val="155000"/>
              </a:lnSpc>
            </a:pPr>
            <a:r>
              <a:rPr lang="zh-CN" sz="3150" b="1">
                <a:solidFill>
                  <a:srgbClr val="FFFFFF"/>
                </a:solidFill>
                <a:latin typeface="Source Han Sans CN"/>
                <a:ea typeface="Source Han Sans CN"/>
              </a:rPr>
              <a:t>以组合优化保证质量</a:t>
            </a:r>
            <a:endParaRPr/>
          </a:p>
        </p:txBody>
      </p:sp>
      <p:sp>
        <p:nvSpPr>
          <p:cNvPr id="200" name="矩形 234"/>
          <p:cNvSpPr/>
          <p:nvPr/>
        </p:nvSpPr>
        <p:spPr>
          <a:xfrm>
            <a:off x="5829300" y="4181475"/>
            <a:ext cx="533400" cy="38100"/>
          </a:xfrm>
          <a:prstGeom prst="rect">
            <a:avLst/>
          </a:prstGeom>
          <a:solidFill>
            <a:srgbClr val="FFC107"/>
          </a:solidFill>
          <a:ln/>
        </p:spPr>
        <p:txBody>
          <a:bodyPr/>
          <a:lstStyle/>
          <a:p>
            <a:endParaRPr/>
          </a:p>
        </p:txBody>
      </p:sp>
      <p:sp>
        <p:nvSpPr>
          <p:cNvPr id="201" name="文本框 235" descr="{&quot;isTemplate&quot;:true,&quot;type&quot;:&quot;text&quot;}"/>
          <p:cNvSpPr txBox="1"/>
          <p:nvPr/>
        </p:nvSpPr>
        <p:spPr>
          <a:xfrm>
            <a:off x="3228975" y="4486275"/>
            <a:ext cx="5743575" cy="790575"/>
          </a:xfrm>
          <a:prstGeom prst="rect">
            <a:avLst/>
          </a:prstGeom>
        </p:spPr>
        <p:txBody>
          <a:bodyPr wrap="none" lIns="0" tIns="0" rIns="0" bIns="0"/>
          <a:lstStyle/>
          <a:p>
            <a:pPr algn="ctr">
              <a:lnSpc>
                <a:spcPct val="190000"/>
              </a:lnSpc>
            </a:pPr>
            <a:r>
              <a:rPr lang="zh-CN" sz="1350">
                <a:solidFill>
                  <a:srgbClr val="DCE7F5"/>
                </a:solidFill>
                <a:latin typeface="Source Han Sans CN"/>
                <a:ea typeface="Source Han Sans CN"/>
              </a:rPr>
              <a:t>动态任务选择缩空间</a:t>
            </a:r>
            <a:r>
              <a:rPr lang="en-US" sz="1350">
                <a:solidFill>
                  <a:srgbClr val="DCE7F5"/>
                </a:solidFill>
                <a:latin typeface="Source Han Sans CN"/>
                <a:ea typeface="Source Han Sans CN"/>
              </a:rPr>
              <a:t> · </a:t>
            </a:r>
            <a:r>
              <a:rPr lang="zh-CN" sz="1350">
                <a:solidFill>
                  <a:srgbClr val="DCE7F5"/>
                </a:solidFill>
                <a:latin typeface="Source Han Sans CN"/>
                <a:ea typeface="Source Han Sans CN"/>
              </a:rPr>
              <a:t>选择性</a:t>
            </a:r>
            <a:r>
              <a:rPr lang="en-US" sz="1350">
                <a:solidFill>
                  <a:srgbClr val="DCE7F5"/>
                </a:solidFill>
                <a:latin typeface="Source Han Sans CN"/>
                <a:ea typeface="Source Han Sans CN"/>
              </a:rPr>
              <a:t> MUAS </a:t>
            </a:r>
            <a:r>
              <a:rPr lang="zh-CN" sz="1350">
                <a:solidFill>
                  <a:srgbClr val="DCE7F5"/>
                </a:solidFill>
                <a:latin typeface="Source Han Sans CN"/>
                <a:ea typeface="Source Han Sans CN"/>
              </a:rPr>
              <a:t>精优化</a:t>
            </a:r>
            <a:r>
              <a:rPr lang="en-US" sz="1350">
                <a:solidFill>
                  <a:srgbClr val="DCE7F5"/>
                </a:solidFill>
                <a:latin typeface="Source Han Sans CN"/>
                <a:ea typeface="Source Han Sans CN"/>
              </a:rPr>
              <a:t> · </a:t>
            </a:r>
            <a:r>
              <a:rPr lang="zh-CN" sz="1350">
                <a:solidFill>
                  <a:srgbClr val="DCE7F5"/>
                </a:solidFill>
                <a:latin typeface="Source Han Sans CN"/>
                <a:ea typeface="Source Han Sans CN"/>
              </a:rPr>
              <a:t>滚动闭环不丢任务</a:t>
            </a:r>
            <a:endParaRPr/>
          </a:p>
          <a:p>
            <a:pPr algn="ctr">
              <a:lnSpc>
                <a:spcPct val="190000"/>
              </a:lnSpc>
            </a:pPr>
            <a:r>
              <a:rPr lang="zh-CN" sz="1350">
                <a:solidFill>
                  <a:srgbClr val="DCE7F5"/>
                </a:solidFill>
                <a:latin typeface="Source Han Sans CN"/>
                <a:ea typeface="Source Han Sans CN"/>
              </a:rPr>
              <a:t>多</a:t>
            </a:r>
            <a:r>
              <a:rPr lang="en-US" sz="1350">
                <a:solidFill>
                  <a:srgbClr val="DCE7F5"/>
                </a:solidFill>
                <a:latin typeface="Source Han Sans CN"/>
                <a:ea typeface="Source Han Sans CN"/>
              </a:rPr>
              <a:t> seed </a:t>
            </a:r>
            <a:r>
              <a:rPr lang="zh-CN" sz="1350">
                <a:solidFill>
                  <a:srgbClr val="DCE7F5"/>
                </a:solidFill>
                <a:latin typeface="Source Han Sans CN"/>
                <a:ea typeface="Source Han Sans CN"/>
              </a:rPr>
              <a:t>阶梯方向一致可复现</a:t>
            </a:r>
            <a:r>
              <a:rPr lang="en-US" sz="1350">
                <a:solidFill>
                  <a:srgbClr val="DCE7F5"/>
                </a:solidFill>
                <a:latin typeface="Source Han Sans CN"/>
                <a:ea typeface="Source Han Sans CN"/>
              </a:rPr>
              <a:t> · </a:t>
            </a:r>
            <a:r>
              <a:rPr lang="zh-CN" sz="1350">
                <a:solidFill>
                  <a:srgbClr val="DCE7F5"/>
                </a:solidFill>
                <a:latin typeface="Source Han Sans CN"/>
                <a:ea typeface="Source Han Sans CN"/>
              </a:rPr>
              <a:t>规模标定支撑架构主张</a:t>
            </a:r>
            <a:r>
              <a:rPr lang="en-US" sz="1350">
                <a:solidFill>
                  <a:srgbClr val="DCE7F5"/>
                </a:solidFill>
                <a:latin typeface="Source Han Sans CN"/>
                <a:ea typeface="Source Han Sans CN"/>
              </a:rPr>
              <a:t> · </a:t>
            </a:r>
            <a:r>
              <a:rPr lang="zh-CN" sz="1350">
                <a:solidFill>
                  <a:srgbClr val="DCE7F5"/>
                </a:solidFill>
                <a:latin typeface="Source Han Sans CN"/>
                <a:ea typeface="Source Han Sans CN"/>
              </a:rPr>
              <a:t>性能瓶颈已无损消除</a:t>
            </a:r>
            <a:endParaRPr/>
          </a:p>
        </p:txBody>
      </p:sp>
      <p:sp>
        <p:nvSpPr>
          <p:cNvPr id="202" name="文本框 236" descr="{&quot;isTemplate&quot;:true,&quot;type&quot;:&quot;text&quot;}"/>
          <p:cNvSpPr txBox="1"/>
          <p:nvPr/>
        </p:nvSpPr>
        <p:spPr>
          <a:xfrm>
            <a:off x="4962525" y="5324475"/>
            <a:ext cx="2266950" cy="390525"/>
          </a:xfrm>
          <a:prstGeom prst="rect">
            <a:avLst/>
          </a:prstGeom>
        </p:spPr>
        <p:txBody>
          <a:bodyPr wrap="none" lIns="0" tIns="0" rIns="0" bIns="0"/>
          <a:lstStyle/>
          <a:p>
            <a:pPr>
              <a:lnSpc>
                <a:spcPct val="100000"/>
              </a:lnSpc>
            </a:pPr>
            <a:r>
              <a:rPr lang="zh-CN" sz="2550" b="1">
                <a:solidFill>
                  <a:srgbClr val="FFFFFF"/>
                </a:solidFill>
                <a:latin typeface="Source Han Sans CN"/>
                <a:ea typeface="Source Han Sans CN"/>
              </a:rPr>
              <a:t>请老师批评指正</a:t>
            </a:r>
            <a:endParaRPr/>
          </a:p>
        </p:txBody>
      </p:sp>
      <p:sp>
        <p:nvSpPr>
          <p:cNvPr id="203" name="文本框 237" descr="{&quot;isTemplate&quot;:true,&quot;type&quot;:&quot;text&quot;}"/>
          <p:cNvSpPr txBox="1"/>
          <p:nvPr/>
        </p:nvSpPr>
        <p:spPr>
          <a:xfrm>
            <a:off x="4400550" y="5848350"/>
            <a:ext cx="3400425" cy="171450"/>
          </a:xfrm>
          <a:prstGeom prst="rect">
            <a:avLst/>
          </a:prstGeom>
        </p:spPr>
        <p:txBody>
          <a:bodyPr wrap="none" lIns="0" tIns="0" rIns="0" bIns="0"/>
          <a:lstStyle/>
          <a:p>
            <a:pPr>
              <a:lnSpc>
                <a:spcPct val="100000"/>
              </a:lnSpc>
            </a:pPr>
            <a:r>
              <a:rPr lang="zh-CN" sz="1125">
                <a:solidFill>
                  <a:srgbClr val="85B7EB"/>
                </a:solidFill>
                <a:latin typeface="Source Han Sans CN"/>
                <a:ea typeface="Source Han Sans CN"/>
              </a:rPr>
              <a:t>汇报人：</a:t>
            </a:r>
            <a:r>
              <a:rPr lang="en-US" sz="1125">
                <a:solidFill>
                  <a:srgbClr val="85B7EB"/>
                </a:solidFill>
                <a:latin typeface="Source Han Sans CN"/>
                <a:ea typeface="Source Han Sans CN"/>
              </a:rPr>
              <a:t>XXX</a:t>
            </a:r>
            <a:r>
              <a:rPr lang="zh-CN" sz="1125">
                <a:solidFill>
                  <a:srgbClr val="85B7EB"/>
                </a:solidFill>
                <a:latin typeface="Source Han Sans CN"/>
                <a:ea typeface="Source Han Sans CN"/>
              </a:rPr>
              <a:t>　·　指导教师：</a:t>
            </a:r>
            <a:r>
              <a:rPr lang="en-US" sz="1125">
                <a:solidFill>
                  <a:srgbClr val="85B7EB"/>
                </a:solidFill>
                <a:latin typeface="Source Han Sans CN"/>
                <a:ea typeface="Source Han Sans CN"/>
              </a:rPr>
              <a:t>XXX</a:t>
            </a:r>
            <a:r>
              <a:rPr lang="zh-CN" sz="1125">
                <a:solidFill>
                  <a:srgbClr val="85B7EB"/>
                </a:solidFill>
                <a:latin typeface="Source Han Sans CN"/>
                <a:ea typeface="Source Han Sans CN"/>
              </a:rPr>
              <a:t>　·　</a:t>
            </a:r>
            <a:r>
              <a:rPr lang="en-US" sz="1125">
                <a:solidFill>
                  <a:srgbClr val="85B7EB"/>
                </a:solidFill>
                <a:latin typeface="Source Han Sans CN"/>
                <a:ea typeface="Source Han Sans CN"/>
              </a:rPr>
              <a:t>2026 </a:t>
            </a:r>
            <a:r>
              <a:rPr lang="zh-CN" sz="1125">
                <a:solidFill>
                  <a:srgbClr val="85B7EB"/>
                </a:solidFill>
                <a:latin typeface="Source Han Sans CN"/>
                <a:ea typeface="Source Han Sans CN"/>
              </a:rPr>
              <a:t>年</a:t>
            </a:r>
            <a:r>
              <a:rPr lang="en-US" sz="1125">
                <a:solidFill>
                  <a:srgbClr val="85B7EB"/>
                </a:solidFill>
                <a:latin typeface="Source Han Sans CN"/>
                <a:ea typeface="Source Han Sans CN"/>
              </a:rPr>
              <a:t> 10 </a:t>
            </a:r>
            <a:r>
              <a:rPr lang="zh-CN" sz="1125">
                <a:solidFill>
                  <a:srgbClr val="85B7EB"/>
                </a:solidFill>
                <a:latin typeface="Source Han Sans CN"/>
                <a:ea typeface="Source Han Sans CN"/>
              </a:rPr>
              <a:t>月</a:t>
            </a:r>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3761</Words>
  <Application>Microsoft Office PowerPoint</Application>
  <PresentationFormat>宽屏</PresentationFormat>
  <Paragraphs>309</Paragraphs>
  <Slides>15</Slides>
  <Notes>1</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15</vt:i4>
      </vt:variant>
    </vt:vector>
  </HeadingPairs>
  <TitlesOfParts>
    <vt:vector size="19" baseType="lpstr">
      <vt:lpstr>Source Han Sans CN</vt:lpstr>
      <vt:lpstr>Microsoft YaHei</vt:lpstr>
      <vt:lpstr>Arial</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jiaqi zhang</cp:lastModifiedBy>
  <cp:revision>1</cp:revision>
  <dcterms:created xsi:type="dcterms:W3CDTF">2026-10-21T17:02:08Z</dcterms:created>
  <dcterms:modified xsi:type="dcterms:W3CDTF">2026-10-21T13:59:50Z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{"AIGC":{"Label":"1","ContentProducer":"00119111010856365494821B355","ProduceID":"01a159fa3706774ba65dc31d75223ae7","ReservedCode1":"","ContentPropagator":"00119111010856365494821B355","PropagateID":"01a159fa3706774ba65dc31d75223ae7","ReservedCode2":""}}</vt:lpwstr>
  </property>
</Properties>
</file>