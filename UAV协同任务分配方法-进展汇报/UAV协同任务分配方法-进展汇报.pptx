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2.svg" ContentType="image/svg+xml"/>
  <Override PartName="/ppt/media/image5.svg" ContentType="image/svg+xml"/>
  <Override PartName="/ppt/media/image7.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7"/>
  </p:notesMasterIdLst>
  <p:sldIdLst>
    <p:sldId id="256" r:id="rId2"/>
    <p:sldId id="257" r:id="rId3"/>
    <p:sldId id="273" r:id="rId15"/>
    <p:sldId id="274" r:id="rId14"/>
    <p:sldId id="275" r:id="rId13"/>
    <p:sldId id="278" r:id="rId24"/>
    <p:sldId id="277" r:id="rId11"/>
    <p:sldId id="276" r:id="rId12"/>
    <p:sldId id="258" r:id="rId4"/>
    <p:sldId id="259" r:id="rId5"/>
    <p:sldId id="260" r:id="rId6"/>
    <p:sldId id="272" r:id="rId23"/>
    <p:sldId id="261" r:id="rId7"/>
    <p:sldId id="262" r:id="rId8"/>
    <p:sldId id="271" r:id="rId22"/>
    <p:sldId id="264" r:id="rId10"/>
    <p:sldId id="263" r:id="rId9"/>
    <p:sldId id="270" r:id="rId1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0639" autoAdjust="0"/>
    <p:restoredTop sz="55006" autoAdjust="0"/>
  </p:normalViewPr>
  <p:slideViewPr>
    <p:cSldViewPr snapToGrid="0" snapToObjects="1">
      <p:cViewPr varScale="1">
        <p:scale>
          <a:sx n="85" d="100"/>
          <a:sy n="85" d="100"/>
        </p:scale>
        <p:origin x="586" y="58"/>
      </p:cViewPr>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9.xml"/><Relationship Id="rId5" Type="http://schemas.openxmlformats.org/officeDocument/2006/relationships/slide" Target="slides/slide10.xml"/><Relationship Id="rId6" Type="http://schemas.openxmlformats.org/officeDocument/2006/relationships/slide" Target="slides/slide11.xml"/><Relationship Id="rId7" Type="http://schemas.openxmlformats.org/officeDocument/2006/relationships/slide" Target="slides/slide13.xml"/><Relationship Id="rId8" Type="http://schemas.openxmlformats.org/officeDocument/2006/relationships/slide" Target="slides/slide14.xml"/><Relationship Id="rId9" Type="http://schemas.openxmlformats.org/officeDocument/2006/relationships/slide" Target="slides/slide17.xml"/><Relationship Id="rId10" Type="http://schemas.openxmlformats.org/officeDocument/2006/relationships/slide" Target="slides/slide1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5.xml"/><Relationship Id="rId14" Type="http://schemas.openxmlformats.org/officeDocument/2006/relationships/slide" Target="slides/slide4.xml"/><Relationship Id="rId15" Type="http://schemas.openxmlformats.org/officeDocument/2006/relationships/slide" Target="slides/slide3.xml"/><Relationship Id="rId16" Type="http://schemas.openxmlformats.org/officeDocument/2006/relationships/slide" Target="slides/slide18.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 Id="rId22" Type="http://schemas.openxmlformats.org/officeDocument/2006/relationships/slide" Target="slides/slide15.xml"/><Relationship Id="rId23" Type="http://schemas.openxmlformats.org/officeDocument/2006/relationships/slide" Target="slides/slide12.xml"/><Relationship Id="rId24"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228600" y="1524000"/>
            <a:ext cx="7315200" cy="4114800"/>
          </a:xfrm>
          <a:prstGeom prst="rect">
            <a:avLst/>
          </a:prstGeom>
          <a:noFill/>
          <a:ln w="12700">
            <a:solidFill>
              <a:prstClr val="black"/>
            </a:solidFill>
          </a:ln>
        </p:spPr>
        <p:txBody>
          <a:bodyPr/>
          <a:lstStyle/>
          <a:p>
            <a:endParaRPr/>
          </a:p>
        </p:txBody>
      </p:sp>
      <p:sp>
        <p:nvSpPr>
          <p:cNvPr id="3" name="备注占位符 2"/>
          <p:cNvSpPr>
            <a:spLocks noGrp="1"/>
          </p:cNvSpPr>
          <p:nvPr>
            <p:ph type="body" idx="1"/>
          </p:nvPr>
        </p:nvSpPr>
        <p:spPr>
          <a:xfrm>
            <a:off x="685800" y="5867400"/>
            <a:ext cx="5486400" cy="4800600"/>
          </a:xfrm>
          <a:prstGeom prst="rect">
            <a:avLst/>
          </a:prstGeom>
        </p:spPr>
        <p:txBody>
          <a:bodyPr/>
          <a:lstStyle/>
          <a:p>
            <a:endParaRPr lang="zh-CN" altLang="en-US" dirty="0"/>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sz="quarter" idx="1"/>
          </p:nvPr>
        </p:nvSpPr>
        <p:spPr>
          <a:xfrm>
            <a:off x="457200" y="914400"/>
            <a:ext cx="5943600" cy="7315200"/>
          </a:xfrm>
          <a:prstGeom prst="rect">
            <a:avLst/>
          </a:prstGeom>
        </p:spPr>
        <p:txBody>
          <a:bodyPr rtlCol="0" anchor="t"/>
          <a:lstStyle/>
          <a:p>
            <a:r>
              <a:rPr lang="zh-CN" smtClean="0"/>
              <a:t>研究现状与空白 · 引用文献存档（P5 引用 20 篇；检索 IEEE Xplore / ScienceDirect / MDPI / Wiley / 知网，2010–2025）</a:t>
            </a:r>
          </a:p>
          <a:p>
            <a:r>
              <a:rPr lang="zh-CN" smtClean="0"/>
              <a:t>※ = 题名待论文定稿前回数据库核校一次</a:t>
            </a:r>
          </a:p>
          <a:p>
            <a:r>
              <a:rPr lang="zh-CN" smtClean="0"/>
              <a:t/>
            </a:r>
          </a:p>
          <a:p>
            <a:r>
              <a:rPr lang="zh-CN" smtClean="0"/>
              <a:t>【线 1 · 多无人机任务分配（方法族）】</a:t>
            </a:r>
          </a:p>
          <a:p>
            <a:r>
              <a:rPr lang="zh-CN" smtClean="0"/>
              <a:t>1. 毕文豪, 张梦琦, 高飞, 杨咪, 张安. 无人机集群任务分配技术研究综述[J]. 系统工程与电子技术, 2024, 46(3): 922-934. DOI: 10.12305/j.issn.1001-506X.2024.03.18</a:t>
            </a:r>
          </a:p>
          <a:p>
            <a:r>
              <a:rPr lang="zh-CN" smtClean="0"/>
              <a:t>   → 支撑「通用化建模、有限时间下突发事件重分配仍为开放问题」</a:t>
            </a:r>
          </a:p>
          <a:p>
            <a:r>
              <a:rPr lang="zh-CN" smtClean="0"/>
              <a:t>2. Du et al. A Survey on Autonomous and Intelligent Swarms of Uncrewed Aerial Vehicles (UAVs)[J]. IEEE Trans. on Intelligent Transportation Systems, 2025.</a:t>
            </a:r>
          </a:p>
          <a:p>
            <a:r>
              <a:rPr lang="zh-CN" smtClean="0"/>
              <a:t>3. Freitas M, Rabbath C A, Williams B, Lechevin N, Givigi S. Multi-UAV Cooperative Tactics: A Survey[J]. IEEE Access, 2025, 13: 119897-119921. DOI: 10.1109/ACCESS.2025.3583981</a:t>
            </a:r>
          </a:p>
          <a:p>
            <a:r>
              <a:rPr lang="zh-CN" smtClean="0"/>
              <a:t>4. Comparative Analysis of Centralized and Distributed Multi-UAV Task Allocation Algorithms: A Unified Evaluation Framework[J]. Drones, 2025, 9(8): 530.</a:t>
            </a:r>
          </a:p>
          <a:p>
            <a:r>
              <a:rPr lang="zh-CN" smtClean="0"/>
              <a:t>   → 统一评测匈牙利 / 拍卖 / CBBA / 拍卖 2-opt：CBBA 共识鲁棒但消息开销大、贪心 bundle 构造缺全局路径最优、任务收益不实时更新</a:t>
            </a:r>
          </a:p>
          <a:p>
            <a:r>
              <a:rPr lang="zh-CN" smtClean="0"/>
              <a:t/>
            </a:r>
          </a:p>
          <a:p>
            <a:r>
              <a:rPr lang="zh-CN" smtClean="0"/>
              <a:t>【线 2 · 多机巢 MTSP / 起降点决策】</a:t>
            </a:r>
          </a:p>
          <a:p>
            <a:r>
              <a:rPr lang="zh-CN" smtClean="0"/>
              <a:t>5. 羊钊, 胡锦标, 王艳, 齐洪彪. 考虑异巢起降的无人机山地巡检覆盖路径规划[J]. 系统工程与电子技术, 2025. DOI: 10.12305/j.issn.1001-506X.2025.08.19</a:t>
            </a:r>
          </a:p>
          <a:p>
            <a:r>
              <a:rPr lang="zh-CN" smtClean="0"/>
              <a:t>   → 与本题最接近的中文工作：异巢起降；一阶段 TSP 生成回路 + 二阶段机巢最优插入；但要求遍历全部航路点</a:t>
            </a:r>
          </a:p>
          <a:p>
            <a:r>
              <a:rPr lang="zh-CN" smtClean="0"/>
              <a:t>6. Cheikhrouhou O, Khoufi I. A comprehensive survey on the Multiple Traveling Salesman Problem: Applications, approaches and taxonomy[J]. Computer Science Review, 2021, 40: 100369.</a:t>
            </a:r>
          </a:p>
          <a:p>
            <a:r>
              <a:rPr lang="zh-CN" smtClean="0"/>
              <a:t>7. Liu Y, et al. Optimization of Base Location and Patrol Routes for UAV in Border Intelligence, Surveillance and Reconnaissance[J]. Journal of Advanced Transportation, 2019.</a:t>
            </a:r>
          </a:p>
          <a:p>
            <a:r>
              <a:rPr lang="zh-CN" smtClean="0"/>
              <a:t/>
            </a:r>
          </a:p>
          <a:p>
            <a:r>
              <a:rPr lang="zh-CN" smtClean="0"/>
              <a:t>【线 3 · 选择性 OP / TOP】</a:t>
            </a:r>
          </a:p>
          <a:p>
            <a:r>
              <a:rPr lang="zh-CN" smtClean="0"/>
              <a:t>8. Vansteenwegen P, Souffriau W, Van Oudheusden D. The orienteering problem: A survey[J]. EJOR, 2011, 209(1): 1-10.</a:t>
            </a:r>
          </a:p>
          <a:p>
            <a:r>
              <a:rPr lang="zh-CN" smtClean="0"/>
              <a:t>9. Gunawan A, Lau H C, Vansteenwegen P. Orienteering problem: A survey of recent variants, solution approaches and applications[J]. EJOR, 2016, 255(2): 315-332.</a:t>
            </a:r>
          </a:p>
          <a:p>
            <a:r>
              <a:rPr lang="zh-CN" smtClean="0"/>
              <a:t>10. Narin A B, Becker J, Batta R. UAV search optimization for recording emerging targets with camouflaging capabilities[J]. Journal of Simulation, 2023, 22(2). DOI: 10.1177/15485129231203020</a:t>
            </a:r>
          </a:p>
          <a:p>
            <a:r>
              <a:rPr lang="zh-CN" smtClean="0"/>
              <a:t>   → 泊松过程新兴目标 + 目标伪装撤离 + 允许重访；TOPTW 生成路线 —— 选择性执行的最新形态</a:t>
            </a:r>
          </a:p>
          <a:p>
            <a:r>
              <a:rPr lang="zh-CN" smtClean="0"/>
              <a:t>11. ※ Xia et al. Drone scheduling to monitor vessels[J]. Transportation Research Part B, 2019. → 多机巢广义 TOP，无地形、无滚动</a:t>
            </a:r>
          </a:p>
          <a:p>
            <a:r>
              <a:rPr lang="zh-CN" smtClean="0"/>
              <a:t/>
            </a:r>
          </a:p>
          <a:p>
            <a:r>
              <a:rPr lang="zh-CN" smtClean="0"/>
              <a:t>【线 4 · 三维地形代价（DEM）】</a:t>
            </a:r>
          </a:p>
          <a:p>
            <a:r>
              <a:rPr lang="zh-CN" smtClean="0"/>
              <a:t>12. 伍景琼, 田娜, 陈子伟, 等. 高原山区无人机运动轨迹规划及能耗评估模型[J]. 交通信息与安全, 2025, 43(4): 98. DOI: 10.3963/j.jssn.1674-4861.2025.04.010</a:t>
            </a:r>
          </a:p>
          <a:p>
            <a:r>
              <a:rPr lang="zh-CN" smtClean="0"/>
              <a:t>   → DEM 三维轨迹 + 电池容量评估；直线距离修正率 2.85%~18.94%、平均 7.64%</a:t>
            </a:r>
          </a:p>
          <a:p>
            <a:r>
              <a:rPr lang="zh-CN" smtClean="0"/>
              <a:t>13. 唐俊超, 胡春鹤. 三维地形风场环境下无人机全覆盖路径规划[J]. 系统工程与电子技术, 2025, 47(7): 2349. DOI: 10.12305/j.issn.1001-506X.2025.07.27</a:t>
            </a:r>
          </a:p>
          <a:p>
            <a:r>
              <a:rPr lang="zh-CN" smtClean="0"/>
              <a:t>   → 栅格高程航路点 + 风中能耗模型 + 邻点滚动试探-全局预测融合</a:t>
            </a:r>
          </a:p>
          <a:p>
            <a:r>
              <a:rPr lang="zh-CN" smtClean="0"/>
              <a:t>14. ※ WAFC-RRAS（IEEE 2023）垂直切面法近似飞行代价 —— 与本项目 cost/vertical_section.py 同源</a:t>
            </a:r>
          </a:p>
          <a:p>
            <a:r>
              <a:rPr lang="zh-CN" smtClean="0"/>
              <a:t/>
            </a:r>
          </a:p>
          <a:p>
            <a:r>
              <a:rPr lang="zh-CN" smtClean="0"/>
              <a:t>【线 5 · 动态与滚动时域】</a:t>
            </a:r>
          </a:p>
          <a:p>
            <a:r>
              <a:rPr lang="zh-CN" smtClean="0"/>
              <a:t>15. ※ Song, Kim &amp; Morrison. Rolling horizon path planning of autonomous UAVs[J]. Journal of Intelligent &amp; Robotic Systems, 2016, 84: 241-258.</a:t>
            </a:r>
          </a:p>
          <a:p>
            <a:r>
              <a:rPr lang="zh-CN" smtClean="0"/>
              <a:t>   → 滚动 MILP + RHTA，比 CPLEX 快 45~2100 倍</a:t>
            </a:r>
          </a:p>
          <a:p>
            <a:r>
              <a:rPr lang="zh-CN" smtClean="0"/>
              <a:t>16. ※ Han, Guo. Dynamic UAV Task Allocation and Path Planning with Energy Management Using Adaptive PSO in Rolling Horizon Framework[J]. Applied Sciences, 2025, 15(8): 4220.</a:t>
            </a:r>
          </a:p>
          <a:p>
            <a:r>
              <a:rPr lang="zh-CN" smtClean="0"/>
              <a:t>   → 结构最相近的同期工作；差异 = 无选择性、终点巢非决策变量、无三维 DEM 代价</a:t>
            </a:r>
          </a:p>
          <a:p>
            <a:r>
              <a:rPr lang="zh-CN" smtClean="0"/>
              <a:t>17. Community Drones: A Concept Study on Shared Drone Services[J]. Drones, 2025, 9(2): 107.</a:t>
            </a:r>
          </a:p>
          <a:p>
            <a:r>
              <a:rPr lang="zh-CN" smtClean="0"/>
              <a:t>   → 多资源调度（UAV + 飞行员）+ 滚动时域 + VNS；任务无可行插入即拒绝、留待后续重排 —— 与「允许不执行」最接近的工程实践</a:t>
            </a:r>
          </a:p>
          <a:p>
            <a:r>
              <a:rPr lang="zh-CN" smtClean="0"/>
              <a:t/>
            </a:r>
          </a:p>
          <a:p>
            <a:r>
              <a:rPr lang="zh-CN" smtClean="0"/>
              <a:t>【线 6 · 应急物流与人道救援】</a:t>
            </a:r>
          </a:p>
          <a:p>
            <a:r>
              <a:rPr lang="zh-CN" smtClean="0"/>
              <a:t>18. Yucesoy E, Balcik B, Çoban E. The role of drones in disaster response: A literature review of operations research applications[J]. International Transactions in Operational Research, 2025, 32(2): 545-589. DOI: 10.1111/itor.13484</a:t>
            </a:r>
          </a:p>
          <a:p>
            <a:r>
              <a:rPr lang="zh-CN" smtClean="0"/>
              <a:t>   → OR 视角综述：信息采集 / 配送 / 通信恢复三类行动</a:t>
            </a:r>
          </a:p>
          <a:p>
            <a:r>
              <a:rPr lang="zh-CN" smtClean="0"/>
              <a:t>19. van Steenbergen R M. Evaluation and Coordination of UAVs in Humanitarian Logistics[D]. PhD thesis, University of Twente, 2024. DOI: 10.3990/1.9789036562232</a:t>
            </a:r>
          </a:p>
          <a:p>
            <a:r>
              <a:rPr lang="zh-CN" smtClean="0"/>
              <a:t>   → 282 页；人道物流混型车队；结论：货运 UAV 只应承担最难到达的点，而非接管全链路</a:t>
            </a:r>
          </a:p>
          <a:p>
            <a:r>
              <a:rPr lang="zh-CN" smtClean="0"/>
              <a:t>20. Zhang Y, Xu W, Ye H, Shi Z. A Two-Stage Optimization Framework for UAV Fleet Sizing and Task Allocation in Emergency Logistics Using the GWO and CBBA[J]. Drones, 2025, 9(7): 501.</a:t>
            </a:r>
          </a:p>
          <a:p>
            <a:r>
              <a:rPr lang="zh-CN" smtClean="0"/>
              <a:t>   → 术语陷阱：其「两阶段」= 机队规模 + 任务分配，默认全部交付、不容许弃单，与本工作「任务选择 + 精优化」同名异义</a:t>
            </a:r>
          </a:p>
          <a:p>
            <a:r>
              <a:rPr lang="zh-CN" smtClean="0"/>
              <a:t/>
            </a:r>
          </a:p>
          <a:p>
            <a:r>
              <a:rPr lang="zh-CN" smtClean="0"/>
              <a:t>----- 备用（PPT 未引，写论文正文时可用）-----</a:t>
            </a:r>
          </a:p>
          <a:p>
            <a:r>
              <a:rPr lang="zh-CN" smtClean="0"/>
              <a:t>Ghauri et al. A Review of Multi-UAV Task Allocation Algorithms for SAR[J]. JSAN, 2024, 13(5): 47.</a:t>
            </a:r>
          </a:p>
          <a:p>
            <a:r>
              <a:rPr lang="zh-CN" smtClean="0"/>
              <a:t>A survey of the orienteering problem: model evolution, algorithmic advances, and future directions. arXiv:2512.16865, 2025.</a:t>
            </a:r>
          </a:p>
          <a:p>
            <a:r>
              <a:rPr lang="zh-CN" smtClean="0"/>
              <a:t>Evers et al. Online stochastic UAV mission planning with time windows and time-sensitive targets[J]. EJOR, 2014, 238(1): 348-362.</a:t>
            </a:r>
          </a:p>
          <a:p>
            <a:r>
              <a:rPr lang="zh-CN" smtClean="0"/>
              <a:t>Oberlin, Rathinam &amp; Darbha[J]. IEEE RAM, 2010；Sundar &amp; Rathinam[C]. ICUAS, 2015；Li et al. MMDUAVRP[J]. IEEE Access, 2021, 9: 104115-104126.</a:t>
            </a:r>
          </a:p>
          <a:p>
            <a:r>
              <a:rPr lang="zh-CN" smtClean="0"/>
              <a:t>Xiao N, Lan H. Two-echelon drone-truck collaborative TSP-based routing for humanitarian logistics[J]. APEM, 2025, 20(3): 351-368.</a:t>
            </a:r>
          </a:p>
          <a:p>
            <a:r>
              <a:rPr lang="zh-CN" smtClean="0"/>
              <a:t>曹萱, 等. 基于改进 CBBA 的无人机任务分配系统研究与仿真[J]. 测控技术, 2025, 44(5): 58-69.（指出「任务代价大于收益时 CBBA 分配失败」）</a:t>
            </a:r>
          </a:p>
          <a:p>
            <a:r>
              <a:rPr lang="zh-CN" smtClean="0"/>
              <a:t>Zhao Ming, et al. Improved discrete mapping differential evolution for multi-UAVs cooperative multi-targets assignment[J]. Int. J. Mach. Learn. &amp; Cybern., 2017, 8(3): 765-780.（本项目 DMDE 母本）</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sz="quarter" idx="1"/>
          </p:nvPr>
        </p:nvSpPr>
        <p:spPr>
          <a:xfrm>
            <a:off x="457200" y="914400"/>
            <a:ext cx="5943600" cy="7315200"/>
          </a:xfrm>
          <a:prstGeom prst="rect">
            <a:avLst/>
          </a:prstGeom>
        </p:spPr>
        <p:txBody>
          <a:bodyPr rtlCol="0" anchor="t"/>
          <a:lstStyle/>
          <a:p>
            <a:r>
              <a:rPr lang="zh-CN" smtClean="0"/>
              <a:t>研究动机 · 数据来源存档（P6 上每一个数字都要能追溯到出处）</a:t>
            </a:r>
          </a:p>
          <a:p>
            <a:r>
              <a:rPr lang="zh-CN" smtClean="0"/>
              <a:t/>
            </a:r>
          </a:p>
          <a:p>
            <a:r>
              <a:rPr lang="zh-CN" smtClean="0"/>
              <a:t>【供给端 · 单架次真实能力】</a:t>
            </a:r>
          </a:p>
          <a:p>
            <a:r>
              <a:rPr lang="zh-CN" smtClean="0"/>
              <a:t>· 大疆机场 4 在国网安溪县供电公司 61 km 电力巡检线路实测：累计 441 架次、飞行里程超 2700 km、飞行时长超 7900 min；</a:t>
            </a:r>
          </a:p>
          <a:p>
            <a:r>
              <a:rPr lang="zh-CN" smtClean="0"/>
              <a:t>  山区输电场景有效巡检半径 5~7 km，单架次约完成 6 基杆塔。</a:t>
            </a:r>
          </a:p>
          <a:p>
            <a:r>
              <a:rPr lang="zh-CN" smtClean="0"/>
              <a:t>  出处：北极星电力网《电网巡检的「空中空窗期」，正在被补上》2026-10-14；中国县域经济报《大疆机场 4 助力安溪电网构建智能立体巡检体系》2026-10-16。</a:t>
            </a:r>
          </a:p>
          <a:p>
            <a:r>
              <a:rPr lang="zh-CN" smtClean="0"/>
              <a:t>· 单机日巡检量：云南省发改委《云南有序拓展低空经济应用场景四》2026 —— 单机每日约 15~20 基铁塔；</a:t>
            </a:r>
          </a:p>
          <a:p>
            <a:r>
              <a:rPr lang="zh-CN" smtClean="0"/>
              <a:t>  南能集团（第一师阿拉尔市）76 台机巢项目 —— 单日单机 30~50 基杆塔；</a:t>
            </a:r>
          </a:p>
          <a:p>
            <a:r>
              <a:rPr lang="zh-CN" smtClean="0"/>
              <a:t>  湖北日报（武穴供电）2026 —— 单次任务 30 min 完成约 10 基杆塔、覆盖 2 km。</a:t>
            </a:r>
          </a:p>
          <a:p>
            <a:r>
              <a:rPr lang="zh-CN" smtClean="0"/>
              <a:t>· 覆盖成本：安溪县县域 3057 km²，上一代机巢需近 100 座，升级后仍需约 60 座方可全域覆盖。</a:t>
            </a:r>
          </a:p>
          <a:p>
            <a:r>
              <a:rPr lang="zh-CN" smtClean="0"/>
              <a:t/>
            </a:r>
          </a:p>
          <a:p>
            <a:r>
              <a:rPr lang="zh-CN" smtClean="0"/>
              <a:t>【需求端 · 任务侧规模】</a:t>
            </a:r>
          </a:p>
          <a:p>
            <a:r>
              <a:rPr lang="zh-CN" smtClean="0"/>
              <a:t>· 深圳供电局 89 处站点 101 台机巢、纳入 3600+ km 线路（科技日报 2025-01）。</a:t>
            </a:r>
          </a:p>
          <a:p>
            <a:r>
              <a:rPr lang="zh-CN" smtClean="0"/>
              <a:t>· 内蒙古截至 2025 年底建成无人机起降点 300 余个（内蒙古发改委 2026）。</a:t>
            </a:r>
          </a:p>
          <a:p>
            <a:r>
              <a:rPr lang="zh-CN" smtClean="0"/>
              <a:t>· 任务不只来自计划：缺陷复查、通道隐患（边坡溜塌、树竹倾倒、外破）按风险等级自动生成清单并派单（重庆日报 2026-10-20）。</a:t>
            </a:r>
          </a:p>
          <a:p>
            <a:r>
              <a:rPr lang="zh-CN" smtClean="0"/>
              <a:t/>
            </a:r>
          </a:p>
          <a:p>
            <a:r>
              <a:rPr lang="zh-CN" smtClean="0"/>
              <a:t>【峰值重合 · 最尖锐的时刻】</a:t>
            </a:r>
          </a:p>
          <a:p>
            <a:r>
              <a:rPr lang="zh-CN" smtClean="0"/>
              <a:t>· 台风、持续强降雨既是缺陷与通道隐患的暴涨期（需求峰值）—— 安溪试点期间恰逢台风过境，机巢被用于雨后边坡塌方、线路通道隐患应急特巡；</a:t>
            </a:r>
          </a:p>
          <a:p>
            <a:r>
              <a:rPr lang="zh-CN" smtClean="0"/>
              <a:t>· 又是可飞窗口收缩、低温与高海拔电池效率下降的时期（供给谷值）—— 山区每块电池仅能飞约 20 min，大风、暴雨、雷暴下无法起飞。</a:t>
            </a:r>
          </a:p>
          <a:p>
            <a:r>
              <a:rPr lang="zh-CN" smtClean="0"/>
              <a:t>· 一句可引用的行业判断：「无人机最该出场的时候，往往正是最不适合人出场的时候。」（北极星电力网 2026-10-14）</a:t>
            </a:r>
          </a:p>
          <a:p>
            <a:r>
              <a:rPr lang="zh-CN" smtClean="0"/>
              <a:t/>
            </a:r>
          </a:p>
          <a:p>
            <a:r>
              <a:rPr lang="zh-CN" smtClean="0"/>
              <a:t>【交叉空白的论证要点（备用口径）】</a:t>
            </a:r>
          </a:p>
          <a:p>
            <a:r>
              <a:rPr lang="zh-CN" smtClean="0"/>
              <a:t>· 被问「没人做过就等于必须做吗」：真正的理由不是没人做，而是三条耦合链（地形 × 取舍、取舍 × 机巢、动态 × 滚动）。</a:t>
            </a:r>
          </a:p>
          <a:p>
            <a:r>
              <a:rPr lang="zh-CN" smtClean="0"/>
              <a:t>· 被问「为什么不先解三个要素、其余工程上凑合」：取舍的结果会改变终点机巢的最优解，地形的代价会改变取舍的必要性，</a:t>
            </a:r>
          </a:p>
          <a:p>
            <a:r>
              <a:rPr lang="zh-CN" smtClean="0"/>
              <a:t>  分开解得到的每一步最优在组合后要么不可行、要么显著劣化。</a:t>
            </a:r>
          </a:p>
          <a:p>
            <a:r>
              <a:rPr lang="zh-CN" smtClean="0"/>
              <a:t>· 被问「为什么分层」：y × x × π × z 全量联合规模随 N! 与 B^U 增长且每周期重算，分层是滚动周期内唯一可算的口径；</a:t>
            </a:r>
          </a:p>
          <a:p>
            <a:r>
              <a:rPr lang="zh-CN" smtClean="0"/>
              <a:t>  代价是放弃全局组合最优（P14 已声明为受控折中、折中幅度由实验量化）。</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1"/>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5.sv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7.sv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0" y="0"/>
            <a:ext cx="12192000" cy="6858000"/>
          </a:xfrm>
          <a:prstGeom prst="rect">
            <a:avLst/>
          </a:prstGeom>
          <a:solidFill>
            <a:srgbClr val="FFFFFF"/>
          </a:solidFill>
          <a:ln/>
        </p:spPr>
        <p:txBody>
          <a:bodyPr/>
          <a:lstStyle/>
          <a:p>
            <a:endParaRPr/>
          </a:p>
        </p:txBody>
      </p:sp>
      <p:sp>
        <p:nvSpPr>
          <p:cNvPr id="3" name="矩形 2"/>
          <p:cNvSpPr/>
          <p:nvPr/>
        </p:nvSpPr>
        <p:spPr>
          <a:xfrm>
            <a:off x="0" y="0"/>
            <a:ext cx="9144000" cy="114300"/>
          </a:xfrm>
          <a:prstGeom prst="rect">
            <a:avLst/>
          </a:prstGeom>
          <a:solidFill>
            <a:srgbClr val="1E4FA8"/>
          </a:solidFill>
          <a:ln/>
        </p:spPr>
        <p:txBody>
          <a:bodyPr/>
          <a:lstStyle/>
          <a:p>
            <a:endParaRPr/>
          </a:p>
        </p:txBody>
      </p:sp>
      <p:sp>
        <p:nvSpPr>
          <p:cNvPr id="4" name="矩形 3"/>
          <p:cNvSpPr/>
          <p:nvPr/>
        </p:nvSpPr>
        <p:spPr>
          <a:xfrm>
            <a:off x="9144000" y="0"/>
            <a:ext cx="3048000" cy="114300"/>
          </a:xfrm>
          <a:prstGeom prst="rect">
            <a:avLst/>
          </a:prstGeom>
          <a:solidFill>
            <a:srgbClr val="3D7BD9"/>
          </a:solidFill>
          <a:ln/>
        </p:spPr>
        <p:txBody>
          <a:bodyPr/>
          <a:lstStyle/>
          <a:p>
            <a:endParaRPr/>
          </a:p>
        </p:txBody>
      </p:sp>
      <p:sp>
        <p:nvSpPr>
          <p:cNvPr id="5" name="文本框 4" descr="{&quot;isTemplate&quot;:true,&quot;type&quot;:&quot;text&quot;}"/>
          <p:cNvSpPr txBox="1"/>
          <p:nvPr/>
        </p:nvSpPr>
        <p:spPr>
          <a:xfrm>
            <a:off x="4572000" y="914400"/>
            <a:ext cx="3057525" cy="228600"/>
          </a:xfrm>
          <a:prstGeom prst="rect">
            <a:avLst/>
          </a:prstGeom>
        </p:spPr>
        <p:txBody>
          <a:bodyPr wrap="none" lIns="0" tIns="0" rIns="0" bIns="0"/>
          <a:lstStyle/>
          <a:p>
            <a:pPr>
              <a:lnSpc>
                <a:spcPct val="100000"/>
              </a:lnSpc>
            </a:pPr>
            <a:r>
              <a:rPr lang="zh-CN" sz="1500" spc="600">
                <a:solidFill>
                  <a:srgbClr val="3D7BD9"/>
                </a:solidFill>
                <a:latin typeface="Source Han Sans CN"/>
                <a:ea typeface="Source Han Sans CN"/>
              </a:rPr>
              <a:t>硕士学位论文</a:t>
            </a:r>
            <a:r>
              <a:rPr lang="en-US" sz="1500" spc="600">
                <a:solidFill>
                  <a:srgbClr val="3D7BD9"/>
                </a:solidFill>
                <a:latin typeface="Source Han Sans CN"/>
                <a:ea typeface="Source Han Sans CN"/>
              </a:rPr>
              <a:t> · </a:t>
            </a:r>
            <a:r>
              <a:rPr lang="zh-CN" sz="1500" spc="600">
                <a:solidFill>
                  <a:srgbClr val="3D7BD9"/>
                </a:solidFill>
                <a:latin typeface="Source Han Sans CN"/>
                <a:ea typeface="Source Han Sans CN"/>
              </a:rPr>
              <a:t>进展汇报</a:t>
            </a:r>
            <a:endParaRPr/>
          </a:p>
        </p:txBody>
      </p:sp>
      <p:sp>
        <p:nvSpPr>
          <p:cNvPr id="6" name="文本框 5" descr="{&quot;isTemplate&quot;:true,&quot;type&quot;:&quot;text&quot;}"/>
          <p:cNvSpPr txBox="1"/>
          <p:nvPr/>
        </p:nvSpPr>
        <p:spPr>
          <a:xfrm>
            <a:off x="3238500" y="1352550"/>
            <a:ext cx="5715000" cy="1543050"/>
          </a:xfrm>
          <a:prstGeom prst="rect">
            <a:avLst/>
          </a:prstGeom>
        </p:spPr>
        <p:txBody>
          <a:bodyPr wrap="none" lIns="0" tIns="0" rIns="0" bIns="0"/>
          <a:lstStyle/>
          <a:p>
            <a:pPr algn="ctr">
              <a:lnSpc>
                <a:spcPct val="135000"/>
              </a:lnSpc>
            </a:pPr>
            <a:r>
              <a:rPr lang="zh-CN" sz="3750" b="1">
                <a:solidFill>
                  <a:srgbClr val="0E3F8C"/>
                </a:solidFill>
                <a:latin typeface="Source Han Sans CN"/>
                <a:ea typeface="Source Han Sans CN"/>
              </a:rPr>
              <a:t>动态滚动的多机巢多无人机</a:t>
            </a:r>
            <a:endParaRPr/>
          </a:p>
          <a:p>
            <a:pPr algn="ctr">
              <a:lnSpc>
                <a:spcPct val="135000"/>
              </a:lnSpc>
            </a:pPr>
            <a:r>
              <a:rPr lang="zh-CN" sz="3750" b="1">
                <a:solidFill>
                  <a:srgbClr val="0E3F8C"/>
                </a:solidFill>
                <a:latin typeface="Source Han Sans CN"/>
                <a:ea typeface="Source Han Sans CN"/>
              </a:rPr>
              <a:t>协同任务分配方法</a:t>
            </a:r>
            <a:endParaRPr/>
          </a:p>
        </p:txBody>
      </p:sp>
      <p:sp>
        <p:nvSpPr>
          <p:cNvPr id="7" name="文本框 6" descr="{&quot;isTemplate&quot;:true,&quot;type&quot;:&quot;text&quot;}"/>
          <p:cNvSpPr txBox="1"/>
          <p:nvPr/>
        </p:nvSpPr>
        <p:spPr>
          <a:xfrm>
            <a:off x="2647950" y="3067050"/>
            <a:ext cx="6905625" cy="190500"/>
          </a:xfrm>
          <a:prstGeom prst="rect">
            <a:avLst/>
          </a:prstGeom>
        </p:spPr>
        <p:txBody>
          <a:bodyPr wrap="none" lIns="0" tIns="0" rIns="0" bIns="0"/>
          <a:lstStyle/>
          <a:p>
            <a:pPr algn="ctr">
              <a:lnSpc>
                <a:spcPct val="100000"/>
              </a:lnSpc>
            </a:pPr>
            <a:r>
              <a:rPr lang="en-US" sz="1200">
                <a:solidFill>
                  <a:srgbClr val="8B97A8"/>
                </a:solidFill>
                <a:latin typeface="Source Han Sans CN"/>
                <a:ea typeface="Source Han Sans CN"/>
              </a:rPr>
              <a:t>Dynamic Rolling Multi-Nest Multi-UAV Collaborative Task Allocation: A Hierarchical Framework</a:t>
            </a:r>
            <a:endParaRPr/>
          </a:p>
        </p:txBody>
      </p:sp>
      <p:sp>
        <p:nvSpPr>
          <p:cNvPr id="8" name="矩形: 圆角 7"/>
          <p:cNvSpPr/>
          <p:nvPr/>
        </p:nvSpPr>
        <p:spPr>
          <a:xfrm>
            <a:off x="3771900" y="3486150"/>
            <a:ext cx="2686050" cy="333375"/>
          </a:xfrm>
          <a:prstGeom prst="roundRect">
            <a:avLst>
              <a:gd name="adj" fmla="val 51429"/>
            </a:avLst>
          </a:prstGeom>
          <a:solidFill>
            <a:srgbClr val="E8EFF8"/>
          </a:solidFill>
          <a:ln/>
        </p:spPr>
        <p:txBody>
          <a:bodyPr/>
          <a:lstStyle/>
          <a:p>
            <a:endParaRPr/>
          </a:p>
        </p:txBody>
      </p:sp>
      <p:sp>
        <p:nvSpPr>
          <p:cNvPr id="9" name="文本框 8" descr="{&quot;isTemplate&quot;:true,&quot;type&quot;:&quot;text&quot;}"/>
          <p:cNvSpPr txBox="1"/>
          <p:nvPr/>
        </p:nvSpPr>
        <p:spPr>
          <a:xfrm>
            <a:off x="3981450" y="4286250"/>
            <a:ext cx="2266950" cy="200025"/>
          </a:xfrm>
          <a:prstGeom prst="rect">
            <a:avLst/>
          </a:prstGeom>
        </p:spPr>
        <p:txBody>
          <a:bodyPr wrap="none" lIns="0" tIns="0" rIns="0" bIns="0"/>
          <a:lstStyle/>
          <a:p>
            <a:pPr>
              <a:lnSpc>
                <a:spcPct val="100000"/>
              </a:lnSpc>
            </a:pPr>
            <a:r>
              <a:rPr lang="zh-CN" sz="1275" b="1">
                <a:solidFill>
                  <a:srgbClr val="1E4FA8"/>
                </a:solidFill>
                <a:latin typeface="Source Han Sans CN"/>
                <a:ea typeface="Source Han Sans CN"/>
              </a:rPr>
              <a:t>分层求解框架的构建与求解方法</a:t>
            </a:r>
            <a:endParaRPr/>
          </a:p>
        </p:txBody>
      </p:sp>
      <p:sp>
        <p:nvSpPr>
          <p:cNvPr id="10" name="矩形: 圆角 9"/>
          <p:cNvSpPr/>
          <p:nvPr/>
        </p:nvSpPr>
        <p:spPr>
          <a:xfrm>
            <a:off x="6591300" y="3486150"/>
            <a:ext cx="1828800" cy="333375"/>
          </a:xfrm>
          <a:prstGeom prst="roundRect">
            <a:avLst>
              <a:gd name="adj" fmla="val 51429"/>
            </a:avLst>
          </a:prstGeom>
          <a:solidFill>
            <a:srgbClr val="F0F5FC"/>
          </a:solidFill>
          <a:ln/>
        </p:spPr>
        <p:txBody>
          <a:bodyPr/>
          <a:lstStyle/>
          <a:p>
            <a:endParaRPr/>
          </a:p>
        </p:txBody>
      </p:sp>
      <p:sp>
        <p:nvSpPr>
          <p:cNvPr id="11" name="文本框 10" descr="{&quot;isTemplate&quot;:true,&quot;type&quot;:&quot;text&quot;}"/>
          <p:cNvSpPr txBox="1"/>
          <p:nvPr/>
        </p:nvSpPr>
        <p:spPr>
          <a:xfrm>
            <a:off x="6800850" y="3552825"/>
            <a:ext cx="1409700" cy="200025"/>
          </a:xfrm>
          <a:prstGeom prst="rect">
            <a:avLst/>
          </a:prstGeom>
        </p:spPr>
        <p:txBody>
          <a:bodyPr wrap="none" lIns="0" tIns="0" rIns="0" bIns="0"/>
          <a:lstStyle/>
          <a:p>
            <a:pPr>
              <a:lnSpc>
                <a:spcPct val="100000"/>
              </a:lnSpc>
            </a:pPr>
            <a:r>
              <a:rPr lang="zh-CN" sz="1275">
                <a:solidFill>
                  <a:srgbClr val="4A5568"/>
                </a:solidFill>
                <a:latin typeface="Source Han Sans CN"/>
                <a:ea typeface="Source Han Sans CN"/>
              </a:rPr>
              <a:t>问题 · 方法 · 机制</a:t>
            </a:r>
            <a:r>
              <a:rPr lang="en-US" sz="1275">
                <a:solidFill>
                  <a:srgbClr val="4A5568"/>
                </a:solidFill>
                <a:latin typeface="Source Han Sans CN"/>
                <a:ea typeface="Source Han Sans CN"/>
              </a:rPr>
              <a:t/>
            </a:r>
            <a:r>
              <a:rPr lang="zh-CN" sz="1275">
                <a:solidFill>
                  <a:srgbClr val="4A5568"/>
                </a:solidFill>
                <a:latin typeface="Source Han Sans CN"/>
                <a:ea typeface="Source Han Sans CN"/>
              </a:rPr>
              <a:t/>
            </a:r>
            <a:r>
              <a:rPr lang="en-US" sz="1275">
                <a:solidFill>
                  <a:srgbClr val="4A5568"/>
                </a:solidFill>
                <a:latin typeface="Source Han Sans CN"/>
                <a:ea typeface="Source Han Sans CN"/>
              </a:rPr>
              <a:t/>
            </a:r>
            <a:r>
              <a:rPr lang="zh-CN" sz="1275">
                <a:solidFill>
                  <a:srgbClr val="4A5568"/>
                </a:solidFill>
                <a:latin typeface="Source Han Sans CN"/>
                <a:ea typeface="Source Han Sans CN"/>
              </a:rPr>
              <a:t/>
            </a:r>
            <a:endParaRPr/>
          </a:p>
        </p:txBody>
      </p:sp>
      <p:pic>
        <p:nvPicPr>
          <p:cNvPr id="12" name="图形 11"/>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62000" y="3771900"/>
            <a:ext cx="10668000" cy="2171700"/>
          </a:xfrm>
          <a:prstGeom prst="rect">
            <a:avLst/>
          </a:prstGeom>
          <a:ln/>
        </p:spPr>
      </p:pic>
      <p:sp>
        <p:nvSpPr>
          <p:cNvPr id="13" name="矩形: 圆角 12"/>
          <p:cNvSpPr/>
          <p:nvPr/>
        </p:nvSpPr>
        <p:spPr>
          <a:xfrm>
            <a:off x="7124700" y="4000500"/>
            <a:ext cx="4152900" cy="304800"/>
          </a:xfrm>
          <a:prstGeom prst="roundRect">
            <a:avLst>
              <a:gd name="adj" fmla="val 25000"/>
            </a:avLst>
          </a:prstGeom>
          <a:solidFill>
            <a:srgbClr val="FFFFFF"/>
          </a:solidFill>
          <a:ln w="12700">
            <a:solidFill>
              <a:srgbClr val="D6DCE5"/>
            </a:solidFill>
            <a:prstDash val="solid"/>
          </a:ln>
        </p:spPr>
        <p:txBody>
          <a:bodyPr/>
          <a:lstStyle/>
          <a:p>
            <a:endParaRPr/>
          </a:p>
        </p:txBody>
      </p:sp>
      <p:sp>
        <p:nvSpPr>
          <p:cNvPr id="14" name="文本框 13" descr="{&quot;isTemplate&quot;:true,&quot;type&quot;:&quot;text&quot;}"/>
          <p:cNvSpPr txBox="1"/>
          <p:nvPr/>
        </p:nvSpPr>
        <p:spPr>
          <a:xfrm>
            <a:off x="7277100" y="4076700"/>
            <a:ext cx="1600200" cy="152400"/>
          </a:xfrm>
          <a:prstGeom prst="rect">
            <a:avLst/>
          </a:prstGeom>
        </p:spPr>
        <p:txBody>
          <a:bodyPr wrap="none" lIns="0" tIns="0" rIns="0" bIns="0"/>
          <a:lstStyle/>
          <a:p>
            <a:pPr>
              <a:lnSpc>
                <a:spcPct val="100000"/>
              </a:lnSpc>
            </a:pPr>
            <a:r>
              <a:rPr sz="975">
                <a:solidFill>
                  <a:srgbClr val="FFC107"/>
                </a:solidFill>
                <a:latin typeface="Source Han Sans CN"/>
                <a:ea typeface="Source Han Sans CN"/>
              </a:rPr>
              <a:t>●</a:t>
            </a:r>
            <a:r>
              <a:rPr lang="en-US" sz="975">
                <a:solidFill>
                  <a:srgbClr val="4A5568"/>
                </a:solidFill>
                <a:latin typeface="Source Han Sans CN"/>
                <a:ea typeface="Source Han Sans CN"/>
              </a:rPr>
              <a:t> </a:t>
            </a:r>
            <a:r>
              <a:rPr lang="zh-CN" sz="975">
                <a:solidFill>
                  <a:srgbClr val="4A5568"/>
                </a:solidFill>
                <a:latin typeface="Source Han Sans CN"/>
                <a:ea typeface="Source Han Sans CN"/>
              </a:rPr>
              <a:t>任务（</a:t>
            </a:r>
            <a:r>
              <a:rPr lang="en-US" sz="975">
                <a:solidFill>
                  <a:srgbClr val="4A5568"/>
                </a:solidFill>
                <a:latin typeface="Source Han Sans CN"/>
                <a:ea typeface="Source Han Sans CN"/>
              </a:rPr>
              <a:t>Poisson </a:t>
            </a:r>
            <a:r>
              <a:rPr lang="zh-CN" sz="975">
                <a:solidFill>
                  <a:srgbClr val="4A5568"/>
                </a:solidFill>
                <a:latin typeface="Source Han Sans CN"/>
                <a:ea typeface="Source Han Sans CN"/>
              </a:rPr>
              <a:t>滚动到达）</a:t>
            </a:r>
            <a:endParaRPr/>
          </a:p>
        </p:txBody>
      </p:sp>
      <p:sp>
        <p:nvSpPr>
          <p:cNvPr id="15" name="文本框 14" descr="{&quot;isTemplate&quot;:true,&quot;type&quot;:&quot;text&quot;}"/>
          <p:cNvSpPr txBox="1"/>
          <p:nvPr/>
        </p:nvSpPr>
        <p:spPr>
          <a:xfrm>
            <a:off x="8972550" y="4076700"/>
            <a:ext cx="171450" cy="152400"/>
          </a:xfrm>
          <a:prstGeom prst="rect">
            <a:avLst/>
          </a:prstGeom>
        </p:spPr>
        <p:txBody>
          <a:bodyPr wrap="none" lIns="0" tIns="0" rIns="0" bIns="0"/>
          <a:lstStyle/>
          <a:p>
            <a:pPr>
              <a:lnSpc>
                <a:spcPct val="100000"/>
              </a:lnSpc>
            </a:pPr>
            <a:r>
              <a:rPr lang="en-US" sz="975" b="1">
                <a:solidFill>
                  <a:srgbClr val="1E4FA8"/>
                </a:solidFill>
                <a:latin typeface="Source Han Sans CN"/>
                <a:ea typeface="Source Han Sans CN"/>
              </a:rPr>
              <a:t>– –</a:t>
            </a:r>
            <a:endParaRPr/>
          </a:p>
        </p:txBody>
      </p:sp>
      <p:sp>
        <p:nvSpPr>
          <p:cNvPr id="16" name="文本框 15" descr="{&quot;isTemplate&quot;:true,&quot;type&quot;:&quot;text&quot;}"/>
          <p:cNvSpPr txBox="1"/>
          <p:nvPr/>
        </p:nvSpPr>
        <p:spPr>
          <a:xfrm>
            <a:off x="9239250" y="4076700"/>
            <a:ext cx="1885950" cy="152400"/>
          </a:xfrm>
          <a:prstGeom prst="rect">
            <a:avLst/>
          </a:prstGeom>
        </p:spPr>
        <p:txBody>
          <a:bodyPr wrap="none" lIns="0" tIns="0" rIns="0" bIns="0"/>
          <a:lstStyle/>
          <a:p>
            <a:pPr>
              <a:lnSpc>
                <a:spcPct val="100000"/>
              </a:lnSpc>
            </a:pPr>
            <a:r>
              <a:rPr lang="zh-CN" sz="975">
                <a:solidFill>
                  <a:srgbClr val="4A5568"/>
                </a:solidFill>
                <a:latin typeface="Source Han Sans CN"/>
                <a:ea typeface="Source Han Sans CN"/>
              </a:rPr>
              <a:t>航次（</a:t>
            </a:r>
            <a:r>
              <a:rPr lang="en-US" sz="975">
                <a:solidFill>
                  <a:srgbClr val="4A5568"/>
                </a:solidFill>
                <a:latin typeface="Source Han Sans CN"/>
                <a:ea typeface="Source Han Sans CN"/>
              </a:rPr>
              <a:t>UAV </a:t>
            </a:r>
            <a:r>
              <a:rPr lang="zh-CN" sz="975">
                <a:solidFill>
                  <a:srgbClr val="4A5568"/>
                </a:solidFill>
                <a:latin typeface="Source Han Sans CN"/>
                <a:ea typeface="Source Han Sans CN"/>
              </a:rPr>
              <a:t>起点固定</a:t>
            </a:r>
            <a:r>
              <a:rPr lang="en-US" sz="975">
                <a:solidFill>
                  <a:srgbClr val="4A5568"/>
                </a:solidFill>
                <a:latin typeface="Source Han Sans CN"/>
                <a:ea typeface="Source Han Sans CN"/>
              </a:rPr>
              <a:t> · </a:t>
            </a:r>
            <a:r>
              <a:rPr lang="zh-CN" sz="975">
                <a:solidFill>
                  <a:srgbClr val="4A5568"/>
                </a:solidFill>
                <a:latin typeface="Source Han Sans CN"/>
                <a:ea typeface="Source Han Sans CN"/>
              </a:rPr>
              <a:t>终点可选）</a:t>
            </a:r>
            <a:endParaRPr/>
          </a:p>
        </p:txBody>
      </p:sp>
      <p:sp>
        <p:nvSpPr>
          <p:cNvPr id="17" name="文本框 16" descr="{&quot;isTemplate&quot;:true,&quot;type&quot;:&quot;text&quot;}"/>
          <p:cNvSpPr txBox="1"/>
          <p:nvPr/>
        </p:nvSpPr>
        <p:spPr>
          <a:xfrm>
            <a:off x="1047750" y="5724525"/>
            <a:ext cx="314325" cy="161925"/>
          </a:xfrm>
          <a:prstGeom prst="rect">
            <a:avLst/>
          </a:prstGeom>
        </p:spPr>
        <p:txBody>
          <a:bodyPr wrap="none" lIns="0" tIns="0" rIns="0" bIns="0"/>
          <a:lstStyle/>
          <a:p>
            <a:pPr>
              <a:lnSpc>
                <a:spcPct val="100000"/>
              </a:lnSpc>
            </a:pPr>
            <a:r>
              <a:rPr lang="en-US" sz="1013" b="1">
                <a:solidFill>
                  <a:srgbClr val="8B97A8"/>
                </a:solidFill>
                <a:latin typeface="Source Han Sans CN"/>
                <a:ea typeface="Source Han Sans CN"/>
              </a:rPr>
              <a:t>DEM</a:t>
            </a:r>
            <a:endParaRPr/>
          </a:p>
        </p:txBody>
      </p:sp>
      <p:sp>
        <p:nvSpPr>
          <p:cNvPr id="18" name="文本框 17" descr="{&quot;isTemplate&quot;:true,&quot;type&quot;:&quot;text&quot;}"/>
          <p:cNvSpPr txBox="1"/>
          <p:nvPr/>
        </p:nvSpPr>
        <p:spPr>
          <a:xfrm>
            <a:off x="1409700" y="5724525"/>
            <a:ext cx="2057400" cy="161925"/>
          </a:xfrm>
          <a:prstGeom prst="rect">
            <a:avLst/>
          </a:prstGeom>
        </p:spPr>
        <p:txBody>
          <a:bodyPr wrap="none" lIns="0" tIns="0" rIns="0" bIns="0"/>
          <a:lstStyle/>
          <a:p>
            <a:pPr>
              <a:lnSpc>
                <a:spcPct val="100000"/>
              </a:lnSpc>
            </a:pPr>
            <a:r>
              <a:rPr lang="zh-CN" sz="1013">
                <a:solidFill>
                  <a:srgbClr val="8B97A8"/>
                </a:solidFill>
                <a:latin typeface="Source Han Sans CN"/>
                <a:ea typeface="Source Han Sans CN"/>
              </a:rPr>
              <a:t>三维地形剖面（垂直切面航程口径）</a:t>
            </a:r>
            <a:endParaRPr/>
          </a:p>
        </p:txBody>
      </p:sp>
      <p:sp>
        <p:nvSpPr>
          <p:cNvPr id="19" name="文本框 18" descr="{&quot;isTemplate&quot;:true,&quot;type&quot;:&quot;text&quot;}"/>
          <p:cNvSpPr txBox="1"/>
          <p:nvPr/>
        </p:nvSpPr>
        <p:spPr>
          <a:xfrm>
            <a:off x="762000" y="6438900"/>
            <a:ext cx="2314575" cy="190500"/>
          </a:xfrm>
          <a:prstGeom prst="rect">
            <a:avLst/>
          </a:prstGeom>
        </p:spPr>
        <p:txBody>
          <a:bodyPr wrap="none" lIns="0" tIns="0" rIns="0" bIns="0"/>
          <a:lstStyle/>
          <a:p>
            <a:pPr>
              <a:lnSpc>
                <a:spcPct val="100000"/>
              </a:lnSpc>
            </a:pPr>
            <a:r>
              <a:rPr lang="zh-CN" sz="1200">
                <a:solidFill>
                  <a:srgbClr val="4A5568"/>
                </a:solidFill>
                <a:latin typeface="Source Han Sans CN"/>
                <a:ea typeface="Source Han Sans CN"/>
              </a:rPr>
              <a:t>汇报人：</a:t>
            </a:r>
            <a:r>
              <a:rPr lang="en-US" sz="1200">
                <a:solidFill>
                  <a:srgbClr val="4A5568"/>
                </a:solidFill>
                <a:latin typeface="Source Han Sans CN"/>
                <a:ea typeface="Source Han Sans CN"/>
              </a:rPr>
              <a:t>XXX</a:t>
            </a:r>
            <a:r>
              <a:rPr lang="zh-CN" sz="1200">
                <a:solidFill>
                  <a:srgbClr val="D6DCE5"/>
                </a:solidFill>
                <a:latin typeface="Source Han Sans CN"/>
                <a:ea typeface="Source Han Sans CN"/>
              </a:rPr>
              <a:t>　</a:t>
            </a:r>
            <a:r>
              <a:rPr lang="en-US" sz="1200">
                <a:solidFill>
                  <a:srgbClr val="D6DCE5"/>
                </a:solidFill>
                <a:latin typeface="Source Han Sans CN"/>
                <a:ea typeface="Source Han Sans CN"/>
              </a:rPr>
              <a:t>|</a:t>
            </a:r>
            <a:r>
              <a:rPr lang="zh-CN" sz="1200">
                <a:solidFill>
                  <a:srgbClr val="D6DCE5"/>
                </a:solidFill>
                <a:latin typeface="Source Han Sans CN"/>
                <a:ea typeface="Source Han Sans CN"/>
              </a:rPr>
              <a:t>　</a:t>
            </a:r>
            <a:r>
              <a:rPr lang="zh-CN" sz="1200">
                <a:solidFill>
                  <a:srgbClr val="4A5568"/>
                </a:solidFill>
                <a:latin typeface="Source Han Sans CN"/>
                <a:ea typeface="Source Han Sans CN"/>
              </a:rPr>
              <a:t>指导教师：</a:t>
            </a:r>
            <a:r>
              <a:rPr lang="en-US" sz="1200">
                <a:solidFill>
                  <a:srgbClr val="4A5568"/>
                </a:solidFill>
                <a:latin typeface="Source Han Sans CN"/>
                <a:ea typeface="Source Han Sans CN"/>
              </a:rPr>
              <a:t>XXX</a:t>
            </a:r>
            <a:endParaRPr/>
          </a:p>
        </p:txBody>
      </p:sp>
      <p:sp>
        <p:nvSpPr>
          <p:cNvPr id="20" name="文本框 19" descr="{&quot;isTemplate&quot;:true,&quot;type&quot;:&quot;text&quot;}"/>
          <p:cNvSpPr txBox="1"/>
          <p:nvPr/>
        </p:nvSpPr>
        <p:spPr>
          <a:xfrm>
            <a:off x="10448925" y="6438900"/>
            <a:ext cx="981075" cy="190500"/>
          </a:xfrm>
          <a:prstGeom prst="rect">
            <a:avLst/>
          </a:prstGeom>
        </p:spPr>
        <p:txBody>
          <a:bodyPr wrap="none" lIns="0" tIns="0" rIns="0" bIns="0"/>
          <a:lstStyle/>
          <a:p>
            <a:pPr>
              <a:lnSpc>
                <a:spcPct val="100000"/>
              </a:lnSpc>
            </a:pPr>
            <a:r>
              <a:rPr lang="en-US" sz="1200">
                <a:solidFill>
                  <a:srgbClr val="4A5568"/>
                </a:solidFill>
                <a:latin typeface="Source Han Sans CN"/>
                <a:ea typeface="Source Han Sans CN"/>
              </a:rPr>
              <a:t>2026 </a:t>
            </a:r>
            <a:r>
              <a:rPr lang="zh-CN" sz="1200">
                <a:solidFill>
                  <a:srgbClr val="4A5568"/>
                </a:solidFill>
                <a:latin typeface="Source Han Sans CN"/>
                <a:ea typeface="Source Han Sans CN"/>
              </a:rPr>
              <a:t>年</a:t>
            </a:r>
            <a:r>
              <a:rPr lang="en-US" sz="1200">
                <a:solidFill>
                  <a:srgbClr val="4A5568"/>
                </a:solidFill>
                <a:latin typeface="Source Han Sans CN"/>
                <a:ea typeface="Source Han Sans CN"/>
              </a:rPr>
              <a:t> 10 </a:t>
            </a:r>
            <a:r>
              <a:rPr lang="zh-CN" sz="1200">
                <a:solidFill>
                  <a:srgbClr val="4A5568"/>
                </a:solidFill>
                <a:latin typeface="Source Han Sans CN"/>
                <a:ea typeface="Source Han Sans CN"/>
              </a:rPr>
              <a:t>月</a:t>
            </a: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 name="矩形 239"/>
          <p:cNvSpPr/>
          <p:nvPr/>
        </p:nvSpPr>
        <p:spPr>
          <a:xfrm>
            <a:off x="0" y="0"/>
            <a:ext cx="12192000" cy="6858000"/>
          </a:xfrm>
          <a:prstGeom prst="rect">
            <a:avLst/>
          </a:prstGeom>
          <a:solidFill>
            <a:srgbClr val="FFFFFF"/>
          </a:solidFill>
          <a:ln/>
        </p:spPr>
        <p:txBody>
          <a:bodyPr/>
          <a:lstStyle/>
          <a:p>
            <a:endParaRPr/>
          </a:p>
        </p:txBody>
      </p:sp>
      <p:sp>
        <p:nvSpPr>
          <p:cNvPr id="206" name="矩形 240"/>
          <p:cNvSpPr/>
          <p:nvPr/>
        </p:nvSpPr>
        <p:spPr>
          <a:xfrm>
            <a:off x="0" y="0"/>
            <a:ext cx="12192000" cy="114300"/>
          </a:xfrm>
          <a:prstGeom prst="rect">
            <a:avLst/>
          </a:prstGeom>
          <a:solidFill>
            <a:srgbClr val="1E4FA8"/>
          </a:solidFill>
          <a:ln/>
        </p:spPr>
        <p:txBody>
          <a:bodyPr/>
          <a:lstStyle/>
          <a:p>
            <a:endParaRPr/>
          </a:p>
        </p:txBody>
      </p:sp>
      <p:sp>
        <p:nvSpPr>
          <p:cNvPr id="207" name="矩形: 圆角 241"/>
          <p:cNvSpPr/>
          <p:nvPr/>
        </p:nvSpPr>
        <p:spPr>
          <a:xfrm>
            <a:off x="381000" y="1047750"/>
            <a:ext cx="3390900" cy="5143500"/>
          </a:xfrm>
          <a:prstGeom prst="roundRect">
            <a:avLst>
              <a:gd name="adj" fmla="val 3371"/>
            </a:avLst>
          </a:prstGeom>
          <a:solidFill>
            <a:srgbClr val="0E3F8C"/>
          </a:solidFill>
          <a:ln/>
        </p:spPr>
        <p:txBody>
          <a:bodyPr/>
          <a:lstStyle/>
          <a:p>
            <a:endParaRPr/>
          </a:p>
        </p:txBody>
      </p:sp>
      <p:sp>
        <p:nvSpPr>
          <p:cNvPr id="208" name="文本框 242" descr="{&quot;isTemplate&quot;:true,&quot;type&quot;:&quot;text&quot;}"/>
          <p:cNvSpPr txBox="1"/>
          <p:nvPr/>
        </p:nvSpPr>
        <p:spPr>
          <a:xfrm>
            <a:off x="723900" y="1466850"/>
            <a:ext cx="2705100" cy="438150"/>
          </a:xfrm>
          <a:prstGeom prst="rect">
            <a:avLst/>
          </a:prstGeom>
        </p:spPr>
        <p:txBody>
          <a:bodyPr wrap="none" lIns="0" tIns="0" rIns="0" bIns="0"/>
          <a:lstStyle/>
          <a:p>
            <a:pPr>
              <a:lnSpc>
                <a:spcPct val="100000"/>
              </a:lnSpc>
            </a:pPr>
            <a:r>
              <a:rPr lang="zh-CN" sz="2850" b="1">
                <a:solidFill>
                  <a:srgbClr val="FFFFFF"/>
                </a:solidFill>
                <a:latin typeface="Source Han Sans CN"/>
                <a:ea typeface="Source Han Sans CN"/>
              </a:rPr>
              <a:t>汇报提纲</a:t>
            </a:r>
            <a:endParaRPr/>
          </a:p>
        </p:txBody>
      </p:sp>
      <p:sp>
        <p:nvSpPr>
          <p:cNvPr id="209" name="文本框 243" descr="{&quot;isTemplate&quot;:true,&quot;type&quot;:&quot;text&quot;}"/>
          <p:cNvSpPr txBox="1"/>
          <p:nvPr/>
        </p:nvSpPr>
        <p:spPr>
          <a:xfrm>
            <a:off x="723900" y="1981200"/>
            <a:ext cx="2705100" cy="171450"/>
          </a:xfrm>
          <a:prstGeom prst="rect">
            <a:avLst/>
          </a:prstGeom>
        </p:spPr>
        <p:txBody>
          <a:bodyPr wrap="none" lIns="0" tIns="0" rIns="0" bIns="0"/>
          <a:lstStyle/>
          <a:p>
            <a:pPr>
              <a:lnSpc>
                <a:spcPct val="100000"/>
              </a:lnSpc>
            </a:pPr>
            <a:r>
              <a:rPr lang="en-US" sz="1125" spc="300">
                <a:solidFill>
                  <a:srgbClr val="B5D4F4"/>
                </a:solidFill>
                <a:latin typeface="Source Han Sans CN"/>
                <a:ea typeface="Source Han Sans CN"/>
              </a:rPr>
              <a:t>CONTENTS</a:t>
            </a:r>
            <a:endParaRPr/>
          </a:p>
        </p:txBody>
      </p:sp>
      <p:sp>
        <p:nvSpPr>
          <p:cNvPr id="210" name="矩形 244"/>
          <p:cNvSpPr/>
          <p:nvPr/>
        </p:nvSpPr>
        <p:spPr>
          <a:xfrm>
            <a:off x="723900" y="2343150"/>
            <a:ext cx="419100" cy="28575"/>
          </a:xfrm>
          <a:prstGeom prst="rect">
            <a:avLst/>
          </a:prstGeom>
          <a:solidFill>
            <a:srgbClr val="FFC107"/>
          </a:solidFill>
          <a:ln/>
        </p:spPr>
        <p:txBody>
          <a:bodyPr/>
          <a:lstStyle/>
          <a:p>
            <a:endParaRPr/>
          </a:p>
        </p:txBody>
      </p:sp>
      <p:sp>
        <p:nvSpPr>
          <p:cNvPr id="211" name="文本框 245" descr="{&quot;isTemplate&quot;:true,&quot;type&quot;:&quot;text&quot;}"/>
          <p:cNvSpPr txBox="1"/>
          <p:nvPr/>
        </p:nvSpPr>
        <p:spPr>
          <a:xfrm>
            <a:off x="723900" y="2638425"/>
            <a:ext cx="2705100" cy="1485900"/>
          </a:xfrm>
          <a:prstGeom prst="rect">
            <a:avLst/>
          </a:prstGeom>
        </p:spPr>
        <p:txBody>
          <a:bodyPr wrap="square" lIns="0" tIns="0" rIns="0" bIns="0">
            <a:normAutofit/>
          </a:bodyPr>
          <a:lstStyle/>
          <a:p>
            <a:pPr>
              <a:lnSpc>
                <a:spcPct val="190000"/>
              </a:lnSpc>
            </a:pPr>
            <a:r>
              <a:rPr lang="zh-CN" sz="1275">
                <a:solidFill>
                  <a:srgbClr val="DCE7F5"/>
                </a:solidFill>
                <a:latin typeface="Source Han Sans CN"/>
                <a:ea typeface="Source Han Sans CN"/>
              </a:rPr>
              <a:t>先用 P3–P8 讲清为什么要做、为什么必须放在一起解，再围绕「动态任务池 × 多机巢 × 选择性执行」三个关键词讲清问题特征、两阶段分层框架与两阶段机制设计。</a:t>
            </a:r>
            <a:r>
              <a:rPr lang="en-US" sz="1275">
                <a:solidFill>
                  <a:srgbClr val="DCE7F5"/>
                </a:solidFill>
                <a:latin typeface="Source Han Sans CN"/>
                <a:ea typeface="Source Han Sans CN"/>
              </a:rPr>
              <a:t/>
            </a:r>
            <a:r>
              <a:rPr lang="zh-CN" sz="1275">
                <a:solidFill>
                  <a:srgbClr val="DCE7F5"/>
                </a:solidFill>
                <a:latin typeface="Source Han Sans CN"/>
                <a:ea typeface="Source Han Sans CN"/>
              </a:rPr>
              <a:t/>
            </a:r>
            <a:r>
              <a:rPr lang="en-US" sz="1275">
                <a:solidFill>
                  <a:srgbClr val="DCE7F5"/>
                </a:solidFill>
                <a:latin typeface="Source Han Sans CN"/>
                <a:ea typeface="Source Han Sans CN"/>
              </a:rPr>
              <a:t/>
            </a:r>
            <a:r>
              <a:rPr lang="zh-CN" sz="1275">
                <a:solidFill>
                  <a:srgbClr val="DCE7F5"/>
                </a:solidFill>
                <a:latin typeface="Source Han Sans CN"/>
                <a:ea typeface="Source Han Sans CN"/>
              </a:rPr>
              <a:t/>
            </a:r>
            <a:endParaRPr/>
          </a:p>
        </p:txBody>
      </p:sp>
      <p:sp>
        <p:nvSpPr>
          <p:cNvPr id="212" name="文本框 246" descr="{&quot;isTemplate&quot;:true,&quot;type&quot;:&quot;text&quot;}"/>
          <p:cNvSpPr txBox="1"/>
          <p:nvPr/>
        </p:nvSpPr>
        <p:spPr>
          <a:xfrm>
            <a:off x="723900" y="4333875"/>
            <a:ext cx="2705100" cy="581025"/>
          </a:xfrm>
          <a:prstGeom prst="rect">
            <a:avLst/>
          </a:prstGeom>
        </p:spPr>
        <p:txBody>
          <a:bodyPr wrap="square" lIns="0" tIns="0" rIns="0" bIns="0">
            <a:normAutofit/>
          </a:bodyPr>
          <a:lstStyle/>
          <a:p>
            <a:pPr>
              <a:lnSpc>
                <a:spcPct val="180000"/>
              </a:lnSpc>
            </a:pPr>
            <a:r>
              <a:rPr lang="zh-CN" sz="1050">
                <a:solidFill>
                  <a:srgbClr val="85B7EB"/>
                </a:solidFill>
                <a:latin typeface="Source Han Sans CN"/>
                <a:ea typeface="Source Han Sans CN"/>
              </a:rPr>
              <a:t>公式与表述均可回溯到论文方法章。</a:t>
            </a:r>
            <a:r>
              <a:rPr lang="en-US" sz="1050">
                <a:solidFill>
                  <a:srgbClr val="85B7EB"/>
                </a:solidFill>
                <a:latin typeface="Source Han Sans CN"/>
                <a:ea typeface="Source Han Sans CN"/>
              </a:rPr>
              <a:t/>
            </a:r>
            <a:r>
              <a:rPr lang="zh-CN" sz="1050">
                <a:solidFill>
                  <a:srgbClr val="85B7EB"/>
                </a:solidFill>
                <a:latin typeface="Source Han Sans CN"/>
                <a:ea typeface="Source Han Sans CN"/>
              </a:rPr>
              <a:t/>
            </a:r>
            <a:r>
              <a:rPr lang="en-US" sz="1050">
                <a:solidFill>
                  <a:srgbClr val="85B7EB"/>
                </a:solidFill>
                <a:latin typeface="Source Han Sans CN"/>
                <a:ea typeface="Source Han Sans CN"/>
              </a:rPr>
              <a:t/>
            </a:r>
            <a:r>
              <a:rPr lang="zh-CN" sz="1050">
                <a:solidFill>
                  <a:srgbClr val="85B7EB"/>
                </a:solidFill>
                <a:latin typeface="Source Han Sans CN"/>
                <a:ea typeface="Source Han Sans CN"/>
              </a:rPr>
              <a:t/>
            </a:r>
            <a:endParaRPr/>
          </a:p>
        </p:txBody>
      </p:sp>
      <p:sp>
        <p:nvSpPr>
          <p:cNvPr id="213" name="矩形: 圆角 247"/>
          <p:cNvSpPr/>
          <p:nvPr/>
        </p:nvSpPr>
        <p:spPr>
          <a:xfrm>
            <a:off x="4114800" y="1047750"/>
            <a:ext cx="7734300" cy="1200150"/>
          </a:xfrm>
          <a:prstGeom prst="roundRect">
            <a:avLst>
              <a:gd name="adj" fmla="val 7937"/>
            </a:avLst>
          </a:prstGeom>
          <a:solidFill>
            <a:srgbClr val="F0F5FC"/>
          </a:solidFill>
          <a:ln/>
        </p:spPr>
        <p:txBody>
          <a:bodyPr/>
          <a:lstStyle/>
          <a:p>
            <a:endParaRPr/>
          </a:p>
        </p:txBody>
      </p:sp>
      <p:sp>
        <p:nvSpPr>
          <p:cNvPr id="214" name="任意多边形: 形状 248"/>
          <p:cNvSpPr/>
          <p:nvPr/>
        </p:nvSpPr>
        <p:spPr>
          <a:xfrm>
            <a:off x="4114800" y="1047750"/>
            <a:ext cx="7734300" cy="1200150"/>
          </a:xfrm>
          <a:custGeom>
            <a:avLst/>
            <a:gdLst/>
            <a:ahLst/>
            <a:cxnLst/>
            <a:rect l="0" t="0" r="0" b="0"/>
            <a:pathLst>
              <a:path w="812" h="126">
                <a:moveTo>
                  <a:pt x="9" y="0"/>
                </a:moveTo>
                <a:cubicBezTo>
                  <a:pt x="6" y="0"/>
                  <a:pt x="4" y="3"/>
                  <a:pt x="4" y="6"/>
                </a:cubicBezTo>
                <a:lnTo>
                  <a:pt x="4" y="120"/>
                </a:lnTo>
                <a:cubicBezTo>
                  <a:pt x="4" y="123"/>
                  <a:pt x="6" y="125"/>
                  <a:pt x="9" y="126"/>
                </a:cubicBezTo>
                <a:cubicBezTo>
                  <a:pt x="4" y="125"/>
                  <a:pt x="0" y="121"/>
                  <a:pt x="0" y="116"/>
                </a:cubicBezTo>
                <a:lnTo>
                  <a:pt x="0" y="10"/>
                </a:lnTo>
                <a:cubicBezTo>
                  <a:pt x="0" y="5"/>
                  <a:pt x="4" y="0"/>
                  <a:pt x="10" y="0"/>
                </a:cubicBezTo>
                <a:close/>
              </a:path>
            </a:pathLst>
          </a:custGeom>
          <a:solidFill>
            <a:srgbClr val="1E4FA8"/>
          </a:solidFill>
          <a:ln/>
        </p:spPr>
        <p:txBody>
          <a:bodyPr/>
          <a:lstStyle/>
          <a:p>
            <a:endParaRPr/>
          </a:p>
        </p:txBody>
      </p:sp>
      <p:sp>
        <p:nvSpPr>
          <p:cNvPr id="215" name="矩形: 圆角 249"/>
          <p:cNvSpPr/>
          <p:nvPr/>
        </p:nvSpPr>
        <p:spPr>
          <a:xfrm>
            <a:off x="4324350" y="1219200"/>
            <a:ext cx="514350" cy="514350"/>
          </a:xfrm>
          <a:prstGeom prst="roundRect">
            <a:avLst>
              <a:gd name="adj" fmla="val 14815"/>
            </a:avLst>
          </a:prstGeom>
          <a:solidFill>
            <a:srgbClr val="1E4FA8"/>
          </a:solidFill>
          <a:ln/>
        </p:spPr>
        <p:txBody>
          <a:bodyPr/>
          <a:lstStyle/>
          <a:p>
            <a:endParaRPr/>
          </a:p>
        </p:txBody>
      </p:sp>
      <p:sp>
        <p:nvSpPr>
          <p:cNvPr id="216" name="文本框 250" descr="{&quot;isTemplate&quot;:true,&quot;type&quot;:&quot;text&quot;}"/>
          <p:cNvSpPr txBox="1"/>
          <p:nvPr/>
        </p:nvSpPr>
        <p:spPr>
          <a:xfrm>
            <a:off x="4448175" y="1352550"/>
            <a:ext cx="266700" cy="257175"/>
          </a:xfrm>
          <a:prstGeom prst="rect">
            <a:avLst/>
          </a:prstGeom>
        </p:spPr>
        <p:txBody>
          <a:bodyPr wrap="none" lIns="0" tIns="0" rIns="0" bIns="0"/>
          <a:lstStyle/>
          <a:p>
            <a:pPr>
              <a:lnSpc>
                <a:spcPct val="100000"/>
              </a:lnSpc>
            </a:pPr>
            <a:r>
              <a:rPr lang="en-US" sz="1650" b="1">
                <a:solidFill>
                  <a:srgbClr val="FFFFFF"/>
                </a:solidFill>
                <a:latin typeface="Source Han Sans CN"/>
                <a:ea typeface="Source Han Sans CN"/>
              </a:rPr>
              <a:t>01</a:t>
            </a:r>
            <a:endParaRPr/>
          </a:p>
        </p:txBody>
      </p:sp>
      <p:sp>
        <p:nvSpPr>
          <p:cNvPr id="217" name="文本框 251" descr="{&quot;isTemplate&quot;:true,&quot;type&quot;:&quot;text&quot;}"/>
          <p:cNvSpPr txBox="1"/>
          <p:nvPr/>
        </p:nvSpPr>
        <p:spPr>
          <a:xfrm>
            <a:off x="5029200" y="1219200"/>
            <a:ext cx="6572250" cy="247650"/>
          </a:xfrm>
          <a:prstGeom prst="rect">
            <a:avLst/>
          </a:prstGeom>
        </p:spPr>
        <p:txBody>
          <a:bodyPr wrap="none" lIns="0" tIns="0" rIns="0" bIns="0"/>
          <a:lstStyle/>
          <a:p>
            <a:pPr>
              <a:lnSpc>
                <a:spcPct val="100000"/>
              </a:lnSpc>
            </a:pPr>
            <a:r>
              <a:rPr lang="zh-CN" sz="1575" b="1">
                <a:solidFill>
                  <a:srgbClr val="1A2230"/>
                </a:solidFill>
                <a:latin typeface="Source Han Sans CN"/>
                <a:ea typeface="Source Han Sans CN"/>
              </a:rPr>
              <a:t>研究问题与总体框架　P9–P12</a:t>
            </a:r>
            <a:r>
              <a:rPr lang="zh-CN" sz="1125">
                <a:solidFill>
                  <a:srgbClr val="3D7BD9"/>
                </a:solidFill>
                <a:latin typeface="Source Han Sans CN"/>
                <a:ea typeface="Source Han Sans CN"/>
              </a:rPr>
              <a:t/>
            </a:r>
            <a:r>
              <a:rPr lang="en-US" sz="1125">
                <a:solidFill>
                  <a:srgbClr val="3D7BD9"/>
                </a:solidFill>
                <a:latin typeface="Source Han Sans CN"/>
                <a:ea typeface="Source Han Sans CN"/>
              </a:rPr>
              <a:t/>
            </a:r>
            <a:endParaRPr/>
          </a:p>
        </p:txBody>
      </p:sp>
      <p:sp>
        <p:nvSpPr>
          <p:cNvPr id="218" name="文本框 252" descr="{&quot;isTemplate&quot;:true,&quot;type&quot;:&quot;text&quot;}"/>
          <p:cNvSpPr txBox="1"/>
          <p:nvPr/>
        </p:nvSpPr>
        <p:spPr>
          <a:xfrm>
            <a:off x="5029200" y="1524000"/>
            <a:ext cx="6572250" cy="552450"/>
          </a:xfrm>
          <a:prstGeom prst="rect">
            <a:avLst/>
          </a:prstGeom>
        </p:spPr>
        <p:txBody>
          <a:bodyPr wrap="square" lIns="0" tIns="0" rIns="0" bIns="0">
            <a:normAutofit/>
          </a:bodyPr>
          <a:lstStyle/>
          <a:p>
            <a:pPr>
              <a:lnSpc>
                <a:spcPct val="160000"/>
              </a:lnSpc>
            </a:pPr>
            <a:r>
              <a:rPr lang="zh-CN" sz="1125">
                <a:solidFill>
                  <a:srgbClr val="4A5568"/>
                </a:solidFill>
                <a:latin typeface="Source Han Sans CN"/>
                <a:ea typeface="Source Han Sans CN"/>
              </a:rPr>
              <a:t>任务动态到达与持续滞留、无人机状态动态变化、任务规模与执行能力失配——静态一次性规划失效，引出两阶段分层滚动框架</a:t>
            </a:r>
            <a:endParaRPr/>
          </a:p>
        </p:txBody>
      </p:sp>
      <p:sp>
        <p:nvSpPr>
          <p:cNvPr id="219" name="矩形: 圆角 253"/>
          <p:cNvSpPr/>
          <p:nvPr/>
        </p:nvSpPr>
        <p:spPr>
          <a:xfrm>
            <a:off x="4114800" y="2543175"/>
            <a:ext cx="7734300" cy="923925"/>
          </a:xfrm>
          <a:prstGeom prst="roundRect">
            <a:avLst>
              <a:gd name="adj" fmla="val 10309"/>
            </a:avLst>
          </a:prstGeom>
          <a:solidFill>
            <a:srgbClr val="F0F5FC"/>
          </a:solidFill>
          <a:ln/>
        </p:spPr>
        <p:txBody>
          <a:bodyPr/>
          <a:lstStyle/>
          <a:p>
            <a:endParaRPr/>
          </a:p>
        </p:txBody>
      </p:sp>
      <p:sp>
        <p:nvSpPr>
          <p:cNvPr id="220" name="任意多边形: 形状 254"/>
          <p:cNvSpPr/>
          <p:nvPr/>
        </p:nvSpPr>
        <p:spPr>
          <a:xfrm>
            <a:off x="4114800" y="2543175"/>
            <a:ext cx="7734300" cy="923925"/>
          </a:xfrm>
          <a:custGeom>
            <a:avLst/>
            <a:gdLst/>
            <a:ahLst/>
            <a:cxnLst/>
            <a:rect l="0" t="0" r="0" b="0"/>
            <a:pathLst>
              <a:path w="812" h="97">
                <a:moveTo>
                  <a:pt x="9" y="0"/>
                </a:moveTo>
                <a:cubicBezTo>
                  <a:pt x="6" y="0"/>
                  <a:pt x="4" y="3"/>
                  <a:pt x="4" y="6"/>
                </a:cubicBezTo>
                <a:lnTo>
                  <a:pt x="4" y="91"/>
                </a:lnTo>
                <a:cubicBezTo>
                  <a:pt x="4" y="94"/>
                  <a:pt x="6" y="96"/>
                  <a:pt x="9" y="97"/>
                </a:cubicBezTo>
                <a:cubicBezTo>
                  <a:pt x="4" y="96"/>
                  <a:pt x="0" y="92"/>
                  <a:pt x="0" y="87"/>
                </a:cubicBezTo>
                <a:lnTo>
                  <a:pt x="0" y="10"/>
                </a:lnTo>
                <a:cubicBezTo>
                  <a:pt x="0" y="5"/>
                  <a:pt x="4" y="0"/>
                  <a:pt x="10" y="0"/>
                </a:cubicBezTo>
                <a:close/>
              </a:path>
            </a:pathLst>
          </a:custGeom>
          <a:solidFill>
            <a:srgbClr val="1E4FA8"/>
          </a:solidFill>
          <a:ln/>
        </p:spPr>
        <p:txBody>
          <a:bodyPr/>
          <a:lstStyle/>
          <a:p>
            <a:endParaRPr/>
          </a:p>
        </p:txBody>
      </p:sp>
      <p:sp>
        <p:nvSpPr>
          <p:cNvPr id="221" name="矩形: 圆角 255"/>
          <p:cNvSpPr/>
          <p:nvPr/>
        </p:nvSpPr>
        <p:spPr>
          <a:xfrm>
            <a:off x="4324350" y="2714625"/>
            <a:ext cx="514350" cy="514350"/>
          </a:xfrm>
          <a:prstGeom prst="roundRect">
            <a:avLst>
              <a:gd name="adj" fmla="val 14815"/>
            </a:avLst>
          </a:prstGeom>
          <a:solidFill>
            <a:srgbClr val="1E4FA8"/>
          </a:solidFill>
          <a:ln/>
        </p:spPr>
        <p:txBody>
          <a:bodyPr/>
          <a:lstStyle/>
          <a:p>
            <a:endParaRPr/>
          </a:p>
        </p:txBody>
      </p:sp>
      <p:sp>
        <p:nvSpPr>
          <p:cNvPr id="222" name="文本框 256" descr="{&quot;isTemplate&quot;:true,&quot;type&quot;:&quot;text&quot;}"/>
          <p:cNvSpPr txBox="1"/>
          <p:nvPr/>
        </p:nvSpPr>
        <p:spPr>
          <a:xfrm>
            <a:off x="4448175" y="2847975"/>
            <a:ext cx="266700" cy="257175"/>
          </a:xfrm>
          <a:prstGeom prst="rect">
            <a:avLst/>
          </a:prstGeom>
        </p:spPr>
        <p:txBody>
          <a:bodyPr wrap="none" lIns="0" tIns="0" rIns="0" bIns="0"/>
          <a:lstStyle/>
          <a:p>
            <a:pPr>
              <a:lnSpc>
                <a:spcPct val="100000"/>
              </a:lnSpc>
            </a:pPr>
            <a:r>
              <a:rPr lang="en-US" sz="1650" b="1">
                <a:solidFill>
                  <a:srgbClr val="FFFFFF"/>
                </a:solidFill>
                <a:latin typeface="Source Han Sans CN"/>
                <a:ea typeface="Source Han Sans CN"/>
              </a:rPr>
              <a:t>02</a:t>
            </a:r>
            <a:endParaRPr/>
          </a:p>
        </p:txBody>
      </p:sp>
      <p:sp>
        <p:nvSpPr>
          <p:cNvPr id="223" name="文本框 257" descr="{&quot;isTemplate&quot;:true,&quot;type&quot;:&quot;text&quot;}"/>
          <p:cNvSpPr txBox="1"/>
          <p:nvPr/>
        </p:nvSpPr>
        <p:spPr>
          <a:xfrm>
            <a:off x="5029200" y="2714625"/>
            <a:ext cx="6572250" cy="247650"/>
          </a:xfrm>
          <a:prstGeom prst="rect">
            <a:avLst/>
          </a:prstGeom>
        </p:spPr>
        <p:txBody>
          <a:bodyPr wrap="none" lIns="0" tIns="0" rIns="0" bIns="0"/>
          <a:lstStyle/>
          <a:p>
            <a:pPr>
              <a:lnSpc>
                <a:spcPct val="100000"/>
              </a:lnSpc>
            </a:pPr>
            <a:r>
              <a:rPr lang="zh-CN" sz="1575" b="1">
                <a:solidFill>
                  <a:srgbClr val="1A2230"/>
                </a:solidFill>
                <a:latin typeface="Source Han Sans CN"/>
                <a:ea typeface="Source Han Sans CN"/>
              </a:rPr>
              <a:t>第一阶段：动态任务选择　P13–P14</a:t>
            </a:r>
            <a:r>
              <a:rPr lang="zh-CN" sz="1125">
                <a:solidFill>
                  <a:srgbClr val="3D7BD9"/>
                </a:solidFill>
                <a:latin typeface="Source Han Sans CN"/>
                <a:ea typeface="Source Han Sans CN"/>
              </a:rPr>
              <a:t/>
            </a:r>
            <a:r>
              <a:rPr lang="en-US" sz="1125">
                <a:solidFill>
                  <a:srgbClr val="3D7BD9"/>
                </a:solidFill>
                <a:latin typeface="Source Han Sans CN"/>
                <a:ea typeface="Source Han Sans CN"/>
              </a:rPr>
              <a:t/>
            </a:r>
            <a:endParaRPr/>
          </a:p>
        </p:txBody>
      </p:sp>
      <p:sp>
        <p:nvSpPr>
          <p:cNvPr id="224" name="文本框 258" descr="{&quot;isTemplate&quot;:true,&quot;type&quot;:&quot;text&quot;}"/>
          <p:cNvSpPr txBox="1"/>
          <p:nvPr/>
        </p:nvSpPr>
        <p:spPr>
          <a:xfrm>
            <a:off x="5029200" y="3019425"/>
            <a:ext cx="6572250" cy="276225"/>
          </a:xfrm>
          <a:prstGeom prst="rect">
            <a:avLst/>
          </a:prstGeom>
        </p:spPr>
        <p:txBody>
          <a:bodyPr wrap="none" lIns="0" tIns="0" rIns="0" bIns="0"/>
          <a:lstStyle/>
          <a:p>
            <a:pPr>
              <a:lnSpc>
                <a:spcPct val="160000"/>
              </a:lnSpc>
            </a:pPr>
            <a:r>
              <a:rPr lang="zh-CN" sz="1125">
                <a:solidFill>
                  <a:srgbClr val="4A5568"/>
                </a:solidFill>
                <a:latin typeface="Source Han Sans CN"/>
                <a:ea typeface="Source Han Sans CN"/>
              </a:rPr>
              <a:t>基础优先级预筛选</a:t>
            </a:r>
            <a:r>
              <a:rPr lang="en-US" sz="1125">
                <a:solidFill>
                  <a:srgbClr val="4A5568"/>
                </a:solidFill>
                <a:latin typeface="Source Han Sans CN"/>
                <a:ea typeface="Source Han Sans CN"/>
              </a:rPr>
              <a:t> + </a:t>
            </a:r>
            <a:r>
              <a:rPr lang="zh-CN" sz="1125">
                <a:solidFill>
                  <a:srgbClr val="4A5568"/>
                </a:solidFill>
                <a:latin typeface="Source Han Sans CN"/>
                <a:ea typeface="Source Han Sans CN"/>
              </a:rPr>
              <a:t>边际收益增量选择</a:t>
            </a:r>
            <a:r>
              <a:rPr lang="en-US" sz="1125">
                <a:solidFill>
                  <a:srgbClr val="4A5568"/>
                </a:solidFill>
                <a:latin typeface="Source Han Sans CN"/>
                <a:ea typeface="Source Han Sans CN"/>
              </a:rPr>
              <a:t> + </a:t>
            </a:r>
            <a:r>
              <a:rPr lang="zh-CN" sz="1125">
                <a:solidFill>
                  <a:srgbClr val="4A5568"/>
                </a:solidFill>
                <a:latin typeface="Source Han Sans CN"/>
                <a:ea typeface="Source Han Sans CN"/>
              </a:rPr>
              <a:t>快速可行性检查，把任务池压缩为规模可控的候选集</a:t>
            </a:r>
            <a:endParaRPr/>
          </a:p>
        </p:txBody>
      </p:sp>
      <p:sp>
        <p:nvSpPr>
          <p:cNvPr id="225" name="矩形: 圆角 259"/>
          <p:cNvSpPr/>
          <p:nvPr/>
        </p:nvSpPr>
        <p:spPr>
          <a:xfrm>
            <a:off x="4114800" y="3771900"/>
            <a:ext cx="7734300" cy="923925"/>
          </a:xfrm>
          <a:prstGeom prst="roundRect">
            <a:avLst>
              <a:gd name="adj" fmla="val 10309"/>
            </a:avLst>
          </a:prstGeom>
          <a:solidFill>
            <a:srgbClr val="F0F5FC"/>
          </a:solidFill>
          <a:ln/>
        </p:spPr>
        <p:txBody>
          <a:bodyPr/>
          <a:lstStyle/>
          <a:p>
            <a:endParaRPr/>
          </a:p>
        </p:txBody>
      </p:sp>
      <p:sp>
        <p:nvSpPr>
          <p:cNvPr id="226" name="任意多边形: 形状 260"/>
          <p:cNvSpPr/>
          <p:nvPr/>
        </p:nvSpPr>
        <p:spPr>
          <a:xfrm>
            <a:off x="4114800" y="3771900"/>
            <a:ext cx="7734300" cy="923925"/>
          </a:xfrm>
          <a:custGeom>
            <a:avLst/>
            <a:gdLst/>
            <a:ahLst/>
            <a:cxnLst/>
            <a:rect l="0" t="0" r="0" b="0"/>
            <a:pathLst>
              <a:path w="812" h="97">
                <a:moveTo>
                  <a:pt x="9" y="0"/>
                </a:moveTo>
                <a:cubicBezTo>
                  <a:pt x="6" y="0"/>
                  <a:pt x="4" y="3"/>
                  <a:pt x="4" y="6"/>
                </a:cubicBezTo>
                <a:lnTo>
                  <a:pt x="4" y="91"/>
                </a:lnTo>
                <a:cubicBezTo>
                  <a:pt x="4" y="94"/>
                  <a:pt x="6" y="96"/>
                  <a:pt x="9" y="97"/>
                </a:cubicBezTo>
                <a:cubicBezTo>
                  <a:pt x="4" y="96"/>
                  <a:pt x="0" y="92"/>
                  <a:pt x="0" y="87"/>
                </a:cubicBezTo>
                <a:lnTo>
                  <a:pt x="0" y="10"/>
                </a:lnTo>
                <a:cubicBezTo>
                  <a:pt x="0" y="5"/>
                  <a:pt x="4" y="0"/>
                  <a:pt x="10" y="0"/>
                </a:cubicBezTo>
                <a:close/>
              </a:path>
            </a:pathLst>
          </a:custGeom>
          <a:solidFill>
            <a:srgbClr val="1E4FA8"/>
          </a:solidFill>
          <a:ln/>
        </p:spPr>
        <p:txBody>
          <a:bodyPr/>
          <a:lstStyle/>
          <a:p>
            <a:endParaRPr/>
          </a:p>
        </p:txBody>
      </p:sp>
      <p:sp>
        <p:nvSpPr>
          <p:cNvPr id="227" name="矩形: 圆角 261"/>
          <p:cNvSpPr/>
          <p:nvPr/>
        </p:nvSpPr>
        <p:spPr>
          <a:xfrm>
            <a:off x="4324350" y="3943350"/>
            <a:ext cx="514350" cy="514350"/>
          </a:xfrm>
          <a:prstGeom prst="roundRect">
            <a:avLst>
              <a:gd name="adj" fmla="val 14815"/>
            </a:avLst>
          </a:prstGeom>
          <a:solidFill>
            <a:srgbClr val="1E4FA8"/>
          </a:solidFill>
          <a:ln/>
        </p:spPr>
        <p:txBody>
          <a:bodyPr/>
          <a:lstStyle/>
          <a:p>
            <a:endParaRPr/>
          </a:p>
        </p:txBody>
      </p:sp>
      <p:sp>
        <p:nvSpPr>
          <p:cNvPr id="228" name="文本框 262" descr="{&quot;isTemplate&quot;:true,&quot;type&quot;:&quot;text&quot;}"/>
          <p:cNvSpPr txBox="1"/>
          <p:nvPr/>
        </p:nvSpPr>
        <p:spPr>
          <a:xfrm>
            <a:off x="4448175" y="4076700"/>
            <a:ext cx="266700" cy="257175"/>
          </a:xfrm>
          <a:prstGeom prst="rect">
            <a:avLst/>
          </a:prstGeom>
        </p:spPr>
        <p:txBody>
          <a:bodyPr wrap="none" lIns="0" tIns="0" rIns="0" bIns="0"/>
          <a:lstStyle/>
          <a:p>
            <a:pPr>
              <a:lnSpc>
                <a:spcPct val="100000"/>
              </a:lnSpc>
            </a:pPr>
            <a:r>
              <a:rPr lang="en-US" sz="1650" b="1">
                <a:solidFill>
                  <a:srgbClr val="FFFFFF"/>
                </a:solidFill>
                <a:latin typeface="Source Han Sans CN"/>
                <a:ea typeface="Source Han Sans CN"/>
              </a:rPr>
              <a:t>03</a:t>
            </a:r>
            <a:endParaRPr/>
          </a:p>
        </p:txBody>
      </p:sp>
      <p:sp>
        <p:nvSpPr>
          <p:cNvPr id="229" name="文本框 263" descr="{&quot;isTemplate&quot;:true,&quot;type&quot;:&quot;text&quot;}"/>
          <p:cNvSpPr txBox="1"/>
          <p:nvPr/>
        </p:nvSpPr>
        <p:spPr>
          <a:xfrm>
            <a:off x="5029200" y="3943350"/>
            <a:ext cx="6572250" cy="247650"/>
          </a:xfrm>
          <a:prstGeom prst="rect">
            <a:avLst/>
          </a:prstGeom>
        </p:spPr>
        <p:txBody>
          <a:bodyPr wrap="none" lIns="0" tIns="0" rIns="0" bIns="0"/>
          <a:lstStyle/>
          <a:p>
            <a:pPr>
              <a:lnSpc>
                <a:spcPct val="100000"/>
              </a:lnSpc>
            </a:pPr>
            <a:r>
              <a:rPr lang="zh-CN" sz="1575" b="1">
                <a:solidFill>
                  <a:srgbClr val="1A2230"/>
                </a:solidFill>
                <a:latin typeface="Source Han Sans CN"/>
                <a:ea typeface="Source Han Sans CN"/>
              </a:rPr>
              <a:t>第二阶段：选择性 MUAS 与 DMDE　P15–P17</a:t>
            </a:r>
            <a:r>
              <a:rPr lang="en-US" sz="1575" b="1">
                <a:solidFill>
                  <a:srgbClr val="1A2230"/>
                </a:solidFill>
                <a:latin typeface="Source Han Sans CN"/>
                <a:ea typeface="Source Han Sans CN"/>
              </a:rPr>
              <a:t/>
            </a:r>
            <a:r>
              <a:rPr lang="zh-CN" sz="1575" b="1">
                <a:solidFill>
                  <a:srgbClr val="1A2230"/>
                </a:solidFill>
                <a:latin typeface="Source Han Sans CN"/>
                <a:ea typeface="Source Han Sans CN"/>
              </a:rPr>
              <a:t/>
            </a:r>
            <a:r>
              <a:rPr lang="en-US" sz="1575" b="1">
                <a:solidFill>
                  <a:srgbClr val="1A2230"/>
                </a:solidFill>
                <a:latin typeface="Source Han Sans CN"/>
                <a:ea typeface="Source Han Sans CN"/>
              </a:rPr>
              <a:t/>
            </a:r>
            <a:r>
              <a:rPr lang="zh-CN" sz="1125">
                <a:solidFill>
                  <a:srgbClr val="3D7BD9"/>
                </a:solidFill>
                <a:latin typeface="Source Han Sans CN"/>
                <a:ea typeface="Source Han Sans CN"/>
              </a:rPr>
              <a:t/>
            </a:r>
            <a:r>
              <a:rPr lang="en-US" sz="1125">
                <a:solidFill>
                  <a:srgbClr val="3D7BD9"/>
                </a:solidFill>
                <a:latin typeface="Source Han Sans CN"/>
                <a:ea typeface="Source Han Sans CN"/>
              </a:rPr>
              <a:t/>
            </a:r>
            <a:endParaRPr/>
          </a:p>
        </p:txBody>
      </p:sp>
      <p:sp>
        <p:nvSpPr>
          <p:cNvPr id="230" name="文本框 264" descr="{&quot;isTemplate&quot;:true,&quot;type&quot;:&quot;text&quot;}"/>
          <p:cNvSpPr txBox="1"/>
          <p:nvPr/>
        </p:nvSpPr>
        <p:spPr>
          <a:xfrm>
            <a:off x="5029200" y="4248150"/>
            <a:ext cx="6572250" cy="276225"/>
          </a:xfrm>
          <a:prstGeom prst="rect">
            <a:avLst/>
          </a:prstGeom>
        </p:spPr>
        <p:txBody>
          <a:bodyPr wrap="none" lIns="0" tIns="0" rIns="0" bIns="0"/>
          <a:lstStyle/>
          <a:p>
            <a:pPr>
              <a:lnSpc>
                <a:spcPct val="160000"/>
              </a:lnSpc>
            </a:pPr>
            <a:r>
              <a:rPr lang="zh-CN" sz="1125">
                <a:solidFill>
                  <a:srgbClr val="4A5568"/>
                </a:solidFill>
                <a:latin typeface="Source Han Sans CN"/>
                <a:ea typeface="Source Han Sans CN"/>
              </a:rPr>
              <a:t>多机巢选择性分配的组合优化模型、四层准字典序适应度、改进离散映射差分进化与终点机巢精确求解</a:t>
            </a:r>
            <a:endParaRPr/>
          </a:p>
        </p:txBody>
      </p:sp>
      <p:sp>
        <p:nvSpPr>
          <p:cNvPr id="225" name="矩形: 圆角 259"/>
          <p:cNvSpPr/>
          <p:nvPr/>
        </p:nvSpPr>
        <p:spPr>
          <a:xfrm>
            <a:off x="4114800" y="4981575"/>
            <a:ext cx="7734300" cy="923925"/>
          </a:xfrm>
          <a:prstGeom prst="roundRect">
            <a:avLst>
              <a:gd name="adj" fmla="val 10309"/>
            </a:avLst>
          </a:prstGeom>
          <a:solidFill>
            <a:srgbClr val="E8EFF8"/>
          </a:solidFill>
          <a:ln/>
        </p:spPr>
        <p:txBody>
          <a:bodyPr/>
          <a:lstStyle/>
          <a:p>
            <a:endParaRPr/>
          </a:p>
        </p:txBody>
      </p:sp>
      <p:sp>
        <p:nvSpPr>
          <p:cNvPr id="226" name="任意多边形: 形状 260"/>
          <p:cNvSpPr/>
          <p:nvPr/>
        </p:nvSpPr>
        <p:spPr>
          <a:xfrm>
            <a:off x="4114800" y="4981575"/>
            <a:ext cx="7734300" cy="923925"/>
          </a:xfrm>
          <a:custGeom>
            <a:avLst/>
            <a:gdLst/>
            <a:ahLst/>
            <a:cxnLst/>
            <a:rect l="0" t="0" r="0" b="0"/>
            <a:pathLst>
              <a:path w="812" h="97">
                <a:moveTo>
                  <a:pt x="9" y="0"/>
                </a:moveTo>
                <a:cubicBezTo>
                  <a:pt x="6" y="0"/>
                  <a:pt x="4" y="3"/>
                  <a:pt x="4" y="6"/>
                </a:cubicBezTo>
                <a:lnTo>
                  <a:pt x="4" y="91"/>
                </a:lnTo>
                <a:cubicBezTo>
                  <a:pt x="4" y="94"/>
                  <a:pt x="6" y="96"/>
                  <a:pt x="9" y="97"/>
                </a:cubicBezTo>
                <a:cubicBezTo>
                  <a:pt x="4" y="96"/>
                  <a:pt x="0" y="92"/>
                  <a:pt x="0" y="87"/>
                </a:cubicBezTo>
                <a:lnTo>
                  <a:pt x="0" y="10"/>
                </a:lnTo>
                <a:cubicBezTo>
                  <a:pt x="0" y="5"/>
                  <a:pt x="4" y="0"/>
                  <a:pt x="10" y="0"/>
                </a:cubicBezTo>
                <a:close/>
              </a:path>
            </a:pathLst>
          </a:custGeom>
          <a:solidFill>
            <a:srgbClr val="3D7BD9"/>
          </a:solidFill>
          <a:ln/>
        </p:spPr>
        <p:txBody>
          <a:bodyPr/>
          <a:lstStyle/>
          <a:p>
            <a:endParaRPr/>
          </a:p>
        </p:txBody>
      </p:sp>
      <p:sp>
        <p:nvSpPr>
          <p:cNvPr id="227" name="矩形: 圆角 261"/>
          <p:cNvSpPr/>
          <p:nvPr/>
        </p:nvSpPr>
        <p:spPr>
          <a:xfrm>
            <a:off x="4324350" y="5153025"/>
            <a:ext cx="514350" cy="514350"/>
          </a:xfrm>
          <a:prstGeom prst="roundRect">
            <a:avLst>
              <a:gd name="adj" fmla="val 14815"/>
            </a:avLst>
          </a:prstGeom>
          <a:solidFill>
            <a:srgbClr val="3D7BD9"/>
          </a:solidFill>
          <a:ln/>
        </p:spPr>
        <p:txBody>
          <a:bodyPr/>
          <a:lstStyle/>
          <a:p>
            <a:endParaRPr/>
          </a:p>
        </p:txBody>
      </p:sp>
      <p:sp>
        <p:nvSpPr>
          <p:cNvPr id="228" name="文本框 262" descr="{&quot;isTemplate&quot;:true,&quot;type&quot;:&quot;text&quot;}"/>
          <p:cNvSpPr txBox="1"/>
          <p:nvPr/>
        </p:nvSpPr>
        <p:spPr>
          <a:xfrm>
            <a:off x="4448175" y="5286375"/>
            <a:ext cx="266700" cy="257175"/>
          </a:xfrm>
          <a:prstGeom prst="rect">
            <a:avLst/>
          </a:prstGeom>
        </p:spPr>
        <p:txBody>
          <a:bodyPr wrap="none" lIns="0" tIns="0" rIns="0" bIns="0"/>
          <a:lstStyle/>
          <a:p>
            <a:pPr>
              <a:lnSpc>
                <a:spcPct val="100000"/>
              </a:lnSpc>
            </a:pPr>
            <a:r>
              <a:rPr lang="en-US" sz="1650" b="1">
                <a:solidFill>
                  <a:srgbClr val="FFFFFF"/>
                </a:solidFill>
                <a:latin typeface="Source Han Sans CN"/>
                <a:ea typeface="Source Han Sans CN"/>
              </a:rPr>
              <a:t>00</a:t>
            </a:r>
            <a:endParaRPr/>
          </a:p>
        </p:txBody>
      </p:sp>
      <p:sp>
        <p:nvSpPr>
          <p:cNvPr id="229" name="文本框 263" descr="{&quot;isTemplate&quot;:true,&quot;type&quot;:&quot;text&quot;}"/>
          <p:cNvSpPr txBox="1"/>
          <p:nvPr/>
        </p:nvSpPr>
        <p:spPr>
          <a:xfrm>
            <a:off x="5029200" y="5153025"/>
            <a:ext cx="6572250" cy="247650"/>
          </a:xfrm>
          <a:prstGeom prst="rect">
            <a:avLst/>
          </a:prstGeom>
        </p:spPr>
        <p:txBody>
          <a:bodyPr wrap="none" lIns="0" tIns="0" rIns="0" bIns="0"/>
          <a:lstStyle/>
          <a:p>
            <a:pPr>
              <a:lnSpc>
                <a:spcPct val="100000"/>
              </a:lnSpc>
            </a:pPr>
            <a:r>
              <a:rPr lang="zh-CN" sz="1575" b="1">
                <a:solidFill>
                  <a:srgbClr val="1A2230"/>
                </a:solidFill>
                <a:latin typeface="Source Han Sans CN"/>
                <a:ea typeface="Source Han Sans CN"/>
              </a:rPr>
              <a:t>研究背景与定位　P3–P8</a:t>
            </a:r>
            <a:r>
              <a:rPr lang="en-US" sz="1575" b="1">
                <a:solidFill>
                  <a:srgbClr val="1A2230"/>
                </a:solidFill>
                <a:latin typeface="Source Han Sans CN"/>
                <a:ea typeface="Source Han Sans CN"/>
              </a:rPr>
              <a:t/>
            </a:r>
            <a:r>
              <a:rPr lang="zh-CN" sz="1575" b="1">
                <a:solidFill>
                  <a:srgbClr val="1A2230"/>
                </a:solidFill>
                <a:latin typeface="Source Han Sans CN"/>
                <a:ea typeface="Source Han Sans CN"/>
              </a:rPr>
              <a:t/>
            </a:r>
            <a:r>
              <a:rPr lang="en-US" sz="1575" b="1">
                <a:solidFill>
                  <a:srgbClr val="1A2230"/>
                </a:solidFill>
                <a:latin typeface="Source Han Sans CN"/>
                <a:ea typeface="Source Han Sans CN"/>
              </a:rPr>
              <a:t/>
            </a:r>
            <a:r>
              <a:rPr lang="zh-CN" sz="1125">
                <a:solidFill>
                  <a:srgbClr val="3D7BD9"/>
                </a:solidFill>
                <a:latin typeface="Source Han Sans CN"/>
                <a:ea typeface="Source Han Sans CN"/>
              </a:rPr>
              <a:t/>
            </a:r>
            <a:r>
              <a:rPr lang="en-US" sz="1125">
                <a:solidFill>
                  <a:srgbClr val="3D7BD9"/>
                </a:solidFill>
                <a:latin typeface="Source Han Sans CN"/>
                <a:ea typeface="Source Han Sans CN"/>
              </a:rPr>
              <a:t/>
            </a:r>
            <a:endParaRPr/>
          </a:p>
        </p:txBody>
      </p:sp>
      <p:sp>
        <p:nvSpPr>
          <p:cNvPr id="230" name="文本框 264" descr="{&quot;isTemplate&quot;:true,&quot;type&quot;:&quot;text&quot;}"/>
          <p:cNvSpPr txBox="1"/>
          <p:nvPr/>
        </p:nvSpPr>
        <p:spPr>
          <a:xfrm>
            <a:off x="5029200" y="5457825"/>
            <a:ext cx="6572250" cy="276225"/>
          </a:xfrm>
          <a:prstGeom prst="rect">
            <a:avLst/>
          </a:prstGeom>
        </p:spPr>
        <p:txBody>
          <a:bodyPr wrap="square" lIns="0" tIns="0" rIns="0" bIns="0"/>
          <a:lstStyle/>
          <a:p>
            <a:pPr>
              <a:lnSpc>
                <a:spcPct val="160000"/>
              </a:lnSpc>
            </a:pPr>
            <a:r>
              <a:rPr lang="zh-CN" sz="1125">
                <a:solidFill>
                  <a:srgbClr val="4A5568"/>
                </a:solidFill>
                <a:latin typeface="Source Han Sans CN"/>
                <a:ea typeface="Source Han Sans CN"/>
              </a:rPr>
              <a:t>背景 · 意义 · 现状 · 动机 · 边界 · 进展——为什么必须做、为什么一起解、能做到哪</a:t>
            </a:r>
            <a:endParaRPr/>
          </a:p>
        </p:txBody>
      </p:sp>
      <p:sp>
        <p:nvSpPr>
          <p:cNvPr id="237" name="矩形 271"/>
          <p:cNvSpPr/>
          <p:nvPr/>
        </p:nvSpPr>
        <p:spPr>
          <a:xfrm>
            <a:off x="0" y="6448425"/>
            <a:ext cx="12192000" cy="409575"/>
          </a:xfrm>
          <a:prstGeom prst="rect">
            <a:avLst/>
          </a:prstGeom>
          <a:solidFill>
            <a:srgbClr val="F7F9FC"/>
          </a:solidFill>
          <a:ln/>
        </p:spPr>
        <p:txBody>
          <a:bodyPr/>
          <a:lstStyle/>
          <a:p>
            <a:endParaRPr/>
          </a:p>
        </p:txBody>
      </p:sp>
      <p:sp>
        <p:nvSpPr>
          <p:cNvPr id="238" name="任意多边形: 形状 272"/>
          <p:cNvSpPr/>
          <p:nvPr/>
        </p:nvSpPr>
        <p:spPr>
          <a:xfrm>
            <a:off x="0" y="6438900"/>
            <a:ext cx="12192000" cy="419100"/>
          </a:xfrm>
          <a:custGeom>
            <a:avLst/>
            <a:gdLst/>
            <a:ahLst/>
            <a:cxnLst/>
            <a:rect l="0" t="0" r="0" b="0"/>
            <a:pathLst>
              <a:path w="1280" h="44">
                <a:moveTo>
                  <a:pt x="0" y="0"/>
                </a:moveTo>
                <a:lnTo>
                  <a:pt x="1280" y="0"/>
                </a:lnTo>
                <a:lnTo>
                  <a:pt x="1280" y="1"/>
                </a:lnTo>
                <a:lnTo>
                  <a:pt x="0" y="1"/>
                </a:lnTo>
                <a:close/>
              </a:path>
            </a:pathLst>
          </a:custGeom>
          <a:solidFill>
            <a:srgbClr val="E5E7EB"/>
          </a:solidFill>
          <a:ln/>
        </p:spPr>
        <p:txBody>
          <a:bodyPr/>
          <a:lstStyle/>
          <a:p>
            <a:endParaRPr/>
          </a:p>
        </p:txBody>
      </p:sp>
      <p:sp>
        <p:nvSpPr>
          <p:cNvPr id="239" name="文本框 273" descr="{&quot;isTemplate&quot;:true,&quot;type&quot;:&quot;text&quot;}"/>
          <p:cNvSpPr txBox="1"/>
          <p:nvPr/>
        </p:nvSpPr>
        <p:spPr>
          <a:xfrm>
            <a:off x="381000" y="6581775"/>
            <a:ext cx="2828925" cy="152400"/>
          </a:xfrm>
          <a:prstGeom prst="rect">
            <a:avLst/>
          </a:prstGeom>
        </p:spPr>
        <p:txBody>
          <a:bodyPr wrap="none" lIns="0" tIns="0" rIns="0" bIns="0"/>
          <a:lstStyle/>
          <a:p>
            <a:pPr>
              <a:lnSpc>
                <a:spcPct val="100000"/>
              </a:lnSpc>
            </a:pPr>
            <a:r>
              <a:rPr lang="zh-CN" sz="975">
                <a:solidFill>
                  <a:srgbClr val="8B97A8"/>
                </a:solidFill>
                <a:latin typeface="Source Han Sans CN"/>
                <a:ea typeface="Source Han Sans CN"/>
              </a:rPr>
              <a:t>动态滚动的多机巢多无人机协同任务分配</a:t>
            </a:r>
            <a:r>
              <a:rPr lang="en-US" sz="975">
                <a:solidFill>
                  <a:srgbClr val="8B97A8"/>
                </a:solidFill>
                <a:latin typeface="Source Han Sans CN"/>
                <a:ea typeface="Source Han Sans CN"/>
              </a:rPr>
              <a:t> · </a:t>
            </a:r>
            <a:r>
              <a:rPr lang="zh-CN" sz="975">
                <a:solidFill>
                  <a:srgbClr val="8B97A8"/>
                </a:solidFill>
                <a:latin typeface="Source Han Sans CN"/>
                <a:ea typeface="Source Han Sans CN"/>
              </a:rPr>
              <a:t>进展汇报</a:t>
            </a:r>
            <a:endParaRPr/>
          </a:p>
        </p:txBody>
      </p:sp>
      <p:sp>
        <p:nvSpPr>
          <p:cNvPr id="240" name="文本框 274" descr="{&quot;isTemplate&quot;:true,&quot;type&quot;:&quot;text&quot;}"/>
          <p:cNvSpPr txBox="1"/>
          <p:nvPr/>
        </p:nvSpPr>
        <p:spPr>
          <a:xfrm>
            <a:off x="11296650" y="6572250"/>
            <a:ext cx="514350" cy="171450"/>
          </a:xfrm>
          <a:prstGeom prst="rect">
            <a:avLst/>
          </a:prstGeom>
        </p:spPr>
        <p:txBody>
          <a:bodyPr wrap="none" lIns="0" tIns="0" rIns="0" bIns="0"/>
          <a:lstStyle/>
          <a:p>
            <a:pPr>
              <a:lnSpc>
                <a:spcPct val="100000"/>
              </a:lnSpc>
            </a:pPr>
            <a:r>
              <a:rPr lang="en-US" sz="1125" b="1">
                <a:solidFill>
                  <a:srgbClr val="1E4FA8"/>
                </a:solidFill>
                <a:latin typeface="Source Han Sans CN"/>
                <a:ea typeface="Source Han Sans CN"/>
              </a:rPr>
              <a:t>02 / 18</a:t>
            </a:r>
            <a:endParaRP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143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81000" y="285750"/>
            <a:ext cx="57150" cy="32385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1500" y="266700"/>
            <a:ext cx="8572500" cy="381000"/>
          </a:xfrm>
          <a:prstGeom prst="rect">
            <a:avLst/>
          </a:prstGeom>
          <a:noFill/>
        </p:spPr>
        <p:txBody>
          <a:bodyPr wrap="square" lIns="0" rIns="0" tIns="0" bIns="0"/>
          <a:lstStyle/>
          <a:p>
            <a:pPr>
              <a:lnSpc>
                <a:spcPct val="100000"/>
              </a:lnSpc>
            </a:pPr>
            <a:r>
              <a:rPr sz="2400" b="1">
                <a:solidFill>
                  <a:srgbClr val="0E3F8C"/>
                </a:solidFill>
                <a:latin typeface="微软雅黑"/>
                <a:ea typeface="微软雅黑"/>
              </a:rPr>
              <a:t>研究背景：三条场景线，撞上同一堵墙</a:t>
            </a:r>
          </a:p>
        </p:txBody>
      </p:sp>
      <p:sp>
        <p:nvSpPr>
          <p:cNvPr id="5" name="TextBox 4"/>
          <p:cNvSpPr txBox="1"/>
          <p:nvPr/>
        </p:nvSpPr>
        <p:spPr>
          <a:xfrm>
            <a:off x="571500" y="781050"/>
            <a:ext cx="8953500" cy="228600"/>
          </a:xfrm>
          <a:prstGeom prst="rect">
            <a:avLst/>
          </a:prstGeom>
          <a:noFill/>
        </p:spPr>
        <p:txBody>
          <a:bodyPr wrap="square" lIns="0" rIns="0" tIns="0" bIns="0"/>
          <a:lstStyle/>
          <a:p>
            <a:pPr>
              <a:lnSpc>
                <a:spcPct val="100000"/>
              </a:lnSpc>
            </a:pPr>
            <a:r>
              <a:rPr sz="1125" b="0">
                <a:solidFill>
                  <a:srgbClr val="8B97A8"/>
                </a:solidFill>
                <a:latin typeface="微软雅黑"/>
                <a:ea typeface="微软雅黑"/>
              </a:rPr>
              <a:t>低空应用已从单机作业走向多场景常态化；巡检、应急派送、态势感知三条线在调度层共享同一结构</a:t>
            </a:r>
          </a:p>
        </p:txBody>
      </p:sp>
      <p:sp>
        <p:nvSpPr>
          <p:cNvPr id="6" name="Rectangle 5"/>
          <p:cNvSpPr/>
          <p:nvPr/>
        </p:nvSpPr>
        <p:spPr>
          <a:xfrm>
            <a:off x="0" y="6438900"/>
            <a:ext cx="12192000" cy="419100"/>
          </a:xfrm>
          <a:prstGeom prst="rect">
            <a:avLst/>
          </a:prstGeom>
          <a:solidFill>
            <a:srgbClr val="F7F9FC"/>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81000" y="6534150"/>
            <a:ext cx="6667500" cy="209550"/>
          </a:xfrm>
          <a:prstGeom prst="rect">
            <a:avLst/>
          </a:prstGeom>
          <a:noFill/>
        </p:spPr>
        <p:txBody>
          <a:bodyPr wrap="square" lIns="0" rIns="0" tIns="0" bIns="0"/>
          <a:lstStyle/>
          <a:p>
            <a:pPr>
              <a:lnSpc>
                <a:spcPct val="100000"/>
              </a:lnSpc>
            </a:pPr>
            <a:r>
              <a:rPr sz="975" b="0">
                <a:solidFill>
                  <a:srgbClr val="8B97A8"/>
                </a:solidFill>
                <a:latin typeface="微软雅黑"/>
                <a:ea typeface="微软雅黑"/>
              </a:rPr>
              <a:t>动态滚动的多机巢多无人机协同任务分配 · 进展汇报</a:t>
            </a:r>
          </a:p>
        </p:txBody>
      </p:sp>
      <p:sp>
        <p:nvSpPr>
          <p:cNvPr id="8" name="TextBox 7"/>
          <p:cNvSpPr txBox="1"/>
          <p:nvPr/>
        </p:nvSpPr>
        <p:spPr>
          <a:xfrm>
            <a:off x="11296650" y="6572250"/>
            <a:ext cx="514350" cy="209550"/>
          </a:xfrm>
          <a:prstGeom prst="rect">
            <a:avLst/>
          </a:prstGeom>
          <a:noFill/>
        </p:spPr>
        <p:txBody>
          <a:bodyPr wrap="square" lIns="0" rIns="0" tIns="0" bIns="0"/>
          <a:lstStyle/>
          <a:p>
            <a:pPr algn="r">
              <a:lnSpc>
                <a:spcPct val="100000"/>
              </a:lnSpc>
            </a:pPr>
            <a:r>
              <a:rPr sz="1125" b="1">
                <a:solidFill>
                  <a:srgbClr val="1E4FA8"/>
                </a:solidFill>
                <a:latin typeface="微软雅黑"/>
                <a:ea typeface="微软雅黑"/>
              </a:rPr>
              <a:t>03 / 18</a:t>
            </a:r>
          </a:p>
        </p:txBody>
      </p:sp>
      <p:sp>
        <p:nvSpPr>
          <p:cNvPr id="9" name="Rectangle 8"/>
          <p:cNvSpPr/>
          <p:nvPr/>
        </p:nvSpPr>
        <p:spPr>
          <a:xfrm>
            <a:off x="571500" y="1200150"/>
            <a:ext cx="3552825" cy="3200400"/>
          </a:xfrm>
          <a:prstGeom prst="rect">
            <a:avLst/>
          </a:prstGeom>
          <a:solidFill>
            <a:srgbClr val="FFFFFF"/>
          </a:solidFill>
          <a:ln w="1270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71500" y="1200150"/>
            <a:ext cx="3552825" cy="47625"/>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2950" y="2152650"/>
            <a:ext cx="914400" cy="247650"/>
          </a:xfrm>
          <a:prstGeom prst="rect">
            <a:avLst/>
          </a:prstGeom>
          <a:solidFill>
            <a:srgbClr val="E8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2950" y="2190750"/>
            <a:ext cx="914400" cy="209550"/>
          </a:xfrm>
          <a:prstGeom prst="rect">
            <a:avLst/>
          </a:prstGeom>
          <a:noFill/>
        </p:spPr>
        <p:txBody>
          <a:bodyPr wrap="square" lIns="0" rIns="0" tIns="0" bIns="0"/>
          <a:lstStyle/>
          <a:p>
            <a:pPr algn="ctr">
              <a:lnSpc>
                <a:spcPct val="100000"/>
              </a:lnSpc>
            </a:pPr>
            <a:r>
              <a:rPr sz="900" b="1">
                <a:solidFill>
                  <a:srgbClr val="1E4FA8"/>
                </a:solidFill>
                <a:latin typeface="微软雅黑"/>
                <a:ea typeface="微软雅黑"/>
              </a:rPr>
              <a:t>广域巡检</a:t>
            </a:r>
          </a:p>
        </p:txBody>
      </p:sp>
      <p:sp>
        <p:nvSpPr>
          <p:cNvPr id="13" name="TextBox 12"/>
          <p:cNvSpPr txBox="1"/>
          <p:nvPr/>
        </p:nvSpPr>
        <p:spPr>
          <a:xfrm>
            <a:off x="742950" y="2552700"/>
            <a:ext cx="3209925" cy="285750"/>
          </a:xfrm>
          <a:prstGeom prst="rect">
            <a:avLst/>
          </a:prstGeom>
          <a:noFill/>
        </p:spPr>
        <p:txBody>
          <a:bodyPr wrap="square" lIns="0" rIns="0" tIns="0" bIns="0"/>
          <a:lstStyle/>
          <a:p>
            <a:pPr>
              <a:lnSpc>
                <a:spcPct val="100000"/>
              </a:lnSpc>
            </a:pPr>
            <a:r>
              <a:rPr sz="1350" b="1">
                <a:solidFill>
                  <a:srgbClr val="0E3F8C"/>
                </a:solidFill>
                <a:latin typeface="微软雅黑"/>
                <a:ea typeface="微软雅黑"/>
              </a:rPr>
              <a:t>机巢已成基础设施</a:t>
            </a:r>
          </a:p>
        </p:txBody>
      </p:sp>
      <p:sp>
        <p:nvSpPr>
          <p:cNvPr id="14" name="TextBox 13"/>
          <p:cNvSpPr txBox="1"/>
          <p:nvPr/>
        </p:nvSpPr>
        <p:spPr>
          <a:xfrm>
            <a:off x="742950" y="2933700"/>
            <a:ext cx="3209925" cy="1333500"/>
          </a:xfrm>
          <a:prstGeom prst="rect">
            <a:avLst/>
          </a:prstGeom>
          <a:noFill/>
        </p:spPr>
        <p:txBody>
          <a:bodyPr wrap="square" lIns="0" rIns="0" tIns="0" bIns="0"/>
          <a:lstStyle/>
          <a:p>
            <a:pPr>
              <a:lnSpc>
                <a:spcPct val="150000"/>
              </a:lnSpc>
              <a:spcAft>
                <a:spcPts val="600"/>
              </a:spcAft>
            </a:pPr>
            <a:r>
              <a:rPr sz="1012" b="0">
                <a:solidFill>
                  <a:srgbClr val="4A5568"/>
                </a:solidFill>
                <a:latin typeface="微软雅黑"/>
                <a:ea typeface="微软雅黑"/>
              </a:rPr>
              <a:t>深圳供电局 89 处站点 101 台机巢、纳入 3600+ km 线路；内蒙古 2025 年底建成起降点 300 余个</a:t>
            </a:r>
          </a:p>
          <a:p>
            <a:pPr>
              <a:spcAft>
                <a:spcPts val="600"/>
              </a:spcAft>
            </a:pPr>
            <a:r>
              <a:rPr sz="1012" b="0">
                <a:solidFill>
                  <a:srgbClr val="4A5568"/>
                </a:solidFill>
                <a:latin typeface="微软雅黑"/>
                <a:ea typeface="微软雅黑"/>
              </a:rPr>
              <a:t>耀州区在 150 万亩重点林区布设 10 座机巢，破解人工巡林单日覆盖不足 10 km² 的痛点</a:t>
            </a:r>
          </a:p>
          <a:p>
            <a:pPr>
              <a:spcAft>
                <a:spcPts val="600"/>
              </a:spcAft>
            </a:pPr>
            <a:r>
              <a:rPr sz="1012" b="0">
                <a:solidFill>
                  <a:srgbClr val="4A5568"/>
                </a:solidFill>
                <a:latin typeface="微软雅黑"/>
                <a:ea typeface="微软雅黑"/>
              </a:rPr>
              <a:t>但运力有硬顶：山区单架次仅约 6 基杆塔、单机日 15~50 基，而县域杆塔万基量级，灾后告警还集中暴涨——做不完是常态，不是异常</a:t>
            </a:r>
          </a:p>
        </p:txBody>
      </p:sp>
      <p:sp>
        <p:nvSpPr>
          <p:cNvPr id="15" name="Rectangle 14"/>
          <p:cNvSpPr/>
          <p:nvPr/>
        </p:nvSpPr>
        <p:spPr>
          <a:xfrm>
            <a:off x="4314825" y="1200150"/>
            <a:ext cx="3552825" cy="3200400"/>
          </a:xfrm>
          <a:prstGeom prst="rect">
            <a:avLst/>
          </a:prstGeom>
          <a:solidFill>
            <a:srgbClr val="FFFFFF"/>
          </a:solidFill>
          <a:ln w="1270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14825" y="1200150"/>
            <a:ext cx="3552825" cy="47625"/>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6275" y="2152650"/>
            <a:ext cx="914400" cy="247650"/>
          </a:xfrm>
          <a:prstGeom prst="rect">
            <a:avLst/>
          </a:prstGeom>
          <a:solidFill>
            <a:srgbClr val="E8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86275" y="2190750"/>
            <a:ext cx="914400" cy="209550"/>
          </a:xfrm>
          <a:prstGeom prst="rect">
            <a:avLst/>
          </a:prstGeom>
          <a:noFill/>
        </p:spPr>
        <p:txBody>
          <a:bodyPr wrap="square" lIns="0" rIns="0" tIns="0" bIns="0"/>
          <a:lstStyle/>
          <a:p>
            <a:pPr algn="ctr">
              <a:lnSpc>
                <a:spcPct val="100000"/>
              </a:lnSpc>
            </a:pPr>
            <a:r>
              <a:rPr sz="900" b="1">
                <a:solidFill>
                  <a:srgbClr val="1E4FA8"/>
                </a:solidFill>
                <a:latin typeface="微软雅黑"/>
                <a:ea typeface="微软雅黑"/>
              </a:rPr>
              <a:t>应急派送</a:t>
            </a:r>
          </a:p>
        </p:txBody>
      </p:sp>
      <p:sp>
        <p:nvSpPr>
          <p:cNvPr id="19" name="TextBox 18"/>
          <p:cNvSpPr txBox="1"/>
          <p:nvPr/>
        </p:nvSpPr>
        <p:spPr>
          <a:xfrm>
            <a:off x="4486275" y="2552700"/>
            <a:ext cx="3209925" cy="285750"/>
          </a:xfrm>
          <a:prstGeom prst="rect">
            <a:avLst/>
          </a:prstGeom>
          <a:noFill/>
        </p:spPr>
        <p:txBody>
          <a:bodyPr wrap="square" lIns="0" rIns="0" tIns="0" bIns="0"/>
          <a:lstStyle/>
          <a:p>
            <a:pPr>
              <a:lnSpc>
                <a:spcPct val="100000"/>
              </a:lnSpc>
            </a:pPr>
            <a:r>
              <a:rPr sz="1350" b="1">
                <a:solidFill>
                  <a:srgbClr val="0E3F8C"/>
                </a:solidFill>
                <a:latin typeface="微软雅黑"/>
                <a:ea typeface="微软雅黑"/>
              </a:rPr>
              <a:t>需求远大于可用运力</a:t>
            </a:r>
          </a:p>
        </p:txBody>
      </p:sp>
      <p:sp>
        <p:nvSpPr>
          <p:cNvPr id="20" name="TextBox 19"/>
          <p:cNvSpPr txBox="1"/>
          <p:nvPr/>
        </p:nvSpPr>
        <p:spPr>
          <a:xfrm>
            <a:off x="4486275" y="2933700"/>
            <a:ext cx="3209925" cy="1333500"/>
          </a:xfrm>
          <a:prstGeom prst="rect">
            <a:avLst/>
          </a:prstGeom>
          <a:noFill/>
        </p:spPr>
        <p:txBody>
          <a:bodyPr wrap="square" lIns="0" rIns="0" tIns="0" bIns="0"/>
          <a:lstStyle/>
          <a:p>
            <a:pPr>
              <a:lnSpc>
                <a:spcPct val="150000"/>
              </a:lnSpc>
              <a:spcAft>
                <a:spcPts val="600"/>
              </a:spcAft>
            </a:pPr>
            <a:r>
              <a:rPr sz="1012" b="0">
                <a:solidFill>
                  <a:srgbClr val="4A5568"/>
                </a:solidFill>
                <a:latin typeface="微软雅黑"/>
                <a:ea typeface="微软雅黑"/>
              </a:rPr>
              <a:t>深圳已开通 16 条无人机送血航线、运送血液逾 4000 kg；武汉、重庆 2025 年开通急救药品空中通道</a:t>
            </a:r>
          </a:p>
          <a:p>
            <a:pPr>
              <a:spcAft>
                <a:spcPts val="600"/>
              </a:spcAft>
            </a:pPr>
            <a:r>
              <a:rPr sz="1012" b="0">
                <a:solidFill>
                  <a:srgbClr val="4A5568"/>
                </a:solidFill>
                <a:latin typeface="微软雅黑"/>
                <a:ea typeface="微软雅黑"/>
              </a:rPr>
              <a:t>灾后需求随上报逐条产生，地面交通中断时需求规模远超可用机队</a:t>
            </a:r>
          </a:p>
          <a:p>
            <a:pPr>
              <a:spcAft>
                <a:spcPts val="600"/>
              </a:spcAft>
            </a:pPr>
            <a:r>
              <a:rPr sz="1012" b="0">
                <a:solidFill>
                  <a:srgbClr val="4A5568"/>
                </a:solidFill>
                <a:latin typeface="微软雅黑"/>
                <a:ea typeface="微软雅黑"/>
              </a:rPr>
              <a:t>血液、药品、AED 均有紧时间窗与优先级，并非每一单都送得成</a:t>
            </a:r>
          </a:p>
        </p:txBody>
      </p:sp>
      <p:sp>
        <p:nvSpPr>
          <p:cNvPr id="21" name="Rectangle 20"/>
          <p:cNvSpPr/>
          <p:nvPr/>
        </p:nvSpPr>
        <p:spPr>
          <a:xfrm>
            <a:off x="8067675" y="1200150"/>
            <a:ext cx="3552825" cy="3200400"/>
          </a:xfrm>
          <a:prstGeom prst="rect">
            <a:avLst/>
          </a:prstGeom>
          <a:solidFill>
            <a:srgbClr val="FFFFFF"/>
          </a:solidFill>
          <a:ln w="1270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67675" y="1200150"/>
            <a:ext cx="3552825" cy="47625"/>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39125" y="2152650"/>
            <a:ext cx="914400" cy="247650"/>
          </a:xfrm>
          <a:prstGeom prst="rect">
            <a:avLst/>
          </a:prstGeom>
          <a:solidFill>
            <a:srgbClr val="E8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39125" y="2190750"/>
            <a:ext cx="914400" cy="209550"/>
          </a:xfrm>
          <a:prstGeom prst="rect">
            <a:avLst/>
          </a:prstGeom>
          <a:noFill/>
        </p:spPr>
        <p:txBody>
          <a:bodyPr wrap="square" lIns="0" rIns="0" tIns="0" bIns="0"/>
          <a:lstStyle/>
          <a:p>
            <a:pPr algn="ctr">
              <a:lnSpc>
                <a:spcPct val="100000"/>
              </a:lnSpc>
            </a:pPr>
            <a:r>
              <a:rPr sz="900" b="1">
                <a:solidFill>
                  <a:srgbClr val="1E4FA8"/>
                </a:solidFill>
                <a:latin typeface="微软雅黑"/>
                <a:ea typeface="微软雅黑"/>
              </a:rPr>
              <a:t>态势感知</a:t>
            </a:r>
          </a:p>
        </p:txBody>
      </p:sp>
      <p:sp>
        <p:nvSpPr>
          <p:cNvPr id="25" name="TextBox 24"/>
          <p:cNvSpPr txBox="1"/>
          <p:nvPr/>
        </p:nvSpPr>
        <p:spPr>
          <a:xfrm>
            <a:off x="8239125" y="2552700"/>
            <a:ext cx="3209925" cy="285750"/>
          </a:xfrm>
          <a:prstGeom prst="rect">
            <a:avLst/>
          </a:prstGeom>
          <a:noFill/>
        </p:spPr>
        <p:txBody>
          <a:bodyPr wrap="square" lIns="0" rIns="0" tIns="0" bIns="0"/>
          <a:lstStyle/>
          <a:p>
            <a:pPr>
              <a:lnSpc>
                <a:spcPct val="100000"/>
              </a:lnSpc>
            </a:pPr>
            <a:r>
              <a:rPr sz="1350" b="1">
                <a:solidFill>
                  <a:srgbClr val="0E3F8C"/>
                </a:solidFill>
                <a:latin typeface="微软雅黑"/>
                <a:ea typeface="微软雅黑"/>
              </a:rPr>
              <a:t>目标线索时敏且随机</a:t>
            </a:r>
          </a:p>
        </p:txBody>
      </p:sp>
      <p:sp>
        <p:nvSpPr>
          <p:cNvPr id="26" name="TextBox 25"/>
          <p:cNvSpPr txBox="1"/>
          <p:nvPr/>
        </p:nvSpPr>
        <p:spPr>
          <a:xfrm>
            <a:off x="8239125" y="2933700"/>
            <a:ext cx="3209925" cy="1333500"/>
          </a:xfrm>
          <a:prstGeom prst="rect">
            <a:avLst/>
          </a:prstGeom>
          <a:noFill/>
        </p:spPr>
        <p:txBody>
          <a:bodyPr wrap="square" lIns="0" rIns="0" tIns="0" bIns="0"/>
          <a:lstStyle/>
          <a:p>
            <a:pPr>
              <a:lnSpc>
                <a:spcPct val="150000"/>
              </a:lnSpc>
              <a:spcAft>
                <a:spcPts val="600"/>
              </a:spcAft>
            </a:pPr>
            <a:r>
              <a:rPr sz="1012" b="0">
                <a:solidFill>
                  <a:srgbClr val="4A5568"/>
                </a:solidFill>
                <a:latin typeface="微软雅黑"/>
                <a:ea typeface="微软雅黑"/>
              </a:rPr>
              <a:t>城市失踪人员并发搜索（Robotics 2025, 14(11):157）、海上搜救（Drones 2025, 9(11):794）</a:t>
            </a:r>
          </a:p>
          <a:p>
            <a:pPr>
              <a:spcAft>
                <a:spcPts val="600"/>
              </a:spcAft>
            </a:pPr>
            <a:r>
              <a:rPr sz="1012" b="0">
                <a:solidFill>
                  <a:srgbClr val="4A5568"/>
                </a:solidFill>
                <a:latin typeface="微软雅黑"/>
                <a:ea typeface="微软雅黑"/>
              </a:rPr>
              <a:t>线索随机出现、目标随风流漂移，不可能全部核查</a:t>
            </a:r>
          </a:p>
          <a:p>
            <a:pPr>
              <a:spcAft>
                <a:spcPts val="600"/>
              </a:spcAft>
            </a:pPr>
            <a:r>
              <a:rPr sz="1012" b="0">
                <a:solidFill>
                  <a:srgbClr val="4A5568"/>
                </a:solidFill>
                <a:latin typeface="微软雅黑"/>
                <a:ea typeface="微软雅黑"/>
              </a:rPr>
              <a:t>高优先级先查、低概率线索可能被放弃——放弃本身就是决策</a:t>
            </a:r>
          </a:p>
        </p:txBody>
      </p:sp>
      <p:sp>
        <p:nvSpPr>
          <p:cNvPr id="27" name="Rectangle 26"/>
          <p:cNvSpPr/>
          <p:nvPr/>
        </p:nvSpPr>
        <p:spPr>
          <a:xfrm>
            <a:off x="571500" y="4705350"/>
            <a:ext cx="11049000" cy="14478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8200" y="4914900"/>
            <a:ext cx="10515600" cy="1028700"/>
          </a:xfrm>
          <a:prstGeom prst="rect">
            <a:avLst/>
          </a:prstGeom>
          <a:noFill/>
        </p:spPr>
        <p:txBody>
          <a:bodyPr wrap="square" lIns="0" rIns="0" tIns="0" bIns="0"/>
          <a:lstStyle/>
          <a:p>
            <a:pPr>
              <a:lnSpc>
                <a:spcPct val="100000"/>
              </a:lnSpc>
            </a:pPr>
            <a:r>
              <a:rPr sz="1200" b="0">
                <a:solidFill>
                  <a:srgbClr val="FFFFFF"/>
                </a:solidFill>
                <a:latin typeface="微软雅黑"/>
                <a:ea typeface="微软雅黑"/>
              </a:rPr>
              <a:t>断点：三条场景线在调度层共享同一结构——任务持续到达 × 供过于求必须取舍 × 机队能力有限 × 多起降点 × 三维地形；而主流方法的建模前提仍是「任务集固定 + 全部执行 + 平面距离」。</a:t>
            </a:r>
          </a:p>
        </p:txBody>
      </p:sp>
      <p:sp>
        <p:nvSpPr>
          <p:cNvPr id="29" name="Rectangle 28"/>
          <p:cNvSpPr/>
          <p:nvPr/>
        </p:nvSpPr>
        <p:spPr>
          <a:xfrm>
            <a:off x="666750" y="1295400"/>
            <a:ext cx="3362325" cy="8001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Freeform 29"/>
          <p:cNvSpPr/>
          <p:nvPr/>
        </p:nvSpPr>
        <p:spPr>
          <a:xfrm>
            <a:off x="666750" y="1933575"/>
            <a:ext cx="3362325" cy="123825"/>
          </a:xfrm>
          <a:custGeom>
            <a:avLst/>
            <a:gdLst/>
            <a:ahLst/>
            <a:cxnLst/>
            <a:rect l="l" t="t" r="r" b="b"/>
            <a:pathLst>
              <a:path w="3362325" h="123825">
                <a:moveTo>
                  <a:pt x="0" y="123825"/>
                </a:moveTo>
                <a:lnTo>
                  <a:pt x="457200" y="38100"/>
                </a:lnTo>
                <a:lnTo>
                  <a:pt x="1047750" y="104775"/>
                </a:lnTo>
                <a:lnTo>
                  <a:pt x="1695450" y="0"/>
                </a:lnTo>
                <a:lnTo>
                  <a:pt x="2362200" y="85725"/>
                </a:lnTo>
                <a:lnTo>
                  <a:pt x="2952750" y="19050"/>
                </a:lnTo>
                <a:lnTo>
                  <a:pt x="3362325" y="66675"/>
                </a:lnTo>
                <a:close/>
              </a:path>
            </a:pathLst>
          </a:custGeom>
          <a:noFill/>
          <a:ln w="190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914400" y="1866900"/>
            <a:ext cx="209550" cy="13335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85825" y="1828800"/>
            <a:ext cx="266700" cy="381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2219325" y="1866900"/>
            <a:ext cx="209550" cy="13335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2190750" y="1828800"/>
            <a:ext cx="266700" cy="381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524250" y="1866900"/>
            <a:ext cx="209550" cy="13335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495675" y="1828800"/>
            <a:ext cx="266700" cy="381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Freeform 36"/>
          <p:cNvSpPr/>
          <p:nvPr/>
        </p:nvSpPr>
        <p:spPr>
          <a:xfrm>
            <a:off x="1019175" y="1714500"/>
            <a:ext cx="2609850" cy="133350"/>
          </a:xfrm>
          <a:custGeom>
            <a:avLst/>
            <a:gdLst/>
            <a:ahLst/>
            <a:cxnLst/>
            <a:rect l="l" t="t" r="r" b="b"/>
            <a:pathLst>
              <a:path w="2609850" h="133350">
                <a:moveTo>
                  <a:pt x="0" y="133350"/>
                </a:moveTo>
                <a:lnTo>
                  <a:pt x="1304925" y="0"/>
                </a:lnTo>
                <a:lnTo>
                  <a:pt x="2609850" y="133350"/>
                </a:lnTo>
                <a:close/>
              </a:path>
            </a:pathLst>
          </a:custGeom>
          <a:noFill/>
          <a:ln w="25400">
            <a:solidFill>
              <a:srgbClr val="3D7B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1609725" y="1600200"/>
            <a:ext cx="123825" cy="85725"/>
          </a:xfrm>
          <a:prstGeom prst="ellipse">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514475" y="1628775"/>
            <a:ext cx="66675" cy="1905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762125" y="1628775"/>
            <a:ext cx="66675" cy="1905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410075" y="1295400"/>
            <a:ext cx="3362325" cy="8001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Freeform 41"/>
          <p:cNvSpPr/>
          <p:nvPr/>
        </p:nvSpPr>
        <p:spPr>
          <a:xfrm>
            <a:off x="4410075" y="1924050"/>
            <a:ext cx="3362325" cy="133350"/>
          </a:xfrm>
          <a:custGeom>
            <a:avLst/>
            <a:gdLst/>
            <a:ahLst/>
            <a:cxnLst/>
            <a:rect l="l" t="t" r="r" b="b"/>
            <a:pathLst>
              <a:path w="3362325" h="133350">
                <a:moveTo>
                  <a:pt x="0" y="133350"/>
                </a:moveTo>
                <a:lnTo>
                  <a:pt x="590550" y="28575"/>
                </a:lnTo>
                <a:lnTo>
                  <a:pt x="1276350" y="104775"/>
                </a:lnTo>
                <a:lnTo>
                  <a:pt x="2019300" y="0"/>
                </a:lnTo>
                <a:lnTo>
                  <a:pt x="2762250" y="85725"/>
                </a:lnTo>
                <a:lnTo>
                  <a:pt x="3362325" y="47625"/>
                </a:lnTo>
                <a:close/>
              </a:path>
            </a:pathLst>
          </a:custGeom>
          <a:noFill/>
          <a:ln w="190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4562475" y="1790700"/>
            <a:ext cx="209550" cy="13335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533900" y="1752600"/>
            <a:ext cx="266700" cy="381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5953125" y="1866900"/>
            <a:ext cx="104775" cy="104775"/>
          </a:xfrm>
          <a:prstGeom prst="ellipse">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5943600" y="1724025"/>
            <a:ext cx="85725" cy="85725"/>
          </a:xfrm>
          <a:prstGeom prst="rect">
            <a:avLst/>
          </a:prstGeom>
          <a:solidFill>
            <a:srgbClr val="FFC1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6724650" y="1866900"/>
            <a:ext cx="104775" cy="104775"/>
          </a:xfrm>
          <a:prstGeom prst="ellipse">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715125" y="1724025"/>
            <a:ext cx="85725" cy="85725"/>
          </a:xfrm>
          <a:prstGeom prst="rect">
            <a:avLst/>
          </a:prstGeom>
          <a:solidFill>
            <a:srgbClr val="FFC1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7458075" y="1866900"/>
            <a:ext cx="104775" cy="104775"/>
          </a:xfrm>
          <a:prstGeom prst="ellipse">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448550" y="1724025"/>
            <a:ext cx="85725" cy="85725"/>
          </a:xfrm>
          <a:prstGeom prst="rect">
            <a:avLst/>
          </a:prstGeom>
          <a:solidFill>
            <a:srgbClr val="FFC1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Freeform 50"/>
          <p:cNvSpPr/>
          <p:nvPr/>
        </p:nvSpPr>
        <p:spPr>
          <a:xfrm>
            <a:off x="4848225" y="1876425"/>
            <a:ext cx="1104900" cy="47625"/>
          </a:xfrm>
          <a:custGeom>
            <a:avLst/>
            <a:gdLst/>
            <a:ahLst/>
            <a:cxnLst/>
            <a:rect l="l" t="t" r="r" b="b"/>
            <a:pathLst>
              <a:path w="1104900" h="47625">
                <a:moveTo>
                  <a:pt x="0" y="0"/>
                </a:moveTo>
                <a:lnTo>
                  <a:pt x="1104900" y="47625"/>
                </a:lnTo>
                <a:close/>
              </a:path>
            </a:pathLst>
          </a:custGeom>
          <a:noFill/>
          <a:ln w="19050">
            <a:solidFill>
              <a:srgbClr val="1E4FA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Freeform 51"/>
          <p:cNvSpPr/>
          <p:nvPr/>
        </p:nvSpPr>
        <p:spPr>
          <a:xfrm>
            <a:off x="4848225" y="1876425"/>
            <a:ext cx="1876425" cy="47625"/>
          </a:xfrm>
          <a:custGeom>
            <a:avLst/>
            <a:gdLst/>
            <a:ahLst/>
            <a:cxnLst/>
            <a:rect l="l" t="t" r="r" b="b"/>
            <a:pathLst>
              <a:path w="1876425" h="47625">
                <a:moveTo>
                  <a:pt x="0" y="0"/>
                </a:moveTo>
                <a:lnTo>
                  <a:pt x="1876425" y="47625"/>
                </a:lnTo>
                <a:close/>
              </a:path>
            </a:pathLst>
          </a:custGeom>
          <a:noFill/>
          <a:ln w="19050">
            <a:solidFill>
              <a:srgbClr val="1E4FA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Freeform 52"/>
          <p:cNvSpPr/>
          <p:nvPr/>
        </p:nvSpPr>
        <p:spPr>
          <a:xfrm>
            <a:off x="4848225" y="1876425"/>
            <a:ext cx="2609850" cy="47625"/>
          </a:xfrm>
          <a:custGeom>
            <a:avLst/>
            <a:gdLst/>
            <a:ahLst/>
            <a:cxnLst/>
            <a:rect l="l" t="t" r="r" b="b"/>
            <a:pathLst>
              <a:path w="2609850" h="47625">
                <a:moveTo>
                  <a:pt x="0" y="0"/>
                </a:moveTo>
                <a:lnTo>
                  <a:pt x="2609850" y="47625"/>
                </a:lnTo>
                <a:close/>
              </a:path>
            </a:pathLst>
          </a:custGeom>
          <a:noFill/>
          <a:ln w="19050">
            <a:solidFill>
              <a:srgbClr val="1E4FA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5314950" y="1581150"/>
            <a:ext cx="123825" cy="85725"/>
          </a:xfrm>
          <a:prstGeom prst="ellipse">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219700" y="1609725"/>
            <a:ext cx="66675" cy="1905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5467350" y="1609725"/>
            <a:ext cx="66675" cy="1905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8162925" y="1295400"/>
            <a:ext cx="3362325" cy="8001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8315325" y="1809750"/>
            <a:ext cx="247650" cy="17145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Freeform 58"/>
          <p:cNvSpPr/>
          <p:nvPr/>
        </p:nvSpPr>
        <p:spPr>
          <a:xfrm>
            <a:off x="8562975" y="1562100"/>
            <a:ext cx="2800350" cy="333375"/>
          </a:xfrm>
          <a:custGeom>
            <a:avLst/>
            <a:gdLst/>
            <a:ahLst/>
            <a:cxnLst/>
            <a:rect l="l" t="t" r="r" b="b"/>
            <a:pathLst>
              <a:path w="2800350" h="333375">
                <a:moveTo>
                  <a:pt x="0" y="333375"/>
                </a:moveTo>
                <a:lnTo>
                  <a:pt x="742950" y="76200"/>
                </a:lnTo>
                <a:lnTo>
                  <a:pt x="1809750" y="0"/>
                </a:lnTo>
                <a:lnTo>
                  <a:pt x="2800350" y="152400"/>
                </a:lnTo>
                <a:close/>
              </a:path>
            </a:pathLst>
          </a:custGeom>
          <a:noFill/>
          <a:ln w="19050">
            <a:solidFill>
              <a:srgbClr val="1E4FA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Freeform 59"/>
          <p:cNvSpPr/>
          <p:nvPr/>
        </p:nvSpPr>
        <p:spPr>
          <a:xfrm>
            <a:off x="8562975" y="1895475"/>
            <a:ext cx="2800350" cy="161925"/>
          </a:xfrm>
          <a:custGeom>
            <a:avLst/>
            <a:gdLst/>
            <a:ahLst/>
            <a:cxnLst/>
            <a:rect l="l" t="t" r="r" b="b"/>
            <a:pathLst>
              <a:path w="2800350" h="161925">
                <a:moveTo>
                  <a:pt x="0" y="0"/>
                </a:moveTo>
                <a:lnTo>
                  <a:pt x="742950" y="142875"/>
                </a:lnTo>
                <a:lnTo>
                  <a:pt x="1809750" y="161925"/>
                </a:lnTo>
                <a:lnTo>
                  <a:pt x="2800350" y="9525"/>
                </a:lnTo>
                <a:close/>
              </a:path>
            </a:pathLst>
          </a:custGeom>
          <a:noFill/>
          <a:ln w="19050">
            <a:solidFill>
              <a:srgbClr val="1E4FA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9639300" y="1676400"/>
            <a:ext cx="133350" cy="133350"/>
          </a:xfrm>
          <a:prstGeom prst="ellipse">
            <a:avLst/>
          </a:prstGeom>
          <a:noFill/>
          <a:ln w="19050">
            <a:solidFill>
              <a:srgbClr val="3D7B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9686925" y="1724025"/>
            <a:ext cx="47625" cy="47625"/>
          </a:xfrm>
          <a:prstGeom prst="ellipse">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10429875" y="1619250"/>
            <a:ext cx="133350" cy="133350"/>
          </a:xfrm>
          <a:prstGeom prst="ellipse">
            <a:avLst/>
          </a:prstGeom>
          <a:noFill/>
          <a:ln w="19050">
            <a:solidFill>
              <a:srgbClr val="3D7B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10477500" y="1666875"/>
            <a:ext cx="47625" cy="47625"/>
          </a:xfrm>
          <a:prstGeom prst="ellipse">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11153775" y="1752600"/>
            <a:ext cx="133350" cy="133350"/>
          </a:xfrm>
          <a:prstGeom prst="ellipse">
            <a:avLst/>
          </a:prstGeom>
          <a:noFill/>
          <a:ln w="19050">
            <a:solidFill>
              <a:srgbClr val="3D7B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11201400" y="1800225"/>
            <a:ext cx="47625" cy="47625"/>
          </a:xfrm>
          <a:prstGeom prst="ellipse">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9163050" y="1790700"/>
            <a:ext cx="123825" cy="85725"/>
          </a:xfrm>
          <a:prstGeom prst="ellipse">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9067800" y="1819275"/>
            <a:ext cx="66675" cy="1905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9315450" y="1819275"/>
            <a:ext cx="66675" cy="1905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143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81000" y="285750"/>
            <a:ext cx="57150" cy="32385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1500" y="266700"/>
            <a:ext cx="8572500" cy="381000"/>
          </a:xfrm>
          <a:prstGeom prst="rect">
            <a:avLst/>
          </a:prstGeom>
          <a:noFill/>
        </p:spPr>
        <p:txBody>
          <a:bodyPr wrap="square" lIns="0" rIns="0" tIns="0" bIns="0"/>
          <a:lstStyle/>
          <a:p>
            <a:pPr>
              <a:lnSpc>
                <a:spcPct val="100000"/>
              </a:lnSpc>
            </a:pPr>
            <a:r>
              <a:rPr sz="2400" b="1">
                <a:solidFill>
                  <a:srgbClr val="0E3F8C"/>
                </a:solidFill>
                <a:latin typeface="微软雅黑"/>
                <a:ea typeface="微软雅黑"/>
              </a:rPr>
              <a:t>研究意义</a:t>
            </a:r>
          </a:p>
        </p:txBody>
      </p:sp>
      <p:sp>
        <p:nvSpPr>
          <p:cNvPr id="5" name="TextBox 4"/>
          <p:cNvSpPr txBox="1"/>
          <p:nvPr/>
        </p:nvSpPr>
        <p:spPr>
          <a:xfrm>
            <a:off x="571500" y="781050"/>
            <a:ext cx="8953500" cy="228600"/>
          </a:xfrm>
          <a:prstGeom prst="rect">
            <a:avLst/>
          </a:prstGeom>
          <a:noFill/>
        </p:spPr>
        <p:txBody>
          <a:bodyPr wrap="square" lIns="0" rIns="0" tIns="0" bIns="0"/>
          <a:lstStyle/>
          <a:p>
            <a:pPr>
              <a:lnSpc>
                <a:spcPct val="100000"/>
              </a:lnSpc>
            </a:pPr>
            <a:r>
              <a:rPr sz="1125" b="0">
                <a:solidFill>
                  <a:srgbClr val="8B97A8"/>
                </a:solidFill>
                <a:latin typeface="微软雅黑"/>
                <a:ea typeface="微软雅黑"/>
              </a:rPr>
              <a:t>工程要答案、方法要框架、理论要定位——意义不在单点更优，而在把「任务集固定 / 全部执行 / 平面距离」三个被默认的前提放进模型</a:t>
            </a:r>
          </a:p>
        </p:txBody>
      </p:sp>
      <p:sp>
        <p:nvSpPr>
          <p:cNvPr id="6" name="Rectangle 5"/>
          <p:cNvSpPr/>
          <p:nvPr/>
        </p:nvSpPr>
        <p:spPr>
          <a:xfrm>
            <a:off x="0" y="6438900"/>
            <a:ext cx="12192000" cy="419100"/>
          </a:xfrm>
          <a:prstGeom prst="rect">
            <a:avLst/>
          </a:prstGeom>
          <a:solidFill>
            <a:srgbClr val="F7F9FC"/>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81000" y="6534150"/>
            <a:ext cx="6667500" cy="209550"/>
          </a:xfrm>
          <a:prstGeom prst="rect">
            <a:avLst/>
          </a:prstGeom>
          <a:noFill/>
        </p:spPr>
        <p:txBody>
          <a:bodyPr wrap="square" lIns="0" rIns="0" tIns="0" bIns="0"/>
          <a:lstStyle/>
          <a:p>
            <a:pPr>
              <a:lnSpc>
                <a:spcPct val="100000"/>
              </a:lnSpc>
            </a:pPr>
            <a:r>
              <a:rPr sz="975" b="0">
                <a:solidFill>
                  <a:srgbClr val="8B97A8"/>
                </a:solidFill>
                <a:latin typeface="微软雅黑"/>
                <a:ea typeface="微软雅黑"/>
              </a:rPr>
              <a:t>动态滚动的多机巢多无人机协同任务分配 · 进展汇报</a:t>
            </a:r>
          </a:p>
        </p:txBody>
      </p:sp>
      <p:sp>
        <p:nvSpPr>
          <p:cNvPr id="8" name="TextBox 7"/>
          <p:cNvSpPr txBox="1"/>
          <p:nvPr/>
        </p:nvSpPr>
        <p:spPr>
          <a:xfrm>
            <a:off x="11296650" y="6572250"/>
            <a:ext cx="514350" cy="209550"/>
          </a:xfrm>
          <a:prstGeom prst="rect">
            <a:avLst/>
          </a:prstGeom>
          <a:noFill/>
        </p:spPr>
        <p:txBody>
          <a:bodyPr wrap="square" lIns="0" rIns="0" tIns="0" bIns="0"/>
          <a:lstStyle/>
          <a:p>
            <a:pPr algn="r">
              <a:lnSpc>
                <a:spcPct val="100000"/>
              </a:lnSpc>
            </a:pPr>
            <a:r>
              <a:rPr sz="1125" b="1">
                <a:solidFill>
                  <a:srgbClr val="1E4FA8"/>
                </a:solidFill>
                <a:latin typeface="微软雅黑"/>
                <a:ea typeface="微软雅黑"/>
              </a:rPr>
              <a:t>04 / 18</a:t>
            </a:r>
          </a:p>
        </p:txBody>
      </p:sp>
      <p:sp>
        <p:nvSpPr>
          <p:cNvPr id="9" name="Rectangle 8"/>
          <p:cNvSpPr/>
          <p:nvPr/>
        </p:nvSpPr>
        <p:spPr>
          <a:xfrm>
            <a:off x="571500" y="1200150"/>
            <a:ext cx="3552825" cy="3048000"/>
          </a:xfrm>
          <a:prstGeom prst="rect">
            <a:avLst/>
          </a:prstGeom>
          <a:solidFill>
            <a:srgbClr val="FFFFFF"/>
          </a:solidFill>
          <a:ln w="1270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71500" y="1200150"/>
            <a:ext cx="3552825" cy="47625"/>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2950" y="1371600"/>
            <a:ext cx="914400" cy="247650"/>
          </a:xfrm>
          <a:prstGeom prst="rect">
            <a:avLst/>
          </a:prstGeom>
          <a:solidFill>
            <a:srgbClr val="E8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2950" y="1409700"/>
            <a:ext cx="914400" cy="209550"/>
          </a:xfrm>
          <a:prstGeom prst="rect">
            <a:avLst/>
          </a:prstGeom>
          <a:noFill/>
        </p:spPr>
        <p:txBody>
          <a:bodyPr wrap="square" lIns="0" rIns="0" tIns="0" bIns="0"/>
          <a:lstStyle/>
          <a:p>
            <a:pPr algn="ctr">
              <a:lnSpc>
                <a:spcPct val="100000"/>
              </a:lnSpc>
            </a:pPr>
            <a:r>
              <a:rPr sz="900" b="1">
                <a:solidFill>
                  <a:srgbClr val="1E4FA8"/>
                </a:solidFill>
                <a:latin typeface="微软雅黑"/>
                <a:ea typeface="微软雅黑"/>
              </a:rPr>
              <a:t>工程意义</a:t>
            </a:r>
          </a:p>
        </p:txBody>
      </p:sp>
      <p:sp>
        <p:nvSpPr>
          <p:cNvPr id="13" name="TextBox 12"/>
          <p:cNvSpPr txBox="1"/>
          <p:nvPr/>
        </p:nvSpPr>
        <p:spPr>
          <a:xfrm>
            <a:off x="742950" y="1733550"/>
            <a:ext cx="3209925" cy="285750"/>
          </a:xfrm>
          <a:prstGeom prst="rect">
            <a:avLst/>
          </a:prstGeom>
          <a:noFill/>
        </p:spPr>
        <p:txBody>
          <a:bodyPr wrap="square" lIns="0" rIns="0" tIns="0" bIns="0"/>
          <a:lstStyle/>
          <a:p>
            <a:pPr>
              <a:lnSpc>
                <a:spcPct val="100000"/>
              </a:lnSpc>
            </a:pPr>
            <a:r>
              <a:rPr sz="1350" b="1">
                <a:solidFill>
                  <a:srgbClr val="0E3F8C"/>
                </a:solidFill>
                <a:latin typeface="微软雅黑"/>
                <a:ea typeface="微软雅黑"/>
              </a:rPr>
              <a:t>从「能飞」到「能调度」</a:t>
            </a:r>
          </a:p>
        </p:txBody>
      </p:sp>
      <p:sp>
        <p:nvSpPr>
          <p:cNvPr id="14" name="TextBox 13"/>
          <p:cNvSpPr txBox="1"/>
          <p:nvPr/>
        </p:nvSpPr>
        <p:spPr>
          <a:xfrm>
            <a:off x="742950" y="2114550"/>
            <a:ext cx="3209925" cy="1924050"/>
          </a:xfrm>
          <a:prstGeom prst="rect">
            <a:avLst/>
          </a:prstGeom>
          <a:noFill/>
        </p:spPr>
        <p:txBody>
          <a:bodyPr wrap="square" lIns="0" rIns="0" tIns="0" bIns="0"/>
          <a:lstStyle/>
          <a:p>
            <a:pPr>
              <a:lnSpc>
                <a:spcPct val="150000"/>
              </a:lnSpc>
              <a:spcAft>
                <a:spcPts val="600"/>
              </a:spcAft>
            </a:pPr>
            <a:r>
              <a:rPr sz="1012" b="0">
                <a:solidFill>
                  <a:srgbClr val="4A5568"/>
                </a:solidFill>
                <a:latin typeface="微软雅黑"/>
                <a:ea typeface="微软雅黑"/>
              </a:rPr>
              <a:t>现有工程方案普遍是「聚类分区 + 每机独立优化 + 简单优先规则」</a:t>
            </a:r>
          </a:p>
          <a:p>
            <a:pPr>
              <a:spcAft>
                <a:spcPts val="600"/>
              </a:spcAft>
            </a:pPr>
            <a:r>
              <a:rPr sz="1012" b="0">
                <a:solidFill>
                  <a:srgbClr val="4A5568"/>
                </a:solidFill>
                <a:latin typeface="微软雅黑"/>
                <a:ea typeface="微软雅黑"/>
              </a:rPr>
              <a:t>巡检、应急派送、态势感知三条线各自造轮子，缺少统一模型与可复算口径</a:t>
            </a:r>
          </a:p>
          <a:p>
            <a:pPr>
              <a:spcAft>
                <a:spcPts val="600"/>
              </a:spcAft>
            </a:pPr>
            <a:r>
              <a:rPr sz="1012" b="0">
                <a:solidFill>
                  <a:srgbClr val="4A5568"/>
                </a:solidFill>
                <a:latin typeface="微软雅黑"/>
                <a:ea typeface="微软雅黑"/>
              </a:rPr>
              <a:t>目标是给出可迁移、可复算、可审计的机队调度口径</a:t>
            </a:r>
          </a:p>
        </p:txBody>
      </p:sp>
      <p:sp>
        <p:nvSpPr>
          <p:cNvPr id="15" name="Rectangle 14"/>
          <p:cNvSpPr/>
          <p:nvPr/>
        </p:nvSpPr>
        <p:spPr>
          <a:xfrm>
            <a:off x="4314825" y="1200150"/>
            <a:ext cx="3552825" cy="3048000"/>
          </a:xfrm>
          <a:prstGeom prst="rect">
            <a:avLst/>
          </a:prstGeom>
          <a:solidFill>
            <a:srgbClr val="FFFFFF"/>
          </a:solidFill>
          <a:ln w="1270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14825" y="1200150"/>
            <a:ext cx="3552825" cy="47625"/>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6275" y="1371600"/>
            <a:ext cx="914400" cy="247650"/>
          </a:xfrm>
          <a:prstGeom prst="rect">
            <a:avLst/>
          </a:prstGeom>
          <a:solidFill>
            <a:srgbClr val="E8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86275" y="1409700"/>
            <a:ext cx="914400" cy="209550"/>
          </a:xfrm>
          <a:prstGeom prst="rect">
            <a:avLst/>
          </a:prstGeom>
          <a:noFill/>
        </p:spPr>
        <p:txBody>
          <a:bodyPr wrap="square" lIns="0" rIns="0" tIns="0" bIns="0"/>
          <a:lstStyle/>
          <a:p>
            <a:pPr algn="ctr">
              <a:lnSpc>
                <a:spcPct val="100000"/>
              </a:lnSpc>
            </a:pPr>
            <a:r>
              <a:rPr sz="900" b="1">
                <a:solidFill>
                  <a:srgbClr val="1E4FA8"/>
                </a:solidFill>
                <a:latin typeface="微软雅黑"/>
                <a:ea typeface="微软雅黑"/>
              </a:rPr>
              <a:t>方法意义</a:t>
            </a:r>
          </a:p>
        </p:txBody>
      </p:sp>
      <p:sp>
        <p:nvSpPr>
          <p:cNvPr id="19" name="TextBox 18"/>
          <p:cNvSpPr txBox="1"/>
          <p:nvPr/>
        </p:nvSpPr>
        <p:spPr>
          <a:xfrm>
            <a:off x="4486275" y="1733550"/>
            <a:ext cx="3209925" cy="285750"/>
          </a:xfrm>
          <a:prstGeom prst="rect">
            <a:avLst/>
          </a:prstGeom>
          <a:noFill/>
        </p:spPr>
        <p:txBody>
          <a:bodyPr wrap="square" lIns="0" rIns="0" tIns="0" bIns="0"/>
          <a:lstStyle/>
          <a:p>
            <a:pPr>
              <a:lnSpc>
                <a:spcPct val="100000"/>
              </a:lnSpc>
            </a:pPr>
            <a:r>
              <a:rPr sz="1350" b="1">
                <a:solidFill>
                  <a:srgbClr val="0E3F8C"/>
                </a:solidFill>
                <a:latin typeface="微软雅黑"/>
                <a:ea typeface="微软雅黑"/>
              </a:rPr>
              <a:t>四类决策进同一框架</a:t>
            </a:r>
          </a:p>
        </p:txBody>
      </p:sp>
      <p:sp>
        <p:nvSpPr>
          <p:cNvPr id="20" name="TextBox 19"/>
          <p:cNvSpPr txBox="1"/>
          <p:nvPr/>
        </p:nvSpPr>
        <p:spPr>
          <a:xfrm>
            <a:off x="4486275" y="2114550"/>
            <a:ext cx="3209925" cy="1924050"/>
          </a:xfrm>
          <a:prstGeom prst="rect">
            <a:avLst/>
          </a:prstGeom>
          <a:noFill/>
        </p:spPr>
        <p:txBody>
          <a:bodyPr wrap="square" lIns="0" rIns="0" tIns="0" bIns="0"/>
          <a:lstStyle/>
          <a:p>
            <a:pPr>
              <a:lnSpc>
                <a:spcPct val="150000"/>
              </a:lnSpc>
              <a:spcAft>
                <a:spcPts val="600"/>
              </a:spcAft>
            </a:pPr>
            <a:r>
              <a:rPr sz="1012" b="0">
                <a:solidFill>
                  <a:srgbClr val="4A5568"/>
                </a:solidFill>
                <a:latin typeface="微软雅黑"/>
                <a:ea typeface="微软雅黑"/>
              </a:rPr>
              <a:t>是否执行 y × 归属 x × 访问顺序 π × 终点机巢 z 联合确定</a:t>
            </a:r>
          </a:p>
          <a:p>
            <a:pPr>
              <a:spcAft>
                <a:spcPts val="600"/>
              </a:spcAft>
            </a:pPr>
            <a:r>
              <a:rPr sz="1012" b="0">
                <a:solidFill>
                  <a:srgbClr val="4A5568"/>
                </a:solidFill>
                <a:latin typeface="微软雅黑"/>
                <a:ea typeface="微软雅黑"/>
              </a:rPr>
              <a:t>直接回答每个周期「哪些飞、哪些不飞、谁飞、落哪个巢」</a:t>
            </a:r>
          </a:p>
          <a:p>
            <a:pPr>
              <a:spcAft>
                <a:spcPts val="600"/>
              </a:spcAft>
            </a:pPr>
            <a:r>
              <a:rPr sz="1012" b="0">
                <a:solidFill>
                  <a:srgbClr val="4A5568"/>
                </a:solidFill>
                <a:latin typeface="微软雅黑"/>
                <a:ea typeface="微软雅黑"/>
              </a:rPr>
              <a:t>把「允许暂缓」从工程经验升级为模型内的合法决策</a:t>
            </a:r>
          </a:p>
        </p:txBody>
      </p:sp>
      <p:sp>
        <p:nvSpPr>
          <p:cNvPr id="21" name="Rectangle 20"/>
          <p:cNvSpPr/>
          <p:nvPr/>
        </p:nvSpPr>
        <p:spPr>
          <a:xfrm>
            <a:off x="8067675" y="1200150"/>
            <a:ext cx="3552825" cy="3048000"/>
          </a:xfrm>
          <a:prstGeom prst="rect">
            <a:avLst/>
          </a:prstGeom>
          <a:solidFill>
            <a:srgbClr val="FFFFFF"/>
          </a:solidFill>
          <a:ln w="1270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67675" y="1200150"/>
            <a:ext cx="3552825" cy="47625"/>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39125" y="1371600"/>
            <a:ext cx="914400" cy="247650"/>
          </a:xfrm>
          <a:prstGeom prst="rect">
            <a:avLst/>
          </a:prstGeom>
          <a:solidFill>
            <a:srgbClr val="E8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39125" y="1409700"/>
            <a:ext cx="914400" cy="209550"/>
          </a:xfrm>
          <a:prstGeom prst="rect">
            <a:avLst/>
          </a:prstGeom>
          <a:noFill/>
        </p:spPr>
        <p:txBody>
          <a:bodyPr wrap="square" lIns="0" rIns="0" tIns="0" bIns="0"/>
          <a:lstStyle/>
          <a:p>
            <a:pPr algn="ctr">
              <a:lnSpc>
                <a:spcPct val="100000"/>
              </a:lnSpc>
            </a:pPr>
            <a:r>
              <a:rPr sz="900" b="1">
                <a:solidFill>
                  <a:srgbClr val="1E4FA8"/>
                </a:solidFill>
                <a:latin typeface="微软雅黑"/>
                <a:ea typeface="微软雅黑"/>
              </a:rPr>
              <a:t>理论意义</a:t>
            </a:r>
          </a:p>
        </p:txBody>
      </p:sp>
      <p:sp>
        <p:nvSpPr>
          <p:cNvPr id="25" name="TextBox 24"/>
          <p:cNvSpPr txBox="1"/>
          <p:nvPr/>
        </p:nvSpPr>
        <p:spPr>
          <a:xfrm>
            <a:off x="8239125" y="1733550"/>
            <a:ext cx="3209925" cy="285750"/>
          </a:xfrm>
          <a:prstGeom prst="rect">
            <a:avLst/>
          </a:prstGeom>
          <a:noFill/>
        </p:spPr>
        <p:txBody>
          <a:bodyPr wrap="square" lIns="0" rIns="0" tIns="0" bIns="0"/>
          <a:lstStyle/>
          <a:p>
            <a:pPr>
              <a:lnSpc>
                <a:spcPct val="100000"/>
              </a:lnSpc>
            </a:pPr>
            <a:r>
              <a:rPr sz="1350" b="1">
                <a:solidFill>
                  <a:srgbClr val="0E3F8C"/>
                </a:solidFill>
                <a:latin typeface="微软雅黑"/>
                <a:ea typeface="微软雅黑"/>
              </a:rPr>
              <a:t>六条研究线的交叉处</a:t>
            </a:r>
          </a:p>
        </p:txBody>
      </p:sp>
      <p:sp>
        <p:nvSpPr>
          <p:cNvPr id="26" name="TextBox 25"/>
          <p:cNvSpPr txBox="1"/>
          <p:nvPr/>
        </p:nvSpPr>
        <p:spPr>
          <a:xfrm>
            <a:off x="8239125" y="2114550"/>
            <a:ext cx="3209925" cy="1924050"/>
          </a:xfrm>
          <a:prstGeom prst="rect">
            <a:avLst/>
          </a:prstGeom>
          <a:noFill/>
        </p:spPr>
        <p:txBody>
          <a:bodyPr wrap="square" lIns="0" rIns="0" tIns="0" bIns="0"/>
          <a:lstStyle/>
          <a:p>
            <a:pPr>
              <a:lnSpc>
                <a:spcPct val="150000"/>
              </a:lnSpc>
              <a:spcAft>
                <a:spcPts val="600"/>
              </a:spcAft>
            </a:pPr>
            <a:r>
              <a:rPr sz="1012" b="0">
                <a:solidFill>
                  <a:srgbClr val="4A5568"/>
                </a:solidFill>
                <a:latin typeface="微软雅黑"/>
                <a:ea typeface="微软雅黑"/>
              </a:rPr>
              <a:t>任务分配 / 选择性 OP-TOP / 滚动时域 / 三维地形 / 多机巢 MTSP / 应急物流，六条线各自成熟</a:t>
            </a:r>
          </a:p>
          <a:p>
            <a:pPr>
              <a:spcAft>
                <a:spcPts val="600"/>
              </a:spcAft>
            </a:pPr>
            <a:r>
              <a:rPr sz="1012" b="0">
                <a:solidFill>
                  <a:srgbClr val="4A5568"/>
                </a:solidFill>
                <a:latin typeface="微软雅黑"/>
                <a:ea typeface="微软雅黑"/>
              </a:rPr>
              <a:t>交叉处缺一个「动态到达 × 允许不执行 × 多机巢起降 × 三维 DEM × 滚动」五维合一的问题定义与分层求解框架</a:t>
            </a:r>
          </a:p>
          <a:p>
            <a:pPr>
              <a:spcAft>
                <a:spcPts val="600"/>
              </a:spcAft>
            </a:pPr>
            <a:r>
              <a:rPr sz="1012" b="0">
                <a:solidFill>
                  <a:srgbClr val="4A5568"/>
                </a:solidFill>
                <a:latin typeface="微软雅黑"/>
                <a:ea typeface="微软雅黑"/>
              </a:rPr>
              <a:t>本工作定位为问题定义与框架整合，而非单维创新</a:t>
            </a:r>
          </a:p>
        </p:txBody>
      </p:sp>
      <p:sp>
        <p:nvSpPr>
          <p:cNvPr id="27" name="Rectangle 26"/>
          <p:cNvSpPr/>
          <p:nvPr/>
        </p:nvSpPr>
        <p:spPr>
          <a:xfrm>
            <a:off x="571500" y="4552950"/>
            <a:ext cx="11049000" cy="169545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8200" y="4762500"/>
            <a:ext cx="10515600" cy="1276350"/>
          </a:xfrm>
          <a:prstGeom prst="rect">
            <a:avLst/>
          </a:prstGeom>
          <a:noFill/>
        </p:spPr>
        <p:txBody>
          <a:bodyPr wrap="square" lIns="0" rIns="0" tIns="0" bIns="0"/>
          <a:lstStyle/>
          <a:p>
            <a:pPr>
              <a:lnSpc>
                <a:spcPct val="100000"/>
              </a:lnSpc>
            </a:pPr>
            <a:r>
              <a:rPr sz="1275" b="0">
                <a:solidFill>
                  <a:srgbClr val="FFFFFF"/>
                </a:solidFill>
                <a:latin typeface="微软雅黑"/>
                <a:ea typeface="微软雅黑"/>
              </a:rPr>
              <a:t>一句话意义：在任务供过于求、机队能力有限、地形代价真实的广域持续作业里，把「这一周期该飞哪些、不飞哪些、落在哪」变成一个有模型、有算法、有口径的求解问题。</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143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81000" y="285750"/>
            <a:ext cx="57150" cy="32385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1500" y="266700"/>
            <a:ext cx="8572500" cy="381000"/>
          </a:xfrm>
          <a:prstGeom prst="rect">
            <a:avLst/>
          </a:prstGeom>
          <a:noFill/>
        </p:spPr>
        <p:txBody>
          <a:bodyPr wrap="square" lIns="0" rIns="0" tIns="0" bIns="0"/>
          <a:lstStyle/>
          <a:p>
            <a:pPr>
              <a:lnSpc>
                <a:spcPct val="100000"/>
              </a:lnSpc>
            </a:pPr>
            <a:r>
              <a:rPr sz="2400" b="1">
                <a:solidFill>
                  <a:srgbClr val="0E3F8C"/>
                </a:solidFill>
                <a:latin typeface="微软雅黑"/>
                <a:ea typeface="微软雅黑"/>
              </a:rPr>
              <a:t>研究现状与空白</a:t>
            </a:r>
          </a:p>
        </p:txBody>
      </p:sp>
      <p:sp>
        <p:nvSpPr>
          <p:cNvPr id="5" name="TextBox 4"/>
          <p:cNvSpPr txBox="1"/>
          <p:nvPr/>
        </p:nvSpPr>
        <p:spPr>
          <a:xfrm>
            <a:off x="571500" y="781050"/>
            <a:ext cx="8953500" cy="228600"/>
          </a:xfrm>
          <a:prstGeom prst="rect">
            <a:avLst/>
          </a:prstGeom>
          <a:noFill/>
        </p:spPr>
        <p:txBody>
          <a:bodyPr wrap="square" lIns="0" rIns="0" tIns="0" bIns="0"/>
          <a:lstStyle/>
          <a:p>
            <a:pPr>
              <a:lnSpc>
                <a:spcPct val="100000"/>
              </a:lnSpc>
            </a:pPr>
            <a:r>
              <a:rPr sz="1125" b="0">
                <a:solidFill>
                  <a:srgbClr val="8B97A8"/>
                </a:solidFill>
                <a:latin typeface="微软雅黑"/>
                <a:ea typeface="微软雅黑"/>
              </a:rPr>
              <a:t>六条研究线各自成熟，交叉处是空白——检索 IEEE Xplore / Elsevier / 知网 2010–2025，共 20 篇代表工作</a:t>
            </a:r>
          </a:p>
        </p:txBody>
      </p:sp>
      <p:sp>
        <p:nvSpPr>
          <p:cNvPr id="6" name="Rectangle 5"/>
          <p:cNvSpPr/>
          <p:nvPr/>
        </p:nvSpPr>
        <p:spPr>
          <a:xfrm>
            <a:off x="0" y="6438900"/>
            <a:ext cx="12192000" cy="419100"/>
          </a:xfrm>
          <a:prstGeom prst="rect">
            <a:avLst/>
          </a:prstGeom>
          <a:solidFill>
            <a:srgbClr val="F7F9FC"/>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81000" y="6534150"/>
            <a:ext cx="6667500" cy="209550"/>
          </a:xfrm>
          <a:prstGeom prst="rect">
            <a:avLst/>
          </a:prstGeom>
          <a:noFill/>
        </p:spPr>
        <p:txBody>
          <a:bodyPr wrap="square" lIns="0" rIns="0" tIns="0" bIns="0"/>
          <a:lstStyle/>
          <a:p>
            <a:pPr>
              <a:lnSpc>
                <a:spcPct val="100000"/>
              </a:lnSpc>
            </a:pPr>
            <a:r>
              <a:rPr sz="975" b="0">
                <a:solidFill>
                  <a:srgbClr val="8B97A8"/>
                </a:solidFill>
                <a:latin typeface="微软雅黑"/>
                <a:ea typeface="微软雅黑"/>
              </a:rPr>
              <a:t>动态滚动的多机巢多无人机协同任务分配 · 进展汇报</a:t>
            </a:r>
          </a:p>
        </p:txBody>
      </p:sp>
      <p:sp>
        <p:nvSpPr>
          <p:cNvPr id="8" name="TextBox 7"/>
          <p:cNvSpPr txBox="1"/>
          <p:nvPr/>
        </p:nvSpPr>
        <p:spPr>
          <a:xfrm>
            <a:off x="11296650" y="6572250"/>
            <a:ext cx="514350" cy="209550"/>
          </a:xfrm>
          <a:prstGeom prst="rect">
            <a:avLst/>
          </a:prstGeom>
          <a:noFill/>
        </p:spPr>
        <p:txBody>
          <a:bodyPr wrap="square" lIns="0" rIns="0" tIns="0" bIns="0"/>
          <a:lstStyle/>
          <a:p>
            <a:pPr algn="r">
              <a:lnSpc>
                <a:spcPct val="100000"/>
              </a:lnSpc>
            </a:pPr>
            <a:r>
              <a:rPr sz="1125" b="1">
                <a:solidFill>
                  <a:srgbClr val="1E4FA8"/>
                </a:solidFill>
                <a:latin typeface="微软雅黑"/>
                <a:ea typeface="微软雅黑"/>
              </a:rPr>
              <a:t>05 / 18</a:t>
            </a:r>
          </a:p>
        </p:txBody>
      </p:sp>
      <p:sp>
        <p:nvSpPr>
          <p:cNvPr id="9" name="Rectangle 8"/>
          <p:cNvSpPr/>
          <p:nvPr/>
        </p:nvSpPr>
        <p:spPr>
          <a:xfrm>
            <a:off x="571500" y="1200150"/>
            <a:ext cx="11049000" cy="685800"/>
          </a:xfrm>
          <a:prstGeom prst="rect">
            <a:avLst/>
          </a:prstGeom>
          <a:solidFill>
            <a:srgbClr val="F7F9FC"/>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71500" y="1200150"/>
            <a:ext cx="47625" cy="6858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7700" y="1257300"/>
            <a:ext cx="1219200" cy="5715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7700" y="1257300"/>
            <a:ext cx="1219200" cy="571500"/>
          </a:xfrm>
          <a:prstGeom prst="rect">
            <a:avLst/>
          </a:prstGeom>
          <a:noFill/>
        </p:spPr>
        <p:txBody>
          <a:bodyPr wrap="square" lIns="0" rIns="0" tIns="0" bIns="0"/>
          <a:lstStyle/>
          <a:p>
            <a:pPr algn="ctr">
              <a:lnSpc>
                <a:spcPct val="100000"/>
              </a:lnSpc>
            </a:pPr>
            <a:r>
              <a:rPr sz="975" b="1">
                <a:solidFill>
                  <a:srgbClr val="FFFFFF"/>
                </a:solidFill>
                <a:latin typeface="微软雅黑"/>
                <a:ea typeface="微软雅黑"/>
              </a:rPr>
              <a:t>多无人机
任务分配</a:t>
            </a:r>
          </a:p>
          <a:p>
            <a:pPr algn="ctr"/>
            <a:r>
              <a:rPr sz="975" b="1">
                <a:solidFill>
                  <a:srgbClr val="FFFFFF"/>
                </a:solidFill>
                <a:latin typeface="微软雅黑"/>
                <a:ea typeface="微软雅黑"/>
              </a:rPr>
              <a:t/>
            </a:r>
          </a:p>
        </p:txBody>
      </p:sp>
      <p:sp>
        <p:nvSpPr>
          <p:cNvPr id="13" name="TextBox 12"/>
          <p:cNvSpPr txBox="1"/>
          <p:nvPr/>
        </p:nvSpPr>
        <p:spPr>
          <a:xfrm>
            <a:off x="2019300" y="1276350"/>
            <a:ext cx="6096000" cy="552450"/>
          </a:xfrm>
          <a:prstGeom prst="rect">
            <a:avLst/>
          </a:prstGeom>
          <a:noFill/>
        </p:spPr>
        <p:txBody>
          <a:bodyPr wrap="square" lIns="0" rIns="0" tIns="0" bIns="0"/>
          <a:lstStyle/>
          <a:p>
            <a:pPr>
              <a:lnSpc>
                <a:spcPct val="100000"/>
              </a:lnSpc>
            </a:pPr>
            <a:r>
              <a:rPr sz="937" b="0">
                <a:solidFill>
                  <a:srgbClr val="4A5568"/>
                </a:solidFill>
                <a:latin typeface="微软雅黑"/>
                <a:ea typeface="微软雅黑"/>
              </a:rPr>
              <a:t>最近工作：毕文豪等 2024（系统工程与电子技术）综述：通用化建模、有限时间重分配仍未解；Du et al. 2025（IEEE T-ITS）、Freitas et al. 2025（IEEE Access）：精确优化实时性不足、拍卖/CBBA 通信开销大；Drones 2025, 9(8):530：CBBA 贪心缺全局路径最优</a:t>
            </a:r>
          </a:p>
        </p:txBody>
      </p:sp>
      <p:sp>
        <p:nvSpPr>
          <p:cNvPr id="14" name="TextBox 13"/>
          <p:cNvSpPr txBox="1"/>
          <p:nvPr/>
        </p:nvSpPr>
        <p:spPr>
          <a:xfrm>
            <a:off x="8305800" y="1276350"/>
            <a:ext cx="3162300" cy="552450"/>
          </a:xfrm>
          <a:prstGeom prst="rect">
            <a:avLst/>
          </a:prstGeom>
          <a:noFill/>
        </p:spPr>
        <p:txBody>
          <a:bodyPr wrap="square" lIns="0" rIns="0" tIns="0" bIns="0"/>
          <a:lstStyle/>
          <a:p>
            <a:pPr>
              <a:lnSpc>
                <a:spcPct val="100000"/>
              </a:lnSpc>
            </a:pPr>
            <a:r>
              <a:rPr sz="937" b="0">
                <a:solidFill>
                  <a:srgbClr val="1A2230"/>
                </a:solidFill>
                <a:latin typeface="微软雅黑"/>
                <a:ea typeface="微软雅黑"/>
              </a:rPr>
              <a:t>未覆盖：容量受限下「做哪些、放哪些」的取舍口径缺失；多数工作默认任务全部执行</a:t>
            </a:r>
          </a:p>
        </p:txBody>
      </p:sp>
      <p:sp>
        <p:nvSpPr>
          <p:cNvPr id="15" name="Rectangle 14"/>
          <p:cNvSpPr/>
          <p:nvPr/>
        </p:nvSpPr>
        <p:spPr>
          <a:xfrm>
            <a:off x="571500" y="1943100"/>
            <a:ext cx="11049000" cy="685800"/>
          </a:xfrm>
          <a:prstGeom prst="rect">
            <a:avLst/>
          </a:prstGeom>
          <a:solidFill>
            <a:srgbClr val="F7F9FC"/>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71500" y="1943100"/>
            <a:ext cx="47625" cy="6858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47700" y="2000250"/>
            <a:ext cx="1219200" cy="5715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7700" y="2000250"/>
            <a:ext cx="1219200" cy="571500"/>
          </a:xfrm>
          <a:prstGeom prst="rect">
            <a:avLst/>
          </a:prstGeom>
          <a:noFill/>
        </p:spPr>
        <p:txBody>
          <a:bodyPr wrap="square" lIns="0" rIns="0" tIns="0" bIns="0"/>
          <a:lstStyle/>
          <a:p>
            <a:pPr algn="ctr">
              <a:lnSpc>
                <a:spcPct val="100000"/>
              </a:lnSpc>
            </a:pPr>
            <a:r>
              <a:rPr sz="975" b="1">
                <a:solidFill>
                  <a:srgbClr val="FFFFFF"/>
                </a:solidFill>
                <a:latin typeface="微软雅黑"/>
                <a:ea typeface="微软雅黑"/>
              </a:rPr>
              <a:t>多机巢
MTSP</a:t>
            </a:r>
          </a:p>
          <a:p>
            <a:pPr algn="ctr"/>
            <a:r>
              <a:rPr sz="975" b="1">
                <a:solidFill>
                  <a:srgbClr val="FFFFFF"/>
                </a:solidFill>
                <a:latin typeface="微软雅黑"/>
                <a:ea typeface="微软雅黑"/>
              </a:rPr>
              <a:t/>
            </a:r>
          </a:p>
        </p:txBody>
      </p:sp>
      <p:sp>
        <p:nvSpPr>
          <p:cNvPr id="19" name="TextBox 18"/>
          <p:cNvSpPr txBox="1"/>
          <p:nvPr/>
        </p:nvSpPr>
        <p:spPr>
          <a:xfrm>
            <a:off x="2019300" y="2019300"/>
            <a:ext cx="6096000" cy="552450"/>
          </a:xfrm>
          <a:prstGeom prst="rect">
            <a:avLst/>
          </a:prstGeom>
          <a:noFill/>
        </p:spPr>
        <p:txBody>
          <a:bodyPr wrap="square" lIns="0" rIns="0" tIns="0" bIns="0"/>
          <a:lstStyle/>
          <a:p>
            <a:pPr>
              <a:lnSpc>
                <a:spcPct val="100000"/>
              </a:lnSpc>
            </a:pPr>
            <a:r>
              <a:rPr sz="937" b="0">
                <a:solidFill>
                  <a:srgbClr val="4A5568"/>
                </a:solidFill>
                <a:latin typeface="微软雅黑"/>
                <a:ea typeface="微软雅黑"/>
              </a:rPr>
              <a:t>最近工作：羊钊等 2025（系统工程与电子技术）异巢起降山地巡检：一阶段 TSP 生成回路、二阶段机巢插入，但要求遍历全部航路点；Cheikhrouhou &amp; Khoufi 2021（Comput. Sci. Rev.）MTSP 综述；Liu et al. 2019（J. Adv. Transp.）基地选址与巡逻路线联合</a:t>
            </a:r>
          </a:p>
        </p:txBody>
      </p:sp>
      <p:sp>
        <p:nvSpPr>
          <p:cNvPr id="20" name="TextBox 19"/>
          <p:cNvSpPr txBox="1"/>
          <p:nvPr/>
        </p:nvSpPr>
        <p:spPr>
          <a:xfrm>
            <a:off x="8305800" y="2019300"/>
            <a:ext cx="3162300" cy="552450"/>
          </a:xfrm>
          <a:prstGeom prst="rect">
            <a:avLst/>
          </a:prstGeom>
          <a:noFill/>
        </p:spPr>
        <p:txBody>
          <a:bodyPr wrap="square" lIns="0" rIns="0" tIns="0" bIns="0"/>
          <a:lstStyle/>
          <a:p>
            <a:pPr>
              <a:lnSpc>
                <a:spcPct val="100000"/>
              </a:lnSpc>
            </a:pPr>
            <a:r>
              <a:rPr sz="937" b="0">
                <a:solidFill>
                  <a:srgbClr val="1A2230"/>
                </a:solidFill>
                <a:latin typeface="微软雅黑"/>
                <a:ea typeface="微软雅黑"/>
              </a:rPr>
              <a:t>未覆盖：终点机巢决策与任务选择未分层联合；均默认全部执行、无弃单机制</a:t>
            </a:r>
          </a:p>
        </p:txBody>
      </p:sp>
      <p:sp>
        <p:nvSpPr>
          <p:cNvPr id="21" name="Rectangle 20"/>
          <p:cNvSpPr/>
          <p:nvPr/>
        </p:nvSpPr>
        <p:spPr>
          <a:xfrm>
            <a:off x="571500" y="2686050"/>
            <a:ext cx="11049000" cy="685800"/>
          </a:xfrm>
          <a:prstGeom prst="rect">
            <a:avLst/>
          </a:prstGeom>
          <a:solidFill>
            <a:srgbClr val="F7F9FC"/>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71500" y="2686050"/>
            <a:ext cx="47625" cy="6858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7700" y="2743200"/>
            <a:ext cx="1219200" cy="5715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7700" y="2743200"/>
            <a:ext cx="1219200" cy="571500"/>
          </a:xfrm>
          <a:prstGeom prst="rect">
            <a:avLst/>
          </a:prstGeom>
          <a:noFill/>
        </p:spPr>
        <p:txBody>
          <a:bodyPr wrap="square" lIns="0" rIns="0" tIns="0" bIns="0"/>
          <a:lstStyle/>
          <a:p>
            <a:pPr algn="ctr">
              <a:lnSpc>
                <a:spcPct val="100000"/>
              </a:lnSpc>
            </a:pPr>
            <a:r>
              <a:rPr sz="975" b="1">
                <a:solidFill>
                  <a:srgbClr val="FFFFFF"/>
                </a:solidFill>
                <a:latin typeface="微软雅黑"/>
                <a:ea typeface="微软雅黑"/>
              </a:rPr>
              <a:t>选择性
OP / TOP</a:t>
            </a:r>
          </a:p>
          <a:p>
            <a:pPr algn="ctr"/>
            <a:r>
              <a:rPr sz="975" b="1">
                <a:solidFill>
                  <a:srgbClr val="FFFFFF"/>
                </a:solidFill>
                <a:latin typeface="微软雅黑"/>
                <a:ea typeface="微软雅黑"/>
              </a:rPr>
              <a:t/>
            </a:r>
          </a:p>
        </p:txBody>
      </p:sp>
      <p:sp>
        <p:nvSpPr>
          <p:cNvPr id="25" name="TextBox 24"/>
          <p:cNvSpPr txBox="1"/>
          <p:nvPr/>
        </p:nvSpPr>
        <p:spPr>
          <a:xfrm>
            <a:off x="2019300" y="2762250"/>
            <a:ext cx="6096000" cy="552450"/>
          </a:xfrm>
          <a:prstGeom prst="rect">
            <a:avLst/>
          </a:prstGeom>
          <a:noFill/>
        </p:spPr>
        <p:txBody>
          <a:bodyPr wrap="square" lIns="0" rIns="0" tIns="0" bIns="0"/>
          <a:lstStyle/>
          <a:p>
            <a:pPr>
              <a:lnSpc>
                <a:spcPct val="100000"/>
              </a:lnSpc>
            </a:pPr>
            <a:r>
              <a:rPr sz="937" b="0">
                <a:solidFill>
                  <a:srgbClr val="4A5568"/>
                </a:solidFill>
                <a:latin typeface="微软雅黑"/>
                <a:ea typeface="微软雅黑"/>
              </a:rPr>
              <a:t>最近工作：Vansteenwegen et al. 2011 / Gunawan et al. 2016（EJOR）OP 综述族；Narin, Becker &amp; Batta 2023（J. Simulation）新兴目标 TOPTW——泊松到达、目标伪装撤离、允许重访；Xia et al. 2019 多机巢广义 TOP</a:t>
            </a:r>
          </a:p>
        </p:txBody>
      </p:sp>
      <p:sp>
        <p:nvSpPr>
          <p:cNvPr id="26" name="TextBox 25"/>
          <p:cNvSpPr txBox="1"/>
          <p:nvPr/>
        </p:nvSpPr>
        <p:spPr>
          <a:xfrm>
            <a:off x="8305800" y="2762250"/>
            <a:ext cx="3162300" cy="552450"/>
          </a:xfrm>
          <a:prstGeom prst="rect">
            <a:avLst/>
          </a:prstGeom>
          <a:noFill/>
        </p:spPr>
        <p:txBody>
          <a:bodyPr wrap="square" lIns="0" rIns="0" tIns="0" bIns="0"/>
          <a:lstStyle/>
          <a:p>
            <a:pPr>
              <a:lnSpc>
                <a:spcPct val="100000"/>
              </a:lnSpc>
            </a:pPr>
            <a:r>
              <a:rPr sz="937" b="0">
                <a:solidFill>
                  <a:srgbClr val="1A2230"/>
                </a:solidFill>
                <a:latin typeface="微软雅黑"/>
                <a:ea typeface="微软雅黑"/>
              </a:rPr>
              <a:t>未覆盖：单基地、平面代价假设；「允许不执行」未与三维 DEM、多机巢耦合</a:t>
            </a:r>
          </a:p>
        </p:txBody>
      </p:sp>
      <p:sp>
        <p:nvSpPr>
          <p:cNvPr id="27" name="Rectangle 26"/>
          <p:cNvSpPr/>
          <p:nvPr/>
        </p:nvSpPr>
        <p:spPr>
          <a:xfrm>
            <a:off x="571500" y="3429000"/>
            <a:ext cx="11049000" cy="685800"/>
          </a:xfrm>
          <a:prstGeom prst="rect">
            <a:avLst/>
          </a:prstGeom>
          <a:solidFill>
            <a:srgbClr val="F7F9FC"/>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71500" y="3429000"/>
            <a:ext cx="47625" cy="6858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47700" y="3486150"/>
            <a:ext cx="1219200" cy="5715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7700" y="3486150"/>
            <a:ext cx="1219200" cy="571500"/>
          </a:xfrm>
          <a:prstGeom prst="rect">
            <a:avLst/>
          </a:prstGeom>
          <a:noFill/>
        </p:spPr>
        <p:txBody>
          <a:bodyPr wrap="square" lIns="0" rIns="0" tIns="0" bIns="0"/>
          <a:lstStyle/>
          <a:p>
            <a:pPr algn="ctr">
              <a:lnSpc>
                <a:spcPct val="100000"/>
              </a:lnSpc>
            </a:pPr>
            <a:r>
              <a:rPr sz="975" b="1">
                <a:solidFill>
                  <a:srgbClr val="FFFFFF"/>
                </a:solidFill>
                <a:latin typeface="微软雅黑"/>
                <a:ea typeface="微软雅黑"/>
              </a:rPr>
              <a:t>三维地形
代价</a:t>
            </a:r>
          </a:p>
          <a:p>
            <a:pPr algn="ctr"/>
            <a:r>
              <a:rPr sz="975" b="1">
                <a:solidFill>
                  <a:srgbClr val="FFFFFF"/>
                </a:solidFill>
                <a:latin typeface="微软雅黑"/>
                <a:ea typeface="微软雅黑"/>
              </a:rPr>
              <a:t/>
            </a:r>
          </a:p>
        </p:txBody>
      </p:sp>
      <p:sp>
        <p:nvSpPr>
          <p:cNvPr id="31" name="TextBox 30"/>
          <p:cNvSpPr txBox="1"/>
          <p:nvPr/>
        </p:nvSpPr>
        <p:spPr>
          <a:xfrm>
            <a:off x="2019300" y="3505200"/>
            <a:ext cx="6096000" cy="552450"/>
          </a:xfrm>
          <a:prstGeom prst="rect">
            <a:avLst/>
          </a:prstGeom>
          <a:noFill/>
        </p:spPr>
        <p:txBody>
          <a:bodyPr wrap="square" lIns="0" rIns="0" tIns="0" bIns="0"/>
          <a:lstStyle/>
          <a:p>
            <a:pPr>
              <a:lnSpc>
                <a:spcPct val="100000"/>
              </a:lnSpc>
            </a:pPr>
            <a:r>
              <a:rPr sz="937" b="0">
                <a:solidFill>
                  <a:srgbClr val="4A5568"/>
                </a:solidFill>
                <a:latin typeface="微软雅黑"/>
                <a:ea typeface="微软雅黑"/>
              </a:rPr>
              <a:t>最近工作：伍景琼等 2025（交通信息与安全）DEM 三维轨迹 + 电池容量评估：直线距离修正率 2.85%~18.94%；唐俊超 &amp; 胡春鹤 2025（系统工程与电子技术）三维地形风场全覆盖，邻点滚动试探；WAFC-RRAS 2023 垂直切面近似飞行代价</a:t>
            </a:r>
          </a:p>
        </p:txBody>
      </p:sp>
      <p:sp>
        <p:nvSpPr>
          <p:cNvPr id="32" name="TextBox 31"/>
          <p:cNvSpPr txBox="1"/>
          <p:nvPr/>
        </p:nvSpPr>
        <p:spPr>
          <a:xfrm>
            <a:off x="8305800" y="3505200"/>
            <a:ext cx="3162300" cy="552450"/>
          </a:xfrm>
          <a:prstGeom prst="rect">
            <a:avLst/>
          </a:prstGeom>
          <a:noFill/>
        </p:spPr>
        <p:txBody>
          <a:bodyPr wrap="square" lIns="0" rIns="0" tIns="0" bIns="0"/>
          <a:lstStyle/>
          <a:p>
            <a:pPr>
              <a:lnSpc>
                <a:spcPct val="100000"/>
              </a:lnSpc>
            </a:pPr>
            <a:r>
              <a:rPr sz="937" b="0">
                <a:solidFill>
                  <a:srgbClr val="1A2230"/>
                </a:solidFill>
                <a:latin typeface="微软雅黑"/>
                <a:ea typeface="微软雅黑"/>
              </a:rPr>
              <a:t>未覆盖：三维代价停留在路径层，很少上溯为任务分配层代价矩阵</a:t>
            </a:r>
          </a:p>
        </p:txBody>
      </p:sp>
      <p:sp>
        <p:nvSpPr>
          <p:cNvPr id="33" name="Rectangle 32"/>
          <p:cNvSpPr/>
          <p:nvPr/>
        </p:nvSpPr>
        <p:spPr>
          <a:xfrm>
            <a:off x="571500" y="4171950"/>
            <a:ext cx="11049000" cy="685800"/>
          </a:xfrm>
          <a:prstGeom prst="rect">
            <a:avLst/>
          </a:prstGeom>
          <a:solidFill>
            <a:srgbClr val="F7F9FC"/>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71500" y="4171950"/>
            <a:ext cx="47625" cy="6858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47700" y="4229100"/>
            <a:ext cx="1219200" cy="5715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7700" y="4229100"/>
            <a:ext cx="1219200" cy="571500"/>
          </a:xfrm>
          <a:prstGeom prst="rect">
            <a:avLst/>
          </a:prstGeom>
          <a:noFill/>
        </p:spPr>
        <p:txBody>
          <a:bodyPr wrap="square" lIns="0" rIns="0" tIns="0" bIns="0"/>
          <a:lstStyle/>
          <a:p>
            <a:pPr algn="ctr">
              <a:lnSpc>
                <a:spcPct val="100000"/>
              </a:lnSpc>
            </a:pPr>
            <a:r>
              <a:rPr sz="975" b="1">
                <a:solidFill>
                  <a:srgbClr val="FFFFFF"/>
                </a:solidFill>
                <a:latin typeface="微软雅黑"/>
                <a:ea typeface="微软雅黑"/>
              </a:rPr>
              <a:t>动态与
滚动时域</a:t>
            </a:r>
          </a:p>
          <a:p>
            <a:pPr algn="ctr"/>
            <a:r>
              <a:rPr sz="975" b="1">
                <a:solidFill>
                  <a:srgbClr val="FFFFFF"/>
                </a:solidFill>
                <a:latin typeface="微软雅黑"/>
                <a:ea typeface="微软雅黑"/>
              </a:rPr>
              <a:t/>
            </a:r>
          </a:p>
        </p:txBody>
      </p:sp>
      <p:sp>
        <p:nvSpPr>
          <p:cNvPr id="37" name="TextBox 36"/>
          <p:cNvSpPr txBox="1"/>
          <p:nvPr/>
        </p:nvSpPr>
        <p:spPr>
          <a:xfrm>
            <a:off x="2019300" y="4248150"/>
            <a:ext cx="6096000" cy="552450"/>
          </a:xfrm>
          <a:prstGeom prst="rect">
            <a:avLst/>
          </a:prstGeom>
          <a:noFill/>
        </p:spPr>
        <p:txBody>
          <a:bodyPr wrap="square" lIns="0" rIns="0" tIns="0" bIns="0"/>
          <a:lstStyle/>
          <a:p>
            <a:pPr>
              <a:lnSpc>
                <a:spcPct val="100000"/>
              </a:lnSpc>
            </a:pPr>
            <a:r>
              <a:rPr sz="937" b="0">
                <a:solidFill>
                  <a:srgbClr val="4A5568"/>
                </a:solidFill>
                <a:latin typeface="微软雅黑"/>
                <a:ea typeface="微软雅黑"/>
              </a:rPr>
              <a:t>最近工作：Song et al. 2016 滚动 MILP + RHTA，比 CPLEX 快 45~2100 倍；Han &amp; Guo 2025 滚动 + 自适应 PSO + 充电站（结构最相近）；Drones 2025, 9(2):107 共享无人机服务：滚动时域 + VNS，任务不可行即拒绝</a:t>
            </a:r>
          </a:p>
        </p:txBody>
      </p:sp>
      <p:sp>
        <p:nvSpPr>
          <p:cNvPr id="38" name="TextBox 37"/>
          <p:cNvSpPr txBox="1"/>
          <p:nvPr/>
        </p:nvSpPr>
        <p:spPr>
          <a:xfrm>
            <a:off x="8305800" y="4248150"/>
            <a:ext cx="3162300" cy="552450"/>
          </a:xfrm>
          <a:prstGeom prst="rect">
            <a:avLst/>
          </a:prstGeom>
          <a:noFill/>
        </p:spPr>
        <p:txBody>
          <a:bodyPr wrap="square" lIns="0" rIns="0" tIns="0" bIns="0"/>
          <a:lstStyle/>
          <a:p>
            <a:pPr>
              <a:lnSpc>
                <a:spcPct val="100000"/>
              </a:lnSpc>
            </a:pPr>
            <a:r>
              <a:rPr sz="937" b="0">
                <a:solidFill>
                  <a:srgbClr val="1A2230"/>
                </a:solidFill>
                <a:latin typeface="微软雅黑"/>
                <a:ea typeface="微软雅黑"/>
              </a:rPr>
              <a:t>未覆盖：滚动重规划未同时容纳「允许不执行 + 机巢决策 + 三维 DEM 代价」</a:t>
            </a:r>
          </a:p>
        </p:txBody>
      </p:sp>
      <p:sp>
        <p:nvSpPr>
          <p:cNvPr id="33" name="Rectangle 32"/>
          <p:cNvSpPr/>
          <p:nvPr/>
        </p:nvSpPr>
        <p:spPr>
          <a:xfrm>
            <a:off x="571500" y="4914900"/>
            <a:ext cx="11049000" cy="685800"/>
          </a:xfrm>
          <a:prstGeom prst="rect">
            <a:avLst/>
          </a:prstGeom>
          <a:solidFill>
            <a:srgbClr val="F7F9FC"/>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71500" y="4914900"/>
            <a:ext cx="47625" cy="6858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47700" y="4972050"/>
            <a:ext cx="1219200" cy="5715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7700" y="4972050"/>
            <a:ext cx="1219200" cy="571500"/>
          </a:xfrm>
          <a:prstGeom prst="rect">
            <a:avLst/>
          </a:prstGeom>
          <a:noFill/>
        </p:spPr>
        <p:txBody>
          <a:bodyPr wrap="square" lIns="0" rIns="0" tIns="0" bIns="0"/>
          <a:lstStyle/>
          <a:p>
            <a:pPr algn="ctr">
              <a:lnSpc>
                <a:spcPct val="100000"/>
              </a:lnSpc>
            </a:pPr>
            <a:r>
              <a:rPr sz="975" b="1">
                <a:solidFill>
                  <a:srgbClr val="FFFFFF"/>
                </a:solidFill>
                <a:latin typeface="微软雅黑"/>
                <a:ea typeface="微软雅黑"/>
              </a:rPr>
              <a:t>应急物流
人道救援</a:t>
            </a:r>
          </a:p>
          <a:p>
            <a:pPr algn="ctr"/>
            <a:r>
              <a:rPr sz="975" b="1">
                <a:solidFill>
                  <a:srgbClr val="FFFFFF"/>
                </a:solidFill>
                <a:latin typeface="微软雅黑"/>
                <a:ea typeface="微软雅黑"/>
              </a:rPr>
              <a:t/>
            </a:r>
          </a:p>
        </p:txBody>
      </p:sp>
      <p:sp>
        <p:nvSpPr>
          <p:cNvPr id="37" name="TextBox 36"/>
          <p:cNvSpPr txBox="1"/>
          <p:nvPr/>
        </p:nvSpPr>
        <p:spPr>
          <a:xfrm>
            <a:off x="2019300" y="4991100"/>
            <a:ext cx="6096000" cy="552450"/>
          </a:xfrm>
          <a:prstGeom prst="rect">
            <a:avLst/>
          </a:prstGeom>
          <a:noFill/>
        </p:spPr>
        <p:txBody>
          <a:bodyPr wrap="square" lIns="0" rIns="0" tIns="0" bIns="0"/>
          <a:lstStyle/>
          <a:p>
            <a:pPr>
              <a:lnSpc>
                <a:spcPct val="100000"/>
              </a:lnSpc>
            </a:pPr>
            <a:r>
              <a:rPr sz="937" b="0">
                <a:solidFill>
                  <a:srgbClr val="4A5568"/>
                </a:solidFill>
                <a:latin typeface="微软雅黑"/>
                <a:ea typeface="微软雅黑"/>
              </a:rPr>
              <a:t>最近工作：Yucesoy et al. 2025（ITOR 32(2):545）灾后无人机 OR 综述，分信息采集 / 配送 / 通信恢复三类；van Steenbergen 2024（Twente 博士论文）人道物流混型车队：UAV 只应承担最难到达的点；Zhang et al. 2025（Drones 9(7):501）GWO+CBBA 应急物资配送</a:t>
            </a:r>
          </a:p>
        </p:txBody>
      </p:sp>
      <p:sp>
        <p:nvSpPr>
          <p:cNvPr id="38" name="TextBox 37"/>
          <p:cNvSpPr txBox="1"/>
          <p:nvPr/>
        </p:nvSpPr>
        <p:spPr>
          <a:xfrm>
            <a:off x="8305800" y="4991100"/>
            <a:ext cx="3162300" cy="552450"/>
          </a:xfrm>
          <a:prstGeom prst="rect">
            <a:avLst/>
          </a:prstGeom>
          <a:noFill/>
        </p:spPr>
        <p:txBody>
          <a:bodyPr wrap="square" lIns="0" rIns="0" tIns="0" bIns="0"/>
          <a:lstStyle/>
          <a:p>
            <a:pPr>
              <a:lnSpc>
                <a:spcPct val="100000"/>
              </a:lnSpc>
            </a:pPr>
            <a:r>
              <a:rPr sz="937" b="0">
                <a:solidFill>
                  <a:srgbClr val="1A2230"/>
                </a:solidFill>
                <a:latin typeface="微软雅黑"/>
                <a:ea typeface="微软雅黑"/>
              </a:rPr>
              <a:t>未覆盖：默认需求全部响应、不容弃单；其「两阶段」指机队规模 + 任务分配，与本文同名异义</a:t>
            </a:r>
          </a:p>
        </p:txBody>
      </p:sp>
      <p:sp>
        <p:nvSpPr>
          <p:cNvPr id="39" name="Rectangle 38"/>
          <p:cNvSpPr/>
          <p:nvPr/>
        </p:nvSpPr>
        <p:spPr>
          <a:xfrm>
            <a:off x="571500" y="5657850"/>
            <a:ext cx="11049000" cy="74295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38200" y="5819775"/>
            <a:ext cx="10515600" cy="419100"/>
          </a:xfrm>
          <a:prstGeom prst="rect">
            <a:avLst/>
          </a:prstGeom>
          <a:noFill/>
        </p:spPr>
        <p:txBody>
          <a:bodyPr wrap="square" lIns="0" rIns="0" tIns="0" bIns="0"/>
          <a:lstStyle/>
          <a:p>
            <a:pPr>
              <a:lnSpc>
                <a:spcPct val="100000"/>
              </a:lnSpc>
            </a:pPr>
            <a:r>
              <a:rPr sz="1200" b="0">
                <a:solidFill>
                  <a:srgbClr val="FFFFFF"/>
                </a:solidFill>
                <a:latin typeface="微软雅黑"/>
                <a:ea typeface="微软雅黑"/>
              </a:rPr>
              <a:t>结论：检索范围内未见同时满足「任务动态到达 × 允许不执行 × 多机巢异源起降 × 三维 DEM 代价 × 滚动重规划」的工作；六条线最好的同期成果各自只覆盖其中一至两项，且均未把「放弃」建模为合法决策。</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143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81000" y="285750"/>
            <a:ext cx="57150" cy="32385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1500" y="266700"/>
            <a:ext cx="8572500" cy="381000"/>
          </a:xfrm>
          <a:prstGeom prst="rect">
            <a:avLst/>
          </a:prstGeom>
          <a:noFill/>
        </p:spPr>
        <p:txBody>
          <a:bodyPr wrap="square" lIns="0" rIns="0" tIns="0" bIns="0"/>
          <a:lstStyle/>
          <a:p>
            <a:pPr>
              <a:lnSpc>
                <a:spcPct val="100000"/>
              </a:lnSpc>
            </a:pPr>
            <a:r>
              <a:rPr sz="2400" b="1">
                <a:solidFill>
                  <a:srgbClr val="0E3F8C"/>
                </a:solidFill>
                <a:latin typeface="微软雅黑"/>
                <a:ea typeface="微软雅黑"/>
              </a:rPr>
              <a:t>研究动机：这五件事为什么必须放在一起解</a:t>
            </a:r>
          </a:p>
        </p:txBody>
      </p:sp>
      <p:sp>
        <p:nvSpPr>
          <p:cNvPr id="5" name="TextBox 4"/>
          <p:cNvSpPr txBox="1"/>
          <p:nvPr/>
        </p:nvSpPr>
        <p:spPr>
          <a:xfrm>
            <a:off x="571500" y="781050"/>
            <a:ext cx="8953500" cy="228600"/>
          </a:xfrm>
          <a:prstGeom prst="rect">
            <a:avLst/>
          </a:prstGeom>
          <a:noFill/>
        </p:spPr>
        <p:txBody>
          <a:bodyPr wrap="square" lIns="0" rIns="0" tIns="0" bIns="0"/>
          <a:lstStyle/>
          <a:p>
            <a:pPr>
              <a:lnSpc>
                <a:spcPct val="100000"/>
              </a:lnSpc>
            </a:pPr>
            <a:r>
              <a:rPr sz="1125" b="0">
                <a:solidFill>
                  <a:srgbClr val="8B97A8"/>
                </a:solidFill>
                <a:latin typeface="微软雅黑"/>
                <a:ea typeface="微软雅黑"/>
              </a:rPr>
              <a:t>不是「想做五合一」——三条耦合链说明分开解会系统性失效，一处规模论证说明为什么必须分层</a:t>
            </a:r>
          </a:p>
        </p:txBody>
      </p:sp>
      <p:sp>
        <p:nvSpPr>
          <p:cNvPr id="6" name="Rectangle 5"/>
          <p:cNvSpPr/>
          <p:nvPr/>
        </p:nvSpPr>
        <p:spPr>
          <a:xfrm>
            <a:off x="0" y="6438900"/>
            <a:ext cx="12192000" cy="419100"/>
          </a:xfrm>
          <a:prstGeom prst="rect">
            <a:avLst/>
          </a:prstGeom>
          <a:solidFill>
            <a:srgbClr val="F7F9FC"/>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81000" y="6534150"/>
            <a:ext cx="6667500" cy="209550"/>
          </a:xfrm>
          <a:prstGeom prst="rect">
            <a:avLst/>
          </a:prstGeom>
          <a:noFill/>
        </p:spPr>
        <p:txBody>
          <a:bodyPr wrap="square" lIns="0" rIns="0" tIns="0" bIns="0"/>
          <a:lstStyle/>
          <a:p>
            <a:pPr>
              <a:lnSpc>
                <a:spcPct val="100000"/>
              </a:lnSpc>
            </a:pPr>
            <a:r>
              <a:rPr sz="975" b="0">
                <a:solidFill>
                  <a:srgbClr val="8B97A8"/>
                </a:solidFill>
                <a:latin typeface="微软雅黑"/>
                <a:ea typeface="微软雅黑"/>
              </a:rPr>
              <a:t>动态滚动的多机巢多无人机协同任务分配 · 进展汇报</a:t>
            </a:r>
          </a:p>
        </p:txBody>
      </p:sp>
      <p:sp>
        <p:nvSpPr>
          <p:cNvPr id="8" name="TextBox 7"/>
          <p:cNvSpPr txBox="1"/>
          <p:nvPr/>
        </p:nvSpPr>
        <p:spPr>
          <a:xfrm>
            <a:off x="11296650" y="6572250"/>
            <a:ext cx="514350" cy="209550"/>
          </a:xfrm>
          <a:prstGeom prst="rect">
            <a:avLst/>
          </a:prstGeom>
          <a:noFill/>
        </p:spPr>
        <p:txBody>
          <a:bodyPr wrap="square" lIns="0" rIns="0" tIns="0" bIns="0"/>
          <a:lstStyle/>
          <a:p>
            <a:pPr algn="r">
              <a:lnSpc>
                <a:spcPct val="100000"/>
              </a:lnSpc>
            </a:pPr>
            <a:r>
              <a:rPr sz="1125" b="1">
                <a:solidFill>
                  <a:srgbClr val="1E4FA8"/>
                </a:solidFill>
                <a:latin typeface="微软雅黑"/>
                <a:ea typeface="微软雅黑"/>
              </a:rPr>
              <a:t>06 / 18</a:t>
            </a:r>
          </a:p>
        </p:txBody>
      </p:sp>
      <p:sp>
        <p:nvSpPr>
          <p:cNvPr id="9" name="Rectangle 8"/>
          <p:cNvSpPr/>
          <p:nvPr/>
        </p:nvSpPr>
        <p:spPr>
          <a:xfrm>
            <a:off x="571500" y="1200150"/>
            <a:ext cx="5334000" cy="2762250"/>
          </a:xfrm>
          <a:prstGeom prst="rect">
            <a:avLst/>
          </a:prstGeom>
          <a:solidFill>
            <a:srgbClr val="F7F9FC"/>
          </a:solidFill>
          <a:ln w="1270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71500" y="1200150"/>
            <a:ext cx="5334000" cy="381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2950" y="1333500"/>
            <a:ext cx="4991100" cy="228600"/>
          </a:xfrm>
          <a:prstGeom prst="rect">
            <a:avLst/>
          </a:prstGeom>
          <a:noFill/>
        </p:spPr>
        <p:txBody>
          <a:bodyPr wrap="square" lIns="0" rIns="0" tIns="0" bIns="0"/>
          <a:lstStyle/>
          <a:p>
            <a:pPr>
              <a:lnSpc>
                <a:spcPct val="100000"/>
              </a:lnSpc>
            </a:pPr>
            <a:r>
              <a:rPr sz="1125" b="1">
                <a:solidFill>
                  <a:srgbClr val="0E3F8C"/>
                </a:solidFill>
                <a:latin typeface="微软雅黑"/>
                <a:ea typeface="微软雅黑"/>
              </a:rPr>
              <a:t>① 结构性缺口：取舍不是选择，而是被迫</a:t>
            </a:r>
          </a:p>
        </p:txBody>
      </p:sp>
      <p:sp>
        <p:nvSpPr>
          <p:cNvPr id="12" name="TextBox 11"/>
          <p:cNvSpPr txBox="1"/>
          <p:nvPr/>
        </p:nvSpPr>
        <p:spPr>
          <a:xfrm>
            <a:off x="742950" y="1638300"/>
            <a:ext cx="4991100" cy="533400"/>
          </a:xfrm>
          <a:prstGeom prst="rect">
            <a:avLst/>
          </a:prstGeom>
          <a:noFill/>
        </p:spPr>
        <p:txBody>
          <a:bodyPr wrap="square" lIns="0" rIns="0" tIns="0" bIns="0"/>
          <a:lstStyle/>
          <a:p>
            <a:pPr>
              <a:lnSpc>
                <a:spcPct val="100000"/>
              </a:lnSpc>
            </a:pPr>
            <a:r>
              <a:rPr sz="937" b="0">
                <a:solidFill>
                  <a:srgbClr val="4A5568"/>
                </a:solidFill>
                <a:latin typeface="微软雅黑"/>
                <a:ea typeface="微软雅黑"/>
              </a:rPr>
              <a:t>【供给端】单架次真实能力远低于直觉：山区输电有效巡检半径 5~7 km、单架次约 6 基杆塔（大疆机场 4 在 61 km 线路上 441 架次实测）；公开口径下单机日巡检 15~50 基。</a:t>
            </a:r>
          </a:p>
        </p:txBody>
      </p:sp>
      <p:sp>
        <p:nvSpPr>
          <p:cNvPr id="13" name="TextBox 12"/>
          <p:cNvSpPr txBox="1"/>
          <p:nvPr/>
        </p:nvSpPr>
        <p:spPr>
          <a:xfrm>
            <a:off x="742950" y="2228850"/>
            <a:ext cx="4991100" cy="533400"/>
          </a:xfrm>
          <a:prstGeom prst="rect">
            <a:avLst/>
          </a:prstGeom>
          <a:noFill/>
        </p:spPr>
        <p:txBody>
          <a:bodyPr wrap="square" lIns="0" rIns="0" tIns="0" bIns="0"/>
          <a:lstStyle/>
          <a:p>
            <a:pPr>
              <a:lnSpc>
                <a:spcPct val="100000"/>
              </a:lnSpc>
            </a:pPr>
            <a:r>
              <a:rPr sz="937" b="0">
                <a:solidFill>
                  <a:srgbClr val="4A5568"/>
                </a:solidFill>
                <a:latin typeface="微软雅黑"/>
                <a:ea typeface="微软雅黑"/>
              </a:rPr>
              <a:t>【需求端】任务侧是万基量级：安溪 3057 km² 需约 60 座机巢才能覆盖；深圳 3600+ km 线路已纳入机巢自主巡检；缺陷复查与通道隐患持续插入，任务池只增不减。</a:t>
            </a:r>
          </a:p>
        </p:txBody>
      </p:sp>
      <p:sp>
        <p:nvSpPr>
          <p:cNvPr id="14" name="TextBox 13"/>
          <p:cNvSpPr txBox="1"/>
          <p:nvPr/>
        </p:nvSpPr>
        <p:spPr>
          <a:xfrm>
            <a:off x="742950" y="2819400"/>
            <a:ext cx="4991100" cy="533400"/>
          </a:xfrm>
          <a:prstGeom prst="rect">
            <a:avLst/>
          </a:prstGeom>
          <a:noFill/>
        </p:spPr>
        <p:txBody>
          <a:bodyPr wrap="square" lIns="0" rIns="0" tIns="0" bIns="0"/>
          <a:lstStyle/>
          <a:p>
            <a:pPr>
              <a:lnSpc>
                <a:spcPct val="100000"/>
              </a:lnSpc>
            </a:pPr>
            <a:r>
              <a:rPr sz="937" b="0">
                <a:solidFill>
                  <a:srgbClr val="4A5568"/>
                </a:solidFill>
                <a:latin typeface="微软雅黑"/>
                <a:ea typeface="微软雅黑"/>
              </a:rPr>
              <a:t>【峰值重合】最尖锐的时刻被两头夹住：台风、强降雨既是缺陷与通道隐患的暴涨期（需求峰值），又是可飞窗口收缩、低温与高海拔电池效率下降的时期（供给谷值）——要飞的时候最飞不动。</a:t>
            </a:r>
          </a:p>
        </p:txBody>
      </p:sp>
      <p:sp>
        <p:nvSpPr>
          <p:cNvPr id="15" name="TextBox 14"/>
          <p:cNvSpPr txBox="1"/>
          <p:nvPr/>
        </p:nvSpPr>
        <p:spPr>
          <a:xfrm>
            <a:off x="742950" y="3467100"/>
            <a:ext cx="4991100" cy="285750"/>
          </a:xfrm>
          <a:prstGeom prst="rect">
            <a:avLst/>
          </a:prstGeom>
          <a:noFill/>
        </p:spPr>
        <p:txBody>
          <a:bodyPr wrap="square" lIns="0" rIns="0" tIns="0" bIns="0"/>
          <a:lstStyle/>
          <a:p>
            <a:pPr>
              <a:lnSpc>
                <a:spcPct val="100000"/>
              </a:lnSpc>
            </a:pPr>
            <a:r>
              <a:rPr sz="975" b="1">
                <a:solidFill>
                  <a:srgbClr val="1E4FA8"/>
                </a:solidFill>
                <a:latin typeface="微软雅黑"/>
                <a:ea typeface="微软雅黑"/>
              </a:rPr>
              <a:t>→ 任务供给结构性大于机队吞吐，「全部执行」不是理想而是不可行</a:t>
            </a:r>
          </a:p>
        </p:txBody>
      </p:sp>
      <p:sp>
        <p:nvSpPr>
          <p:cNvPr id="16" name="Rectangle 15"/>
          <p:cNvSpPr/>
          <p:nvPr/>
        </p:nvSpPr>
        <p:spPr>
          <a:xfrm>
            <a:off x="6286500" y="1200150"/>
            <a:ext cx="5334000" cy="2762250"/>
          </a:xfrm>
          <a:prstGeom prst="rect">
            <a:avLst/>
          </a:prstGeom>
          <a:solidFill>
            <a:srgbClr val="F7F9FC"/>
          </a:solidFill>
          <a:ln w="1270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86500" y="1200150"/>
            <a:ext cx="5334000" cy="381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57950" y="1333500"/>
            <a:ext cx="4991100" cy="228600"/>
          </a:xfrm>
          <a:prstGeom prst="rect">
            <a:avLst/>
          </a:prstGeom>
          <a:noFill/>
        </p:spPr>
        <p:txBody>
          <a:bodyPr wrap="square" lIns="0" rIns="0" tIns="0" bIns="0"/>
          <a:lstStyle/>
          <a:p>
            <a:pPr>
              <a:lnSpc>
                <a:spcPct val="100000"/>
              </a:lnSpc>
            </a:pPr>
            <a:r>
              <a:rPr sz="1125" b="1">
                <a:solidFill>
                  <a:srgbClr val="0E3F8C"/>
                </a:solidFill>
                <a:latin typeface="微软雅黑"/>
                <a:ea typeface="微软雅黑"/>
              </a:rPr>
              <a:t>② 五要素互相决定：分开解会系统性失效</a:t>
            </a:r>
          </a:p>
        </p:txBody>
      </p:sp>
      <p:sp>
        <p:nvSpPr>
          <p:cNvPr id="19" name="TextBox 18"/>
          <p:cNvSpPr txBox="1"/>
          <p:nvPr/>
        </p:nvSpPr>
        <p:spPr>
          <a:xfrm>
            <a:off x="6457950" y="1638300"/>
            <a:ext cx="4991100" cy="533400"/>
          </a:xfrm>
          <a:prstGeom prst="rect">
            <a:avLst/>
          </a:prstGeom>
          <a:noFill/>
        </p:spPr>
        <p:txBody>
          <a:bodyPr wrap="square" lIns="0" rIns="0" tIns="0" bIns="0"/>
          <a:lstStyle/>
          <a:p>
            <a:pPr>
              <a:lnSpc>
                <a:spcPct val="100000"/>
              </a:lnSpc>
            </a:pPr>
            <a:r>
              <a:rPr sz="937" b="0">
                <a:solidFill>
                  <a:srgbClr val="4A5568"/>
                </a:solidFill>
                <a:latin typeface="微软雅黑"/>
                <a:ea typeface="微软雅黑"/>
              </a:rPr>
              <a:t>【地形 × 取舍】三维地形抬高航段代价 → 单架次可达任务数下降 → 供过于求进一步加剧；取舍因此从「可选项」变成「必选项」。</a:t>
            </a:r>
          </a:p>
        </p:txBody>
      </p:sp>
      <p:sp>
        <p:nvSpPr>
          <p:cNvPr id="20" name="TextBox 19"/>
          <p:cNvSpPr txBox="1"/>
          <p:nvPr/>
        </p:nvSpPr>
        <p:spPr>
          <a:xfrm>
            <a:off x="6457950" y="2228850"/>
            <a:ext cx="4991100" cy="533400"/>
          </a:xfrm>
          <a:prstGeom prst="rect">
            <a:avLst/>
          </a:prstGeom>
          <a:noFill/>
        </p:spPr>
        <p:txBody>
          <a:bodyPr wrap="square" lIns="0" rIns="0" tIns="0" bIns="0"/>
          <a:lstStyle/>
          <a:p>
            <a:pPr>
              <a:lnSpc>
                <a:spcPct val="100000"/>
              </a:lnSpc>
            </a:pPr>
            <a:r>
              <a:rPr sz="937" b="0">
                <a:solidFill>
                  <a:srgbClr val="4A5568"/>
                </a:solidFill>
                <a:latin typeface="微软雅黑"/>
                <a:ea typeface="微软雅黑"/>
              </a:rPr>
              <a:t>【取舍 × 机巢】选了哪些任务，才决定航线端点落在哪 → 终点机巢的最优解依赖被选中的任务集；先定巢再选任务会锁死次优。</a:t>
            </a:r>
          </a:p>
        </p:txBody>
      </p:sp>
      <p:sp>
        <p:nvSpPr>
          <p:cNvPr id="21" name="TextBox 20"/>
          <p:cNvSpPr txBox="1"/>
          <p:nvPr/>
        </p:nvSpPr>
        <p:spPr>
          <a:xfrm>
            <a:off x="6457950" y="2819400"/>
            <a:ext cx="4991100" cy="533400"/>
          </a:xfrm>
          <a:prstGeom prst="rect">
            <a:avLst/>
          </a:prstGeom>
          <a:noFill/>
        </p:spPr>
        <p:txBody>
          <a:bodyPr wrap="square" lIns="0" rIns="0" tIns="0" bIns="0"/>
          <a:lstStyle/>
          <a:p>
            <a:pPr>
              <a:lnSpc>
                <a:spcPct val="100000"/>
              </a:lnSpc>
            </a:pPr>
            <a:r>
              <a:rPr sz="937" b="0">
                <a:solidFill>
                  <a:srgbClr val="4A5568"/>
                </a:solidFill>
                <a:latin typeface="微软雅黑"/>
                <a:ea typeface="微软雅黑"/>
              </a:rPr>
              <a:t>【动态 × 滚动】新任务到达 + 机队位置 / 剩余航程 / 可用性变化 → 上一周期的「选择 + 分配 + 落巢」整体失效，增量修补会累积承诺偏差。</a:t>
            </a:r>
          </a:p>
        </p:txBody>
      </p:sp>
      <p:sp>
        <p:nvSpPr>
          <p:cNvPr id="22" name="TextBox 21"/>
          <p:cNvSpPr txBox="1"/>
          <p:nvPr/>
        </p:nvSpPr>
        <p:spPr>
          <a:xfrm>
            <a:off x="6457950" y="3467100"/>
            <a:ext cx="4991100" cy="285750"/>
          </a:xfrm>
          <a:prstGeom prst="rect">
            <a:avLst/>
          </a:prstGeom>
          <a:noFill/>
        </p:spPr>
        <p:txBody>
          <a:bodyPr wrap="square" lIns="0" rIns="0" tIns="0" bIns="0"/>
          <a:lstStyle/>
          <a:p>
            <a:pPr>
              <a:lnSpc>
                <a:spcPct val="100000"/>
              </a:lnSpc>
            </a:pPr>
            <a:r>
              <a:rPr sz="975" b="1">
                <a:solidFill>
                  <a:srgbClr val="1E4FA8"/>
                </a:solidFill>
                <a:latin typeface="微软雅黑"/>
                <a:ea typeface="微软雅黑"/>
              </a:rPr>
              <a:t>→ 五条特征不是并列清单，而是互相决定的耦合体</a:t>
            </a:r>
          </a:p>
        </p:txBody>
      </p:sp>
      <p:sp>
        <p:nvSpPr>
          <p:cNvPr id="23" name="Rectangle 22"/>
          <p:cNvSpPr/>
          <p:nvPr/>
        </p:nvSpPr>
        <p:spPr>
          <a:xfrm>
            <a:off x="571500" y="4076700"/>
            <a:ext cx="11049000" cy="914400"/>
          </a:xfrm>
          <a:prstGeom prst="rect">
            <a:avLst/>
          </a:prstGeom>
          <a:solidFill>
            <a:srgbClr val="F0F5FC"/>
          </a:solidFill>
          <a:ln w="1270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2950" y="4191000"/>
            <a:ext cx="10706100" cy="228600"/>
          </a:xfrm>
          <a:prstGeom prst="rect">
            <a:avLst/>
          </a:prstGeom>
          <a:noFill/>
        </p:spPr>
        <p:txBody>
          <a:bodyPr wrap="square" lIns="0" rIns="0" tIns="0" bIns="0"/>
          <a:lstStyle/>
          <a:p>
            <a:pPr>
              <a:lnSpc>
                <a:spcPct val="100000"/>
              </a:lnSpc>
            </a:pPr>
            <a:r>
              <a:rPr sz="1125" b="1">
                <a:solidFill>
                  <a:srgbClr val="0E3F8C"/>
                </a:solidFill>
                <a:latin typeface="微软雅黑"/>
                <a:ea typeface="微软雅黑"/>
              </a:rPr>
              <a:t>③ 五合一带来的组合规模，决定了必须分层求解</a:t>
            </a:r>
          </a:p>
        </p:txBody>
      </p:sp>
      <p:sp>
        <p:nvSpPr>
          <p:cNvPr id="25" name="TextBox 24"/>
          <p:cNvSpPr txBox="1"/>
          <p:nvPr/>
        </p:nvSpPr>
        <p:spPr>
          <a:xfrm>
            <a:off x="742950" y="4476750"/>
            <a:ext cx="10706100" cy="457200"/>
          </a:xfrm>
          <a:prstGeom prst="rect">
            <a:avLst/>
          </a:prstGeom>
          <a:noFill/>
        </p:spPr>
        <p:txBody>
          <a:bodyPr wrap="square" lIns="0" rIns="0" tIns="0" bIns="0"/>
          <a:lstStyle/>
          <a:p>
            <a:pPr>
              <a:lnSpc>
                <a:spcPct val="100000"/>
              </a:lnSpc>
            </a:pPr>
            <a:r>
              <a:rPr sz="1200" b="0">
                <a:solidFill>
                  <a:srgbClr val="1A2230"/>
                </a:solidFill>
                <a:latin typeface="微软雅黑"/>
                <a:ea typeface="微软雅黑"/>
              </a:rPr>
              <a:t>y × x × π × z 全量联合的决策规模随 N! 与 B^U 增长，且每个滚动周期都要重算 → 单阶段在周期内不可解；分层后：选择层只做排序与边际比查表，把 N 压到 n_cand / n_sel（能力无关 / 卡 cap(t)），精优化层再在缩后的空间里做四类决策联合。</a:t>
            </a:r>
          </a:p>
        </p:txBody>
      </p:sp>
      <p:sp>
        <p:nvSpPr>
          <p:cNvPr id="26" name="Rectangle 25"/>
          <p:cNvSpPr/>
          <p:nvPr/>
        </p:nvSpPr>
        <p:spPr>
          <a:xfrm>
            <a:off x="571500" y="5086350"/>
            <a:ext cx="11049000" cy="8763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8200" y="5295900"/>
            <a:ext cx="10515600" cy="457200"/>
          </a:xfrm>
          <a:prstGeom prst="rect">
            <a:avLst/>
          </a:prstGeom>
          <a:noFill/>
        </p:spPr>
        <p:txBody>
          <a:bodyPr wrap="square" lIns="0" rIns="0" tIns="0" bIns="0"/>
          <a:lstStyle/>
          <a:p>
            <a:pPr>
              <a:lnSpc>
                <a:spcPct val="100000"/>
              </a:lnSpc>
            </a:pPr>
            <a:r>
              <a:rPr sz="1200" b="0">
                <a:solidFill>
                  <a:srgbClr val="FFFFFF"/>
                </a:solidFill>
                <a:latin typeface="微软雅黑"/>
                <a:ea typeface="微软雅黑"/>
              </a:rPr>
              <a:t>动机的准确表述：不是「把五个要素凑齐显得新」，而是这五件事在物理上互相决定、分开解会系统性失效；而它们合一带来的组合爆炸，又决定了必须在滚动周期内分层求解——先按能力缩空间，再在缩后空间里精优化。</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143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81000" y="285750"/>
            <a:ext cx="57150" cy="32385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1500" y="266700"/>
            <a:ext cx="8572500" cy="381000"/>
          </a:xfrm>
          <a:prstGeom prst="rect">
            <a:avLst/>
          </a:prstGeom>
          <a:noFill/>
        </p:spPr>
        <p:txBody>
          <a:bodyPr wrap="square" lIns="0" rIns="0" tIns="0" bIns="0"/>
          <a:lstStyle/>
          <a:p>
            <a:pPr>
              <a:lnSpc>
                <a:spcPct val="100000"/>
              </a:lnSpc>
            </a:pPr>
            <a:r>
              <a:rPr sz="2400" b="1">
                <a:solidFill>
                  <a:srgbClr val="0E3F8C"/>
                </a:solidFill>
                <a:latin typeface="微软雅黑"/>
                <a:ea typeface="微软雅黑"/>
              </a:rPr>
              <a:t>适用边界：方法能覆盖什么，也说清不覆盖什么</a:t>
            </a:r>
          </a:p>
        </p:txBody>
      </p:sp>
      <p:sp>
        <p:nvSpPr>
          <p:cNvPr id="5" name="TextBox 4"/>
          <p:cNvSpPr txBox="1"/>
          <p:nvPr/>
        </p:nvSpPr>
        <p:spPr>
          <a:xfrm>
            <a:off x="571500" y="781050"/>
            <a:ext cx="8953500" cy="228600"/>
          </a:xfrm>
          <a:prstGeom prst="rect">
            <a:avLst/>
          </a:prstGeom>
          <a:noFill/>
        </p:spPr>
        <p:txBody>
          <a:bodyPr wrap="square" lIns="0" rIns="0" tIns="0" bIns="0"/>
          <a:lstStyle/>
          <a:p>
            <a:pPr>
              <a:lnSpc>
                <a:spcPct val="100000"/>
              </a:lnSpc>
            </a:pPr>
            <a:r>
              <a:rPr sz="1125" b="0">
                <a:solidFill>
                  <a:srgbClr val="8B97A8"/>
                </a:solidFill>
                <a:latin typeface="微软雅黑"/>
                <a:ea typeface="微软雅黑"/>
              </a:rPr>
              <a:t>五条构造性特征决定适配范围——当前实例化与全部实验证据都落在广域巡检</a:t>
            </a:r>
          </a:p>
        </p:txBody>
      </p:sp>
      <p:sp>
        <p:nvSpPr>
          <p:cNvPr id="6" name="Rectangle 5"/>
          <p:cNvSpPr/>
          <p:nvPr/>
        </p:nvSpPr>
        <p:spPr>
          <a:xfrm>
            <a:off x="0" y="6438900"/>
            <a:ext cx="12192000" cy="419100"/>
          </a:xfrm>
          <a:prstGeom prst="rect">
            <a:avLst/>
          </a:prstGeom>
          <a:solidFill>
            <a:srgbClr val="F7F9FC"/>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81000" y="6534150"/>
            <a:ext cx="6667500" cy="209550"/>
          </a:xfrm>
          <a:prstGeom prst="rect">
            <a:avLst/>
          </a:prstGeom>
          <a:noFill/>
        </p:spPr>
        <p:txBody>
          <a:bodyPr wrap="square" lIns="0" rIns="0" tIns="0" bIns="0"/>
          <a:lstStyle/>
          <a:p>
            <a:pPr>
              <a:lnSpc>
                <a:spcPct val="100000"/>
              </a:lnSpc>
            </a:pPr>
            <a:r>
              <a:rPr sz="975" b="0">
                <a:solidFill>
                  <a:srgbClr val="8B97A8"/>
                </a:solidFill>
                <a:latin typeface="微软雅黑"/>
                <a:ea typeface="微软雅黑"/>
              </a:rPr>
              <a:t>动态滚动的多机巢多无人机协同任务分配 · 进展汇报</a:t>
            </a:r>
          </a:p>
        </p:txBody>
      </p:sp>
      <p:sp>
        <p:nvSpPr>
          <p:cNvPr id="8" name="TextBox 7"/>
          <p:cNvSpPr txBox="1"/>
          <p:nvPr/>
        </p:nvSpPr>
        <p:spPr>
          <a:xfrm>
            <a:off x="11296650" y="6572250"/>
            <a:ext cx="514350" cy="209550"/>
          </a:xfrm>
          <a:prstGeom prst="rect">
            <a:avLst/>
          </a:prstGeom>
          <a:noFill/>
        </p:spPr>
        <p:txBody>
          <a:bodyPr wrap="square" lIns="0" rIns="0" tIns="0" bIns="0"/>
          <a:lstStyle/>
          <a:p>
            <a:pPr algn="r">
              <a:lnSpc>
                <a:spcPct val="100000"/>
              </a:lnSpc>
            </a:pPr>
            <a:r>
              <a:rPr sz="1125" b="1">
                <a:solidFill>
                  <a:srgbClr val="1E4FA8"/>
                </a:solidFill>
                <a:latin typeface="微软雅黑"/>
                <a:ea typeface="微软雅黑"/>
              </a:rPr>
              <a:t>07 / 18</a:t>
            </a:r>
          </a:p>
        </p:txBody>
      </p:sp>
      <p:sp>
        <p:nvSpPr>
          <p:cNvPr id="9" name="Rectangle 8"/>
          <p:cNvSpPr/>
          <p:nvPr/>
        </p:nvSpPr>
        <p:spPr>
          <a:xfrm>
            <a:off x="571500" y="1200150"/>
            <a:ext cx="11049000" cy="3067050"/>
          </a:xfrm>
          <a:prstGeom prst="rect">
            <a:avLst/>
          </a:prstGeom>
          <a:noFill/>
          <a:ln w="1270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71500" y="1200150"/>
            <a:ext cx="11049000" cy="571500"/>
          </a:xfrm>
          <a:prstGeom prst="rect">
            <a:avLst/>
          </a:prstGeom>
          <a:solidFill>
            <a:srgbClr val="E8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71500" y="1771650"/>
            <a:ext cx="2190750" cy="2133600"/>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71500" y="1257300"/>
            <a:ext cx="2190750" cy="495300"/>
          </a:xfrm>
          <a:prstGeom prst="rect">
            <a:avLst/>
          </a:prstGeom>
          <a:noFill/>
        </p:spPr>
        <p:txBody>
          <a:bodyPr wrap="square" lIns="0" rIns="0" tIns="0" bIns="0"/>
          <a:lstStyle/>
          <a:p>
            <a:pPr algn="ctr">
              <a:lnSpc>
                <a:spcPct val="100000"/>
              </a:lnSpc>
            </a:pPr>
            <a:r>
              <a:rPr sz="975" b="1">
                <a:solidFill>
                  <a:srgbClr val="0E3F8C"/>
                </a:solidFill>
                <a:latin typeface="微软雅黑"/>
                <a:ea typeface="微软雅黑"/>
              </a:rPr>
              <a:t>场景 × 特征</a:t>
            </a:r>
          </a:p>
        </p:txBody>
      </p:sp>
      <p:sp>
        <p:nvSpPr>
          <p:cNvPr id="13" name="TextBox 12"/>
          <p:cNvSpPr txBox="1"/>
          <p:nvPr/>
        </p:nvSpPr>
        <p:spPr>
          <a:xfrm>
            <a:off x="2762250" y="1276350"/>
            <a:ext cx="1771650" cy="209550"/>
          </a:xfrm>
          <a:prstGeom prst="rect">
            <a:avLst/>
          </a:prstGeom>
          <a:noFill/>
        </p:spPr>
        <p:txBody>
          <a:bodyPr wrap="square" lIns="0" rIns="0" tIns="0" bIns="0"/>
          <a:lstStyle/>
          <a:p>
            <a:pPr algn="ctr">
              <a:lnSpc>
                <a:spcPct val="100000"/>
              </a:lnSpc>
            </a:pPr>
            <a:r>
              <a:rPr sz="975" b="1">
                <a:solidFill>
                  <a:srgbClr val="0E3F8C"/>
                </a:solidFill>
                <a:latin typeface="微软雅黑"/>
                <a:ea typeface="微软雅黑"/>
              </a:rPr>
              <a:t>持续任务流</a:t>
            </a:r>
          </a:p>
        </p:txBody>
      </p:sp>
      <p:sp>
        <p:nvSpPr>
          <p:cNvPr id="14" name="TextBox 13"/>
          <p:cNvSpPr txBox="1"/>
          <p:nvPr/>
        </p:nvSpPr>
        <p:spPr>
          <a:xfrm>
            <a:off x="2762250" y="1504950"/>
            <a:ext cx="1771650" cy="190500"/>
          </a:xfrm>
          <a:prstGeom prst="rect">
            <a:avLst/>
          </a:prstGeom>
          <a:noFill/>
        </p:spPr>
        <p:txBody>
          <a:bodyPr wrap="square" lIns="0" rIns="0" tIns="0" bIns="0"/>
          <a:lstStyle/>
          <a:p>
            <a:pPr algn="ctr">
              <a:lnSpc>
                <a:spcPct val="100000"/>
              </a:lnSpc>
            </a:pPr>
            <a:r>
              <a:rPr sz="825" b="0">
                <a:solidFill>
                  <a:srgbClr val="1E4FA8"/>
                </a:solidFill>
                <a:latin typeface="微软雅黑"/>
                <a:ea typeface="微软雅黑"/>
              </a:rPr>
              <a:t>↳ 滚动时域周期重规划</a:t>
            </a:r>
          </a:p>
        </p:txBody>
      </p:sp>
      <p:sp>
        <p:nvSpPr>
          <p:cNvPr id="15" name="TextBox 14"/>
          <p:cNvSpPr txBox="1"/>
          <p:nvPr/>
        </p:nvSpPr>
        <p:spPr>
          <a:xfrm>
            <a:off x="4533900" y="1276350"/>
            <a:ext cx="1771650" cy="209550"/>
          </a:xfrm>
          <a:prstGeom prst="rect">
            <a:avLst/>
          </a:prstGeom>
          <a:noFill/>
        </p:spPr>
        <p:txBody>
          <a:bodyPr wrap="square" lIns="0" rIns="0" tIns="0" bIns="0"/>
          <a:lstStyle/>
          <a:p>
            <a:pPr algn="ctr">
              <a:lnSpc>
                <a:spcPct val="100000"/>
              </a:lnSpc>
            </a:pPr>
            <a:r>
              <a:rPr sz="975" b="1">
                <a:solidFill>
                  <a:srgbClr val="0E3F8C"/>
                </a:solidFill>
                <a:latin typeface="微软雅黑"/>
                <a:ea typeface="微软雅黑"/>
              </a:rPr>
              <a:t>供过于求 · 须取舍</a:t>
            </a:r>
          </a:p>
        </p:txBody>
      </p:sp>
      <p:sp>
        <p:nvSpPr>
          <p:cNvPr id="16" name="TextBox 15"/>
          <p:cNvSpPr txBox="1"/>
          <p:nvPr/>
        </p:nvSpPr>
        <p:spPr>
          <a:xfrm>
            <a:off x="4533900" y="1504950"/>
            <a:ext cx="1771650" cy="190500"/>
          </a:xfrm>
          <a:prstGeom prst="rect">
            <a:avLst/>
          </a:prstGeom>
          <a:noFill/>
        </p:spPr>
        <p:txBody>
          <a:bodyPr wrap="square" lIns="0" rIns="0" tIns="0" bIns="0"/>
          <a:lstStyle/>
          <a:p>
            <a:pPr algn="ctr">
              <a:lnSpc>
                <a:spcPct val="100000"/>
              </a:lnSpc>
            </a:pPr>
            <a:r>
              <a:rPr sz="825" b="0">
                <a:solidFill>
                  <a:srgbClr val="1E4FA8"/>
                </a:solidFill>
                <a:latin typeface="微软雅黑"/>
                <a:ea typeface="微软雅黑"/>
              </a:rPr>
              <a:t>↳ 选择性执行 y = 0</a:t>
            </a:r>
          </a:p>
        </p:txBody>
      </p:sp>
      <p:sp>
        <p:nvSpPr>
          <p:cNvPr id="17" name="TextBox 16"/>
          <p:cNvSpPr txBox="1"/>
          <p:nvPr/>
        </p:nvSpPr>
        <p:spPr>
          <a:xfrm>
            <a:off x="6305550" y="1276350"/>
            <a:ext cx="1771650" cy="209550"/>
          </a:xfrm>
          <a:prstGeom prst="rect">
            <a:avLst/>
          </a:prstGeom>
          <a:noFill/>
        </p:spPr>
        <p:txBody>
          <a:bodyPr wrap="square" lIns="0" rIns="0" tIns="0" bIns="0"/>
          <a:lstStyle/>
          <a:p>
            <a:pPr algn="ctr">
              <a:lnSpc>
                <a:spcPct val="100000"/>
              </a:lnSpc>
            </a:pPr>
            <a:r>
              <a:rPr sz="975" b="1">
                <a:solidFill>
                  <a:srgbClr val="0E3F8C"/>
                </a:solidFill>
                <a:latin typeface="微软雅黑"/>
                <a:ea typeface="微软雅黑"/>
              </a:rPr>
              <a:t>多起降点</a:t>
            </a:r>
          </a:p>
        </p:txBody>
      </p:sp>
      <p:sp>
        <p:nvSpPr>
          <p:cNvPr id="18" name="TextBox 17"/>
          <p:cNvSpPr txBox="1"/>
          <p:nvPr/>
        </p:nvSpPr>
        <p:spPr>
          <a:xfrm>
            <a:off x="6305550" y="1504950"/>
            <a:ext cx="1771650" cy="190500"/>
          </a:xfrm>
          <a:prstGeom prst="rect">
            <a:avLst/>
          </a:prstGeom>
          <a:noFill/>
        </p:spPr>
        <p:txBody>
          <a:bodyPr wrap="square" lIns="0" rIns="0" tIns="0" bIns="0"/>
          <a:lstStyle/>
          <a:p>
            <a:pPr algn="ctr">
              <a:lnSpc>
                <a:spcPct val="100000"/>
              </a:lnSpc>
            </a:pPr>
            <a:r>
              <a:rPr sz="825" b="0">
                <a:solidFill>
                  <a:srgbClr val="1E4FA8"/>
                </a:solidFill>
                <a:latin typeface="微软雅黑"/>
                <a:ea typeface="微软雅黑"/>
              </a:rPr>
              <a:t>↳ 终点机巢 z 择优</a:t>
            </a:r>
          </a:p>
        </p:txBody>
      </p:sp>
      <p:sp>
        <p:nvSpPr>
          <p:cNvPr id="19" name="TextBox 18"/>
          <p:cNvSpPr txBox="1"/>
          <p:nvPr/>
        </p:nvSpPr>
        <p:spPr>
          <a:xfrm>
            <a:off x="8077200" y="1276350"/>
            <a:ext cx="1771650" cy="209550"/>
          </a:xfrm>
          <a:prstGeom prst="rect">
            <a:avLst/>
          </a:prstGeom>
          <a:noFill/>
        </p:spPr>
        <p:txBody>
          <a:bodyPr wrap="square" lIns="0" rIns="0" tIns="0" bIns="0"/>
          <a:lstStyle/>
          <a:p>
            <a:pPr algn="ctr">
              <a:lnSpc>
                <a:spcPct val="100000"/>
              </a:lnSpc>
            </a:pPr>
            <a:r>
              <a:rPr sz="975" b="1">
                <a:solidFill>
                  <a:srgbClr val="0E3F8C"/>
                </a:solidFill>
                <a:latin typeface="微软雅黑"/>
                <a:ea typeface="微软雅黑"/>
              </a:rPr>
              <a:t>三维地形代价</a:t>
            </a:r>
          </a:p>
        </p:txBody>
      </p:sp>
      <p:sp>
        <p:nvSpPr>
          <p:cNvPr id="20" name="TextBox 19"/>
          <p:cNvSpPr txBox="1"/>
          <p:nvPr/>
        </p:nvSpPr>
        <p:spPr>
          <a:xfrm>
            <a:off x="8077200" y="1504950"/>
            <a:ext cx="1771650" cy="190500"/>
          </a:xfrm>
          <a:prstGeom prst="rect">
            <a:avLst/>
          </a:prstGeom>
          <a:noFill/>
        </p:spPr>
        <p:txBody>
          <a:bodyPr wrap="square" lIns="0" rIns="0" tIns="0" bIns="0"/>
          <a:lstStyle/>
          <a:p>
            <a:pPr algn="ctr">
              <a:lnSpc>
                <a:spcPct val="100000"/>
              </a:lnSpc>
            </a:pPr>
            <a:r>
              <a:rPr sz="825" b="0">
                <a:solidFill>
                  <a:srgbClr val="1E4FA8"/>
                </a:solidFill>
                <a:latin typeface="微软雅黑"/>
                <a:ea typeface="微软雅黑"/>
              </a:rPr>
              <a:t>↳ DEM 垂直切面代价场</a:t>
            </a:r>
          </a:p>
        </p:txBody>
      </p:sp>
      <p:sp>
        <p:nvSpPr>
          <p:cNvPr id="21" name="TextBox 20"/>
          <p:cNvSpPr txBox="1"/>
          <p:nvPr/>
        </p:nvSpPr>
        <p:spPr>
          <a:xfrm>
            <a:off x="9848850" y="1276350"/>
            <a:ext cx="1771650" cy="209550"/>
          </a:xfrm>
          <a:prstGeom prst="rect">
            <a:avLst/>
          </a:prstGeom>
          <a:noFill/>
        </p:spPr>
        <p:txBody>
          <a:bodyPr wrap="square" lIns="0" rIns="0" tIns="0" bIns="0"/>
          <a:lstStyle/>
          <a:p>
            <a:pPr algn="ctr">
              <a:lnSpc>
                <a:spcPct val="100000"/>
              </a:lnSpc>
            </a:pPr>
            <a:r>
              <a:rPr sz="975" b="1">
                <a:solidFill>
                  <a:srgbClr val="0E3F8C"/>
                </a:solidFill>
                <a:latin typeface="微软雅黑"/>
                <a:ea typeface="微软雅黑"/>
              </a:rPr>
              <a:t>机队能力受限</a:t>
            </a:r>
          </a:p>
        </p:txBody>
      </p:sp>
      <p:sp>
        <p:nvSpPr>
          <p:cNvPr id="22" name="TextBox 21"/>
          <p:cNvSpPr txBox="1"/>
          <p:nvPr/>
        </p:nvSpPr>
        <p:spPr>
          <a:xfrm>
            <a:off x="9848850" y="1504950"/>
            <a:ext cx="1771650" cy="190500"/>
          </a:xfrm>
          <a:prstGeom prst="rect">
            <a:avLst/>
          </a:prstGeom>
          <a:noFill/>
        </p:spPr>
        <p:txBody>
          <a:bodyPr wrap="square" lIns="0" rIns="0" tIns="0" bIns="0"/>
          <a:lstStyle/>
          <a:p>
            <a:pPr algn="ctr">
              <a:lnSpc>
                <a:spcPct val="100000"/>
              </a:lnSpc>
            </a:pPr>
            <a:r>
              <a:rPr sz="825" b="0">
                <a:solidFill>
                  <a:srgbClr val="1E4FA8"/>
                </a:solidFill>
                <a:latin typeface="微软雅黑"/>
                <a:ea typeface="微软雅黑"/>
              </a:rPr>
              <a:t>↳ cap(t) 规模—能力解耦</a:t>
            </a:r>
          </a:p>
        </p:txBody>
      </p:sp>
      <p:sp>
        <p:nvSpPr>
          <p:cNvPr id="23" name="TextBox 22"/>
          <p:cNvSpPr txBox="1"/>
          <p:nvPr/>
        </p:nvSpPr>
        <p:spPr>
          <a:xfrm>
            <a:off x="571500" y="1924050"/>
            <a:ext cx="2190750" cy="247650"/>
          </a:xfrm>
          <a:prstGeom prst="rect">
            <a:avLst/>
          </a:prstGeom>
          <a:noFill/>
        </p:spPr>
        <p:txBody>
          <a:bodyPr wrap="square" lIns="0" rIns="0" tIns="0" bIns="0"/>
          <a:lstStyle/>
          <a:p>
            <a:pPr algn="ctr">
              <a:lnSpc>
                <a:spcPct val="100000"/>
              </a:lnSpc>
            </a:pPr>
            <a:r>
              <a:rPr sz="1012" b="1">
                <a:solidFill>
                  <a:srgbClr val="1A2230"/>
                </a:solidFill>
                <a:latin typeface="微软雅黑"/>
                <a:ea typeface="微软雅黑"/>
              </a:rPr>
              <a:t>广域基础设施巡检</a:t>
            </a:r>
          </a:p>
        </p:txBody>
      </p:sp>
      <p:sp>
        <p:nvSpPr>
          <p:cNvPr id="24" name="Rectangle 23"/>
          <p:cNvSpPr/>
          <p:nvPr/>
        </p:nvSpPr>
        <p:spPr>
          <a:xfrm>
            <a:off x="3333750" y="1905000"/>
            <a:ext cx="628650" cy="2667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333750" y="1962150"/>
            <a:ext cx="628650" cy="171450"/>
          </a:xfrm>
          <a:prstGeom prst="rect">
            <a:avLst/>
          </a:prstGeom>
          <a:noFill/>
        </p:spPr>
        <p:txBody>
          <a:bodyPr wrap="square" lIns="0" rIns="0" tIns="0" bIns="0"/>
          <a:lstStyle/>
          <a:p>
            <a:pPr algn="ctr">
              <a:lnSpc>
                <a:spcPct val="100000"/>
              </a:lnSpc>
            </a:pPr>
            <a:r>
              <a:rPr sz="825" b="0">
                <a:solidFill>
                  <a:srgbClr val="FFFFFF"/>
                </a:solidFill>
                <a:latin typeface="微软雅黑"/>
                <a:ea typeface="微软雅黑"/>
              </a:rPr>
              <a:t>完全适配</a:t>
            </a:r>
          </a:p>
        </p:txBody>
      </p:sp>
      <p:sp>
        <p:nvSpPr>
          <p:cNvPr id="26" name="Rectangle 25"/>
          <p:cNvSpPr/>
          <p:nvPr/>
        </p:nvSpPr>
        <p:spPr>
          <a:xfrm>
            <a:off x="5105400" y="1905000"/>
            <a:ext cx="628650" cy="2667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105400" y="1962150"/>
            <a:ext cx="628650" cy="171450"/>
          </a:xfrm>
          <a:prstGeom prst="rect">
            <a:avLst/>
          </a:prstGeom>
          <a:noFill/>
        </p:spPr>
        <p:txBody>
          <a:bodyPr wrap="square" lIns="0" rIns="0" tIns="0" bIns="0"/>
          <a:lstStyle/>
          <a:p>
            <a:pPr algn="ctr">
              <a:lnSpc>
                <a:spcPct val="100000"/>
              </a:lnSpc>
            </a:pPr>
            <a:r>
              <a:rPr sz="825" b="0">
                <a:solidFill>
                  <a:srgbClr val="FFFFFF"/>
                </a:solidFill>
                <a:latin typeface="微软雅黑"/>
                <a:ea typeface="微软雅黑"/>
              </a:rPr>
              <a:t>完全适配</a:t>
            </a:r>
          </a:p>
        </p:txBody>
      </p:sp>
      <p:sp>
        <p:nvSpPr>
          <p:cNvPr id="28" name="Rectangle 27"/>
          <p:cNvSpPr/>
          <p:nvPr/>
        </p:nvSpPr>
        <p:spPr>
          <a:xfrm>
            <a:off x="6877050" y="1905000"/>
            <a:ext cx="628650" cy="2667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77050" y="1962150"/>
            <a:ext cx="628650" cy="171450"/>
          </a:xfrm>
          <a:prstGeom prst="rect">
            <a:avLst/>
          </a:prstGeom>
          <a:noFill/>
        </p:spPr>
        <p:txBody>
          <a:bodyPr wrap="square" lIns="0" rIns="0" tIns="0" bIns="0"/>
          <a:lstStyle/>
          <a:p>
            <a:pPr algn="ctr">
              <a:lnSpc>
                <a:spcPct val="100000"/>
              </a:lnSpc>
            </a:pPr>
            <a:r>
              <a:rPr sz="825" b="0">
                <a:solidFill>
                  <a:srgbClr val="FFFFFF"/>
                </a:solidFill>
                <a:latin typeface="微软雅黑"/>
                <a:ea typeface="微软雅黑"/>
              </a:rPr>
              <a:t>完全适配</a:t>
            </a:r>
          </a:p>
        </p:txBody>
      </p:sp>
      <p:sp>
        <p:nvSpPr>
          <p:cNvPr id="30" name="Rectangle 29"/>
          <p:cNvSpPr/>
          <p:nvPr/>
        </p:nvSpPr>
        <p:spPr>
          <a:xfrm>
            <a:off x="8648700" y="1905000"/>
            <a:ext cx="628650" cy="2667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648700" y="1962150"/>
            <a:ext cx="628650" cy="171450"/>
          </a:xfrm>
          <a:prstGeom prst="rect">
            <a:avLst/>
          </a:prstGeom>
          <a:noFill/>
        </p:spPr>
        <p:txBody>
          <a:bodyPr wrap="square" lIns="0" rIns="0" tIns="0" bIns="0"/>
          <a:lstStyle/>
          <a:p>
            <a:pPr algn="ctr">
              <a:lnSpc>
                <a:spcPct val="100000"/>
              </a:lnSpc>
            </a:pPr>
            <a:r>
              <a:rPr sz="825" b="0">
                <a:solidFill>
                  <a:srgbClr val="FFFFFF"/>
                </a:solidFill>
                <a:latin typeface="微软雅黑"/>
                <a:ea typeface="微软雅黑"/>
              </a:rPr>
              <a:t>完全适配</a:t>
            </a:r>
          </a:p>
        </p:txBody>
      </p:sp>
      <p:sp>
        <p:nvSpPr>
          <p:cNvPr id="32" name="Rectangle 31"/>
          <p:cNvSpPr/>
          <p:nvPr/>
        </p:nvSpPr>
        <p:spPr>
          <a:xfrm>
            <a:off x="10420350" y="1905000"/>
            <a:ext cx="628650" cy="2667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420350" y="1962150"/>
            <a:ext cx="628650" cy="171450"/>
          </a:xfrm>
          <a:prstGeom prst="rect">
            <a:avLst/>
          </a:prstGeom>
          <a:noFill/>
        </p:spPr>
        <p:txBody>
          <a:bodyPr wrap="square" lIns="0" rIns="0" tIns="0" bIns="0"/>
          <a:lstStyle/>
          <a:p>
            <a:pPr algn="ctr">
              <a:lnSpc>
                <a:spcPct val="100000"/>
              </a:lnSpc>
            </a:pPr>
            <a:r>
              <a:rPr sz="825" b="0">
                <a:solidFill>
                  <a:srgbClr val="FFFFFF"/>
                </a:solidFill>
                <a:latin typeface="微软雅黑"/>
                <a:ea typeface="微软雅黑"/>
              </a:rPr>
              <a:t>完全适配</a:t>
            </a:r>
          </a:p>
        </p:txBody>
      </p:sp>
      <p:sp>
        <p:nvSpPr>
          <p:cNvPr id="34" name="TextBox 33"/>
          <p:cNvSpPr txBox="1"/>
          <p:nvPr/>
        </p:nvSpPr>
        <p:spPr>
          <a:xfrm>
            <a:off x="571500" y="2457450"/>
            <a:ext cx="2190750" cy="247650"/>
          </a:xfrm>
          <a:prstGeom prst="rect">
            <a:avLst/>
          </a:prstGeom>
          <a:noFill/>
        </p:spPr>
        <p:txBody>
          <a:bodyPr wrap="square" lIns="0" rIns="0" tIns="0" bIns="0"/>
          <a:lstStyle/>
          <a:p>
            <a:pPr algn="ctr">
              <a:lnSpc>
                <a:spcPct val="100000"/>
              </a:lnSpc>
            </a:pPr>
            <a:r>
              <a:rPr sz="1012" b="1">
                <a:solidFill>
                  <a:srgbClr val="1A2230"/>
                </a:solidFill>
                <a:latin typeface="微软雅黑"/>
                <a:ea typeface="微软雅黑"/>
              </a:rPr>
              <a:t>应急物资派送</a:t>
            </a:r>
          </a:p>
        </p:txBody>
      </p:sp>
      <p:sp>
        <p:nvSpPr>
          <p:cNvPr id="35" name="Rectangle 34"/>
          <p:cNvSpPr/>
          <p:nvPr/>
        </p:nvSpPr>
        <p:spPr>
          <a:xfrm>
            <a:off x="3333750" y="2438400"/>
            <a:ext cx="628650" cy="2667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333750" y="2495550"/>
            <a:ext cx="628650" cy="171450"/>
          </a:xfrm>
          <a:prstGeom prst="rect">
            <a:avLst/>
          </a:prstGeom>
          <a:noFill/>
        </p:spPr>
        <p:txBody>
          <a:bodyPr wrap="square" lIns="0" rIns="0" tIns="0" bIns="0"/>
          <a:lstStyle/>
          <a:p>
            <a:pPr algn="ctr">
              <a:lnSpc>
                <a:spcPct val="100000"/>
              </a:lnSpc>
            </a:pPr>
            <a:r>
              <a:rPr sz="825" b="0">
                <a:solidFill>
                  <a:srgbClr val="FFFFFF"/>
                </a:solidFill>
                <a:latin typeface="微软雅黑"/>
                <a:ea typeface="微软雅黑"/>
              </a:rPr>
              <a:t>完全适配</a:t>
            </a:r>
          </a:p>
        </p:txBody>
      </p:sp>
      <p:sp>
        <p:nvSpPr>
          <p:cNvPr id="37" name="Rectangle 36"/>
          <p:cNvSpPr/>
          <p:nvPr/>
        </p:nvSpPr>
        <p:spPr>
          <a:xfrm>
            <a:off x="5105400" y="2438400"/>
            <a:ext cx="628650" cy="2667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105400" y="2495550"/>
            <a:ext cx="628650" cy="171450"/>
          </a:xfrm>
          <a:prstGeom prst="rect">
            <a:avLst/>
          </a:prstGeom>
          <a:noFill/>
        </p:spPr>
        <p:txBody>
          <a:bodyPr wrap="square" lIns="0" rIns="0" tIns="0" bIns="0"/>
          <a:lstStyle/>
          <a:p>
            <a:pPr algn="ctr">
              <a:lnSpc>
                <a:spcPct val="100000"/>
              </a:lnSpc>
            </a:pPr>
            <a:r>
              <a:rPr sz="825" b="0">
                <a:solidFill>
                  <a:srgbClr val="FFFFFF"/>
                </a:solidFill>
                <a:latin typeface="微软雅黑"/>
                <a:ea typeface="微软雅黑"/>
              </a:rPr>
              <a:t>完全适配</a:t>
            </a:r>
          </a:p>
        </p:txBody>
      </p:sp>
      <p:sp>
        <p:nvSpPr>
          <p:cNvPr id="39" name="Rectangle 38"/>
          <p:cNvSpPr/>
          <p:nvPr/>
        </p:nvSpPr>
        <p:spPr>
          <a:xfrm>
            <a:off x="6877050" y="2438400"/>
            <a:ext cx="628650" cy="2667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877050" y="2495550"/>
            <a:ext cx="628650" cy="171450"/>
          </a:xfrm>
          <a:prstGeom prst="rect">
            <a:avLst/>
          </a:prstGeom>
          <a:noFill/>
        </p:spPr>
        <p:txBody>
          <a:bodyPr wrap="square" lIns="0" rIns="0" tIns="0" bIns="0"/>
          <a:lstStyle/>
          <a:p>
            <a:pPr algn="ctr">
              <a:lnSpc>
                <a:spcPct val="100000"/>
              </a:lnSpc>
            </a:pPr>
            <a:r>
              <a:rPr sz="825" b="0">
                <a:solidFill>
                  <a:srgbClr val="FFFFFF"/>
                </a:solidFill>
                <a:latin typeface="微软雅黑"/>
                <a:ea typeface="微软雅黑"/>
              </a:rPr>
              <a:t>完全适配</a:t>
            </a:r>
          </a:p>
        </p:txBody>
      </p:sp>
      <p:sp>
        <p:nvSpPr>
          <p:cNvPr id="41" name="Rectangle 40"/>
          <p:cNvSpPr/>
          <p:nvPr/>
        </p:nvSpPr>
        <p:spPr>
          <a:xfrm>
            <a:off x="8648700" y="2438400"/>
            <a:ext cx="628650" cy="2667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648700" y="2495550"/>
            <a:ext cx="628650" cy="171450"/>
          </a:xfrm>
          <a:prstGeom prst="rect">
            <a:avLst/>
          </a:prstGeom>
          <a:noFill/>
        </p:spPr>
        <p:txBody>
          <a:bodyPr wrap="square" lIns="0" rIns="0" tIns="0" bIns="0"/>
          <a:lstStyle/>
          <a:p>
            <a:pPr algn="ctr">
              <a:lnSpc>
                <a:spcPct val="100000"/>
              </a:lnSpc>
            </a:pPr>
            <a:r>
              <a:rPr sz="825" b="0">
                <a:solidFill>
                  <a:srgbClr val="FFFFFF"/>
                </a:solidFill>
                <a:latin typeface="微软雅黑"/>
                <a:ea typeface="微软雅黑"/>
              </a:rPr>
              <a:t>完全适配</a:t>
            </a:r>
          </a:p>
        </p:txBody>
      </p:sp>
      <p:sp>
        <p:nvSpPr>
          <p:cNvPr id="43" name="Rectangle 42"/>
          <p:cNvSpPr/>
          <p:nvPr/>
        </p:nvSpPr>
        <p:spPr>
          <a:xfrm>
            <a:off x="10420350" y="2438400"/>
            <a:ext cx="628650" cy="2667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420350" y="2495550"/>
            <a:ext cx="628650" cy="171450"/>
          </a:xfrm>
          <a:prstGeom prst="rect">
            <a:avLst/>
          </a:prstGeom>
          <a:noFill/>
        </p:spPr>
        <p:txBody>
          <a:bodyPr wrap="square" lIns="0" rIns="0" tIns="0" bIns="0"/>
          <a:lstStyle/>
          <a:p>
            <a:pPr algn="ctr">
              <a:lnSpc>
                <a:spcPct val="100000"/>
              </a:lnSpc>
            </a:pPr>
            <a:r>
              <a:rPr sz="825" b="0">
                <a:solidFill>
                  <a:srgbClr val="FFFFFF"/>
                </a:solidFill>
                <a:latin typeface="微软雅黑"/>
                <a:ea typeface="微软雅黑"/>
              </a:rPr>
              <a:t>完全适配</a:t>
            </a:r>
          </a:p>
        </p:txBody>
      </p:sp>
      <p:sp>
        <p:nvSpPr>
          <p:cNvPr id="45" name="TextBox 44"/>
          <p:cNvSpPr txBox="1"/>
          <p:nvPr/>
        </p:nvSpPr>
        <p:spPr>
          <a:xfrm>
            <a:off x="571500" y="2990850"/>
            <a:ext cx="2190750" cy="247650"/>
          </a:xfrm>
          <a:prstGeom prst="rect">
            <a:avLst/>
          </a:prstGeom>
          <a:noFill/>
        </p:spPr>
        <p:txBody>
          <a:bodyPr wrap="square" lIns="0" rIns="0" tIns="0" bIns="0"/>
          <a:lstStyle/>
          <a:p>
            <a:pPr algn="ctr">
              <a:lnSpc>
                <a:spcPct val="100000"/>
              </a:lnSpc>
            </a:pPr>
            <a:r>
              <a:rPr sz="1012" b="1">
                <a:solidFill>
                  <a:srgbClr val="1A2230"/>
                </a:solidFill>
                <a:latin typeface="微软雅黑"/>
                <a:ea typeface="微软雅黑"/>
              </a:rPr>
              <a:t>态势感知与目标核查</a:t>
            </a:r>
          </a:p>
        </p:txBody>
      </p:sp>
      <p:sp>
        <p:nvSpPr>
          <p:cNvPr id="46" name="Rectangle 45"/>
          <p:cNvSpPr/>
          <p:nvPr/>
        </p:nvSpPr>
        <p:spPr>
          <a:xfrm>
            <a:off x="3333750" y="2971800"/>
            <a:ext cx="628650" cy="2667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333750" y="3028950"/>
            <a:ext cx="628650" cy="171450"/>
          </a:xfrm>
          <a:prstGeom prst="rect">
            <a:avLst/>
          </a:prstGeom>
          <a:noFill/>
        </p:spPr>
        <p:txBody>
          <a:bodyPr wrap="square" lIns="0" rIns="0" tIns="0" bIns="0"/>
          <a:lstStyle/>
          <a:p>
            <a:pPr algn="ctr">
              <a:lnSpc>
                <a:spcPct val="100000"/>
              </a:lnSpc>
            </a:pPr>
            <a:r>
              <a:rPr sz="825" b="0">
                <a:solidFill>
                  <a:srgbClr val="FFFFFF"/>
                </a:solidFill>
                <a:latin typeface="微软雅黑"/>
                <a:ea typeface="微软雅黑"/>
              </a:rPr>
              <a:t>完全适配</a:t>
            </a:r>
          </a:p>
        </p:txBody>
      </p:sp>
      <p:sp>
        <p:nvSpPr>
          <p:cNvPr id="48" name="Rectangle 47"/>
          <p:cNvSpPr/>
          <p:nvPr/>
        </p:nvSpPr>
        <p:spPr>
          <a:xfrm>
            <a:off x="5105400" y="2971800"/>
            <a:ext cx="628650" cy="2667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105400" y="3028950"/>
            <a:ext cx="628650" cy="171450"/>
          </a:xfrm>
          <a:prstGeom prst="rect">
            <a:avLst/>
          </a:prstGeom>
          <a:noFill/>
        </p:spPr>
        <p:txBody>
          <a:bodyPr wrap="square" lIns="0" rIns="0" tIns="0" bIns="0"/>
          <a:lstStyle/>
          <a:p>
            <a:pPr algn="ctr">
              <a:lnSpc>
                <a:spcPct val="100000"/>
              </a:lnSpc>
            </a:pPr>
            <a:r>
              <a:rPr sz="825" b="0">
                <a:solidFill>
                  <a:srgbClr val="FFFFFF"/>
                </a:solidFill>
                <a:latin typeface="微软雅黑"/>
                <a:ea typeface="微软雅黑"/>
              </a:rPr>
              <a:t>完全适配</a:t>
            </a:r>
          </a:p>
        </p:txBody>
      </p:sp>
      <p:sp>
        <p:nvSpPr>
          <p:cNvPr id="50" name="Rectangle 49"/>
          <p:cNvSpPr/>
          <p:nvPr/>
        </p:nvSpPr>
        <p:spPr>
          <a:xfrm>
            <a:off x="6877050" y="2971800"/>
            <a:ext cx="628650" cy="266700"/>
          </a:xfrm>
          <a:prstGeom prst="rect">
            <a:avLst/>
          </a:prstGeom>
          <a:solidFill>
            <a:srgbClr val="E8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877050" y="3028950"/>
            <a:ext cx="628650" cy="171450"/>
          </a:xfrm>
          <a:prstGeom prst="rect">
            <a:avLst/>
          </a:prstGeom>
          <a:noFill/>
        </p:spPr>
        <p:txBody>
          <a:bodyPr wrap="square" lIns="0" rIns="0" tIns="0" bIns="0"/>
          <a:lstStyle/>
          <a:p>
            <a:pPr algn="ctr">
              <a:lnSpc>
                <a:spcPct val="100000"/>
              </a:lnSpc>
            </a:pPr>
            <a:r>
              <a:rPr sz="825" b="0">
                <a:solidFill>
                  <a:srgbClr val="1E4FA8"/>
                </a:solidFill>
                <a:latin typeface="微软雅黑"/>
                <a:ea typeface="微软雅黑"/>
              </a:rPr>
              <a:t>部分适配</a:t>
            </a:r>
          </a:p>
        </p:txBody>
      </p:sp>
      <p:sp>
        <p:nvSpPr>
          <p:cNvPr id="52" name="Rectangle 51"/>
          <p:cNvSpPr/>
          <p:nvPr/>
        </p:nvSpPr>
        <p:spPr>
          <a:xfrm>
            <a:off x="8648700" y="2971800"/>
            <a:ext cx="628650" cy="266700"/>
          </a:xfrm>
          <a:prstGeom prst="rect">
            <a:avLst/>
          </a:prstGeom>
          <a:solidFill>
            <a:srgbClr val="E8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648700" y="3028950"/>
            <a:ext cx="628650" cy="171450"/>
          </a:xfrm>
          <a:prstGeom prst="rect">
            <a:avLst/>
          </a:prstGeom>
          <a:noFill/>
        </p:spPr>
        <p:txBody>
          <a:bodyPr wrap="square" lIns="0" rIns="0" tIns="0" bIns="0"/>
          <a:lstStyle/>
          <a:p>
            <a:pPr algn="ctr">
              <a:lnSpc>
                <a:spcPct val="100000"/>
              </a:lnSpc>
            </a:pPr>
            <a:r>
              <a:rPr sz="825" b="0">
                <a:solidFill>
                  <a:srgbClr val="1E4FA8"/>
                </a:solidFill>
                <a:latin typeface="微软雅黑"/>
                <a:ea typeface="微软雅黑"/>
              </a:rPr>
              <a:t>部分适配</a:t>
            </a:r>
          </a:p>
        </p:txBody>
      </p:sp>
      <p:sp>
        <p:nvSpPr>
          <p:cNvPr id="54" name="Rectangle 53"/>
          <p:cNvSpPr/>
          <p:nvPr/>
        </p:nvSpPr>
        <p:spPr>
          <a:xfrm>
            <a:off x="10420350" y="2971800"/>
            <a:ext cx="628650" cy="2667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0420350" y="3028950"/>
            <a:ext cx="628650" cy="171450"/>
          </a:xfrm>
          <a:prstGeom prst="rect">
            <a:avLst/>
          </a:prstGeom>
          <a:noFill/>
        </p:spPr>
        <p:txBody>
          <a:bodyPr wrap="square" lIns="0" rIns="0" tIns="0" bIns="0"/>
          <a:lstStyle/>
          <a:p>
            <a:pPr algn="ctr">
              <a:lnSpc>
                <a:spcPct val="100000"/>
              </a:lnSpc>
            </a:pPr>
            <a:r>
              <a:rPr sz="825" b="0">
                <a:solidFill>
                  <a:srgbClr val="FFFFFF"/>
                </a:solidFill>
                <a:latin typeface="微软雅黑"/>
                <a:ea typeface="微软雅黑"/>
              </a:rPr>
              <a:t>完全适配</a:t>
            </a:r>
          </a:p>
        </p:txBody>
      </p:sp>
      <p:sp>
        <p:nvSpPr>
          <p:cNvPr id="56" name="TextBox 55"/>
          <p:cNvSpPr txBox="1"/>
          <p:nvPr/>
        </p:nvSpPr>
        <p:spPr>
          <a:xfrm>
            <a:off x="571500" y="3524250"/>
            <a:ext cx="2190750" cy="247650"/>
          </a:xfrm>
          <a:prstGeom prst="rect">
            <a:avLst/>
          </a:prstGeom>
          <a:noFill/>
        </p:spPr>
        <p:txBody>
          <a:bodyPr wrap="square" lIns="0" rIns="0" tIns="0" bIns="0"/>
          <a:lstStyle/>
          <a:p>
            <a:pPr algn="ctr">
              <a:lnSpc>
                <a:spcPct val="100000"/>
              </a:lnSpc>
            </a:pPr>
            <a:r>
              <a:rPr sz="1012" b="1">
                <a:solidFill>
                  <a:srgbClr val="1A2230"/>
                </a:solidFill>
                <a:latin typeface="微软雅黑"/>
                <a:ea typeface="微软雅黑"/>
              </a:rPr>
              <a:t>城市即时配送</a:t>
            </a:r>
          </a:p>
        </p:txBody>
      </p:sp>
      <p:sp>
        <p:nvSpPr>
          <p:cNvPr id="57" name="Rectangle 56"/>
          <p:cNvSpPr/>
          <p:nvPr/>
        </p:nvSpPr>
        <p:spPr>
          <a:xfrm>
            <a:off x="3333750" y="3505200"/>
            <a:ext cx="628650" cy="2667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333750" y="3562350"/>
            <a:ext cx="628650" cy="171450"/>
          </a:xfrm>
          <a:prstGeom prst="rect">
            <a:avLst/>
          </a:prstGeom>
          <a:noFill/>
        </p:spPr>
        <p:txBody>
          <a:bodyPr wrap="square" lIns="0" rIns="0" tIns="0" bIns="0"/>
          <a:lstStyle/>
          <a:p>
            <a:pPr algn="ctr">
              <a:lnSpc>
                <a:spcPct val="100000"/>
              </a:lnSpc>
            </a:pPr>
            <a:r>
              <a:rPr sz="825" b="0">
                <a:solidFill>
                  <a:srgbClr val="FFFFFF"/>
                </a:solidFill>
                <a:latin typeface="微软雅黑"/>
                <a:ea typeface="微软雅黑"/>
              </a:rPr>
              <a:t>完全适配</a:t>
            </a:r>
          </a:p>
        </p:txBody>
      </p:sp>
      <p:sp>
        <p:nvSpPr>
          <p:cNvPr id="59" name="Rectangle 58"/>
          <p:cNvSpPr/>
          <p:nvPr/>
        </p:nvSpPr>
        <p:spPr>
          <a:xfrm>
            <a:off x="5105400" y="3505200"/>
            <a:ext cx="628650" cy="266700"/>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105400" y="3562350"/>
            <a:ext cx="628650" cy="171450"/>
          </a:xfrm>
          <a:prstGeom prst="rect">
            <a:avLst/>
          </a:prstGeom>
          <a:noFill/>
        </p:spPr>
        <p:txBody>
          <a:bodyPr wrap="square" lIns="0" rIns="0" tIns="0" bIns="0"/>
          <a:lstStyle/>
          <a:p>
            <a:pPr algn="ctr">
              <a:lnSpc>
                <a:spcPct val="100000"/>
              </a:lnSpc>
            </a:pPr>
            <a:r>
              <a:rPr sz="825" b="0">
                <a:solidFill>
                  <a:srgbClr val="8B97A8"/>
                </a:solidFill>
                <a:latin typeface="微软雅黑"/>
                <a:ea typeface="微软雅黑"/>
              </a:rPr>
              <a:t>较弱</a:t>
            </a:r>
          </a:p>
        </p:txBody>
      </p:sp>
      <p:sp>
        <p:nvSpPr>
          <p:cNvPr id="61" name="Rectangle 60"/>
          <p:cNvSpPr/>
          <p:nvPr/>
        </p:nvSpPr>
        <p:spPr>
          <a:xfrm>
            <a:off x="6877050" y="3505200"/>
            <a:ext cx="628650" cy="266700"/>
          </a:xfrm>
          <a:prstGeom prst="rect">
            <a:avLst/>
          </a:prstGeom>
          <a:solidFill>
            <a:srgbClr val="E8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877050" y="3562350"/>
            <a:ext cx="628650" cy="171450"/>
          </a:xfrm>
          <a:prstGeom prst="rect">
            <a:avLst/>
          </a:prstGeom>
          <a:noFill/>
        </p:spPr>
        <p:txBody>
          <a:bodyPr wrap="square" lIns="0" rIns="0" tIns="0" bIns="0"/>
          <a:lstStyle/>
          <a:p>
            <a:pPr algn="ctr">
              <a:lnSpc>
                <a:spcPct val="100000"/>
              </a:lnSpc>
            </a:pPr>
            <a:r>
              <a:rPr sz="825" b="0">
                <a:solidFill>
                  <a:srgbClr val="1E4FA8"/>
                </a:solidFill>
                <a:latin typeface="微软雅黑"/>
                <a:ea typeface="微软雅黑"/>
              </a:rPr>
              <a:t>部分适配</a:t>
            </a:r>
          </a:p>
        </p:txBody>
      </p:sp>
      <p:sp>
        <p:nvSpPr>
          <p:cNvPr id="63" name="Rectangle 62"/>
          <p:cNvSpPr/>
          <p:nvPr/>
        </p:nvSpPr>
        <p:spPr>
          <a:xfrm>
            <a:off x="8648700" y="3505200"/>
            <a:ext cx="628650" cy="266700"/>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648700" y="3562350"/>
            <a:ext cx="628650" cy="171450"/>
          </a:xfrm>
          <a:prstGeom prst="rect">
            <a:avLst/>
          </a:prstGeom>
          <a:noFill/>
        </p:spPr>
        <p:txBody>
          <a:bodyPr wrap="square" lIns="0" rIns="0" tIns="0" bIns="0"/>
          <a:lstStyle/>
          <a:p>
            <a:pPr algn="ctr">
              <a:lnSpc>
                <a:spcPct val="100000"/>
              </a:lnSpc>
            </a:pPr>
            <a:r>
              <a:rPr sz="825" b="0">
                <a:solidFill>
                  <a:srgbClr val="8B97A8"/>
                </a:solidFill>
                <a:latin typeface="微软雅黑"/>
                <a:ea typeface="微软雅黑"/>
              </a:rPr>
              <a:t>较弱</a:t>
            </a:r>
          </a:p>
        </p:txBody>
      </p:sp>
      <p:sp>
        <p:nvSpPr>
          <p:cNvPr id="65" name="Rectangle 64"/>
          <p:cNvSpPr/>
          <p:nvPr/>
        </p:nvSpPr>
        <p:spPr>
          <a:xfrm>
            <a:off x="10420350" y="3505200"/>
            <a:ext cx="628650" cy="266700"/>
          </a:xfrm>
          <a:prstGeom prst="rect">
            <a:avLst/>
          </a:prstGeom>
          <a:solidFill>
            <a:srgbClr val="E8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0420350" y="3562350"/>
            <a:ext cx="628650" cy="171450"/>
          </a:xfrm>
          <a:prstGeom prst="rect">
            <a:avLst/>
          </a:prstGeom>
          <a:noFill/>
        </p:spPr>
        <p:txBody>
          <a:bodyPr wrap="square" lIns="0" rIns="0" tIns="0" bIns="0"/>
          <a:lstStyle/>
          <a:p>
            <a:pPr algn="ctr">
              <a:lnSpc>
                <a:spcPct val="100000"/>
              </a:lnSpc>
            </a:pPr>
            <a:r>
              <a:rPr sz="825" b="0">
                <a:solidFill>
                  <a:srgbClr val="1E4FA8"/>
                </a:solidFill>
                <a:latin typeface="微软雅黑"/>
                <a:ea typeface="微软雅黑"/>
              </a:rPr>
              <a:t>部分适配</a:t>
            </a:r>
          </a:p>
        </p:txBody>
      </p:sp>
      <p:sp>
        <p:nvSpPr>
          <p:cNvPr id="67" name="TextBox 66"/>
          <p:cNvSpPr txBox="1"/>
          <p:nvPr/>
        </p:nvSpPr>
        <p:spPr>
          <a:xfrm>
            <a:off x="571500" y="3981450"/>
            <a:ext cx="571500" cy="209550"/>
          </a:xfrm>
          <a:prstGeom prst="rect">
            <a:avLst/>
          </a:prstGeom>
          <a:noFill/>
        </p:spPr>
        <p:txBody>
          <a:bodyPr wrap="square" lIns="0" rIns="0" tIns="0" bIns="0"/>
          <a:lstStyle/>
          <a:p>
            <a:pPr>
              <a:lnSpc>
                <a:spcPct val="100000"/>
              </a:lnSpc>
            </a:pPr>
            <a:r>
              <a:rPr sz="900" b="1">
                <a:solidFill>
                  <a:srgbClr val="8B97A8"/>
                </a:solidFill>
                <a:latin typeface="微软雅黑"/>
                <a:ea typeface="微软雅黑"/>
              </a:rPr>
              <a:t>图例</a:t>
            </a:r>
          </a:p>
        </p:txBody>
      </p:sp>
      <p:sp>
        <p:nvSpPr>
          <p:cNvPr id="68" name="Rectangle 67"/>
          <p:cNvSpPr/>
          <p:nvPr/>
        </p:nvSpPr>
        <p:spPr>
          <a:xfrm>
            <a:off x="1238250" y="3962400"/>
            <a:ext cx="628650" cy="2286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238250" y="4000500"/>
            <a:ext cx="628650" cy="171450"/>
          </a:xfrm>
          <a:prstGeom prst="rect">
            <a:avLst/>
          </a:prstGeom>
          <a:noFill/>
        </p:spPr>
        <p:txBody>
          <a:bodyPr wrap="square" lIns="0" rIns="0" tIns="0" bIns="0"/>
          <a:lstStyle/>
          <a:p>
            <a:pPr algn="ctr">
              <a:lnSpc>
                <a:spcPct val="100000"/>
              </a:lnSpc>
            </a:pPr>
            <a:r>
              <a:rPr sz="825" b="0">
                <a:solidFill>
                  <a:srgbClr val="FFFFFF"/>
                </a:solidFill>
                <a:latin typeface="微软雅黑"/>
                <a:ea typeface="微软雅黑"/>
              </a:rPr>
              <a:t>完全适配</a:t>
            </a:r>
          </a:p>
        </p:txBody>
      </p:sp>
      <p:sp>
        <p:nvSpPr>
          <p:cNvPr id="70" name="TextBox 69"/>
          <p:cNvSpPr txBox="1"/>
          <p:nvPr/>
        </p:nvSpPr>
        <p:spPr>
          <a:xfrm>
            <a:off x="1962150" y="4000500"/>
            <a:ext cx="1219200" cy="171450"/>
          </a:xfrm>
          <a:prstGeom prst="rect">
            <a:avLst/>
          </a:prstGeom>
          <a:noFill/>
        </p:spPr>
        <p:txBody>
          <a:bodyPr wrap="square" lIns="0" rIns="0" tIns="0" bIns="0"/>
          <a:lstStyle/>
          <a:p>
            <a:pPr>
              <a:lnSpc>
                <a:spcPct val="100000"/>
              </a:lnSpc>
            </a:pPr>
            <a:r>
              <a:rPr sz="862" b="0">
                <a:solidFill>
                  <a:srgbClr val="8B97A8"/>
                </a:solidFill>
                <a:latin typeface="微软雅黑"/>
                <a:ea typeface="微软雅黑"/>
              </a:rPr>
              <a:t>可直接实例化</a:t>
            </a:r>
          </a:p>
        </p:txBody>
      </p:sp>
      <p:sp>
        <p:nvSpPr>
          <p:cNvPr id="71" name="Rectangle 70"/>
          <p:cNvSpPr/>
          <p:nvPr/>
        </p:nvSpPr>
        <p:spPr>
          <a:xfrm>
            <a:off x="3238500" y="3962400"/>
            <a:ext cx="628650" cy="228600"/>
          </a:xfrm>
          <a:prstGeom prst="rect">
            <a:avLst/>
          </a:prstGeom>
          <a:solidFill>
            <a:srgbClr val="E8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3238500" y="4000500"/>
            <a:ext cx="628650" cy="171450"/>
          </a:xfrm>
          <a:prstGeom prst="rect">
            <a:avLst/>
          </a:prstGeom>
          <a:noFill/>
        </p:spPr>
        <p:txBody>
          <a:bodyPr wrap="square" lIns="0" rIns="0" tIns="0" bIns="0"/>
          <a:lstStyle/>
          <a:p>
            <a:pPr algn="ctr">
              <a:lnSpc>
                <a:spcPct val="100000"/>
              </a:lnSpc>
            </a:pPr>
            <a:r>
              <a:rPr sz="825" b="0">
                <a:solidFill>
                  <a:srgbClr val="1E4FA8"/>
                </a:solidFill>
                <a:latin typeface="微软雅黑"/>
                <a:ea typeface="微软雅黑"/>
              </a:rPr>
              <a:t>部分适配</a:t>
            </a:r>
          </a:p>
        </p:txBody>
      </p:sp>
      <p:sp>
        <p:nvSpPr>
          <p:cNvPr id="73" name="TextBox 72"/>
          <p:cNvSpPr txBox="1"/>
          <p:nvPr/>
        </p:nvSpPr>
        <p:spPr>
          <a:xfrm>
            <a:off x="3962400" y="4000500"/>
            <a:ext cx="1219200" cy="171450"/>
          </a:xfrm>
          <a:prstGeom prst="rect">
            <a:avLst/>
          </a:prstGeom>
          <a:noFill/>
        </p:spPr>
        <p:txBody>
          <a:bodyPr wrap="square" lIns="0" rIns="0" tIns="0" bIns="0"/>
          <a:lstStyle/>
          <a:p>
            <a:pPr>
              <a:lnSpc>
                <a:spcPct val="100000"/>
              </a:lnSpc>
            </a:pPr>
            <a:r>
              <a:rPr sz="862" b="0">
                <a:solidFill>
                  <a:srgbClr val="8B97A8"/>
                </a:solidFill>
                <a:latin typeface="微软雅黑"/>
                <a:ea typeface="微软雅黑"/>
              </a:rPr>
              <a:t>需调整后实例化</a:t>
            </a:r>
          </a:p>
        </p:txBody>
      </p:sp>
      <p:sp>
        <p:nvSpPr>
          <p:cNvPr id="74" name="Rectangle 73"/>
          <p:cNvSpPr/>
          <p:nvPr/>
        </p:nvSpPr>
        <p:spPr>
          <a:xfrm>
            <a:off x="5238750" y="3962400"/>
            <a:ext cx="628650" cy="228600"/>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5238750" y="4000500"/>
            <a:ext cx="628650" cy="171450"/>
          </a:xfrm>
          <a:prstGeom prst="rect">
            <a:avLst/>
          </a:prstGeom>
          <a:noFill/>
        </p:spPr>
        <p:txBody>
          <a:bodyPr wrap="square" lIns="0" rIns="0" tIns="0" bIns="0"/>
          <a:lstStyle/>
          <a:p>
            <a:pPr algn="ctr">
              <a:lnSpc>
                <a:spcPct val="100000"/>
              </a:lnSpc>
            </a:pPr>
            <a:r>
              <a:rPr sz="825" b="0">
                <a:solidFill>
                  <a:srgbClr val="8B97A8"/>
                </a:solidFill>
                <a:latin typeface="微软雅黑"/>
                <a:ea typeface="微软雅黑"/>
              </a:rPr>
              <a:t>较弱</a:t>
            </a:r>
          </a:p>
        </p:txBody>
      </p:sp>
      <p:sp>
        <p:nvSpPr>
          <p:cNvPr id="76" name="TextBox 75"/>
          <p:cNvSpPr txBox="1"/>
          <p:nvPr/>
        </p:nvSpPr>
        <p:spPr>
          <a:xfrm>
            <a:off x="5962650" y="4000500"/>
            <a:ext cx="1219200" cy="171450"/>
          </a:xfrm>
          <a:prstGeom prst="rect">
            <a:avLst/>
          </a:prstGeom>
          <a:noFill/>
        </p:spPr>
        <p:txBody>
          <a:bodyPr wrap="square" lIns="0" rIns="0" tIns="0" bIns="0"/>
          <a:lstStyle/>
          <a:p>
            <a:pPr>
              <a:lnSpc>
                <a:spcPct val="100000"/>
              </a:lnSpc>
            </a:pPr>
            <a:r>
              <a:rPr sz="862" b="0">
                <a:solidFill>
                  <a:srgbClr val="8B97A8"/>
                </a:solidFill>
                <a:latin typeface="微软雅黑"/>
                <a:ea typeface="微软雅黑"/>
              </a:rPr>
              <a:t>非本方法目标场景</a:t>
            </a:r>
          </a:p>
        </p:txBody>
      </p:sp>
      <p:sp>
        <p:nvSpPr>
          <p:cNvPr id="77" name="Rectangle 76"/>
          <p:cNvSpPr/>
          <p:nvPr/>
        </p:nvSpPr>
        <p:spPr>
          <a:xfrm>
            <a:off x="571500" y="4552950"/>
            <a:ext cx="11049000" cy="142875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838200" y="4762500"/>
            <a:ext cx="10515600" cy="1009650"/>
          </a:xfrm>
          <a:prstGeom prst="rect">
            <a:avLst/>
          </a:prstGeom>
          <a:noFill/>
        </p:spPr>
        <p:txBody>
          <a:bodyPr wrap="square" lIns="0" rIns="0" tIns="0" bIns="0"/>
          <a:lstStyle/>
          <a:p>
            <a:pPr>
              <a:lnSpc>
                <a:spcPct val="100000"/>
              </a:lnSpc>
            </a:pPr>
            <a:r>
              <a:rPr sz="1200" b="0">
                <a:solidFill>
                  <a:srgbClr val="FFFFFF"/>
                </a:solidFill>
                <a:latin typeface="微软雅黑"/>
                <a:ea typeface="微软雅黑"/>
              </a:rPr>
              <a:t>诚实口径：问题模型与算法对四条线通用；但当前实例化（ASTER GDEM 三维代价场 + 8 机巢）与全部实验均在广域巡检场景，应急与感知属同构推广，尚未实例化验证。</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143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81000" y="285750"/>
            <a:ext cx="57150" cy="32385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1500" y="266700"/>
            <a:ext cx="8572500" cy="381000"/>
          </a:xfrm>
          <a:prstGeom prst="rect">
            <a:avLst/>
          </a:prstGeom>
          <a:noFill/>
        </p:spPr>
        <p:txBody>
          <a:bodyPr wrap="square" lIns="0" rIns="0" tIns="0" bIns="0"/>
          <a:lstStyle/>
          <a:p>
            <a:pPr>
              <a:lnSpc>
                <a:spcPct val="100000"/>
              </a:lnSpc>
            </a:pPr>
            <a:r>
              <a:rPr sz="2400" b="1">
                <a:solidFill>
                  <a:srgbClr val="0E3F8C"/>
                </a:solidFill>
                <a:latin typeface="微软雅黑"/>
                <a:ea typeface="微软雅黑"/>
              </a:rPr>
              <a:t>研究进展与下一步</a:t>
            </a:r>
          </a:p>
        </p:txBody>
      </p:sp>
      <p:sp>
        <p:nvSpPr>
          <p:cNvPr id="5" name="TextBox 4"/>
          <p:cNvSpPr txBox="1"/>
          <p:nvPr/>
        </p:nvSpPr>
        <p:spPr>
          <a:xfrm>
            <a:off x="571500" y="781050"/>
            <a:ext cx="8953500" cy="228600"/>
          </a:xfrm>
          <a:prstGeom prst="rect">
            <a:avLst/>
          </a:prstGeom>
          <a:noFill/>
        </p:spPr>
        <p:txBody>
          <a:bodyPr wrap="square" lIns="0" rIns="0" tIns="0" bIns="0"/>
          <a:lstStyle/>
          <a:p>
            <a:pPr>
              <a:lnSpc>
                <a:spcPct val="100000"/>
              </a:lnSpc>
            </a:pPr>
            <a:r>
              <a:rPr sz="1125" b="0">
                <a:solidFill>
                  <a:srgbClr val="8B97A8"/>
                </a:solidFill>
                <a:latin typeface="微软雅黑"/>
                <a:ea typeface="微软雅黑"/>
              </a:rPr>
              <a:t>方法链已闭环，实验证据正在补齐——按当前事实口径汇报，不做未经验证的宣称</a:t>
            </a:r>
          </a:p>
        </p:txBody>
      </p:sp>
      <p:sp>
        <p:nvSpPr>
          <p:cNvPr id="6" name="Rectangle 5"/>
          <p:cNvSpPr/>
          <p:nvPr/>
        </p:nvSpPr>
        <p:spPr>
          <a:xfrm>
            <a:off x="0" y="6438900"/>
            <a:ext cx="12192000" cy="419100"/>
          </a:xfrm>
          <a:prstGeom prst="rect">
            <a:avLst/>
          </a:prstGeom>
          <a:solidFill>
            <a:srgbClr val="F7F9FC"/>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81000" y="6534150"/>
            <a:ext cx="6667500" cy="209550"/>
          </a:xfrm>
          <a:prstGeom prst="rect">
            <a:avLst/>
          </a:prstGeom>
          <a:noFill/>
        </p:spPr>
        <p:txBody>
          <a:bodyPr wrap="square" lIns="0" rIns="0" tIns="0" bIns="0"/>
          <a:lstStyle/>
          <a:p>
            <a:pPr>
              <a:lnSpc>
                <a:spcPct val="100000"/>
              </a:lnSpc>
            </a:pPr>
            <a:r>
              <a:rPr sz="975" b="0">
                <a:solidFill>
                  <a:srgbClr val="8B97A8"/>
                </a:solidFill>
                <a:latin typeface="微软雅黑"/>
                <a:ea typeface="微软雅黑"/>
              </a:rPr>
              <a:t>动态滚动的多机巢多无人机协同任务分配 · 进展汇报</a:t>
            </a:r>
          </a:p>
        </p:txBody>
      </p:sp>
      <p:sp>
        <p:nvSpPr>
          <p:cNvPr id="8" name="TextBox 7"/>
          <p:cNvSpPr txBox="1"/>
          <p:nvPr/>
        </p:nvSpPr>
        <p:spPr>
          <a:xfrm>
            <a:off x="11296650" y="6572250"/>
            <a:ext cx="514350" cy="209550"/>
          </a:xfrm>
          <a:prstGeom prst="rect">
            <a:avLst/>
          </a:prstGeom>
          <a:noFill/>
        </p:spPr>
        <p:txBody>
          <a:bodyPr wrap="square" lIns="0" rIns="0" tIns="0" bIns="0"/>
          <a:lstStyle/>
          <a:p>
            <a:pPr algn="r">
              <a:lnSpc>
                <a:spcPct val="100000"/>
              </a:lnSpc>
            </a:pPr>
            <a:r>
              <a:rPr sz="1125" b="1">
                <a:solidFill>
                  <a:srgbClr val="1E4FA8"/>
                </a:solidFill>
                <a:latin typeface="微软雅黑"/>
                <a:ea typeface="微软雅黑"/>
              </a:rPr>
              <a:t>08 / 18</a:t>
            </a:r>
          </a:p>
        </p:txBody>
      </p:sp>
      <p:sp>
        <p:nvSpPr>
          <p:cNvPr id="9" name="Rectangle 8"/>
          <p:cNvSpPr/>
          <p:nvPr/>
        </p:nvSpPr>
        <p:spPr>
          <a:xfrm>
            <a:off x="571500" y="1200150"/>
            <a:ext cx="3552825" cy="3200400"/>
          </a:xfrm>
          <a:prstGeom prst="rect">
            <a:avLst/>
          </a:prstGeom>
          <a:solidFill>
            <a:srgbClr val="FFFFFF"/>
          </a:solidFill>
          <a:ln w="1270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71500" y="1200150"/>
            <a:ext cx="3552825" cy="47625"/>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2950" y="1371600"/>
            <a:ext cx="914400" cy="247650"/>
          </a:xfrm>
          <a:prstGeom prst="rect">
            <a:avLst/>
          </a:prstGeom>
          <a:solidFill>
            <a:srgbClr val="E8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2950" y="1409700"/>
            <a:ext cx="914400" cy="209550"/>
          </a:xfrm>
          <a:prstGeom prst="rect">
            <a:avLst/>
          </a:prstGeom>
          <a:noFill/>
        </p:spPr>
        <p:txBody>
          <a:bodyPr wrap="square" lIns="0" rIns="0" tIns="0" bIns="0"/>
          <a:lstStyle/>
          <a:p>
            <a:pPr algn="ctr">
              <a:lnSpc>
                <a:spcPct val="100000"/>
              </a:lnSpc>
            </a:pPr>
            <a:r>
              <a:rPr sz="900" b="1">
                <a:solidFill>
                  <a:srgbClr val="1E4FA8"/>
                </a:solidFill>
                <a:latin typeface="微软雅黑"/>
                <a:ea typeface="微软雅黑"/>
              </a:rPr>
              <a:t>已完成</a:t>
            </a:r>
          </a:p>
        </p:txBody>
      </p:sp>
      <p:sp>
        <p:nvSpPr>
          <p:cNvPr id="13" name="TextBox 12"/>
          <p:cNvSpPr txBox="1"/>
          <p:nvPr/>
        </p:nvSpPr>
        <p:spPr>
          <a:xfrm>
            <a:off x="742950" y="1733550"/>
            <a:ext cx="3209925" cy="285750"/>
          </a:xfrm>
          <a:prstGeom prst="rect">
            <a:avLst/>
          </a:prstGeom>
          <a:noFill/>
        </p:spPr>
        <p:txBody>
          <a:bodyPr wrap="square" lIns="0" rIns="0" tIns="0" bIns="0"/>
          <a:lstStyle/>
          <a:p>
            <a:pPr>
              <a:lnSpc>
                <a:spcPct val="100000"/>
              </a:lnSpc>
            </a:pPr>
            <a:r>
              <a:rPr sz="1350" b="1">
                <a:solidFill>
                  <a:srgbClr val="0E3F8C"/>
                </a:solidFill>
                <a:latin typeface="微软雅黑"/>
                <a:ea typeface="微软雅黑"/>
              </a:rPr>
              <a:t>问题模型与两阶段方法链</a:t>
            </a:r>
          </a:p>
        </p:txBody>
      </p:sp>
      <p:sp>
        <p:nvSpPr>
          <p:cNvPr id="14" name="TextBox 13"/>
          <p:cNvSpPr txBox="1"/>
          <p:nvPr/>
        </p:nvSpPr>
        <p:spPr>
          <a:xfrm>
            <a:off x="742950" y="2114550"/>
            <a:ext cx="3209925" cy="2076450"/>
          </a:xfrm>
          <a:prstGeom prst="rect">
            <a:avLst/>
          </a:prstGeom>
          <a:noFill/>
        </p:spPr>
        <p:txBody>
          <a:bodyPr wrap="square" lIns="0" rIns="0" tIns="0" bIns="0"/>
          <a:lstStyle/>
          <a:p>
            <a:pPr>
              <a:lnSpc>
                <a:spcPct val="150000"/>
              </a:lnSpc>
              <a:spcAft>
                <a:spcPts val="600"/>
              </a:spcAft>
            </a:pPr>
            <a:r>
              <a:rPr sz="975" b="0">
                <a:solidFill>
                  <a:srgbClr val="4A5568"/>
                </a:solidFill>
                <a:latin typeface="微软雅黑"/>
                <a:ea typeface="微软雅黑"/>
              </a:rPr>
              <a:t>问题模型：y / x / π / z 四类决策 + 时间窗 · 航程 · 机巢容量 · 三维地理等约束集</a:t>
            </a:r>
          </a:p>
          <a:p>
            <a:pPr>
              <a:spcAft>
                <a:spcPts val="600"/>
              </a:spcAft>
            </a:pPr>
            <a:r>
              <a:rPr sz="975" b="0">
                <a:solidFill>
                  <a:srgbClr val="4A5568"/>
                </a:solidFill>
                <a:latin typeface="微软雅黑"/>
                <a:ea typeface="微软雅黑"/>
              </a:rPr>
              <a:t>两阶段：动态任务选择缩空间 → 选择性 MUAS 精优化；外层滚动闭环 + 防饥饿</a:t>
            </a:r>
          </a:p>
          <a:p>
            <a:pPr>
              <a:spcAft>
                <a:spcPts val="600"/>
              </a:spcAft>
            </a:pPr>
            <a:r>
              <a:rPr sz="975" b="0">
                <a:solidFill>
                  <a:srgbClr val="4A5568"/>
                </a:solidFill>
                <a:latin typeface="微软雅黑"/>
                <a:ea typeface="微软雅黑"/>
              </a:rPr>
              <a:t>DMDE 结构扩展：哨兵基因统一编码、逆映射四步、Lamarckian 回写</a:t>
            </a:r>
          </a:p>
          <a:p>
            <a:pPr>
              <a:spcAft>
                <a:spcPts val="600"/>
              </a:spcAft>
            </a:pPr>
            <a:r>
              <a:rPr sz="975" b="0">
                <a:solidFill>
                  <a:srgbClr val="4A5568"/>
                </a:solidFill>
                <a:latin typeface="微软雅黑"/>
                <a:ea typeface="微软雅黑"/>
              </a:rPr>
              <a:t>场景与代价：ASTER GDEM 三维代价场 + 8 机巢（广域巡检实例化）；基线族已实现</a:t>
            </a:r>
          </a:p>
        </p:txBody>
      </p:sp>
      <p:sp>
        <p:nvSpPr>
          <p:cNvPr id="15" name="Rectangle 14"/>
          <p:cNvSpPr/>
          <p:nvPr/>
        </p:nvSpPr>
        <p:spPr>
          <a:xfrm>
            <a:off x="4314825" y="1200150"/>
            <a:ext cx="3552825" cy="3200400"/>
          </a:xfrm>
          <a:prstGeom prst="rect">
            <a:avLst/>
          </a:prstGeom>
          <a:solidFill>
            <a:srgbClr val="FFFFFF"/>
          </a:solidFill>
          <a:ln w="1270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14825" y="1200150"/>
            <a:ext cx="3552825" cy="47625"/>
          </a:xfrm>
          <a:prstGeom prst="rect">
            <a:avLst/>
          </a:prstGeom>
          <a:solidFill>
            <a:srgbClr val="FFC1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6275" y="1371600"/>
            <a:ext cx="914400" cy="247650"/>
          </a:xfrm>
          <a:prstGeom prst="rect">
            <a:avLst/>
          </a:prstGeom>
          <a:solidFill>
            <a:srgbClr val="E8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86275" y="1409700"/>
            <a:ext cx="914400" cy="209550"/>
          </a:xfrm>
          <a:prstGeom prst="rect">
            <a:avLst/>
          </a:prstGeom>
          <a:noFill/>
        </p:spPr>
        <p:txBody>
          <a:bodyPr wrap="square" lIns="0" rIns="0" tIns="0" bIns="0"/>
          <a:lstStyle/>
          <a:p>
            <a:pPr algn="ctr">
              <a:lnSpc>
                <a:spcPct val="100000"/>
              </a:lnSpc>
            </a:pPr>
            <a:r>
              <a:rPr sz="900" b="1">
                <a:solidFill>
                  <a:srgbClr val="1E4FA8"/>
                </a:solidFill>
                <a:latin typeface="微软雅黑"/>
                <a:ea typeface="微软雅黑"/>
              </a:rPr>
              <a:t>进行中</a:t>
            </a:r>
          </a:p>
        </p:txBody>
      </p:sp>
      <p:sp>
        <p:nvSpPr>
          <p:cNvPr id="19" name="TextBox 18"/>
          <p:cNvSpPr txBox="1"/>
          <p:nvPr/>
        </p:nvSpPr>
        <p:spPr>
          <a:xfrm>
            <a:off x="4486275" y="1733550"/>
            <a:ext cx="3209925" cy="285750"/>
          </a:xfrm>
          <a:prstGeom prst="rect">
            <a:avLst/>
          </a:prstGeom>
          <a:noFill/>
        </p:spPr>
        <p:txBody>
          <a:bodyPr wrap="square" lIns="0" rIns="0" tIns="0" bIns="0"/>
          <a:lstStyle/>
          <a:p>
            <a:pPr>
              <a:lnSpc>
                <a:spcPct val="100000"/>
              </a:lnSpc>
            </a:pPr>
            <a:r>
              <a:rPr sz="1350" b="1">
                <a:solidFill>
                  <a:srgbClr val="0E3F8C"/>
                </a:solidFill>
                <a:latin typeface="微软雅黑"/>
                <a:ea typeface="微软雅黑"/>
              </a:rPr>
              <a:t>六组实验按当前口径重跑</a:t>
            </a:r>
          </a:p>
        </p:txBody>
      </p:sp>
      <p:sp>
        <p:nvSpPr>
          <p:cNvPr id="20" name="TextBox 19"/>
          <p:cNvSpPr txBox="1"/>
          <p:nvPr/>
        </p:nvSpPr>
        <p:spPr>
          <a:xfrm>
            <a:off x="4486275" y="2114550"/>
            <a:ext cx="3209925" cy="2076450"/>
          </a:xfrm>
          <a:prstGeom prst="rect">
            <a:avLst/>
          </a:prstGeom>
          <a:noFill/>
        </p:spPr>
        <p:txBody>
          <a:bodyPr wrap="square" lIns="0" rIns="0" tIns="0" bIns="0"/>
          <a:lstStyle/>
          <a:p>
            <a:pPr>
              <a:lnSpc>
                <a:spcPct val="150000"/>
              </a:lnSpc>
              <a:spcAft>
                <a:spcPts val="600"/>
              </a:spcAft>
            </a:pPr>
            <a:r>
              <a:rPr sz="975" b="0">
                <a:solidFill>
                  <a:srgbClr val="4A5568"/>
                </a:solidFill>
                <a:latin typeface="微软雅黑"/>
                <a:ea typeface="微软雅黑"/>
              </a:rPr>
              <a:t>六组实验：冒烟 / 规模标定 / 事件滚动 / 消融 / 基线对照 / 联合域</a:t>
            </a:r>
          </a:p>
          <a:p>
            <a:pPr>
              <a:spcAft>
                <a:spcPts val="600"/>
              </a:spcAft>
            </a:pPr>
            <a:r>
              <a:rPr sz="975" b="0">
                <a:solidFill>
                  <a:srgbClr val="4A5568"/>
                </a:solidFill>
                <a:latin typeface="微软雅黑"/>
                <a:ea typeface="微软雅黑"/>
              </a:rPr>
              <a:t>选择层标定口径（机数名额 ∩ 能力 vs 能力驱动）待按实验结论切换</a:t>
            </a:r>
          </a:p>
          <a:p>
            <a:pPr>
              <a:spcAft>
                <a:spcPts val="600"/>
              </a:spcAft>
            </a:pPr>
            <a:r>
              <a:rPr sz="975" b="0">
                <a:solidFill>
                  <a:srgbClr val="4A5568"/>
                </a:solidFill>
                <a:latin typeface="微软雅黑"/>
                <a:ea typeface="微软雅黑"/>
              </a:rPr>
              <a:t>覆盖门禁口径的开关尚未在生产配置中默认开启</a:t>
            </a:r>
          </a:p>
          <a:p>
            <a:pPr>
              <a:spcAft>
                <a:spcPts val="600"/>
              </a:spcAft>
            </a:pPr>
            <a:r>
              <a:rPr sz="975" b="0">
                <a:solidFill>
                  <a:srgbClr val="4A5568"/>
                </a:solidFill>
                <a:latin typeface="微软雅黑"/>
                <a:ea typeface="微软雅黑"/>
              </a:rPr>
              <a:t>规模—吞吐—质量的权衡曲线待回填</a:t>
            </a:r>
          </a:p>
        </p:txBody>
      </p:sp>
      <p:sp>
        <p:nvSpPr>
          <p:cNvPr id="21" name="Rectangle 20"/>
          <p:cNvSpPr/>
          <p:nvPr/>
        </p:nvSpPr>
        <p:spPr>
          <a:xfrm>
            <a:off x="8067675" y="1200150"/>
            <a:ext cx="3552825" cy="3200400"/>
          </a:xfrm>
          <a:prstGeom prst="rect">
            <a:avLst/>
          </a:prstGeom>
          <a:solidFill>
            <a:srgbClr val="FFFFFF"/>
          </a:solidFill>
          <a:ln w="1270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67675" y="1200150"/>
            <a:ext cx="3552825" cy="47625"/>
          </a:xfrm>
          <a:prstGeom prst="rect">
            <a:avLst/>
          </a:prstGeom>
          <a:solidFill>
            <a:srgbClr val="8B97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39125" y="1371600"/>
            <a:ext cx="914400" cy="247650"/>
          </a:xfrm>
          <a:prstGeom prst="rect">
            <a:avLst/>
          </a:prstGeom>
          <a:solidFill>
            <a:srgbClr val="E8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39125" y="1409700"/>
            <a:ext cx="914400" cy="209550"/>
          </a:xfrm>
          <a:prstGeom prst="rect">
            <a:avLst/>
          </a:prstGeom>
          <a:noFill/>
        </p:spPr>
        <p:txBody>
          <a:bodyPr wrap="square" lIns="0" rIns="0" tIns="0" bIns="0"/>
          <a:lstStyle/>
          <a:p>
            <a:pPr algn="ctr">
              <a:lnSpc>
                <a:spcPct val="100000"/>
              </a:lnSpc>
            </a:pPr>
            <a:r>
              <a:rPr sz="900" b="1">
                <a:solidFill>
                  <a:srgbClr val="1E4FA8"/>
                </a:solidFill>
                <a:latin typeface="微软雅黑"/>
                <a:ea typeface="微软雅黑"/>
              </a:rPr>
              <a:t>下一步</a:t>
            </a:r>
          </a:p>
        </p:txBody>
      </p:sp>
      <p:sp>
        <p:nvSpPr>
          <p:cNvPr id="25" name="TextBox 24"/>
          <p:cNvSpPr txBox="1"/>
          <p:nvPr/>
        </p:nvSpPr>
        <p:spPr>
          <a:xfrm>
            <a:off x="8239125" y="1733550"/>
            <a:ext cx="3209925" cy="285750"/>
          </a:xfrm>
          <a:prstGeom prst="rect">
            <a:avLst/>
          </a:prstGeom>
          <a:noFill/>
        </p:spPr>
        <p:txBody>
          <a:bodyPr wrap="square" lIns="0" rIns="0" tIns="0" bIns="0"/>
          <a:lstStyle/>
          <a:p>
            <a:pPr>
              <a:lnSpc>
                <a:spcPct val="100000"/>
              </a:lnSpc>
            </a:pPr>
            <a:r>
              <a:rPr sz="1350" b="1">
                <a:solidFill>
                  <a:srgbClr val="0E3F8C"/>
                </a:solidFill>
                <a:latin typeface="微软雅黑"/>
                <a:ea typeface="微软雅黑"/>
              </a:rPr>
              <a:t>出数 → 固化 → 外扩 → 成文</a:t>
            </a:r>
          </a:p>
        </p:txBody>
      </p:sp>
      <p:sp>
        <p:nvSpPr>
          <p:cNvPr id="26" name="TextBox 25"/>
          <p:cNvSpPr txBox="1"/>
          <p:nvPr/>
        </p:nvSpPr>
        <p:spPr>
          <a:xfrm>
            <a:off x="8239125" y="2114550"/>
            <a:ext cx="3209925" cy="2076450"/>
          </a:xfrm>
          <a:prstGeom prst="rect">
            <a:avLst/>
          </a:prstGeom>
          <a:noFill/>
        </p:spPr>
        <p:txBody>
          <a:bodyPr wrap="square" lIns="0" rIns="0" tIns="0" bIns="0"/>
          <a:lstStyle/>
          <a:p>
            <a:pPr>
              <a:lnSpc>
                <a:spcPct val="150000"/>
              </a:lnSpc>
              <a:spcAft>
                <a:spcPts val="600"/>
              </a:spcAft>
            </a:pPr>
            <a:r>
              <a:rPr sz="975" b="0">
                <a:solidFill>
                  <a:srgbClr val="4A5568"/>
                </a:solidFill>
                <a:latin typeface="微软雅黑"/>
                <a:ea typeface="微软雅黑"/>
              </a:rPr>
              <a:t>第一步：六组实验出数，完成基线对照与机制消融</a:t>
            </a:r>
          </a:p>
          <a:p>
            <a:pPr>
              <a:spcAft>
                <a:spcPts val="600"/>
              </a:spcAft>
            </a:pPr>
            <a:r>
              <a:rPr sz="975" b="0">
                <a:solidFill>
                  <a:srgbClr val="4A5568"/>
                </a:solidFill>
                <a:latin typeface="微软雅黑"/>
                <a:ea typeface="微软雅黑"/>
              </a:rPr>
              <a:t>第二步：固化生产口径（门禁开启 + 选择层标定）</a:t>
            </a:r>
          </a:p>
          <a:p>
            <a:pPr>
              <a:spcAft>
                <a:spcPts val="600"/>
              </a:spcAft>
            </a:pPr>
            <a:r>
              <a:rPr sz="975" b="0">
                <a:solidFill>
                  <a:srgbClr val="4A5568"/>
                </a:solidFill>
                <a:latin typeface="微软雅黑"/>
                <a:ea typeface="微软雅黑"/>
              </a:rPr>
              <a:t>第三步：把实例化迁到应急派送 / 态势感知，检验口径可迁移性</a:t>
            </a:r>
          </a:p>
          <a:p>
            <a:pPr>
              <a:spcAft>
                <a:spcPts val="600"/>
              </a:spcAft>
            </a:pPr>
            <a:r>
              <a:rPr sz="975" b="0">
                <a:solidFill>
                  <a:srgbClr val="4A5568"/>
                </a:solidFill>
                <a:latin typeface="微软雅黑"/>
                <a:ea typeface="微软雅黑"/>
              </a:rPr>
              <a:t>在此之前，不主张「优于某方法」的结论</a:t>
            </a:r>
          </a:p>
        </p:txBody>
      </p:sp>
      <p:sp>
        <p:nvSpPr>
          <p:cNvPr id="27" name="Rectangle 26"/>
          <p:cNvSpPr/>
          <p:nvPr/>
        </p:nvSpPr>
        <p:spPr>
          <a:xfrm>
            <a:off x="571500" y="4705350"/>
            <a:ext cx="11049000" cy="14478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8200" y="4914900"/>
            <a:ext cx="10515600" cy="1028700"/>
          </a:xfrm>
          <a:prstGeom prst="rect">
            <a:avLst/>
          </a:prstGeom>
          <a:noFill/>
        </p:spPr>
        <p:txBody>
          <a:bodyPr wrap="square" lIns="0" rIns="0" tIns="0" bIns="0"/>
          <a:lstStyle/>
          <a:p>
            <a:pPr>
              <a:lnSpc>
                <a:spcPct val="100000"/>
              </a:lnSpc>
            </a:pPr>
            <a:r>
              <a:rPr sz="1200" b="0">
                <a:solidFill>
                  <a:srgbClr val="FFFFFF"/>
                </a:solidFill>
                <a:latin typeface="微软雅黑"/>
                <a:ea typeface="微软雅黑"/>
              </a:rPr>
              <a:t>诚实口径：方法可以讲、公式可以讲、机制可以讲；「跑得多快、比谁更好」目前没有数据支撑，本轮汇报不给出任何对比结论，且全部结论限于广域巡检实例化场景。</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2" name="矩形 276"/>
          <p:cNvSpPr/>
          <p:nvPr/>
        </p:nvSpPr>
        <p:spPr>
          <a:xfrm>
            <a:off x="0" y="0"/>
            <a:ext cx="12192000" cy="6858000"/>
          </a:xfrm>
          <a:prstGeom prst="rect">
            <a:avLst/>
          </a:prstGeom>
          <a:solidFill>
            <a:srgbClr val="FFFFFF"/>
          </a:solidFill>
          <a:ln/>
        </p:spPr>
        <p:txBody>
          <a:bodyPr/>
          <a:lstStyle/>
          <a:p>
            <a:endParaRPr/>
          </a:p>
        </p:txBody>
      </p:sp>
      <p:sp>
        <p:nvSpPr>
          <p:cNvPr id="243" name="矩形 277"/>
          <p:cNvSpPr/>
          <p:nvPr/>
        </p:nvSpPr>
        <p:spPr>
          <a:xfrm>
            <a:off x="0" y="0"/>
            <a:ext cx="12192000" cy="114300"/>
          </a:xfrm>
          <a:prstGeom prst="rect">
            <a:avLst/>
          </a:prstGeom>
          <a:solidFill>
            <a:srgbClr val="1E4FA8"/>
          </a:solidFill>
          <a:ln/>
        </p:spPr>
        <p:txBody>
          <a:bodyPr/>
          <a:lstStyle/>
          <a:p>
            <a:endParaRPr/>
          </a:p>
        </p:txBody>
      </p:sp>
      <p:sp>
        <p:nvSpPr>
          <p:cNvPr id="244" name="文本框 278" descr="{&quot;isTemplate&quot;:true,&quot;type&quot;:&quot;text&quot;}"/>
          <p:cNvSpPr txBox="1"/>
          <p:nvPr/>
        </p:nvSpPr>
        <p:spPr>
          <a:xfrm>
            <a:off x="7734300" y="1238250"/>
            <a:ext cx="3886200" cy="3771900"/>
          </a:xfrm>
          <a:prstGeom prst="rect">
            <a:avLst/>
          </a:prstGeom>
        </p:spPr>
        <p:txBody>
          <a:bodyPr wrap="none" lIns="0" tIns="0" rIns="0" bIns="0"/>
          <a:lstStyle/>
          <a:p>
            <a:pPr>
              <a:lnSpc>
                <a:spcPct val="100000"/>
              </a:lnSpc>
            </a:pPr>
            <a:r>
              <a:rPr lang="en-US" sz="24750" b="1">
                <a:solidFill>
                  <a:srgbClr val="E8EFF8"/>
                </a:solidFill>
                <a:latin typeface="Source Han Sans CN"/>
                <a:ea typeface="Source Han Sans CN"/>
              </a:rPr>
              <a:t>01</a:t>
            </a:r>
            <a:endParaRPr/>
          </a:p>
        </p:txBody>
      </p:sp>
      <p:sp>
        <p:nvSpPr>
          <p:cNvPr id="245" name="矩形: 圆角 279"/>
          <p:cNvSpPr/>
          <p:nvPr/>
        </p:nvSpPr>
        <p:spPr>
          <a:xfrm>
            <a:off x="9801225" y="4572000"/>
            <a:ext cx="1628775" cy="323850"/>
          </a:xfrm>
          <a:prstGeom prst="roundRect">
            <a:avLst>
              <a:gd name="adj" fmla="val 52941"/>
            </a:avLst>
          </a:prstGeom>
          <a:solidFill>
            <a:srgbClr val="F0F5FC"/>
          </a:solidFill>
          <a:ln w="12700">
            <a:solidFill>
              <a:srgbClr val="D6DCE5"/>
            </a:solidFill>
            <a:prstDash val="solid"/>
          </a:ln>
        </p:spPr>
        <p:txBody>
          <a:bodyPr/>
          <a:lstStyle/>
          <a:p>
            <a:endParaRPr/>
          </a:p>
        </p:txBody>
      </p:sp>
      <p:sp>
        <p:nvSpPr>
          <p:cNvPr id="246" name="文本框 280" descr="{&quot;isTemplate&quot;:true,&quot;type&quot;:&quot;text&quot;}"/>
          <p:cNvSpPr txBox="1"/>
          <p:nvPr/>
        </p:nvSpPr>
        <p:spPr>
          <a:xfrm>
            <a:off x="9972675" y="4648200"/>
            <a:ext cx="1285875" cy="171450"/>
          </a:xfrm>
          <a:prstGeom prst="rect">
            <a:avLst/>
          </a:prstGeom>
        </p:spPr>
        <p:txBody>
          <a:bodyPr wrap="none" lIns="0" tIns="0" rIns="0" bIns="0"/>
          <a:lstStyle/>
          <a:p>
            <a:pPr>
              <a:lnSpc>
                <a:spcPct val="100000"/>
              </a:lnSpc>
            </a:pPr>
            <a:r>
              <a:rPr lang="zh-CN" sz="1125" b="1">
                <a:solidFill>
                  <a:srgbClr val="1E4FA8"/>
                </a:solidFill>
                <a:latin typeface="Source Han Sans CN"/>
                <a:ea typeface="Source Han Sans CN"/>
              </a:rPr>
              <a:t>任务动态到达与滞留</a:t>
            </a:r>
            <a:endParaRPr/>
          </a:p>
        </p:txBody>
      </p:sp>
      <p:sp>
        <p:nvSpPr>
          <p:cNvPr id="247" name="矩形: 圆角 281"/>
          <p:cNvSpPr/>
          <p:nvPr/>
        </p:nvSpPr>
        <p:spPr>
          <a:xfrm>
            <a:off x="10067925" y="5010150"/>
            <a:ext cx="1362075" cy="323850"/>
          </a:xfrm>
          <a:prstGeom prst="roundRect">
            <a:avLst>
              <a:gd name="adj" fmla="val 52941"/>
            </a:avLst>
          </a:prstGeom>
          <a:solidFill>
            <a:srgbClr val="F0F5FC"/>
          </a:solidFill>
          <a:ln w="12700">
            <a:solidFill>
              <a:srgbClr val="D6DCE5"/>
            </a:solidFill>
            <a:prstDash val="solid"/>
          </a:ln>
        </p:spPr>
        <p:txBody>
          <a:bodyPr/>
          <a:lstStyle/>
          <a:p>
            <a:endParaRPr/>
          </a:p>
        </p:txBody>
      </p:sp>
      <p:sp>
        <p:nvSpPr>
          <p:cNvPr id="248" name="文本框 282" descr="{&quot;isTemplate&quot;:true,&quot;type&quot;:&quot;text&quot;}"/>
          <p:cNvSpPr txBox="1"/>
          <p:nvPr/>
        </p:nvSpPr>
        <p:spPr>
          <a:xfrm>
            <a:off x="10239375" y="5086350"/>
            <a:ext cx="1019175" cy="171450"/>
          </a:xfrm>
          <a:prstGeom prst="rect">
            <a:avLst/>
          </a:prstGeom>
        </p:spPr>
        <p:txBody>
          <a:bodyPr wrap="none" lIns="0" tIns="0" rIns="0" bIns="0"/>
          <a:lstStyle/>
          <a:p>
            <a:pPr>
              <a:lnSpc>
                <a:spcPct val="100000"/>
              </a:lnSpc>
            </a:pPr>
            <a:r>
              <a:rPr lang="zh-CN" sz="1125" b="1">
                <a:solidFill>
                  <a:srgbClr val="1E4FA8"/>
                </a:solidFill>
                <a:latin typeface="Source Han Sans CN"/>
                <a:ea typeface="Source Han Sans CN"/>
              </a:rPr>
              <a:t>规模—能力失配</a:t>
            </a:r>
            <a:endParaRPr/>
          </a:p>
        </p:txBody>
      </p:sp>
      <p:sp>
        <p:nvSpPr>
          <p:cNvPr id="249" name="矩形: 圆角 283"/>
          <p:cNvSpPr/>
          <p:nvPr/>
        </p:nvSpPr>
        <p:spPr>
          <a:xfrm>
            <a:off x="9801225" y="5448300"/>
            <a:ext cx="1628775" cy="323850"/>
          </a:xfrm>
          <a:prstGeom prst="roundRect">
            <a:avLst>
              <a:gd name="adj" fmla="val 52941"/>
            </a:avLst>
          </a:prstGeom>
          <a:solidFill>
            <a:srgbClr val="F0F5FC"/>
          </a:solidFill>
          <a:ln w="12700">
            <a:solidFill>
              <a:srgbClr val="D6DCE5"/>
            </a:solidFill>
            <a:prstDash val="solid"/>
          </a:ln>
        </p:spPr>
        <p:txBody>
          <a:bodyPr/>
          <a:lstStyle/>
          <a:p>
            <a:endParaRPr/>
          </a:p>
        </p:txBody>
      </p:sp>
      <p:sp>
        <p:nvSpPr>
          <p:cNvPr id="250" name="文本框 284" descr="{&quot;isTemplate&quot;:true,&quot;type&quot;:&quot;text&quot;}"/>
          <p:cNvSpPr txBox="1"/>
          <p:nvPr/>
        </p:nvSpPr>
        <p:spPr>
          <a:xfrm>
            <a:off x="9972675" y="5524500"/>
            <a:ext cx="1285875" cy="171450"/>
          </a:xfrm>
          <a:prstGeom prst="rect">
            <a:avLst/>
          </a:prstGeom>
        </p:spPr>
        <p:txBody>
          <a:bodyPr wrap="none" lIns="0" tIns="0" rIns="0" bIns="0"/>
          <a:lstStyle/>
          <a:p>
            <a:pPr>
              <a:lnSpc>
                <a:spcPct val="100000"/>
              </a:lnSpc>
            </a:pPr>
            <a:r>
              <a:rPr lang="zh-CN" sz="1125" b="1">
                <a:solidFill>
                  <a:srgbClr val="1E4FA8"/>
                </a:solidFill>
                <a:latin typeface="Source Han Sans CN"/>
                <a:ea typeface="Source Han Sans CN"/>
              </a:rPr>
              <a:t>两阶段分层滚动求解</a:t>
            </a:r>
            <a:endParaRPr/>
          </a:p>
        </p:txBody>
      </p:sp>
      <p:sp>
        <p:nvSpPr>
          <p:cNvPr id="251" name="矩形 285"/>
          <p:cNvSpPr/>
          <p:nvPr/>
        </p:nvSpPr>
        <p:spPr>
          <a:xfrm>
            <a:off x="762000" y="1990725"/>
            <a:ext cx="381000" cy="38100"/>
          </a:xfrm>
          <a:prstGeom prst="rect">
            <a:avLst/>
          </a:prstGeom>
          <a:solidFill>
            <a:srgbClr val="FFC107"/>
          </a:solidFill>
          <a:ln/>
        </p:spPr>
        <p:txBody>
          <a:bodyPr/>
          <a:lstStyle/>
          <a:p>
            <a:endParaRPr/>
          </a:p>
        </p:txBody>
      </p:sp>
      <p:sp>
        <p:nvSpPr>
          <p:cNvPr id="252" name="文本框 286" descr="{&quot;isTemplate&quot;:true,&quot;type&quot;:&quot;text&quot;}"/>
          <p:cNvSpPr txBox="1"/>
          <p:nvPr/>
        </p:nvSpPr>
        <p:spPr>
          <a:xfrm>
            <a:off x="1276350" y="1905000"/>
            <a:ext cx="1457325" cy="200025"/>
          </a:xfrm>
          <a:prstGeom prst="rect">
            <a:avLst/>
          </a:prstGeom>
        </p:spPr>
        <p:txBody>
          <a:bodyPr wrap="none" lIns="0" tIns="0" rIns="0" bIns="0"/>
          <a:lstStyle/>
          <a:p>
            <a:pPr>
              <a:lnSpc>
                <a:spcPct val="100000"/>
              </a:lnSpc>
            </a:pPr>
            <a:r>
              <a:rPr lang="en-US" sz="1275" spc="375">
                <a:solidFill>
                  <a:srgbClr val="3D7BD9"/>
                </a:solidFill>
                <a:latin typeface="Source Han Sans CN"/>
                <a:ea typeface="Source Han Sans CN"/>
              </a:rPr>
              <a:t>CHAPTER 01</a:t>
            </a:r>
            <a:endParaRPr/>
          </a:p>
        </p:txBody>
      </p:sp>
      <p:sp>
        <p:nvSpPr>
          <p:cNvPr id="253" name="文本框 287" descr="{&quot;isTemplate&quot;:true,&quot;type&quot;:&quot;text&quot;}"/>
          <p:cNvSpPr txBox="1"/>
          <p:nvPr/>
        </p:nvSpPr>
        <p:spPr>
          <a:xfrm>
            <a:off x="762000" y="2276475"/>
            <a:ext cx="7239000" cy="504825"/>
          </a:xfrm>
          <a:prstGeom prst="rect">
            <a:avLst/>
          </a:prstGeom>
        </p:spPr>
        <p:txBody>
          <a:bodyPr wrap="none" lIns="0" tIns="0" rIns="0" bIns="0"/>
          <a:lstStyle/>
          <a:p>
            <a:pPr>
              <a:lnSpc>
                <a:spcPct val="100000"/>
              </a:lnSpc>
            </a:pPr>
            <a:r>
              <a:rPr lang="zh-CN" sz="3300" b="1">
                <a:solidFill>
                  <a:srgbClr val="0E3F8C"/>
                </a:solidFill>
                <a:latin typeface="Source Han Sans CN"/>
                <a:ea typeface="Source Han Sans CN"/>
              </a:rPr>
              <a:t>研究问题与总体框架</a:t>
            </a:r>
            <a:endParaRPr/>
          </a:p>
        </p:txBody>
      </p:sp>
      <p:sp>
        <p:nvSpPr>
          <p:cNvPr id="254" name="矩形: 圆角 288"/>
          <p:cNvSpPr/>
          <p:nvPr/>
        </p:nvSpPr>
        <p:spPr>
          <a:xfrm>
            <a:off x="762000" y="3209925"/>
            <a:ext cx="76200" cy="76200"/>
          </a:xfrm>
          <a:prstGeom prst="roundRect">
            <a:avLst>
              <a:gd name="adj" fmla="val 50000"/>
            </a:avLst>
          </a:prstGeom>
          <a:solidFill>
            <a:srgbClr val="1E4FA8"/>
          </a:solidFill>
          <a:ln/>
        </p:spPr>
        <p:txBody>
          <a:bodyPr/>
          <a:lstStyle/>
          <a:p>
            <a:endParaRPr/>
          </a:p>
        </p:txBody>
      </p:sp>
      <p:sp>
        <p:nvSpPr>
          <p:cNvPr id="255" name="文本框 289" descr="{&quot;isTemplate&quot;:true,&quot;type&quot;:&quot;text&quot;}"/>
          <p:cNvSpPr txBox="1"/>
          <p:nvPr/>
        </p:nvSpPr>
        <p:spPr>
          <a:xfrm>
            <a:off x="952500" y="3105150"/>
            <a:ext cx="7048500" cy="371475"/>
          </a:xfrm>
          <a:prstGeom prst="rect">
            <a:avLst/>
          </a:prstGeom>
        </p:spPr>
        <p:txBody>
          <a:bodyPr wrap="none" lIns="0" tIns="0" rIns="0" bIns="0"/>
          <a:lstStyle/>
          <a:p>
            <a:pPr>
              <a:lnSpc>
                <a:spcPct val="170000"/>
              </a:lnSpc>
            </a:pPr>
            <a:r>
              <a:rPr lang="zh-CN" sz="1425">
                <a:solidFill>
                  <a:srgbClr val="1A2230"/>
                </a:solidFill>
                <a:latin typeface="Source Han Sans CN"/>
                <a:ea typeface="Source Han Sans CN"/>
              </a:rPr>
              <a:t>任务</a:t>
            </a:r>
            <a:r>
              <a:rPr lang="zh-CN" sz="1425" b="1">
                <a:solidFill>
                  <a:srgbClr val="1A2230"/>
                </a:solidFill>
                <a:latin typeface="Source Han Sans CN"/>
                <a:ea typeface="Source Han Sans CN"/>
              </a:rPr>
              <a:t>动态到达、持续滞留</a:t>
            </a:r>
            <a:r>
              <a:rPr lang="zh-CN" sz="1425">
                <a:solidFill>
                  <a:srgbClr val="1A2230"/>
                </a:solidFill>
                <a:latin typeface="Source Han Sans CN"/>
                <a:ea typeface="Source Han Sans CN"/>
              </a:rPr>
              <a:t>与无人机</a:t>
            </a:r>
            <a:r>
              <a:rPr lang="zh-CN" sz="1425" b="1">
                <a:solidFill>
                  <a:srgbClr val="1A2230"/>
                </a:solidFill>
                <a:latin typeface="Source Han Sans CN"/>
                <a:ea typeface="Source Han Sans CN"/>
              </a:rPr>
              <a:t>状态动态变化</a:t>
            </a:r>
            <a:r>
              <a:rPr lang="zh-CN" sz="1425">
                <a:solidFill>
                  <a:srgbClr val="1A2230"/>
                </a:solidFill>
                <a:latin typeface="Source Han Sans CN"/>
                <a:ea typeface="Source Han Sans CN"/>
              </a:rPr>
              <a:t>并存，规划必须周期性滚动进行</a:t>
            </a:r>
            <a:endParaRPr/>
          </a:p>
        </p:txBody>
      </p:sp>
      <p:sp>
        <p:nvSpPr>
          <p:cNvPr id="256" name="矩形: 圆角 290"/>
          <p:cNvSpPr/>
          <p:nvPr/>
        </p:nvSpPr>
        <p:spPr>
          <a:xfrm>
            <a:off x="762000" y="3752850"/>
            <a:ext cx="76200" cy="76200"/>
          </a:xfrm>
          <a:prstGeom prst="roundRect">
            <a:avLst>
              <a:gd name="adj" fmla="val 50000"/>
            </a:avLst>
          </a:prstGeom>
          <a:solidFill>
            <a:srgbClr val="1E4FA8"/>
          </a:solidFill>
          <a:ln/>
        </p:spPr>
        <p:txBody>
          <a:bodyPr/>
          <a:lstStyle/>
          <a:p>
            <a:endParaRPr/>
          </a:p>
        </p:txBody>
      </p:sp>
      <p:sp>
        <p:nvSpPr>
          <p:cNvPr id="257" name="文本框 291" descr="{&quot;isTemplate&quot;:true,&quot;type&quot;:&quot;text&quot;}"/>
          <p:cNvSpPr txBox="1"/>
          <p:nvPr/>
        </p:nvSpPr>
        <p:spPr>
          <a:xfrm>
            <a:off x="952500" y="3648075"/>
            <a:ext cx="7048500" cy="371475"/>
          </a:xfrm>
          <a:prstGeom prst="rect">
            <a:avLst/>
          </a:prstGeom>
        </p:spPr>
        <p:txBody>
          <a:bodyPr wrap="none" lIns="0" tIns="0" rIns="0" bIns="0"/>
          <a:lstStyle/>
          <a:p>
            <a:pPr>
              <a:lnSpc>
                <a:spcPct val="170000"/>
              </a:lnSpc>
            </a:pPr>
            <a:r>
              <a:rPr lang="zh-CN" sz="1425">
                <a:solidFill>
                  <a:srgbClr val="1A2230"/>
                </a:solidFill>
                <a:latin typeface="Source Han Sans CN"/>
                <a:ea typeface="Source Han Sans CN"/>
              </a:rPr>
              <a:t>任务规模与当前执行能力</a:t>
            </a:r>
            <a:r>
              <a:rPr lang="zh-CN" sz="1425" b="1">
                <a:solidFill>
                  <a:srgbClr val="1A2230"/>
                </a:solidFill>
                <a:latin typeface="Source Han Sans CN"/>
                <a:ea typeface="Source Han Sans CN"/>
              </a:rPr>
              <a:t>经常失配</a:t>
            </a:r>
            <a:r>
              <a:rPr lang="zh-CN" sz="1425">
                <a:solidFill>
                  <a:srgbClr val="1A2230"/>
                </a:solidFill>
                <a:latin typeface="Source Han Sans CN"/>
                <a:ea typeface="Source Han Sans CN"/>
              </a:rPr>
              <a:t>——不能全量求解，也不能随意丢弃任务</a:t>
            </a:r>
            <a:endParaRPr/>
          </a:p>
        </p:txBody>
      </p:sp>
      <p:sp>
        <p:nvSpPr>
          <p:cNvPr id="258" name="文本框 292" descr="{&quot;isTemplate&quot;:true,&quot;type&quot;:&quot;text&quot;}"/>
          <p:cNvSpPr txBox="1"/>
          <p:nvPr/>
        </p:nvSpPr>
        <p:spPr>
          <a:xfrm>
            <a:off x="762000" y="4305300"/>
            <a:ext cx="7239000" cy="666750"/>
          </a:xfrm>
          <a:prstGeom prst="rect">
            <a:avLst/>
          </a:prstGeom>
        </p:spPr>
        <p:txBody>
          <a:bodyPr wrap="square" lIns="0" tIns="0" rIns="0" bIns="0">
            <a:normAutofit/>
          </a:bodyPr>
          <a:lstStyle/>
          <a:p>
            <a:pPr>
              <a:lnSpc>
                <a:spcPct val="180000"/>
              </a:lnSpc>
            </a:pPr>
            <a:r>
              <a:rPr lang="zh-CN" sz="1200">
                <a:solidFill>
                  <a:srgbClr val="4A5568"/>
                </a:solidFill>
                <a:latin typeface="Source Han Sans CN"/>
                <a:ea typeface="Source Han Sans CN"/>
              </a:rPr>
              <a:t>广域巡检场景中，静态一次性规划无法应对持续到达的任务流。本章先刻画问题特征，再给出「快速任务选择缩空间</a:t>
            </a:r>
            <a:r>
              <a:rPr lang="en-US" sz="1200">
                <a:solidFill>
                  <a:srgbClr val="4A5568"/>
                </a:solidFill>
                <a:latin typeface="Source Han Sans CN"/>
                <a:ea typeface="Source Han Sans CN"/>
              </a:rPr>
              <a:t> + </a:t>
            </a:r>
            <a:r>
              <a:rPr lang="zh-CN" sz="1200">
                <a:solidFill>
                  <a:srgbClr val="4A5568"/>
                </a:solidFill>
                <a:latin typeface="Source Han Sans CN"/>
                <a:ea typeface="Source Han Sans CN"/>
              </a:rPr>
              <a:t>精细</a:t>
            </a:r>
            <a:r>
              <a:rPr lang="en-US" sz="1200">
                <a:solidFill>
                  <a:srgbClr val="4A5568"/>
                </a:solidFill>
                <a:latin typeface="Source Han Sans CN"/>
                <a:ea typeface="Source Han Sans CN"/>
              </a:rPr>
              <a:t> MUAS </a:t>
            </a:r>
            <a:r>
              <a:rPr lang="zh-CN" sz="1200">
                <a:solidFill>
                  <a:srgbClr val="4A5568"/>
                </a:solidFill>
                <a:latin typeface="Source Han Sans CN"/>
                <a:ea typeface="Source Han Sans CN"/>
              </a:rPr>
              <a:t>组合优化」的两阶段总体求解框架。</a:t>
            </a:r>
            <a:endParaRPr/>
          </a:p>
        </p:txBody>
      </p:sp>
      <p:sp>
        <p:nvSpPr>
          <p:cNvPr id="259" name="矩形: 圆角 293"/>
          <p:cNvSpPr/>
          <p:nvPr/>
        </p:nvSpPr>
        <p:spPr>
          <a:xfrm>
            <a:off x="762000" y="5200650"/>
            <a:ext cx="1286450" cy="295275"/>
          </a:xfrm>
          <a:prstGeom prst="roundRect">
            <a:avLst>
              <a:gd name="adj" fmla="val 19355"/>
            </a:avLst>
          </a:prstGeom>
          <a:solidFill>
            <a:srgbClr val="1E4FA8"/>
          </a:solidFill>
          <a:ln/>
        </p:spPr>
        <p:txBody>
          <a:bodyPr/>
          <a:lstStyle/>
          <a:p>
            <a:endParaRPr/>
          </a:p>
        </p:txBody>
      </p:sp>
      <p:sp>
        <p:nvSpPr>
          <p:cNvPr id="260" name="文本框 294" descr="{&quot;isTemplate&quot;:true,&quot;type&quot;:&quot;text&quot;}"/>
          <p:cNvSpPr txBox="1"/>
          <p:nvPr/>
        </p:nvSpPr>
        <p:spPr>
          <a:xfrm>
            <a:off x="914400" y="5267325"/>
            <a:ext cx="1038800" cy="161925"/>
          </a:xfrm>
          <a:prstGeom prst="rect">
            <a:avLst/>
          </a:prstGeom>
        </p:spPr>
        <p:txBody>
          <a:bodyPr wrap="none" lIns="0" tIns="0" rIns="0" bIns="0"/>
          <a:lstStyle/>
          <a:p>
            <a:pPr>
              <a:lnSpc>
                <a:spcPct val="100000"/>
              </a:lnSpc>
            </a:pPr>
            <a:r>
              <a:rPr lang="en-US" sz="1050" b="1">
                <a:solidFill>
                  <a:srgbClr val="FFFFFF"/>
                </a:solidFill>
                <a:latin typeface="Source Han Sans CN"/>
                <a:ea typeface="Source Han Sans CN"/>
              </a:rPr>
              <a:t>P10 · </a:t>
            </a:r>
            <a:r>
              <a:rPr lang="zh-CN" sz="1050" b="1">
                <a:solidFill>
                  <a:srgbClr val="FFFFFF"/>
                </a:solidFill>
                <a:latin typeface="Source Han Sans CN"/>
                <a:ea typeface="Source Han Sans CN"/>
              </a:rPr>
              <a:t>五大挑战</a:t>
            </a:r>
            <a:endParaRPr/>
          </a:p>
        </p:txBody>
      </p:sp>
      <p:sp>
        <p:nvSpPr>
          <p:cNvPr id="261" name="矩形: 圆角 295"/>
          <p:cNvSpPr/>
          <p:nvPr/>
        </p:nvSpPr>
        <p:spPr>
          <a:xfrm>
            <a:off x="2085975" y="5200650"/>
            <a:ext cx="2133600" cy="295275"/>
          </a:xfrm>
          <a:prstGeom prst="roundRect">
            <a:avLst>
              <a:gd name="adj" fmla="val 19355"/>
            </a:avLst>
          </a:prstGeom>
          <a:solidFill>
            <a:srgbClr val="1E4FA8"/>
          </a:solidFill>
          <a:ln/>
        </p:spPr>
        <p:txBody>
          <a:bodyPr/>
          <a:lstStyle/>
          <a:p>
            <a:endParaRPr/>
          </a:p>
        </p:txBody>
      </p:sp>
      <p:sp>
        <p:nvSpPr>
          <p:cNvPr id="262" name="文本框 296" descr="{&quot;isTemplate&quot;:true,&quot;type&quot;:&quot;text&quot;}"/>
          <p:cNvSpPr txBox="1"/>
          <p:nvPr/>
        </p:nvSpPr>
        <p:spPr>
          <a:xfrm>
            <a:off x="2238375" y="5267325"/>
            <a:ext cx="1790700" cy="161925"/>
          </a:xfrm>
          <a:prstGeom prst="rect">
            <a:avLst/>
          </a:prstGeom>
        </p:spPr>
        <p:txBody>
          <a:bodyPr wrap="none" lIns="0" tIns="0" rIns="0" bIns="0"/>
          <a:lstStyle/>
          <a:p>
            <a:pPr>
              <a:lnSpc>
                <a:spcPct val="100000"/>
              </a:lnSpc>
            </a:pPr>
            <a:r>
              <a:rPr lang="en-US" sz="1050" b="1">
                <a:solidFill>
                  <a:srgbClr val="FFFFFF"/>
                </a:solidFill>
                <a:latin typeface="Source Han Sans CN"/>
                <a:ea typeface="Source Han Sans CN"/>
              </a:rPr>
              <a:t>P11–P12 · 框架与滚动闭环</a:t>
            </a:r>
            <a:r>
              <a:rPr lang="zh-CN" sz="1050" b="1">
                <a:solidFill>
                  <a:srgbClr val="FFFFFF"/>
                </a:solidFill>
                <a:latin typeface="Source Han Sans CN"/>
                <a:ea typeface="Source Han Sans CN"/>
              </a:rPr>
              <a:t/>
            </a:r>
            <a:endParaRPr/>
          </a:p>
        </p:txBody>
      </p:sp>
      <p:sp>
        <p:nvSpPr>
          <p:cNvPr id="263" name="矩形: 圆角 297"/>
          <p:cNvSpPr/>
          <p:nvPr/>
        </p:nvSpPr>
        <p:spPr>
          <a:xfrm>
            <a:off x="7258050" y="5857875"/>
            <a:ext cx="476250" cy="276225"/>
          </a:xfrm>
          <a:prstGeom prst="roundRect">
            <a:avLst>
              <a:gd name="adj" fmla="val 48276"/>
            </a:avLst>
          </a:prstGeom>
          <a:solidFill>
            <a:srgbClr val="1E4FA8"/>
          </a:solidFill>
          <a:ln/>
        </p:spPr>
        <p:txBody>
          <a:bodyPr/>
          <a:lstStyle/>
          <a:p>
            <a:endParaRPr/>
          </a:p>
        </p:txBody>
      </p:sp>
      <p:sp>
        <p:nvSpPr>
          <p:cNvPr id="264" name="文本框 298" descr="{&quot;isTemplate&quot;:true,&quot;type&quot;:&quot;text&quot;}"/>
          <p:cNvSpPr txBox="1"/>
          <p:nvPr/>
        </p:nvSpPr>
        <p:spPr>
          <a:xfrm>
            <a:off x="7410450" y="5915025"/>
            <a:ext cx="171450" cy="161925"/>
          </a:xfrm>
          <a:prstGeom prst="rect">
            <a:avLst/>
          </a:prstGeom>
        </p:spPr>
        <p:txBody>
          <a:bodyPr wrap="none" lIns="0" tIns="0" rIns="0" bIns="0"/>
          <a:lstStyle/>
          <a:p>
            <a:pPr>
              <a:lnSpc>
                <a:spcPct val="100000"/>
              </a:lnSpc>
            </a:pPr>
            <a:r>
              <a:rPr lang="en-US" sz="1050" b="1">
                <a:solidFill>
                  <a:srgbClr val="FFFFFF"/>
                </a:solidFill>
                <a:latin typeface="Source Han Sans CN"/>
                <a:ea typeface="Source Han Sans CN"/>
              </a:rPr>
              <a:t>01</a:t>
            </a:r>
            <a:endParaRPr/>
          </a:p>
        </p:txBody>
      </p:sp>
      <p:sp>
        <p:nvSpPr>
          <p:cNvPr id="265" name="矩形: 圆角 299"/>
          <p:cNvSpPr/>
          <p:nvPr/>
        </p:nvSpPr>
        <p:spPr>
          <a:xfrm>
            <a:off x="7848600" y="5857875"/>
            <a:ext cx="476250" cy="276225"/>
          </a:xfrm>
          <a:prstGeom prst="roundRect">
            <a:avLst>
              <a:gd name="adj" fmla="val 48276"/>
            </a:avLst>
          </a:prstGeom>
          <a:solidFill>
            <a:srgbClr val="F0F5FC"/>
          </a:solidFill>
          <a:ln/>
        </p:spPr>
        <p:txBody>
          <a:bodyPr/>
          <a:lstStyle/>
          <a:p>
            <a:endParaRPr/>
          </a:p>
        </p:txBody>
      </p:sp>
      <p:sp>
        <p:nvSpPr>
          <p:cNvPr id="266" name="文本框 300" descr="{&quot;isTemplate&quot;:true,&quot;type&quot;:&quot;text&quot;}"/>
          <p:cNvSpPr txBox="1"/>
          <p:nvPr/>
        </p:nvSpPr>
        <p:spPr>
          <a:xfrm>
            <a:off x="8001000" y="5915025"/>
            <a:ext cx="171450" cy="161925"/>
          </a:xfrm>
          <a:prstGeom prst="rect">
            <a:avLst/>
          </a:prstGeom>
        </p:spPr>
        <p:txBody>
          <a:bodyPr wrap="none" lIns="0" tIns="0" rIns="0" bIns="0"/>
          <a:lstStyle/>
          <a:p>
            <a:pPr>
              <a:lnSpc>
                <a:spcPct val="100000"/>
              </a:lnSpc>
            </a:pPr>
            <a:r>
              <a:rPr lang="en-US" sz="1050" b="1">
                <a:solidFill>
                  <a:srgbClr val="8B97A8"/>
                </a:solidFill>
                <a:latin typeface="Source Han Sans CN"/>
                <a:ea typeface="Source Han Sans CN"/>
              </a:rPr>
              <a:t>02</a:t>
            </a:r>
            <a:endParaRPr/>
          </a:p>
        </p:txBody>
      </p:sp>
      <p:sp>
        <p:nvSpPr>
          <p:cNvPr id="267" name="矩形: 圆角 301"/>
          <p:cNvSpPr/>
          <p:nvPr/>
        </p:nvSpPr>
        <p:spPr>
          <a:xfrm>
            <a:off x="8439150" y="5857875"/>
            <a:ext cx="476250" cy="276225"/>
          </a:xfrm>
          <a:prstGeom prst="roundRect">
            <a:avLst>
              <a:gd name="adj" fmla="val 48276"/>
            </a:avLst>
          </a:prstGeom>
          <a:solidFill>
            <a:srgbClr val="F0F5FC"/>
          </a:solidFill>
          <a:ln/>
        </p:spPr>
        <p:txBody>
          <a:bodyPr/>
          <a:lstStyle/>
          <a:p>
            <a:endParaRPr/>
          </a:p>
        </p:txBody>
      </p:sp>
      <p:sp>
        <p:nvSpPr>
          <p:cNvPr id="268" name="文本框 302" descr="{&quot;isTemplate&quot;:true,&quot;type&quot;:&quot;text&quot;}"/>
          <p:cNvSpPr txBox="1"/>
          <p:nvPr/>
        </p:nvSpPr>
        <p:spPr>
          <a:xfrm>
            <a:off x="8591550" y="5915025"/>
            <a:ext cx="171450" cy="161925"/>
          </a:xfrm>
          <a:prstGeom prst="rect">
            <a:avLst/>
          </a:prstGeom>
        </p:spPr>
        <p:txBody>
          <a:bodyPr wrap="none" lIns="0" tIns="0" rIns="0" bIns="0"/>
          <a:lstStyle/>
          <a:p>
            <a:pPr>
              <a:lnSpc>
                <a:spcPct val="100000"/>
              </a:lnSpc>
            </a:pPr>
            <a:r>
              <a:rPr lang="en-US" sz="1050" b="1">
                <a:solidFill>
                  <a:srgbClr val="8B97A8"/>
                </a:solidFill>
                <a:latin typeface="Source Han Sans CN"/>
                <a:ea typeface="Source Han Sans CN"/>
              </a:rPr>
              <a:t>03</a:t>
            </a:r>
            <a:endParaRPr/>
          </a:p>
        </p:txBody>
      </p:sp>
      <p:sp>
        <p:nvSpPr>
          <p:cNvPr id="271" name="文本框 305" descr="{&quot;isTemplate&quot;:true,&quot;type&quot;:&quot;text&quot;}"/>
          <p:cNvSpPr txBox="1"/>
          <p:nvPr/>
        </p:nvSpPr>
        <p:spPr>
          <a:xfrm>
            <a:off x="9220200" y="5915025"/>
            <a:ext cx="2209800" cy="161925"/>
          </a:xfrm>
          <a:prstGeom prst="rect">
            <a:avLst/>
          </a:prstGeom>
        </p:spPr>
        <p:txBody>
          <a:bodyPr wrap="none" lIns="0" tIns="0" rIns="0" bIns="0"/>
          <a:lstStyle/>
          <a:p>
            <a:pPr>
              <a:lnSpc>
                <a:spcPct val="100000"/>
              </a:lnSpc>
            </a:pPr>
            <a:r>
              <a:rPr lang="zh-CN" sz="1050">
                <a:solidFill>
                  <a:srgbClr val="8B97A8"/>
                </a:solidFill>
                <a:latin typeface="Source Han Sans CN"/>
                <a:ea typeface="Source Han Sans CN"/>
              </a:rPr>
              <a:t>研究问题 · 两阶段方法 · 滚动闭环</a:t>
            </a:r>
            <a:r>
              <a:rPr lang="en-US" sz="1050">
                <a:solidFill>
                  <a:srgbClr val="8B97A8"/>
                </a:solidFill>
                <a:latin typeface="Source Han Sans CN"/>
                <a:ea typeface="Source Han Sans CN"/>
              </a:rPr>
              <a:t/>
            </a:r>
            <a:r>
              <a:rPr lang="zh-CN" sz="1050">
                <a:solidFill>
                  <a:srgbClr val="8B97A8"/>
                </a:solidFill>
                <a:latin typeface="Source Han Sans CN"/>
                <a:ea typeface="Source Han Sans CN"/>
              </a:rPr>
              <a:t/>
            </a:r>
            <a:r>
              <a:rPr lang="en-US" sz="1050">
                <a:solidFill>
                  <a:srgbClr val="8B97A8"/>
                </a:solidFill>
                <a:latin typeface="Source Han Sans CN"/>
                <a:ea typeface="Source Han Sans CN"/>
              </a:rPr>
              <a:t/>
            </a:r>
            <a:r>
              <a:rPr lang="zh-CN" sz="1050">
                <a:solidFill>
                  <a:srgbClr val="8B97A8"/>
                </a:solidFill>
                <a:latin typeface="Source Han Sans CN"/>
                <a:ea typeface="Source Han Sans CN"/>
              </a:rPr>
              <a:t/>
            </a:r>
            <a:endParaRPr/>
          </a:p>
        </p:txBody>
      </p:sp>
      <p:sp>
        <p:nvSpPr>
          <p:cNvPr id="272" name="矩形 306"/>
          <p:cNvSpPr/>
          <p:nvPr/>
        </p:nvSpPr>
        <p:spPr>
          <a:xfrm>
            <a:off x="0" y="6448425"/>
            <a:ext cx="12192000" cy="409575"/>
          </a:xfrm>
          <a:prstGeom prst="rect">
            <a:avLst/>
          </a:prstGeom>
          <a:solidFill>
            <a:srgbClr val="F7F9FC"/>
          </a:solidFill>
          <a:ln/>
        </p:spPr>
        <p:txBody>
          <a:bodyPr/>
          <a:lstStyle/>
          <a:p>
            <a:endParaRPr/>
          </a:p>
        </p:txBody>
      </p:sp>
      <p:sp>
        <p:nvSpPr>
          <p:cNvPr id="273" name="任意多边形: 形状 307"/>
          <p:cNvSpPr/>
          <p:nvPr/>
        </p:nvSpPr>
        <p:spPr>
          <a:xfrm>
            <a:off x="0" y="6438900"/>
            <a:ext cx="12192000" cy="419100"/>
          </a:xfrm>
          <a:custGeom>
            <a:avLst/>
            <a:gdLst/>
            <a:ahLst/>
            <a:cxnLst/>
            <a:rect l="0" t="0" r="0" b="0"/>
            <a:pathLst>
              <a:path w="1280" h="44">
                <a:moveTo>
                  <a:pt x="0" y="0"/>
                </a:moveTo>
                <a:lnTo>
                  <a:pt x="1280" y="0"/>
                </a:lnTo>
                <a:lnTo>
                  <a:pt x="1280" y="1"/>
                </a:lnTo>
                <a:lnTo>
                  <a:pt x="0" y="1"/>
                </a:lnTo>
                <a:close/>
              </a:path>
            </a:pathLst>
          </a:custGeom>
          <a:solidFill>
            <a:srgbClr val="E5E7EB"/>
          </a:solidFill>
          <a:ln/>
        </p:spPr>
        <p:txBody>
          <a:bodyPr/>
          <a:lstStyle/>
          <a:p>
            <a:endParaRPr/>
          </a:p>
        </p:txBody>
      </p:sp>
      <p:sp>
        <p:nvSpPr>
          <p:cNvPr id="274" name="文本框 308" descr="{&quot;isTemplate&quot;:true,&quot;type&quot;:&quot;text&quot;}"/>
          <p:cNvSpPr txBox="1"/>
          <p:nvPr/>
        </p:nvSpPr>
        <p:spPr>
          <a:xfrm>
            <a:off x="381000" y="6581775"/>
            <a:ext cx="2828925" cy="152400"/>
          </a:xfrm>
          <a:prstGeom prst="rect">
            <a:avLst/>
          </a:prstGeom>
        </p:spPr>
        <p:txBody>
          <a:bodyPr wrap="none" lIns="0" tIns="0" rIns="0" bIns="0"/>
          <a:lstStyle/>
          <a:p>
            <a:pPr>
              <a:lnSpc>
                <a:spcPct val="100000"/>
              </a:lnSpc>
            </a:pPr>
            <a:r>
              <a:rPr lang="zh-CN" sz="975">
                <a:solidFill>
                  <a:srgbClr val="8B97A8"/>
                </a:solidFill>
                <a:latin typeface="Source Han Sans CN"/>
                <a:ea typeface="Source Han Sans CN"/>
              </a:rPr>
              <a:t>动态滚动的多机巢多无人机协同任务分配</a:t>
            </a:r>
            <a:r>
              <a:rPr lang="en-US" sz="975">
                <a:solidFill>
                  <a:srgbClr val="8B97A8"/>
                </a:solidFill>
                <a:latin typeface="Source Han Sans CN"/>
                <a:ea typeface="Source Han Sans CN"/>
              </a:rPr>
              <a:t> · </a:t>
            </a:r>
            <a:r>
              <a:rPr lang="zh-CN" sz="975">
                <a:solidFill>
                  <a:srgbClr val="8B97A8"/>
                </a:solidFill>
                <a:latin typeface="Source Han Sans CN"/>
                <a:ea typeface="Source Han Sans CN"/>
              </a:rPr>
              <a:t>进展汇报</a:t>
            </a:r>
            <a:endParaRPr/>
          </a:p>
        </p:txBody>
      </p:sp>
      <p:sp>
        <p:nvSpPr>
          <p:cNvPr id="275" name="文本框 309" descr="{&quot;isTemplate&quot;:true,&quot;type&quot;:&quot;text&quot;}"/>
          <p:cNvSpPr txBox="1"/>
          <p:nvPr/>
        </p:nvSpPr>
        <p:spPr>
          <a:xfrm>
            <a:off x="11296650" y="6572250"/>
            <a:ext cx="514350" cy="171450"/>
          </a:xfrm>
          <a:prstGeom prst="rect">
            <a:avLst/>
          </a:prstGeom>
        </p:spPr>
        <p:txBody>
          <a:bodyPr wrap="none" lIns="0" tIns="0" rIns="0" bIns="0"/>
          <a:lstStyle/>
          <a:p>
            <a:pPr>
              <a:lnSpc>
                <a:spcPct val="100000"/>
              </a:lnSpc>
            </a:pPr>
            <a:r>
              <a:rPr lang="en-US" sz="1125" b="1">
                <a:solidFill>
                  <a:srgbClr val="1E4FA8"/>
                </a:solidFill>
                <a:latin typeface="Source Han Sans CN"/>
                <a:ea typeface="Source Han Sans CN"/>
              </a:rPr>
              <a:t>09 / 18</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7" name="矩形 311"/>
          <p:cNvSpPr/>
          <p:nvPr/>
        </p:nvSpPr>
        <p:spPr>
          <a:xfrm>
            <a:off x="0" y="0"/>
            <a:ext cx="12192000" cy="6858000"/>
          </a:xfrm>
          <a:prstGeom prst="rect">
            <a:avLst/>
          </a:prstGeom>
          <a:solidFill>
            <a:srgbClr val="FFFFFF"/>
          </a:solidFill>
          <a:ln/>
        </p:spPr>
        <p:txBody>
          <a:bodyPr/>
          <a:lstStyle/>
          <a:p>
            <a:endParaRPr/>
          </a:p>
        </p:txBody>
      </p:sp>
      <p:sp>
        <p:nvSpPr>
          <p:cNvPr id="278" name="矩形 312"/>
          <p:cNvSpPr/>
          <p:nvPr/>
        </p:nvSpPr>
        <p:spPr>
          <a:xfrm>
            <a:off x="0" y="0"/>
            <a:ext cx="12192000" cy="114300"/>
          </a:xfrm>
          <a:prstGeom prst="rect">
            <a:avLst/>
          </a:prstGeom>
          <a:solidFill>
            <a:srgbClr val="1E4FA8"/>
          </a:solidFill>
          <a:ln/>
        </p:spPr>
        <p:txBody>
          <a:bodyPr/>
          <a:lstStyle/>
          <a:p>
            <a:endParaRPr/>
          </a:p>
        </p:txBody>
      </p:sp>
      <p:sp>
        <p:nvSpPr>
          <p:cNvPr id="279" name="矩形 313"/>
          <p:cNvSpPr/>
          <p:nvPr/>
        </p:nvSpPr>
        <p:spPr>
          <a:xfrm>
            <a:off x="381000" y="314325"/>
            <a:ext cx="57150" cy="323850"/>
          </a:xfrm>
          <a:prstGeom prst="rect">
            <a:avLst/>
          </a:prstGeom>
          <a:solidFill>
            <a:srgbClr val="1E4FA8"/>
          </a:solidFill>
          <a:ln/>
        </p:spPr>
        <p:txBody>
          <a:bodyPr/>
          <a:lstStyle/>
          <a:p>
            <a:endParaRPr/>
          </a:p>
        </p:txBody>
      </p:sp>
      <p:sp>
        <p:nvSpPr>
          <p:cNvPr id="280" name="文本框 314" descr="{&quot;isTemplate&quot;:true,&quot;type&quot;:&quot;text&quot;}"/>
          <p:cNvSpPr txBox="1"/>
          <p:nvPr/>
        </p:nvSpPr>
        <p:spPr>
          <a:xfrm>
            <a:off x="571500" y="285750"/>
            <a:ext cx="3657600" cy="371475"/>
          </a:xfrm>
          <a:prstGeom prst="rect">
            <a:avLst/>
          </a:prstGeom>
        </p:spPr>
        <p:txBody>
          <a:bodyPr wrap="none" lIns="0" tIns="0" rIns="0" bIns="0"/>
          <a:lstStyle/>
          <a:p>
            <a:pPr>
              <a:lnSpc>
                <a:spcPct val="100000"/>
              </a:lnSpc>
            </a:pPr>
            <a:r>
              <a:rPr lang="zh-CN" sz="2400" b="1">
                <a:solidFill>
                  <a:srgbClr val="0E3F8C"/>
                </a:solidFill>
                <a:latin typeface="Source Han Sans CN"/>
                <a:ea typeface="Source Han Sans CN"/>
              </a:rPr>
              <a:t>广域巡检场景下的五大挑战</a:t>
            </a:r>
            <a:endParaRPr/>
          </a:p>
        </p:txBody>
      </p:sp>
      <p:sp>
        <p:nvSpPr>
          <p:cNvPr id="281" name="文本框 315" descr="{&quot;isTemplate&quot;:true,&quot;type&quot;:&quot;text&quot;}"/>
          <p:cNvSpPr txBox="1"/>
          <p:nvPr/>
        </p:nvSpPr>
        <p:spPr>
          <a:xfrm>
            <a:off x="571500" y="742950"/>
            <a:ext cx="5715000" cy="171450"/>
          </a:xfrm>
          <a:prstGeom prst="rect">
            <a:avLst/>
          </a:prstGeom>
        </p:spPr>
        <p:txBody>
          <a:bodyPr wrap="none" lIns="0" tIns="0" rIns="0" bIns="0"/>
          <a:lstStyle/>
          <a:p>
            <a:pPr>
              <a:lnSpc>
                <a:spcPct val="100000"/>
              </a:lnSpc>
            </a:pPr>
            <a:r>
              <a:rPr lang="zh-CN" sz="1125">
                <a:solidFill>
                  <a:srgbClr val="8B97A8"/>
                </a:solidFill>
                <a:latin typeface="Source Han Sans CN"/>
                <a:ea typeface="Source Han Sans CN"/>
              </a:rPr>
              <a:t>五条挑战缺一不可——任一被拿掉，静态一次性规划就足以胜任</a:t>
            </a:r>
            <a:endParaRPr/>
          </a:p>
        </p:txBody>
      </p:sp>
      <p:sp>
        <p:nvSpPr>
          <p:cNvPr id="282" name="矩形: 圆角 316"/>
          <p:cNvSpPr/>
          <p:nvPr/>
        </p:nvSpPr>
        <p:spPr>
          <a:xfrm>
            <a:off x="381000" y="1104900"/>
            <a:ext cx="6286500" cy="5086350"/>
          </a:xfrm>
          <a:prstGeom prst="roundRect">
            <a:avLst>
              <a:gd name="adj" fmla="val 2755"/>
            </a:avLst>
          </a:prstGeom>
          <a:solidFill>
            <a:srgbClr val="FFFFFF"/>
          </a:solidFill>
          <a:ln w="12700">
            <a:solidFill>
              <a:srgbClr val="D6DCE5"/>
            </a:solidFill>
            <a:prstDash val="solid"/>
          </a:ln>
        </p:spPr>
        <p:txBody>
          <a:bodyPr/>
          <a:lstStyle/>
          <a:p>
            <a:endParaRPr/>
          </a:p>
        </p:txBody>
      </p:sp>
      <p:sp>
        <p:nvSpPr>
          <p:cNvPr id="284" name="文本框 318" descr="{&quot;isTemplate&quot;:true,&quot;type&quot;:&quot;text&quot;}"/>
          <p:cNvSpPr txBox="1"/>
          <p:nvPr/>
        </p:nvSpPr>
        <p:spPr>
          <a:xfrm>
            <a:off x="381000" y="5238750"/>
            <a:ext cx="6286500" cy="685800"/>
          </a:xfrm>
          <a:prstGeom prst="rect">
            <a:avLst/>
          </a:prstGeom>
        </p:spPr>
        <p:txBody>
          <a:bodyPr wrap="square" lIns="0" tIns="0" rIns="0" bIns="0">
            <a:normAutofit/>
          </a:bodyPr>
          <a:lstStyle/>
          <a:p>
            <a:pPr>
              <a:lnSpc>
                <a:spcPct val="170000"/>
              </a:lnSpc>
            </a:pPr>
            <a:r>
              <a:rPr lang="zh-CN" sz="1050">
                <a:solidFill>
                  <a:srgbClr val="4A5568"/>
                </a:solidFill>
                <a:latin typeface="Source Han Sans CN"/>
                <a:ea typeface="Source Han Sans CN"/>
              </a:rPr>
              <a:t>任务池状态演化的示意（任务 × 周期状态矩阵）：任务到达（灰）→ 池内待处理（橙）→ 被选择执行并完成（绿）。任务持续到达、部分任务跨周期滞留（如末行滞留 4 个周期仍未执行）——不静默丢弃，而是留池待下周期再评，正是右侧五类挑战共同作用的投影。</a:t>
            </a:r>
            <a:r>
              <a:rPr lang="zh-CN" sz="1050" b="1">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endParaRPr/>
          </a:p>
        </p:txBody>
      </p:sp>
      <p:sp>
        <p:nvSpPr>
          <p:cNvPr id="285" name="矩形: 圆角 319"/>
          <p:cNvSpPr/>
          <p:nvPr/>
        </p:nvSpPr>
        <p:spPr>
          <a:xfrm>
            <a:off x="6972300" y="1104900"/>
            <a:ext cx="4876800" cy="933450"/>
          </a:xfrm>
          <a:prstGeom prst="roundRect">
            <a:avLst>
              <a:gd name="adj" fmla="val 7767"/>
            </a:avLst>
          </a:prstGeom>
          <a:solidFill>
            <a:srgbClr val="F0F5FC"/>
          </a:solidFill>
          <a:ln/>
        </p:spPr>
        <p:txBody>
          <a:bodyPr/>
          <a:lstStyle/>
          <a:p>
            <a:endParaRPr/>
          </a:p>
        </p:txBody>
      </p:sp>
      <p:sp>
        <p:nvSpPr>
          <p:cNvPr id="286" name="任意多边形: 形状 320"/>
          <p:cNvSpPr/>
          <p:nvPr/>
        </p:nvSpPr>
        <p:spPr>
          <a:xfrm>
            <a:off x="6972300" y="1104900"/>
            <a:ext cx="4876800" cy="933450"/>
          </a:xfrm>
          <a:custGeom>
            <a:avLst/>
            <a:gdLst/>
            <a:ahLst/>
            <a:cxnLst/>
            <a:rect l="0" t="0" r="0" b="0"/>
            <a:pathLst>
              <a:path w="512" h="98">
                <a:moveTo>
                  <a:pt x="8" y="0"/>
                </a:moveTo>
                <a:cubicBezTo>
                  <a:pt x="6" y="0"/>
                  <a:pt x="4" y="2"/>
                  <a:pt x="4" y="4"/>
                </a:cubicBezTo>
                <a:lnTo>
                  <a:pt x="4" y="94"/>
                </a:lnTo>
                <a:cubicBezTo>
                  <a:pt x="4" y="96"/>
                  <a:pt x="5" y="98"/>
                  <a:pt x="7" y="98"/>
                </a:cubicBezTo>
                <a:cubicBezTo>
                  <a:pt x="3" y="98"/>
                  <a:pt x="0" y="94"/>
                  <a:pt x="0" y="90"/>
                </a:cubicBezTo>
                <a:lnTo>
                  <a:pt x="0" y="8"/>
                </a:lnTo>
                <a:cubicBezTo>
                  <a:pt x="0" y="4"/>
                  <a:pt x="3" y="0"/>
                  <a:pt x="8" y="0"/>
                </a:cubicBezTo>
                <a:close/>
              </a:path>
            </a:pathLst>
          </a:custGeom>
          <a:solidFill>
            <a:srgbClr val="1E4FA8"/>
          </a:solidFill>
          <a:ln/>
        </p:spPr>
        <p:txBody>
          <a:bodyPr/>
          <a:lstStyle/>
          <a:p>
            <a:endParaRPr/>
          </a:p>
        </p:txBody>
      </p:sp>
      <p:sp>
        <p:nvSpPr>
          <p:cNvPr id="287" name="矩形: 圆角 321"/>
          <p:cNvSpPr/>
          <p:nvPr/>
        </p:nvSpPr>
        <p:spPr>
          <a:xfrm>
            <a:off x="7124700" y="1219200"/>
            <a:ext cx="285750" cy="285750"/>
          </a:xfrm>
          <a:prstGeom prst="roundRect">
            <a:avLst>
              <a:gd name="adj" fmla="val 50000"/>
            </a:avLst>
          </a:prstGeom>
          <a:solidFill>
            <a:srgbClr val="1E4FA8"/>
          </a:solidFill>
          <a:ln/>
        </p:spPr>
        <p:txBody>
          <a:bodyPr/>
          <a:lstStyle/>
          <a:p>
            <a:endParaRPr/>
          </a:p>
        </p:txBody>
      </p:sp>
      <p:sp>
        <p:nvSpPr>
          <p:cNvPr id="288" name="文本框 322" descr="{&quot;isTemplate&quot;:true,&quot;type&quot;:&quot;text&quot;}"/>
          <p:cNvSpPr txBox="1"/>
          <p:nvPr/>
        </p:nvSpPr>
        <p:spPr>
          <a:xfrm>
            <a:off x="7219950" y="1266825"/>
            <a:ext cx="95250" cy="190500"/>
          </a:xfrm>
          <a:prstGeom prst="rect">
            <a:avLst/>
          </a:prstGeom>
        </p:spPr>
        <p:txBody>
          <a:bodyPr wrap="none" lIns="0" tIns="0" rIns="0" bIns="0"/>
          <a:lstStyle/>
          <a:p>
            <a:pPr>
              <a:lnSpc>
                <a:spcPct val="100000"/>
              </a:lnSpc>
            </a:pPr>
            <a:r>
              <a:rPr lang="en-US" sz="1200" b="1">
                <a:solidFill>
                  <a:srgbClr val="FFFFFF"/>
                </a:solidFill>
                <a:latin typeface="Source Han Sans CN"/>
                <a:ea typeface="Source Han Sans CN"/>
              </a:rPr>
              <a:t>1</a:t>
            </a:r>
            <a:endParaRPr/>
          </a:p>
        </p:txBody>
      </p:sp>
      <p:sp>
        <p:nvSpPr>
          <p:cNvPr id="289" name="文本框 323" descr="{&quot;isTemplate&quot;:true,&quot;type&quot;:&quot;text&quot;}"/>
          <p:cNvSpPr txBox="1"/>
          <p:nvPr/>
        </p:nvSpPr>
        <p:spPr>
          <a:xfrm>
            <a:off x="7543800" y="1219200"/>
            <a:ext cx="4114800" cy="209550"/>
          </a:xfrm>
          <a:prstGeom prst="rect">
            <a:avLst/>
          </a:prstGeom>
        </p:spPr>
        <p:txBody>
          <a:bodyPr wrap="none" lIns="0" tIns="0" rIns="0" bIns="0"/>
          <a:lstStyle/>
          <a:p>
            <a:pPr>
              <a:lnSpc>
                <a:spcPct val="100000"/>
              </a:lnSpc>
            </a:pPr>
            <a:r>
              <a:rPr lang="zh-CN" sz="1350" b="1">
                <a:solidFill>
                  <a:srgbClr val="1A2230"/>
                </a:solidFill>
                <a:latin typeface="Source Han Sans CN"/>
                <a:ea typeface="Source Han Sans CN"/>
              </a:rPr>
              <a:t>任务动态到达与持续滞留</a:t>
            </a:r>
            <a:endParaRPr/>
          </a:p>
        </p:txBody>
      </p:sp>
      <p:sp>
        <p:nvSpPr>
          <p:cNvPr id="290" name="文本框 324" descr="{&quot;isTemplate&quot;:true,&quot;type&quot;:&quot;text&quot;}"/>
          <p:cNvSpPr txBox="1"/>
          <p:nvPr/>
        </p:nvSpPr>
        <p:spPr>
          <a:xfrm>
            <a:off x="7543800" y="1466850"/>
            <a:ext cx="4114800" cy="504825"/>
          </a:xfrm>
          <a:prstGeom prst="rect">
            <a:avLst/>
          </a:prstGeom>
        </p:spPr>
        <p:txBody>
          <a:bodyPr wrap="square" lIns="0" tIns="0" rIns="0" bIns="0">
            <a:normAutofit/>
          </a:bodyPr>
          <a:lstStyle/>
          <a:p>
            <a:pPr>
              <a:lnSpc>
                <a:spcPct val="155000"/>
              </a:lnSpc>
            </a:pPr>
            <a:r>
              <a:rPr lang="zh-CN" sz="1050">
                <a:solidFill>
                  <a:srgbClr val="4A5568"/>
                </a:solidFill>
                <a:latin typeface="Source Han Sans CN"/>
                <a:ea typeface="Source Han Sans CN"/>
              </a:rPr>
              <a:t>任务池按周期演化</a:t>
            </a:r>
            <a:r>
              <a:rPr lang="en-US" sz="1050">
                <a:solidFill>
                  <a:srgbClr val="4A5568"/>
                </a:solidFill>
                <a:latin typeface="Source Han Sans CN"/>
                <a:ea typeface="Source Han Sans CN"/>
              </a:rPr>
              <a:t> T(t+1)=remain∪new∪release</a:t>
            </a:r>
            <a:r>
              <a:rPr lang="zh-CN" sz="1050">
                <a:solidFill>
                  <a:srgbClr val="4A5568"/>
                </a:solidFill>
                <a:latin typeface="Source Han Sans CN"/>
                <a:ea typeface="Source Han Sans CN"/>
              </a:rPr>
              <a:t>，滞留任务需要等待补偿，不能静默丢失</a:t>
            </a:r>
            <a:endParaRPr/>
          </a:p>
        </p:txBody>
      </p:sp>
      <p:sp>
        <p:nvSpPr>
          <p:cNvPr id="291" name="矩形: 圆角 325"/>
          <p:cNvSpPr/>
          <p:nvPr/>
        </p:nvSpPr>
        <p:spPr>
          <a:xfrm>
            <a:off x="6972300" y="2143125"/>
            <a:ext cx="4876800" cy="933450"/>
          </a:xfrm>
          <a:prstGeom prst="roundRect">
            <a:avLst>
              <a:gd name="adj" fmla="val 7767"/>
            </a:avLst>
          </a:prstGeom>
          <a:solidFill>
            <a:srgbClr val="F0F5FC"/>
          </a:solidFill>
          <a:ln/>
        </p:spPr>
        <p:txBody>
          <a:bodyPr/>
          <a:lstStyle/>
          <a:p>
            <a:endParaRPr/>
          </a:p>
        </p:txBody>
      </p:sp>
      <p:sp>
        <p:nvSpPr>
          <p:cNvPr id="292" name="任意多边形: 形状 326"/>
          <p:cNvSpPr/>
          <p:nvPr/>
        </p:nvSpPr>
        <p:spPr>
          <a:xfrm>
            <a:off x="6972300" y="2143125"/>
            <a:ext cx="4876800" cy="933450"/>
          </a:xfrm>
          <a:custGeom>
            <a:avLst/>
            <a:gdLst/>
            <a:ahLst/>
            <a:cxnLst/>
            <a:rect l="0" t="0" r="0" b="0"/>
            <a:pathLst>
              <a:path w="512" h="98">
                <a:moveTo>
                  <a:pt x="8" y="0"/>
                </a:moveTo>
                <a:cubicBezTo>
                  <a:pt x="6" y="0"/>
                  <a:pt x="4" y="2"/>
                  <a:pt x="4" y="4"/>
                </a:cubicBezTo>
                <a:lnTo>
                  <a:pt x="4" y="94"/>
                </a:lnTo>
                <a:cubicBezTo>
                  <a:pt x="4" y="96"/>
                  <a:pt x="5" y="98"/>
                  <a:pt x="7" y="98"/>
                </a:cubicBezTo>
                <a:cubicBezTo>
                  <a:pt x="3" y="98"/>
                  <a:pt x="0" y="94"/>
                  <a:pt x="0" y="90"/>
                </a:cubicBezTo>
                <a:lnTo>
                  <a:pt x="0" y="8"/>
                </a:lnTo>
                <a:cubicBezTo>
                  <a:pt x="0" y="4"/>
                  <a:pt x="3" y="0"/>
                  <a:pt x="8" y="0"/>
                </a:cubicBezTo>
                <a:close/>
              </a:path>
            </a:pathLst>
          </a:custGeom>
          <a:solidFill>
            <a:srgbClr val="1E4FA8"/>
          </a:solidFill>
          <a:ln/>
        </p:spPr>
        <p:txBody>
          <a:bodyPr/>
          <a:lstStyle/>
          <a:p>
            <a:endParaRPr/>
          </a:p>
        </p:txBody>
      </p:sp>
      <p:sp>
        <p:nvSpPr>
          <p:cNvPr id="293" name="矩形: 圆角 327"/>
          <p:cNvSpPr/>
          <p:nvPr/>
        </p:nvSpPr>
        <p:spPr>
          <a:xfrm>
            <a:off x="7124700" y="2257425"/>
            <a:ext cx="285750" cy="285750"/>
          </a:xfrm>
          <a:prstGeom prst="roundRect">
            <a:avLst>
              <a:gd name="adj" fmla="val 50000"/>
            </a:avLst>
          </a:prstGeom>
          <a:solidFill>
            <a:srgbClr val="1E4FA8"/>
          </a:solidFill>
          <a:ln/>
        </p:spPr>
        <p:txBody>
          <a:bodyPr/>
          <a:lstStyle/>
          <a:p>
            <a:endParaRPr/>
          </a:p>
        </p:txBody>
      </p:sp>
      <p:sp>
        <p:nvSpPr>
          <p:cNvPr id="294" name="文本框 328" descr="{&quot;isTemplate&quot;:true,&quot;type&quot;:&quot;text&quot;}"/>
          <p:cNvSpPr txBox="1"/>
          <p:nvPr/>
        </p:nvSpPr>
        <p:spPr>
          <a:xfrm>
            <a:off x="7219950" y="2305050"/>
            <a:ext cx="95250" cy="190500"/>
          </a:xfrm>
          <a:prstGeom prst="rect">
            <a:avLst/>
          </a:prstGeom>
        </p:spPr>
        <p:txBody>
          <a:bodyPr wrap="none" lIns="0" tIns="0" rIns="0" bIns="0"/>
          <a:lstStyle/>
          <a:p>
            <a:pPr>
              <a:lnSpc>
                <a:spcPct val="100000"/>
              </a:lnSpc>
            </a:pPr>
            <a:r>
              <a:rPr lang="en-US" sz="1200" b="1">
                <a:solidFill>
                  <a:srgbClr val="FFFFFF"/>
                </a:solidFill>
                <a:latin typeface="Source Han Sans CN"/>
                <a:ea typeface="Source Han Sans CN"/>
              </a:rPr>
              <a:t>2</a:t>
            </a:r>
            <a:endParaRPr/>
          </a:p>
        </p:txBody>
      </p:sp>
      <p:sp>
        <p:nvSpPr>
          <p:cNvPr id="295" name="文本框 329" descr="{&quot;isTemplate&quot;:true,&quot;type&quot;:&quot;text&quot;}"/>
          <p:cNvSpPr txBox="1"/>
          <p:nvPr/>
        </p:nvSpPr>
        <p:spPr>
          <a:xfrm>
            <a:off x="7543800" y="2257425"/>
            <a:ext cx="4114800" cy="209550"/>
          </a:xfrm>
          <a:prstGeom prst="rect">
            <a:avLst/>
          </a:prstGeom>
        </p:spPr>
        <p:txBody>
          <a:bodyPr wrap="none" lIns="0" tIns="0" rIns="0" bIns="0"/>
          <a:lstStyle/>
          <a:p>
            <a:pPr>
              <a:lnSpc>
                <a:spcPct val="100000"/>
              </a:lnSpc>
            </a:pPr>
            <a:r>
              <a:rPr lang="zh-CN" sz="1350" b="1">
                <a:solidFill>
                  <a:srgbClr val="1A2230"/>
                </a:solidFill>
                <a:latin typeface="Source Han Sans CN"/>
                <a:ea typeface="Source Han Sans CN"/>
              </a:rPr>
              <a:t>无人机可用状态动态变化</a:t>
            </a:r>
            <a:endParaRPr/>
          </a:p>
        </p:txBody>
      </p:sp>
      <p:sp>
        <p:nvSpPr>
          <p:cNvPr id="296" name="文本框 330" descr="{&quot;isTemplate&quot;:true,&quot;type&quot;:&quot;text&quot;}"/>
          <p:cNvSpPr txBox="1"/>
          <p:nvPr/>
        </p:nvSpPr>
        <p:spPr>
          <a:xfrm>
            <a:off x="7543800" y="2505075"/>
            <a:ext cx="4114800" cy="504825"/>
          </a:xfrm>
          <a:prstGeom prst="rect">
            <a:avLst/>
          </a:prstGeom>
        </p:spPr>
        <p:txBody>
          <a:bodyPr wrap="square" lIns="0" tIns="0" rIns="0" bIns="0">
            <a:normAutofit/>
          </a:bodyPr>
          <a:lstStyle/>
          <a:p>
            <a:pPr>
              <a:lnSpc>
                <a:spcPct val="155000"/>
              </a:lnSpc>
            </a:pPr>
            <a:r>
              <a:rPr lang="zh-CN" sz="1050">
                <a:solidFill>
                  <a:srgbClr val="4A5568"/>
                </a:solidFill>
                <a:latin typeface="Source Han Sans CN"/>
                <a:ea typeface="Source Han Sans CN"/>
              </a:rPr>
              <a:t>起降、充电、故障使可用集每周期不同，规划必须基于当前真实状态而非初始快照</a:t>
            </a:r>
            <a:endParaRPr/>
          </a:p>
        </p:txBody>
      </p:sp>
      <p:sp>
        <p:nvSpPr>
          <p:cNvPr id="297" name="矩形: 圆角 331"/>
          <p:cNvSpPr/>
          <p:nvPr/>
        </p:nvSpPr>
        <p:spPr>
          <a:xfrm>
            <a:off x="6972300" y="3181350"/>
            <a:ext cx="4876800" cy="933450"/>
          </a:xfrm>
          <a:prstGeom prst="roundRect">
            <a:avLst>
              <a:gd name="adj" fmla="val 7767"/>
            </a:avLst>
          </a:prstGeom>
          <a:solidFill>
            <a:srgbClr val="F0F5FC"/>
          </a:solidFill>
          <a:ln/>
        </p:spPr>
        <p:txBody>
          <a:bodyPr/>
          <a:lstStyle/>
          <a:p>
            <a:endParaRPr/>
          </a:p>
        </p:txBody>
      </p:sp>
      <p:sp>
        <p:nvSpPr>
          <p:cNvPr id="298" name="任意多边形: 形状 332"/>
          <p:cNvSpPr/>
          <p:nvPr/>
        </p:nvSpPr>
        <p:spPr>
          <a:xfrm>
            <a:off x="6972300" y="3181350"/>
            <a:ext cx="4876800" cy="933450"/>
          </a:xfrm>
          <a:custGeom>
            <a:avLst/>
            <a:gdLst/>
            <a:ahLst/>
            <a:cxnLst/>
            <a:rect l="0" t="0" r="0" b="0"/>
            <a:pathLst>
              <a:path w="512" h="98">
                <a:moveTo>
                  <a:pt x="8" y="0"/>
                </a:moveTo>
                <a:cubicBezTo>
                  <a:pt x="6" y="0"/>
                  <a:pt x="4" y="2"/>
                  <a:pt x="4" y="4"/>
                </a:cubicBezTo>
                <a:lnTo>
                  <a:pt x="4" y="94"/>
                </a:lnTo>
                <a:cubicBezTo>
                  <a:pt x="4" y="96"/>
                  <a:pt x="5" y="98"/>
                  <a:pt x="7" y="98"/>
                </a:cubicBezTo>
                <a:cubicBezTo>
                  <a:pt x="3" y="98"/>
                  <a:pt x="0" y="94"/>
                  <a:pt x="0" y="90"/>
                </a:cubicBezTo>
                <a:lnTo>
                  <a:pt x="0" y="8"/>
                </a:lnTo>
                <a:cubicBezTo>
                  <a:pt x="0" y="4"/>
                  <a:pt x="3" y="0"/>
                  <a:pt x="8" y="0"/>
                </a:cubicBezTo>
                <a:close/>
              </a:path>
            </a:pathLst>
          </a:custGeom>
          <a:solidFill>
            <a:srgbClr val="1E4FA8"/>
          </a:solidFill>
          <a:ln/>
        </p:spPr>
        <p:txBody>
          <a:bodyPr/>
          <a:lstStyle/>
          <a:p>
            <a:endParaRPr/>
          </a:p>
        </p:txBody>
      </p:sp>
      <p:sp>
        <p:nvSpPr>
          <p:cNvPr id="299" name="矩形: 圆角 333"/>
          <p:cNvSpPr/>
          <p:nvPr/>
        </p:nvSpPr>
        <p:spPr>
          <a:xfrm>
            <a:off x="7124700" y="3295650"/>
            <a:ext cx="285750" cy="285750"/>
          </a:xfrm>
          <a:prstGeom prst="roundRect">
            <a:avLst>
              <a:gd name="adj" fmla="val 50000"/>
            </a:avLst>
          </a:prstGeom>
          <a:solidFill>
            <a:srgbClr val="1E4FA8"/>
          </a:solidFill>
          <a:ln/>
        </p:spPr>
        <p:txBody>
          <a:bodyPr/>
          <a:lstStyle/>
          <a:p>
            <a:endParaRPr/>
          </a:p>
        </p:txBody>
      </p:sp>
      <p:sp>
        <p:nvSpPr>
          <p:cNvPr id="300" name="文本框 334" descr="{&quot;isTemplate&quot;:true,&quot;type&quot;:&quot;text&quot;}"/>
          <p:cNvSpPr txBox="1"/>
          <p:nvPr/>
        </p:nvSpPr>
        <p:spPr>
          <a:xfrm>
            <a:off x="7219950" y="3343275"/>
            <a:ext cx="95250" cy="190500"/>
          </a:xfrm>
          <a:prstGeom prst="rect">
            <a:avLst/>
          </a:prstGeom>
        </p:spPr>
        <p:txBody>
          <a:bodyPr wrap="none" lIns="0" tIns="0" rIns="0" bIns="0"/>
          <a:lstStyle/>
          <a:p>
            <a:pPr>
              <a:lnSpc>
                <a:spcPct val="100000"/>
              </a:lnSpc>
            </a:pPr>
            <a:r>
              <a:rPr lang="en-US" sz="1200" b="1">
                <a:solidFill>
                  <a:srgbClr val="FFFFFF"/>
                </a:solidFill>
                <a:latin typeface="Source Han Sans CN"/>
                <a:ea typeface="Source Han Sans CN"/>
              </a:rPr>
              <a:t>3</a:t>
            </a:r>
            <a:endParaRPr/>
          </a:p>
        </p:txBody>
      </p:sp>
      <p:sp>
        <p:nvSpPr>
          <p:cNvPr id="301" name="文本框 335" descr="{&quot;isTemplate&quot;:true,&quot;type&quot;:&quot;text&quot;}"/>
          <p:cNvSpPr txBox="1"/>
          <p:nvPr/>
        </p:nvSpPr>
        <p:spPr>
          <a:xfrm>
            <a:off x="7543800" y="3295650"/>
            <a:ext cx="4114800" cy="209550"/>
          </a:xfrm>
          <a:prstGeom prst="rect">
            <a:avLst/>
          </a:prstGeom>
        </p:spPr>
        <p:txBody>
          <a:bodyPr wrap="none" lIns="0" tIns="0" rIns="0" bIns="0"/>
          <a:lstStyle/>
          <a:p>
            <a:pPr>
              <a:lnSpc>
                <a:spcPct val="100000"/>
              </a:lnSpc>
            </a:pPr>
            <a:r>
              <a:rPr lang="zh-CN" sz="1350" b="1">
                <a:solidFill>
                  <a:srgbClr val="1A2230"/>
                </a:solidFill>
                <a:latin typeface="Source Han Sans CN"/>
                <a:ea typeface="Source Han Sans CN"/>
              </a:rPr>
              <a:t>多机巢起降与终点选择</a:t>
            </a:r>
            <a:endParaRPr/>
          </a:p>
        </p:txBody>
      </p:sp>
      <p:sp>
        <p:nvSpPr>
          <p:cNvPr id="302" name="文本框 336" descr="{&quot;isTemplate&quot;:true,&quot;type&quot;:&quot;text&quot;}"/>
          <p:cNvSpPr txBox="1"/>
          <p:nvPr/>
        </p:nvSpPr>
        <p:spPr>
          <a:xfrm>
            <a:off x="7543800" y="3543300"/>
            <a:ext cx="4114800" cy="504825"/>
          </a:xfrm>
          <a:prstGeom prst="rect">
            <a:avLst/>
          </a:prstGeom>
        </p:spPr>
        <p:txBody>
          <a:bodyPr wrap="square" lIns="0" tIns="0" rIns="0" bIns="0">
            <a:normAutofit/>
          </a:bodyPr>
          <a:lstStyle/>
          <a:p>
            <a:pPr>
              <a:lnSpc>
                <a:spcPct val="155000"/>
              </a:lnSpc>
            </a:pPr>
            <a:r>
              <a:rPr lang="zh-CN" sz="1050">
                <a:solidFill>
                  <a:srgbClr val="4A5568"/>
                </a:solidFill>
                <a:latin typeface="Source Han Sans CN"/>
                <a:ea typeface="Source Han Sans CN"/>
              </a:rPr>
              <a:t>异源起飞、异巢终止：起点由停靠状态确定，终点机巢是决策变量且受泊位容量约束</a:t>
            </a:r>
            <a:endParaRPr/>
          </a:p>
        </p:txBody>
      </p:sp>
      <p:sp>
        <p:nvSpPr>
          <p:cNvPr id="303" name="矩形: 圆角 337"/>
          <p:cNvSpPr/>
          <p:nvPr/>
        </p:nvSpPr>
        <p:spPr>
          <a:xfrm>
            <a:off x="6972300" y="4219575"/>
            <a:ext cx="4876800" cy="933450"/>
          </a:xfrm>
          <a:prstGeom prst="roundRect">
            <a:avLst>
              <a:gd name="adj" fmla="val 7767"/>
            </a:avLst>
          </a:prstGeom>
          <a:solidFill>
            <a:srgbClr val="F0F5FC"/>
          </a:solidFill>
          <a:ln/>
        </p:spPr>
        <p:txBody>
          <a:bodyPr/>
          <a:lstStyle/>
          <a:p>
            <a:endParaRPr/>
          </a:p>
        </p:txBody>
      </p:sp>
      <p:sp>
        <p:nvSpPr>
          <p:cNvPr id="304" name="任意多边形: 形状 338"/>
          <p:cNvSpPr/>
          <p:nvPr/>
        </p:nvSpPr>
        <p:spPr>
          <a:xfrm>
            <a:off x="6972300" y="4219575"/>
            <a:ext cx="4876800" cy="933450"/>
          </a:xfrm>
          <a:custGeom>
            <a:avLst/>
            <a:gdLst/>
            <a:ahLst/>
            <a:cxnLst/>
            <a:rect l="0" t="0" r="0" b="0"/>
            <a:pathLst>
              <a:path w="512" h="98">
                <a:moveTo>
                  <a:pt x="8" y="0"/>
                </a:moveTo>
                <a:cubicBezTo>
                  <a:pt x="6" y="0"/>
                  <a:pt x="4" y="2"/>
                  <a:pt x="4" y="4"/>
                </a:cubicBezTo>
                <a:lnTo>
                  <a:pt x="4" y="94"/>
                </a:lnTo>
                <a:cubicBezTo>
                  <a:pt x="4" y="96"/>
                  <a:pt x="5" y="98"/>
                  <a:pt x="7" y="98"/>
                </a:cubicBezTo>
                <a:cubicBezTo>
                  <a:pt x="3" y="98"/>
                  <a:pt x="0" y="94"/>
                  <a:pt x="0" y="90"/>
                </a:cubicBezTo>
                <a:lnTo>
                  <a:pt x="0" y="8"/>
                </a:lnTo>
                <a:cubicBezTo>
                  <a:pt x="0" y="4"/>
                  <a:pt x="3" y="0"/>
                  <a:pt x="8" y="0"/>
                </a:cubicBezTo>
                <a:close/>
              </a:path>
            </a:pathLst>
          </a:custGeom>
          <a:solidFill>
            <a:srgbClr val="1E4FA8"/>
          </a:solidFill>
          <a:ln/>
        </p:spPr>
        <p:txBody>
          <a:bodyPr/>
          <a:lstStyle/>
          <a:p>
            <a:endParaRPr/>
          </a:p>
        </p:txBody>
      </p:sp>
      <p:sp>
        <p:nvSpPr>
          <p:cNvPr id="305" name="矩形: 圆角 339"/>
          <p:cNvSpPr/>
          <p:nvPr/>
        </p:nvSpPr>
        <p:spPr>
          <a:xfrm>
            <a:off x="7124700" y="4333875"/>
            <a:ext cx="285750" cy="285750"/>
          </a:xfrm>
          <a:prstGeom prst="roundRect">
            <a:avLst>
              <a:gd name="adj" fmla="val 50000"/>
            </a:avLst>
          </a:prstGeom>
          <a:solidFill>
            <a:srgbClr val="1E4FA8"/>
          </a:solidFill>
          <a:ln/>
        </p:spPr>
        <p:txBody>
          <a:bodyPr/>
          <a:lstStyle/>
          <a:p>
            <a:endParaRPr/>
          </a:p>
        </p:txBody>
      </p:sp>
      <p:sp>
        <p:nvSpPr>
          <p:cNvPr id="306" name="文本框 340" descr="{&quot;isTemplate&quot;:true,&quot;type&quot;:&quot;text&quot;}"/>
          <p:cNvSpPr txBox="1"/>
          <p:nvPr/>
        </p:nvSpPr>
        <p:spPr>
          <a:xfrm>
            <a:off x="7219950" y="4381500"/>
            <a:ext cx="95250" cy="190500"/>
          </a:xfrm>
          <a:prstGeom prst="rect">
            <a:avLst/>
          </a:prstGeom>
        </p:spPr>
        <p:txBody>
          <a:bodyPr wrap="none" lIns="0" tIns="0" rIns="0" bIns="0"/>
          <a:lstStyle/>
          <a:p>
            <a:pPr>
              <a:lnSpc>
                <a:spcPct val="100000"/>
              </a:lnSpc>
            </a:pPr>
            <a:r>
              <a:rPr lang="en-US" sz="1200" b="1">
                <a:solidFill>
                  <a:srgbClr val="FFFFFF"/>
                </a:solidFill>
                <a:latin typeface="Source Han Sans CN"/>
                <a:ea typeface="Source Han Sans CN"/>
              </a:rPr>
              <a:t>4</a:t>
            </a:r>
            <a:endParaRPr/>
          </a:p>
        </p:txBody>
      </p:sp>
      <p:sp>
        <p:nvSpPr>
          <p:cNvPr id="307" name="文本框 341" descr="{&quot;isTemplate&quot;:true,&quot;type&quot;:&quot;text&quot;}"/>
          <p:cNvSpPr txBox="1"/>
          <p:nvPr/>
        </p:nvSpPr>
        <p:spPr>
          <a:xfrm>
            <a:off x="7543800" y="4333875"/>
            <a:ext cx="4114800" cy="209550"/>
          </a:xfrm>
          <a:prstGeom prst="rect">
            <a:avLst/>
          </a:prstGeom>
        </p:spPr>
        <p:txBody>
          <a:bodyPr wrap="none" lIns="0" tIns="0" rIns="0" bIns="0"/>
          <a:lstStyle/>
          <a:p>
            <a:pPr>
              <a:lnSpc>
                <a:spcPct val="100000"/>
              </a:lnSpc>
            </a:pPr>
            <a:r>
              <a:rPr lang="zh-CN" sz="1350" b="1">
                <a:solidFill>
                  <a:srgbClr val="1A2230"/>
                </a:solidFill>
                <a:latin typeface="Source Han Sans CN"/>
                <a:ea typeface="Source Han Sans CN"/>
              </a:rPr>
              <a:t>任务数量与执行能力不匹配</a:t>
            </a:r>
            <a:endParaRPr/>
          </a:p>
        </p:txBody>
      </p:sp>
      <p:sp>
        <p:nvSpPr>
          <p:cNvPr id="308" name="文本框 342" descr="{&quot;isTemplate&quot;:true,&quot;type&quot;:&quot;text&quot;}"/>
          <p:cNvSpPr txBox="1"/>
          <p:nvPr/>
        </p:nvSpPr>
        <p:spPr>
          <a:xfrm>
            <a:off x="7543800" y="4581525"/>
            <a:ext cx="4114800" cy="504825"/>
          </a:xfrm>
          <a:prstGeom prst="rect">
            <a:avLst/>
          </a:prstGeom>
        </p:spPr>
        <p:txBody>
          <a:bodyPr wrap="square" lIns="0" tIns="0" rIns="0" bIns="0">
            <a:normAutofit/>
          </a:bodyPr>
          <a:lstStyle/>
          <a:p>
            <a:pPr>
              <a:lnSpc>
                <a:spcPct val="155000"/>
              </a:lnSpc>
            </a:pPr>
            <a:r>
              <a:rPr lang="zh-CN" sz="1050">
                <a:solidFill>
                  <a:srgbClr val="4A5568"/>
                </a:solidFill>
                <a:latin typeface="Source Han Sans CN"/>
                <a:ea typeface="Source Han Sans CN"/>
              </a:rPr>
              <a:t>任务数远超单周期能力承载：默认全做不可行，工程上「偷偷丢弃」又不可审计——取舍必须成为模型内的合法决策</a:t>
            </a:r>
            <a:endParaRPr/>
          </a:p>
        </p:txBody>
      </p:sp>
      <p:sp>
        <p:nvSpPr>
          <p:cNvPr id="309" name="矩形: 圆角 343"/>
          <p:cNvSpPr/>
          <p:nvPr/>
        </p:nvSpPr>
        <p:spPr>
          <a:xfrm>
            <a:off x="6972300" y="5257800"/>
            <a:ext cx="4876800" cy="933450"/>
          </a:xfrm>
          <a:prstGeom prst="roundRect">
            <a:avLst>
              <a:gd name="adj" fmla="val 10390"/>
            </a:avLst>
          </a:prstGeom>
          <a:solidFill>
            <a:srgbClr val="F0F5FC"/>
          </a:solidFill>
          <a:ln/>
        </p:spPr>
        <p:txBody>
          <a:bodyPr/>
          <a:lstStyle/>
          <a:p>
            <a:endParaRPr/>
          </a:p>
        </p:txBody>
      </p:sp>
      <p:sp>
        <p:nvSpPr>
          <p:cNvPr id="310" name="任意多边形: 形状 344"/>
          <p:cNvSpPr/>
          <p:nvPr/>
        </p:nvSpPr>
        <p:spPr>
          <a:xfrm>
            <a:off x="6972300" y="5257800"/>
            <a:ext cx="4876800" cy="933450"/>
          </a:xfrm>
          <a:custGeom>
            <a:avLst/>
            <a:gdLst/>
            <a:ahLst/>
            <a:cxnLst/>
            <a:rect l="0" t="0" r="0" b="0"/>
            <a:pathLst>
              <a:path w="512" h="98">
                <a:moveTo>
                  <a:pt x="8" y="0"/>
                </a:moveTo>
                <a:cubicBezTo>
                  <a:pt x="6" y="0"/>
                  <a:pt x="4" y="3"/>
                  <a:pt x="4" y="5"/>
                </a:cubicBezTo>
                <a:lnTo>
                  <a:pt x="4" y="93"/>
                </a:lnTo>
                <a:cubicBezTo>
                  <a:pt x="4" y="95"/>
                  <a:pt x="5" y="98"/>
                  <a:pt x="7" y="98"/>
                </a:cubicBezTo>
                <a:cubicBezTo>
                  <a:pt x="3" y="98"/>
                  <a:pt x="0" y="93"/>
                  <a:pt x="0" y="88"/>
                </a:cubicBezTo>
                <a:lnTo>
                  <a:pt x="0" y="10"/>
                </a:lnTo>
                <a:cubicBezTo>
                  <a:pt x="0" y="5"/>
                  <a:pt x="3" y="0"/>
                  <a:pt x="8" y="0"/>
                </a:cubicBezTo>
                <a:close/>
              </a:path>
            </a:pathLst>
          </a:custGeom>
          <a:solidFill>
            <a:srgbClr val="1E4FA8"/>
          </a:solidFill>
          <a:ln/>
        </p:spPr>
        <p:txBody>
          <a:bodyPr/>
          <a:lstStyle/>
          <a:p>
            <a:endParaRPr/>
          </a:p>
        </p:txBody>
      </p:sp>
      <p:sp>
        <p:nvSpPr>
          <p:cNvPr id="311" name="矩形: 圆角 345"/>
          <p:cNvSpPr/>
          <p:nvPr/>
        </p:nvSpPr>
        <p:spPr>
          <a:xfrm>
            <a:off x="7124700" y="5372100"/>
            <a:ext cx="285750" cy="285750"/>
          </a:xfrm>
          <a:prstGeom prst="roundRect">
            <a:avLst>
              <a:gd name="adj" fmla="val 50000"/>
            </a:avLst>
          </a:prstGeom>
          <a:solidFill>
            <a:srgbClr val="1E4FA8"/>
          </a:solidFill>
          <a:ln/>
        </p:spPr>
        <p:txBody>
          <a:bodyPr/>
          <a:lstStyle/>
          <a:p>
            <a:endParaRPr/>
          </a:p>
        </p:txBody>
      </p:sp>
      <p:sp>
        <p:nvSpPr>
          <p:cNvPr id="312" name="文本框 346" descr="{&quot;isTemplate&quot;:true,&quot;type&quot;:&quot;text&quot;}"/>
          <p:cNvSpPr txBox="1"/>
          <p:nvPr/>
        </p:nvSpPr>
        <p:spPr>
          <a:xfrm>
            <a:off x="7219950" y="5419725"/>
            <a:ext cx="95250" cy="190500"/>
          </a:xfrm>
          <a:prstGeom prst="rect">
            <a:avLst/>
          </a:prstGeom>
        </p:spPr>
        <p:txBody>
          <a:bodyPr wrap="none" lIns="0" tIns="0" rIns="0" bIns="0"/>
          <a:lstStyle/>
          <a:p>
            <a:pPr>
              <a:lnSpc>
                <a:spcPct val="100000"/>
              </a:lnSpc>
            </a:pPr>
            <a:r>
              <a:rPr lang="en-US" sz="1200" b="1">
                <a:solidFill>
                  <a:srgbClr val="FFFFFF"/>
                </a:solidFill>
                <a:latin typeface="Source Han Sans CN"/>
                <a:ea typeface="Source Han Sans CN"/>
              </a:rPr>
              <a:t>5</a:t>
            </a:r>
            <a:endParaRPr/>
          </a:p>
        </p:txBody>
      </p:sp>
      <p:sp>
        <p:nvSpPr>
          <p:cNvPr id="313" name="文本框 347" descr="{&quot;isTemplate&quot;:true,&quot;type&quot;:&quot;text&quot;}"/>
          <p:cNvSpPr txBox="1"/>
          <p:nvPr/>
        </p:nvSpPr>
        <p:spPr>
          <a:xfrm>
            <a:off x="7543800" y="5372100"/>
            <a:ext cx="4114800" cy="209550"/>
          </a:xfrm>
          <a:prstGeom prst="rect">
            <a:avLst/>
          </a:prstGeom>
        </p:spPr>
        <p:txBody>
          <a:bodyPr wrap="none" lIns="0" tIns="0" rIns="0" bIns="0"/>
          <a:lstStyle/>
          <a:p>
            <a:pPr>
              <a:lnSpc>
                <a:spcPct val="100000"/>
              </a:lnSpc>
            </a:pPr>
            <a:r>
              <a:rPr lang="zh-CN" sz="1350" b="1">
                <a:solidFill>
                  <a:srgbClr val="1A2230"/>
                </a:solidFill>
                <a:latin typeface="Source Han Sans CN"/>
                <a:ea typeface="Source Han Sans CN"/>
              </a:rPr>
              <a:t>三维地形抬升真实执行代价</a:t>
            </a:r>
            <a:endParaRPr/>
          </a:p>
        </p:txBody>
      </p:sp>
      <p:sp>
        <p:nvSpPr>
          <p:cNvPr id="314" name="文本框 348" descr="{&quot;isTemplate&quot;:true,&quot;type&quot;:&quot;text&quot;}"/>
          <p:cNvSpPr txBox="1"/>
          <p:nvPr/>
        </p:nvSpPr>
        <p:spPr>
          <a:xfrm>
            <a:off x="7543800" y="5619750"/>
            <a:ext cx="4114800" cy="504825"/>
          </a:xfrm>
          <a:prstGeom prst="rect">
            <a:avLst/>
          </a:prstGeom>
        </p:spPr>
        <p:txBody>
          <a:bodyPr wrap="square" lIns="0" tIns="0" rIns="0" bIns="0">
            <a:normAutofit/>
          </a:bodyPr>
          <a:lstStyle/>
          <a:p>
            <a:pPr>
              <a:lnSpc>
                <a:spcPct val="155000"/>
              </a:lnSpc>
            </a:pPr>
            <a:r>
              <a:rPr lang="zh-CN" sz="1050">
                <a:solidFill>
                  <a:srgbClr val="4A5568"/>
                </a:solidFill>
                <a:latin typeface="Source Han Sans CN"/>
                <a:ea typeface="Source Han Sans CN"/>
              </a:rPr>
              <a:t>DEM 修正率 2.85%~18.94%：山地航段代价显著高于平面距离，且高价值任务常伴随高航程代价——收益与代价必须联合权衡</a:t>
            </a:r>
            <a:endParaRPr/>
          </a:p>
        </p:txBody>
      </p:sp>
      <p:sp>
        <p:nvSpPr>
          <p:cNvPr id="315" name="矩形 349"/>
          <p:cNvSpPr/>
          <p:nvPr/>
        </p:nvSpPr>
        <p:spPr>
          <a:xfrm>
            <a:off x="0" y="6448425"/>
            <a:ext cx="12192000" cy="409575"/>
          </a:xfrm>
          <a:prstGeom prst="rect">
            <a:avLst/>
          </a:prstGeom>
          <a:solidFill>
            <a:srgbClr val="F7F9FC"/>
          </a:solidFill>
          <a:ln/>
        </p:spPr>
        <p:txBody>
          <a:bodyPr/>
          <a:lstStyle/>
          <a:p>
            <a:endParaRPr/>
          </a:p>
        </p:txBody>
      </p:sp>
      <p:sp>
        <p:nvSpPr>
          <p:cNvPr id="316" name="任意多边形: 形状 350"/>
          <p:cNvSpPr/>
          <p:nvPr/>
        </p:nvSpPr>
        <p:spPr>
          <a:xfrm>
            <a:off x="0" y="6438900"/>
            <a:ext cx="12192000" cy="419100"/>
          </a:xfrm>
          <a:custGeom>
            <a:avLst/>
            <a:gdLst/>
            <a:ahLst/>
            <a:cxnLst/>
            <a:rect l="0" t="0" r="0" b="0"/>
            <a:pathLst>
              <a:path w="1280" h="44">
                <a:moveTo>
                  <a:pt x="0" y="0"/>
                </a:moveTo>
                <a:lnTo>
                  <a:pt x="1280" y="0"/>
                </a:lnTo>
                <a:lnTo>
                  <a:pt x="1280" y="1"/>
                </a:lnTo>
                <a:lnTo>
                  <a:pt x="0" y="1"/>
                </a:lnTo>
                <a:close/>
              </a:path>
            </a:pathLst>
          </a:custGeom>
          <a:solidFill>
            <a:srgbClr val="E5E7EB"/>
          </a:solidFill>
          <a:ln/>
        </p:spPr>
        <p:txBody>
          <a:bodyPr/>
          <a:lstStyle/>
          <a:p>
            <a:endParaRPr/>
          </a:p>
        </p:txBody>
      </p:sp>
      <p:sp>
        <p:nvSpPr>
          <p:cNvPr id="317" name="文本框 351" descr="{&quot;isTemplate&quot;:true,&quot;type&quot;:&quot;text&quot;}"/>
          <p:cNvSpPr txBox="1"/>
          <p:nvPr/>
        </p:nvSpPr>
        <p:spPr>
          <a:xfrm>
            <a:off x="381000" y="6581775"/>
            <a:ext cx="2828925" cy="152400"/>
          </a:xfrm>
          <a:prstGeom prst="rect">
            <a:avLst/>
          </a:prstGeom>
        </p:spPr>
        <p:txBody>
          <a:bodyPr wrap="none" lIns="0" tIns="0" rIns="0" bIns="0"/>
          <a:lstStyle/>
          <a:p>
            <a:pPr>
              <a:lnSpc>
                <a:spcPct val="100000"/>
              </a:lnSpc>
            </a:pPr>
            <a:r>
              <a:rPr lang="zh-CN" sz="975">
                <a:solidFill>
                  <a:srgbClr val="8B97A8"/>
                </a:solidFill>
                <a:latin typeface="Source Han Sans CN"/>
                <a:ea typeface="Source Han Sans CN"/>
              </a:rPr>
              <a:t>动态滚动的多机巢多无人机协同任务分配</a:t>
            </a:r>
            <a:r>
              <a:rPr lang="en-US" sz="975">
                <a:solidFill>
                  <a:srgbClr val="8B97A8"/>
                </a:solidFill>
                <a:latin typeface="Source Han Sans CN"/>
                <a:ea typeface="Source Han Sans CN"/>
              </a:rPr>
              <a:t> · </a:t>
            </a:r>
            <a:r>
              <a:rPr lang="zh-CN" sz="975">
                <a:solidFill>
                  <a:srgbClr val="8B97A8"/>
                </a:solidFill>
                <a:latin typeface="Source Han Sans CN"/>
                <a:ea typeface="Source Han Sans CN"/>
              </a:rPr>
              <a:t>进展汇报</a:t>
            </a:r>
            <a:endParaRPr/>
          </a:p>
        </p:txBody>
      </p:sp>
      <p:sp>
        <p:nvSpPr>
          <p:cNvPr id="318" name="文本框 352" descr="{&quot;isTemplate&quot;:true,&quot;type&quot;:&quot;text&quot;}"/>
          <p:cNvSpPr txBox="1"/>
          <p:nvPr/>
        </p:nvSpPr>
        <p:spPr>
          <a:xfrm>
            <a:off x="11296650" y="6572250"/>
            <a:ext cx="514350" cy="171450"/>
          </a:xfrm>
          <a:prstGeom prst="rect">
            <a:avLst/>
          </a:prstGeom>
        </p:spPr>
        <p:txBody>
          <a:bodyPr wrap="none" lIns="0" tIns="0" rIns="0" bIns="0"/>
          <a:lstStyle/>
          <a:p>
            <a:pPr>
              <a:lnSpc>
                <a:spcPct val="100000"/>
              </a:lnSpc>
            </a:pPr>
            <a:r>
              <a:rPr lang="en-US" sz="1125" b="1">
                <a:solidFill>
                  <a:srgbClr val="1E4FA8"/>
                </a:solidFill>
                <a:latin typeface="Source Han Sans CN"/>
                <a:ea typeface="Source Han Sans CN"/>
              </a:rPr>
              <a:t>10 / 18</a:t>
            </a:r>
            <a:endParaRPr/>
          </a:p>
        </p:txBody>
      </p:sp>
      <p:sp>
        <p:nvSpPr>
          <p:cNvPr id="319" name="TextBox 318"/>
          <p:cNvSpPr txBox="1"/>
          <p:nvPr/>
        </p:nvSpPr>
        <p:spPr>
          <a:xfrm>
            <a:off x="508000" y="1600200"/>
            <a:ext cx="3810000" cy="177800"/>
          </a:xfrm>
          <a:prstGeom prst="rect">
            <a:avLst/>
          </a:prstGeom>
          <a:noFill/>
        </p:spPr>
        <p:txBody>
          <a:bodyPr wrap="none" lIns="0" rIns="0" tIns="0" bIns="0">
            <a:spAutoFit/>
          </a:bodyPr>
          <a:lstStyle/>
          <a:p>
            <a:pPr algn="l"/>
            <a:r>
              <a:rPr sz="950" b="1">
                <a:solidFill>
                  <a:srgbClr val="0E3F8C"/>
                </a:solidFill>
                <a:latin typeface="Microsoft YaHei"/>
              </a:rPr>
              <a:t>任务池状态演化示意（任务 × 周期状态矩阵）</a:t>
            </a:r>
          </a:p>
        </p:txBody>
      </p:sp>
      <p:sp>
        <p:nvSpPr>
          <p:cNvPr id="320" name="TextBox 319"/>
          <p:cNvSpPr txBox="1"/>
          <p:nvPr/>
        </p:nvSpPr>
        <p:spPr>
          <a:xfrm>
            <a:off x="838200" y="1854200"/>
            <a:ext cx="508000" cy="139700"/>
          </a:xfrm>
          <a:prstGeom prst="rect">
            <a:avLst/>
          </a:prstGeom>
          <a:noFill/>
        </p:spPr>
        <p:txBody>
          <a:bodyPr wrap="none" lIns="0" rIns="0" tIns="0" bIns="0">
            <a:spAutoFit/>
          </a:bodyPr>
          <a:lstStyle/>
          <a:p>
            <a:pPr algn="ctr"/>
            <a:r>
              <a:rPr sz="750" b="0">
                <a:solidFill>
                  <a:srgbClr val="4A5568"/>
                </a:solidFill>
                <a:latin typeface="Microsoft YaHei"/>
              </a:rPr>
              <a:t>1</a:t>
            </a:r>
          </a:p>
        </p:txBody>
      </p:sp>
      <p:sp>
        <p:nvSpPr>
          <p:cNvPr id="321" name="TextBox 320"/>
          <p:cNvSpPr txBox="1"/>
          <p:nvPr/>
        </p:nvSpPr>
        <p:spPr>
          <a:xfrm>
            <a:off x="1346200" y="1854200"/>
            <a:ext cx="508000" cy="139700"/>
          </a:xfrm>
          <a:prstGeom prst="rect">
            <a:avLst/>
          </a:prstGeom>
          <a:noFill/>
        </p:spPr>
        <p:txBody>
          <a:bodyPr wrap="none" lIns="0" rIns="0" tIns="0" bIns="0">
            <a:spAutoFit/>
          </a:bodyPr>
          <a:lstStyle/>
          <a:p>
            <a:pPr algn="ctr"/>
            <a:r>
              <a:rPr sz="750" b="0">
                <a:solidFill>
                  <a:srgbClr val="4A5568"/>
                </a:solidFill>
                <a:latin typeface="Microsoft YaHei"/>
              </a:rPr>
              <a:t>2</a:t>
            </a:r>
          </a:p>
        </p:txBody>
      </p:sp>
      <p:sp>
        <p:nvSpPr>
          <p:cNvPr id="322" name="TextBox 321"/>
          <p:cNvSpPr txBox="1"/>
          <p:nvPr/>
        </p:nvSpPr>
        <p:spPr>
          <a:xfrm>
            <a:off x="1854200" y="1854200"/>
            <a:ext cx="508000" cy="139700"/>
          </a:xfrm>
          <a:prstGeom prst="rect">
            <a:avLst/>
          </a:prstGeom>
          <a:noFill/>
        </p:spPr>
        <p:txBody>
          <a:bodyPr wrap="none" lIns="0" rIns="0" tIns="0" bIns="0">
            <a:spAutoFit/>
          </a:bodyPr>
          <a:lstStyle/>
          <a:p>
            <a:pPr algn="ctr"/>
            <a:r>
              <a:rPr sz="750" b="0">
                <a:solidFill>
                  <a:srgbClr val="4A5568"/>
                </a:solidFill>
                <a:latin typeface="Microsoft YaHei"/>
              </a:rPr>
              <a:t>3</a:t>
            </a:r>
          </a:p>
        </p:txBody>
      </p:sp>
      <p:sp>
        <p:nvSpPr>
          <p:cNvPr id="323" name="TextBox 322"/>
          <p:cNvSpPr txBox="1"/>
          <p:nvPr/>
        </p:nvSpPr>
        <p:spPr>
          <a:xfrm>
            <a:off x="2362200" y="1854200"/>
            <a:ext cx="508000" cy="139700"/>
          </a:xfrm>
          <a:prstGeom prst="rect">
            <a:avLst/>
          </a:prstGeom>
          <a:noFill/>
        </p:spPr>
        <p:txBody>
          <a:bodyPr wrap="none" lIns="0" rIns="0" tIns="0" bIns="0">
            <a:spAutoFit/>
          </a:bodyPr>
          <a:lstStyle/>
          <a:p>
            <a:pPr algn="ctr"/>
            <a:r>
              <a:rPr sz="750" b="0">
                <a:solidFill>
                  <a:srgbClr val="4A5568"/>
                </a:solidFill>
                <a:latin typeface="Microsoft YaHei"/>
              </a:rPr>
              <a:t>4</a:t>
            </a:r>
          </a:p>
        </p:txBody>
      </p:sp>
      <p:sp>
        <p:nvSpPr>
          <p:cNvPr id="324" name="TextBox 323"/>
          <p:cNvSpPr txBox="1"/>
          <p:nvPr/>
        </p:nvSpPr>
        <p:spPr>
          <a:xfrm>
            <a:off x="2870200" y="1854200"/>
            <a:ext cx="508000" cy="139700"/>
          </a:xfrm>
          <a:prstGeom prst="rect">
            <a:avLst/>
          </a:prstGeom>
          <a:noFill/>
        </p:spPr>
        <p:txBody>
          <a:bodyPr wrap="none" lIns="0" rIns="0" tIns="0" bIns="0">
            <a:spAutoFit/>
          </a:bodyPr>
          <a:lstStyle/>
          <a:p>
            <a:pPr algn="ctr"/>
            <a:r>
              <a:rPr sz="750" b="0">
                <a:solidFill>
                  <a:srgbClr val="4A5568"/>
                </a:solidFill>
                <a:latin typeface="Microsoft YaHei"/>
              </a:rPr>
              <a:t>5</a:t>
            </a:r>
          </a:p>
        </p:txBody>
      </p:sp>
      <p:sp>
        <p:nvSpPr>
          <p:cNvPr id="325" name="TextBox 324"/>
          <p:cNvSpPr txBox="1"/>
          <p:nvPr/>
        </p:nvSpPr>
        <p:spPr>
          <a:xfrm>
            <a:off x="3378200" y="1854200"/>
            <a:ext cx="508000" cy="139700"/>
          </a:xfrm>
          <a:prstGeom prst="rect">
            <a:avLst/>
          </a:prstGeom>
          <a:noFill/>
        </p:spPr>
        <p:txBody>
          <a:bodyPr wrap="none" lIns="0" rIns="0" tIns="0" bIns="0">
            <a:spAutoFit/>
          </a:bodyPr>
          <a:lstStyle/>
          <a:p>
            <a:pPr algn="ctr"/>
            <a:r>
              <a:rPr sz="750" b="0">
                <a:solidFill>
                  <a:srgbClr val="4A5568"/>
                </a:solidFill>
                <a:latin typeface="Microsoft YaHei"/>
              </a:rPr>
              <a:t>6</a:t>
            </a:r>
          </a:p>
        </p:txBody>
      </p:sp>
      <p:sp>
        <p:nvSpPr>
          <p:cNvPr id="326" name="TextBox 325"/>
          <p:cNvSpPr txBox="1"/>
          <p:nvPr/>
        </p:nvSpPr>
        <p:spPr>
          <a:xfrm>
            <a:off x="3886200" y="1854200"/>
            <a:ext cx="508000" cy="139700"/>
          </a:xfrm>
          <a:prstGeom prst="rect">
            <a:avLst/>
          </a:prstGeom>
          <a:noFill/>
        </p:spPr>
        <p:txBody>
          <a:bodyPr wrap="none" lIns="0" rIns="0" tIns="0" bIns="0">
            <a:spAutoFit/>
          </a:bodyPr>
          <a:lstStyle/>
          <a:p>
            <a:pPr algn="ctr"/>
            <a:r>
              <a:rPr sz="750" b="0">
                <a:solidFill>
                  <a:srgbClr val="4A5568"/>
                </a:solidFill>
                <a:latin typeface="Microsoft YaHei"/>
              </a:rPr>
              <a:t>7</a:t>
            </a:r>
          </a:p>
        </p:txBody>
      </p:sp>
      <p:sp>
        <p:nvSpPr>
          <p:cNvPr id="327" name="TextBox 326"/>
          <p:cNvSpPr txBox="1"/>
          <p:nvPr/>
        </p:nvSpPr>
        <p:spPr>
          <a:xfrm>
            <a:off x="4394200" y="1854200"/>
            <a:ext cx="508000" cy="139700"/>
          </a:xfrm>
          <a:prstGeom prst="rect">
            <a:avLst/>
          </a:prstGeom>
          <a:noFill/>
        </p:spPr>
        <p:txBody>
          <a:bodyPr wrap="none" lIns="0" rIns="0" tIns="0" bIns="0">
            <a:spAutoFit/>
          </a:bodyPr>
          <a:lstStyle/>
          <a:p>
            <a:pPr algn="ctr"/>
            <a:r>
              <a:rPr sz="750" b="0">
                <a:solidFill>
                  <a:srgbClr val="4A5568"/>
                </a:solidFill>
                <a:latin typeface="Microsoft YaHei"/>
              </a:rPr>
              <a:t>8</a:t>
            </a:r>
          </a:p>
        </p:txBody>
      </p:sp>
      <p:sp>
        <p:nvSpPr>
          <p:cNvPr id="328" name="TextBox 327"/>
          <p:cNvSpPr txBox="1"/>
          <p:nvPr/>
        </p:nvSpPr>
        <p:spPr>
          <a:xfrm>
            <a:off x="4902200" y="1854200"/>
            <a:ext cx="508000" cy="139700"/>
          </a:xfrm>
          <a:prstGeom prst="rect">
            <a:avLst/>
          </a:prstGeom>
          <a:noFill/>
        </p:spPr>
        <p:txBody>
          <a:bodyPr wrap="none" lIns="0" rIns="0" tIns="0" bIns="0">
            <a:spAutoFit/>
          </a:bodyPr>
          <a:lstStyle/>
          <a:p>
            <a:pPr algn="ctr"/>
            <a:r>
              <a:rPr sz="750" b="0">
                <a:solidFill>
                  <a:srgbClr val="4A5568"/>
                </a:solidFill>
                <a:latin typeface="Microsoft YaHei"/>
              </a:rPr>
              <a:t>9</a:t>
            </a:r>
          </a:p>
        </p:txBody>
      </p:sp>
      <p:sp>
        <p:nvSpPr>
          <p:cNvPr id="329" name="TextBox 328"/>
          <p:cNvSpPr txBox="1"/>
          <p:nvPr/>
        </p:nvSpPr>
        <p:spPr>
          <a:xfrm>
            <a:off x="5410200" y="1854200"/>
            <a:ext cx="508000" cy="139700"/>
          </a:xfrm>
          <a:prstGeom prst="rect">
            <a:avLst/>
          </a:prstGeom>
          <a:noFill/>
        </p:spPr>
        <p:txBody>
          <a:bodyPr wrap="none" lIns="0" rIns="0" tIns="0" bIns="0">
            <a:spAutoFit/>
          </a:bodyPr>
          <a:lstStyle/>
          <a:p>
            <a:pPr algn="ctr"/>
            <a:r>
              <a:rPr sz="750" b="0">
                <a:solidFill>
                  <a:srgbClr val="4A5568"/>
                </a:solidFill>
                <a:latin typeface="Microsoft YaHei"/>
              </a:rPr>
              <a:t>10</a:t>
            </a:r>
          </a:p>
        </p:txBody>
      </p:sp>
      <p:sp>
        <p:nvSpPr>
          <p:cNvPr id="330" name="TextBox 329"/>
          <p:cNvSpPr txBox="1"/>
          <p:nvPr/>
        </p:nvSpPr>
        <p:spPr>
          <a:xfrm>
            <a:off x="508000" y="2105025"/>
            <a:ext cx="279400" cy="139700"/>
          </a:xfrm>
          <a:prstGeom prst="rect">
            <a:avLst/>
          </a:prstGeom>
          <a:noFill/>
        </p:spPr>
        <p:txBody>
          <a:bodyPr wrap="none" lIns="0" rIns="0" tIns="0" bIns="0">
            <a:spAutoFit/>
          </a:bodyPr>
          <a:lstStyle/>
          <a:p>
            <a:pPr algn="r"/>
            <a:r>
              <a:rPr sz="750" b="0">
                <a:solidFill>
                  <a:srgbClr val="4A5568"/>
                </a:solidFill>
                <a:latin typeface="Microsoft YaHei"/>
              </a:rPr>
              <a:t>T1</a:t>
            </a:r>
          </a:p>
        </p:txBody>
      </p:sp>
      <p:sp>
        <p:nvSpPr>
          <p:cNvPr id="331" name="Rectangle 330"/>
          <p:cNvSpPr/>
          <p:nvPr/>
        </p:nvSpPr>
        <p:spPr>
          <a:xfrm>
            <a:off x="838200" y="2019300"/>
            <a:ext cx="508000" cy="323850"/>
          </a:xfrm>
          <a:prstGeom prst="rect">
            <a:avLst/>
          </a:prstGeom>
          <a:solidFill>
            <a:srgbClr val="C9CFD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346200" y="2019300"/>
            <a:ext cx="508000" cy="323850"/>
          </a:xfrm>
          <a:prstGeom prst="rect">
            <a:avLst/>
          </a:prstGeom>
          <a:solidFill>
            <a:srgbClr val="5FB87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854200" y="20193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2362200" y="20193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2870200" y="20193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3378200" y="20193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3886200" y="20193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4394200" y="20193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4902200" y="20193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5410200" y="20193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TextBox 340"/>
          <p:cNvSpPr txBox="1"/>
          <p:nvPr/>
        </p:nvSpPr>
        <p:spPr>
          <a:xfrm>
            <a:off x="508000" y="2428875"/>
            <a:ext cx="279400" cy="139700"/>
          </a:xfrm>
          <a:prstGeom prst="rect">
            <a:avLst/>
          </a:prstGeom>
          <a:noFill/>
        </p:spPr>
        <p:txBody>
          <a:bodyPr wrap="none" lIns="0" rIns="0" tIns="0" bIns="0">
            <a:spAutoFit/>
          </a:bodyPr>
          <a:lstStyle/>
          <a:p>
            <a:pPr algn="r"/>
            <a:r>
              <a:rPr sz="750" b="0">
                <a:solidFill>
                  <a:srgbClr val="4A5568"/>
                </a:solidFill>
                <a:latin typeface="Microsoft YaHei"/>
              </a:rPr>
              <a:t>T2</a:t>
            </a:r>
          </a:p>
        </p:txBody>
      </p:sp>
      <p:sp>
        <p:nvSpPr>
          <p:cNvPr id="342" name="Rectangle 341"/>
          <p:cNvSpPr/>
          <p:nvPr/>
        </p:nvSpPr>
        <p:spPr>
          <a:xfrm>
            <a:off x="838200" y="2343150"/>
            <a:ext cx="508000" cy="323850"/>
          </a:xfrm>
          <a:prstGeom prst="rect">
            <a:avLst/>
          </a:prstGeom>
          <a:solidFill>
            <a:srgbClr val="C9CFD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46200" y="2343150"/>
            <a:ext cx="508000" cy="323850"/>
          </a:xfrm>
          <a:prstGeom prst="rect">
            <a:avLst/>
          </a:prstGeom>
          <a:solidFill>
            <a:srgbClr val="F5A85C"/>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854200" y="2343150"/>
            <a:ext cx="508000" cy="323850"/>
          </a:xfrm>
          <a:prstGeom prst="rect">
            <a:avLst/>
          </a:prstGeom>
          <a:solidFill>
            <a:srgbClr val="F5A85C"/>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2362200" y="2343150"/>
            <a:ext cx="508000" cy="323850"/>
          </a:xfrm>
          <a:prstGeom prst="rect">
            <a:avLst/>
          </a:prstGeom>
          <a:solidFill>
            <a:srgbClr val="5FB87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2870200" y="23431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3378200" y="23431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3886200" y="23431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4394200" y="23431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4902200" y="23431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5410200" y="23431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TextBox 351"/>
          <p:cNvSpPr txBox="1"/>
          <p:nvPr/>
        </p:nvSpPr>
        <p:spPr>
          <a:xfrm>
            <a:off x="508000" y="2752725"/>
            <a:ext cx="279400" cy="139700"/>
          </a:xfrm>
          <a:prstGeom prst="rect">
            <a:avLst/>
          </a:prstGeom>
          <a:noFill/>
        </p:spPr>
        <p:txBody>
          <a:bodyPr wrap="none" lIns="0" rIns="0" tIns="0" bIns="0">
            <a:spAutoFit/>
          </a:bodyPr>
          <a:lstStyle/>
          <a:p>
            <a:pPr algn="r"/>
            <a:r>
              <a:rPr sz="750" b="0">
                <a:solidFill>
                  <a:srgbClr val="4A5568"/>
                </a:solidFill>
                <a:latin typeface="Microsoft YaHei"/>
              </a:rPr>
              <a:t>T3</a:t>
            </a:r>
          </a:p>
        </p:txBody>
      </p:sp>
      <p:sp>
        <p:nvSpPr>
          <p:cNvPr id="353" name="Rectangle 352"/>
          <p:cNvSpPr/>
          <p:nvPr/>
        </p:nvSpPr>
        <p:spPr>
          <a:xfrm>
            <a:off x="838200" y="26670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346200" y="2667000"/>
            <a:ext cx="508000" cy="323850"/>
          </a:xfrm>
          <a:prstGeom prst="rect">
            <a:avLst/>
          </a:prstGeom>
          <a:solidFill>
            <a:srgbClr val="C9CFD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854200" y="2667000"/>
            <a:ext cx="508000" cy="323850"/>
          </a:xfrm>
          <a:prstGeom prst="rect">
            <a:avLst/>
          </a:prstGeom>
          <a:solidFill>
            <a:srgbClr val="5FB87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2362200" y="26670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2870200" y="26670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3378200" y="26670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3886200" y="26670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4394200" y="26670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4902200" y="26670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5410200" y="26670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TextBox 362"/>
          <p:cNvSpPr txBox="1"/>
          <p:nvPr/>
        </p:nvSpPr>
        <p:spPr>
          <a:xfrm>
            <a:off x="508000" y="3076575"/>
            <a:ext cx="279400" cy="139700"/>
          </a:xfrm>
          <a:prstGeom prst="rect">
            <a:avLst/>
          </a:prstGeom>
          <a:noFill/>
        </p:spPr>
        <p:txBody>
          <a:bodyPr wrap="none" lIns="0" rIns="0" tIns="0" bIns="0">
            <a:spAutoFit/>
          </a:bodyPr>
          <a:lstStyle/>
          <a:p>
            <a:pPr algn="r"/>
            <a:r>
              <a:rPr sz="750" b="0">
                <a:solidFill>
                  <a:srgbClr val="4A5568"/>
                </a:solidFill>
                <a:latin typeface="Microsoft YaHei"/>
              </a:rPr>
              <a:t>T4</a:t>
            </a:r>
          </a:p>
        </p:txBody>
      </p:sp>
      <p:sp>
        <p:nvSpPr>
          <p:cNvPr id="364" name="Rectangle 363"/>
          <p:cNvSpPr/>
          <p:nvPr/>
        </p:nvSpPr>
        <p:spPr>
          <a:xfrm>
            <a:off x="838200" y="29908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1346200" y="29908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1854200" y="2990850"/>
            <a:ext cx="508000" cy="323850"/>
          </a:xfrm>
          <a:prstGeom prst="rect">
            <a:avLst/>
          </a:prstGeom>
          <a:solidFill>
            <a:srgbClr val="C9CFD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362200" y="2990850"/>
            <a:ext cx="508000" cy="323850"/>
          </a:xfrm>
          <a:prstGeom prst="rect">
            <a:avLst/>
          </a:prstGeom>
          <a:solidFill>
            <a:srgbClr val="F5A85C"/>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870200" y="2990850"/>
            <a:ext cx="508000" cy="323850"/>
          </a:xfrm>
          <a:prstGeom prst="rect">
            <a:avLst/>
          </a:prstGeom>
          <a:solidFill>
            <a:srgbClr val="5FB87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3378200" y="29908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3886200" y="29908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4394200" y="29908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4902200" y="29908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5410200" y="29908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TextBox 373"/>
          <p:cNvSpPr txBox="1"/>
          <p:nvPr/>
        </p:nvSpPr>
        <p:spPr>
          <a:xfrm>
            <a:off x="508000" y="3400425"/>
            <a:ext cx="279400" cy="139700"/>
          </a:xfrm>
          <a:prstGeom prst="rect">
            <a:avLst/>
          </a:prstGeom>
          <a:noFill/>
        </p:spPr>
        <p:txBody>
          <a:bodyPr wrap="none" lIns="0" rIns="0" tIns="0" bIns="0">
            <a:spAutoFit/>
          </a:bodyPr>
          <a:lstStyle/>
          <a:p>
            <a:pPr algn="r"/>
            <a:r>
              <a:rPr sz="750" b="0">
                <a:solidFill>
                  <a:srgbClr val="4A5568"/>
                </a:solidFill>
                <a:latin typeface="Microsoft YaHei"/>
              </a:rPr>
              <a:t>T5</a:t>
            </a:r>
          </a:p>
        </p:txBody>
      </p:sp>
      <p:sp>
        <p:nvSpPr>
          <p:cNvPr id="375" name="Rectangle 374"/>
          <p:cNvSpPr/>
          <p:nvPr/>
        </p:nvSpPr>
        <p:spPr>
          <a:xfrm>
            <a:off x="838200" y="33147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1346200" y="33147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1854200" y="33147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362200" y="3314700"/>
            <a:ext cx="508000" cy="323850"/>
          </a:xfrm>
          <a:prstGeom prst="rect">
            <a:avLst/>
          </a:prstGeom>
          <a:solidFill>
            <a:srgbClr val="C9CFD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870200" y="3314700"/>
            <a:ext cx="508000" cy="323850"/>
          </a:xfrm>
          <a:prstGeom prst="rect">
            <a:avLst/>
          </a:prstGeom>
          <a:solidFill>
            <a:srgbClr val="F5A85C"/>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3378200" y="3314700"/>
            <a:ext cx="508000" cy="323850"/>
          </a:xfrm>
          <a:prstGeom prst="rect">
            <a:avLst/>
          </a:prstGeom>
          <a:solidFill>
            <a:srgbClr val="F5A85C"/>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3886200" y="3314700"/>
            <a:ext cx="508000" cy="323850"/>
          </a:xfrm>
          <a:prstGeom prst="rect">
            <a:avLst/>
          </a:prstGeom>
          <a:solidFill>
            <a:srgbClr val="F5A85C"/>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4394200" y="3314700"/>
            <a:ext cx="508000" cy="323850"/>
          </a:xfrm>
          <a:prstGeom prst="rect">
            <a:avLst/>
          </a:prstGeom>
          <a:solidFill>
            <a:srgbClr val="5FB87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4902200" y="33147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5410200" y="33147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TextBox 384"/>
          <p:cNvSpPr txBox="1"/>
          <p:nvPr/>
        </p:nvSpPr>
        <p:spPr>
          <a:xfrm>
            <a:off x="508000" y="3724275"/>
            <a:ext cx="279400" cy="139700"/>
          </a:xfrm>
          <a:prstGeom prst="rect">
            <a:avLst/>
          </a:prstGeom>
          <a:noFill/>
        </p:spPr>
        <p:txBody>
          <a:bodyPr wrap="none" lIns="0" rIns="0" tIns="0" bIns="0">
            <a:spAutoFit/>
          </a:bodyPr>
          <a:lstStyle/>
          <a:p>
            <a:pPr algn="r"/>
            <a:r>
              <a:rPr sz="750" b="0">
                <a:solidFill>
                  <a:srgbClr val="4A5568"/>
                </a:solidFill>
                <a:latin typeface="Microsoft YaHei"/>
              </a:rPr>
              <a:t>T6</a:t>
            </a:r>
          </a:p>
        </p:txBody>
      </p:sp>
      <p:sp>
        <p:nvSpPr>
          <p:cNvPr id="386" name="Rectangle 385"/>
          <p:cNvSpPr/>
          <p:nvPr/>
        </p:nvSpPr>
        <p:spPr>
          <a:xfrm>
            <a:off x="838200" y="36385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1346200" y="36385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1854200" y="36385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Rectangle 388"/>
          <p:cNvSpPr/>
          <p:nvPr/>
        </p:nvSpPr>
        <p:spPr>
          <a:xfrm>
            <a:off x="2362200" y="36385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0" name="Rectangle 389"/>
          <p:cNvSpPr/>
          <p:nvPr/>
        </p:nvSpPr>
        <p:spPr>
          <a:xfrm>
            <a:off x="2870200" y="3638550"/>
            <a:ext cx="508000" cy="323850"/>
          </a:xfrm>
          <a:prstGeom prst="rect">
            <a:avLst/>
          </a:prstGeom>
          <a:solidFill>
            <a:srgbClr val="C9CFD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1" name="Rectangle 390"/>
          <p:cNvSpPr/>
          <p:nvPr/>
        </p:nvSpPr>
        <p:spPr>
          <a:xfrm>
            <a:off x="3378200" y="3638550"/>
            <a:ext cx="508000" cy="323850"/>
          </a:xfrm>
          <a:prstGeom prst="rect">
            <a:avLst/>
          </a:prstGeom>
          <a:solidFill>
            <a:srgbClr val="5FB87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2" name="Rectangle 391"/>
          <p:cNvSpPr/>
          <p:nvPr/>
        </p:nvSpPr>
        <p:spPr>
          <a:xfrm>
            <a:off x="3886200" y="36385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3" name="Rectangle 392"/>
          <p:cNvSpPr/>
          <p:nvPr/>
        </p:nvSpPr>
        <p:spPr>
          <a:xfrm>
            <a:off x="4394200" y="36385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4" name="Rectangle 393"/>
          <p:cNvSpPr/>
          <p:nvPr/>
        </p:nvSpPr>
        <p:spPr>
          <a:xfrm>
            <a:off x="4902200" y="36385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5" name="Rectangle 394"/>
          <p:cNvSpPr/>
          <p:nvPr/>
        </p:nvSpPr>
        <p:spPr>
          <a:xfrm>
            <a:off x="5410200" y="36385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6" name="TextBox 395"/>
          <p:cNvSpPr txBox="1"/>
          <p:nvPr/>
        </p:nvSpPr>
        <p:spPr>
          <a:xfrm>
            <a:off x="508000" y="4048125"/>
            <a:ext cx="279400" cy="139700"/>
          </a:xfrm>
          <a:prstGeom prst="rect">
            <a:avLst/>
          </a:prstGeom>
          <a:noFill/>
        </p:spPr>
        <p:txBody>
          <a:bodyPr wrap="none" lIns="0" rIns="0" tIns="0" bIns="0">
            <a:spAutoFit/>
          </a:bodyPr>
          <a:lstStyle/>
          <a:p>
            <a:pPr algn="r"/>
            <a:r>
              <a:rPr sz="750" b="0">
                <a:solidFill>
                  <a:srgbClr val="4A5568"/>
                </a:solidFill>
                <a:latin typeface="Microsoft YaHei"/>
              </a:rPr>
              <a:t>T7</a:t>
            </a:r>
          </a:p>
        </p:txBody>
      </p:sp>
      <p:sp>
        <p:nvSpPr>
          <p:cNvPr id="397" name="Rectangle 396"/>
          <p:cNvSpPr/>
          <p:nvPr/>
        </p:nvSpPr>
        <p:spPr>
          <a:xfrm>
            <a:off x="838200" y="39624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8" name="Rectangle 397"/>
          <p:cNvSpPr/>
          <p:nvPr/>
        </p:nvSpPr>
        <p:spPr>
          <a:xfrm>
            <a:off x="1346200" y="39624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9" name="Rectangle 398"/>
          <p:cNvSpPr/>
          <p:nvPr/>
        </p:nvSpPr>
        <p:spPr>
          <a:xfrm>
            <a:off x="1854200" y="39624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0" name="Rectangle 399"/>
          <p:cNvSpPr/>
          <p:nvPr/>
        </p:nvSpPr>
        <p:spPr>
          <a:xfrm>
            <a:off x="2362200" y="39624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1" name="Rectangle 400"/>
          <p:cNvSpPr/>
          <p:nvPr/>
        </p:nvSpPr>
        <p:spPr>
          <a:xfrm>
            <a:off x="2870200" y="396240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2" name="Rectangle 401"/>
          <p:cNvSpPr/>
          <p:nvPr/>
        </p:nvSpPr>
        <p:spPr>
          <a:xfrm>
            <a:off x="3378200" y="3962400"/>
            <a:ext cx="508000" cy="323850"/>
          </a:xfrm>
          <a:prstGeom prst="rect">
            <a:avLst/>
          </a:prstGeom>
          <a:solidFill>
            <a:srgbClr val="C9CFD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3" name="Rectangle 402"/>
          <p:cNvSpPr/>
          <p:nvPr/>
        </p:nvSpPr>
        <p:spPr>
          <a:xfrm>
            <a:off x="3886200" y="3962400"/>
            <a:ext cx="508000" cy="323850"/>
          </a:xfrm>
          <a:prstGeom prst="rect">
            <a:avLst/>
          </a:prstGeom>
          <a:solidFill>
            <a:srgbClr val="F5A85C"/>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4" name="Rectangle 403"/>
          <p:cNvSpPr/>
          <p:nvPr/>
        </p:nvSpPr>
        <p:spPr>
          <a:xfrm>
            <a:off x="4394200" y="3962400"/>
            <a:ext cx="508000" cy="323850"/>
          </a:xfrm>
          <a:prstGeom prst="rect">
            <a:avLst/>
          </a:prstGeom>
          <a:solidFill>
            <a:srgbClr val="F5A85C"/>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5" name="Rectangle 404"/>
          <p:cNvSpPr/>
          <p:nvPr/>
        </p:nvSpPr>
        <p:spPr>
          <a:xfrm>
            <a:off x="4902200" y="3962400"/>
            <a:ext cx="508000" cy="323850"/>
          </a:xfrm>
          <a:prstGeom prst="rect">
            <a:avLst/>
          </a:prstGeom>
          <a:solidFill>
            <a:srgbClr val="F5A85C"/>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6" name="Rectangle 405"/>
          <p:cNvSpPr/>
          <p:nvPr/>
        </p:nvSpPr>
        <p:spPr>
          <a:xfrm>
            <a:off x="5410200" y="3962400"/>
            <a:ext cx="508000" cy="323850"/>
          </a:xfrm>
          <a:prstGeom prst="rect">
            <a:avLst/>
          </a:prstGeom>
          <a:solidFill>
            <a:srgbClr val="F5A85C"/>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7" name="TextBox 406"/>
          <p:cNvSpPr txBox="1"/>
          <p:nvPr/>
        </p:nvSpPr>
        <p:spPr>
          <a:xfrm>
            <a:off x="508000" y="4371975"/>
            <a:ext cx="279400" cy="139700"/>
          </a:xfrm>
          <a:prstGeom prst="rect">
            <a:avLst/>
          </a:prstGeom>
          <a:noFill/>
        </p:spPr>
        <p:txBody>
          <a:bodyPr wrap="none" lIns="0" rIns="0" tIns="0" bIns="0">
            <a:spAutoFit/>
          </a:bodyPr>
          <a:lstStyle/>
          <a:p>
            <a:pPr algn="r"/>
            <a:r>
              <a:rPr sz="750" b="0">
                <a:solidFill>
                  <a:srgbClr val="4A5568"/>
                </a:solidFill>
                <a:latin typeface="Microsoft YaHei"/>
              </a:rPr>
              <a:t>T8</a:t>
            </a:r>
          </a:p>
        </p:txBody>
      </p:sp>
      <p:sp>
        <p:nvSpPr>
          <p:cNvPr id="408" name="Rectangle 407"/>
          <p:cNvSpPr/>
          <p:nvPr/>
        </p:nvSpPr>
        <p:spPr>
          <a:xfrm>
            <a:off x="838200" y="42862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9" name="Rectangle 408"/>
          <p:cNvSpPr/>
          <p:nvPr/>
        </p:nvSpPr>
        <p:spPr>
          <a:xfrm>
            <a:off x="1346200" y="42862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0" name="Rectangle 409"/>
          <p:cNvSpPr/>
          <p:nvPr/>
        </p:nvSpPr>
        <p:spPr>
          <a:xfrm>
            <a:off x="1854200" y="42862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1" name="Rectangle 410"/>
          <p:cNvSpPr/>
          <p:nvPr/>
        </p:nvSpPr>
        <p:spPr>
          <a:xfrm>
            <a:off x="2362200" y="42862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2" name="Rectangle 411"/>
          <p:cNvSpPr/>
          <p:nvPr/>
        </p:nvSpPr>
        <p:spPr>
          <a:xfrm>
            <a:off x="2870200" y="42862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3" name="Rectangle 412"/>
          <p:cNvSpPr/>
          <p:nvPr/>
        </p:nvSpPr>
        <p:spPr>
          <a:xfrm>
            <a:off x="3378200" y="42862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4" name="Rectangle 413"/>
          <p:cNvSpPr/>
          <p:nvPr/>
        </p:nvSpPr>
        <p:spPr>
          <a:xfrm>
            <a:off x="3886200" y="4286250"/>
            <a:ext cx="508000" cy="323850"/>
          </a:xfrm>
          <a:prstGeom prst="rect">
            <a:avLst/>
          </a:prstGeom>
          <a:solidFill>
            <a:srgbClr val="C9CFD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5" name="Rectangle 414"/>
          <p:cNvSpPr/>
          <p:nvPr/>
        </p:nvSpPr>
        <p:spPr>
          <a:xfrm>
            <a:off x="4394200" y="4286250"/>
            <a:ext cx="508000" cy="323850"/>
          </a:xfrm>
          <a:prstGeom prst="rect">
            <a:avLst/>
          </a:prstGeom>
          <a:solidFill>
            <a:srgbClr val="F5A85C"/>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6" name="Rectangle 415"/>
          <p:cNvSpPr/>
          <p:nvPr/>
        </p:nvSpPr>
        <p:spPr>
          <a:xfrm>
            <a:off x="4902200" y="4286250"/>
            <a:ext cx="508000" cy="323850"/>
          </a:xfrm>
          <a:prstGeom prst="rect">
            <a:avLst/>
          </a:prstGeom>
          <a:solidFill>
            <a:srgbClr val="5FB87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7" name="Rectangle 416"/>
          <p:cNvSpPr/>
          <p:nvPr/>
        </p:nvSpPr>
        <p:spPr>
          <a:xfrm>
            <a:off x="5410200" y="4286250"/>
            <a:ext cx="508000" cy="323850"/>
          </a:xfrm>
          <a:prstGeom prst="rect">
            <a:avLst/>
          </a:prstGeom>
          <a:solidFill>
            <a:srgbClr val="FFFFFF"/>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8" name="TextBox 417"/>
          <p:cNvSpPr txBox="1"/>
          <p:nvPr/>
        </p:nvSpPr>
        <p:spPr>
          <a:xfrm>
            <a:off x="2743200" y="4660900"/>
            <a:ext cx="1524000" cy="139700"/>
          </a:xfrm>
          <a:prstGeom prst="rect">
            <a:avLst/>
          </a:prstGeom>
          <a:noFill/>
        </p:spPr>
        <p:txBody>
          <a:bodyPr wrap="none" lIns="0" rIns="0" tIns="0" bIns="0">
            <a:spAutoFit/>
          </a:bodyPr>
          <a:lstStyle/>
          <a:p>
            <a:pPr algn="ctr"/>
            <a:r>
              <a:rPr sz="750" b="0">
                <a:solidFill>
                  <a:srgbClr val="4A5568"/>
                </a:solidFill>
                <a:latin typeface="Microsoft YaHei"/>
              </a:rPr>
              <a:t>滚动周期</a:t>
            </a:r>
          </a:p>
        </p:txBody>
      </p:sp>
      <p:sp>
        <p:nvSpPr>
          <p:cNvPr id="419" name="TextBox 418"/>
          <p:cNvSpPr txBox="1"/>
          <p:nvPr/>
        </p:nvSpPr>
        <p:spPr>
          <a:xfrm>
            <a:off x="508000" y="1854200"/>
            <a:ext cx="279400" cy="139700"/>
          </a:xfrm>
          <a:prstGeom prst="rect">
            <a:avLst/>
          </a:prstGeom>
          <a:noFill/>
        </p:spPr>
        <p:txBody>
          <a:bodyPr wrap="none" lIns="0" rIns="0" tIns="0" bIns="0">
            <a:spAutoFit/>
          </a:bodyPr>
          <a:lstStyle/>
          <a:p>
            <a:pPr algn="r"/>
            <a:r>
              <a:rPr sz="750" b="0">
                <a:solidFill>
                  <a:srgbClr val="4A5568"/>
                </a:solidFill>
                <a:latin typeface="Microsoft YaHei"/>
              </a:rPr>
              <a:t>任务</a:t>
            </a:r>
          </a:p>
        </p:txBody>
      </p:sp>
      <p:sp>
        <p:nvSpPr>
          <p:cNvPr id="420" name="Rectangle 419"/>
          <p:cNvSpPr/>
          <p:nvPr/>
        </p:nvSpPr>
        <p:spPr>
          <a:xfrm>
            <a:off x="1092200" y="4864100"/>
            <a:ext cx="139700" cy="139700"/>
          </a:xfrm>
          <a:prstGeom prst="rect">
            <a:avLst/>
          </a:prstGeom>
          <a:solidFill>
            <a:srgbClr val="C9CFD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1" name="TextBox 420"/>
          <p:cNvSpPr txBox="1"/>
          <p:nvPr/>
        </p:nvSpPr>
        <p:spPr>
          <a:xfrm>
            <a:off x="1282700" y="4876800"/>
            <a:ext cx="1397000" cy="139700"/>
          </a:xfrm>
          <a:prstGeom prst="rect">
            <a:avLst/>
          </a:prstGeom>
          <a:noFill/>
        </p:spPr>
        <p:txBody>
          <a:bodyPr wrap="none" lIns="0" rIns="0" tIns="0" bIns="0">
            <a:spAutoFit/>
          </a:bodyPr>
          <a:lstStyle/>
          <a:p>
            <a:pPr algn="l"/>
            <a:r>
              <a:rPr sz="750" b="0">
                <a:solidFill>
                  <a:srgbClr val="4A5568"/>
                </a:solidFill>
                <a:latin typeface="Microsoft YaHei"/>
              </a:rPr>
              <a:t>任务到达</a:t>
            </a:r>
          </a:p>
        </p:txBody>
      </p:sp>
      <p:sp>
        <p:nvSpPr>
          <p:cNvPr id="422" name="Rectangle 421"/>
          <p:cNvSpPr/>
          <p:nvPr/>
        </p:nvSpPr>
        <p:spPr>
          <a:xfrm>
            <a:off x="2743200" y="4864100"/>
            <a:ext cx="139700" cy="139700"/>
          </a:xfrm>
          <a:prstGeom prst="rect">
            <a:avLst/>
          </a:prstGeom>
          <a:solidFill>
            <a:srgbClr val="F5A85C"/>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3" name="TextBox 422"/>
          <p:cNvSpPr txBox="1"/>
          <p:nvPr/>
        </p:nvSpPr>
        <p:spPr>
          <a:xfrm>
            <a:off x="2933700" y="4876800"/>
            <a:ext cx="1397000" cy="139700"/>
          </a:xfrm>
          <a:prstGeom prst="rect">
            <a:avLst/>
          </a:prstGeom>
          <a:noFill/>
        </p:spPr>
        <p:txBody>
          <a:bodyPr wrap="none" lIns="0" rIns="0" tIns="0" bIns="0">
            <a:spAutoFit/>
          </a:bodyPr>
          <a:lstStyle/>
          <a:p>
            <a:pPr algn="l"/>
            <a:r>
              <a:rPr sz="750" b="0">
                <a:solidFill>
                  <a:srgbClr val="4A5568"/>
                </a:solidFill>
                <a:latin typeface="Microsoft YaHei"/>
              </a:rPr>
              <a:t>池内待处理</a:t>
            </a:r>
          </a:p>
        </p:txBody>
      </p:sp>
      <p:sp>
        <p:nvSpPr>
          <p:cNvPr id="424" name="Rectangle 423"/>
          <p:cNvSpPr/>
          <p:nvPr/>
        </p:nvSpPr>
        <p:spPr>
          <a:xfrm>
            <a:off x="4394200" y="4864100"/>
            <a:ext cx="139700" cy="139700"/>
          </a:xfrm>
          <a:prstGeom prst="rect">
            <a:avLst/>
          </a:prstGeom>
          <a:solidFill>
            <a:srgbClr val="5FB878"/>
          </a:solidFill>
          <a:ln w="6350">
            <a:solidFill>
              <a:srgbClr val="D6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5" name="TextBox 424"/>
          <p:cNvSpPr txBox="1"/>
          <p:nvPr/>
        </p:nvSpPr>
        <p:spPr>
          <a:xfrm>
            <a:off x="4584700" y="4876800"/>
            <a:ext cx="1397000" cy="139700"/>
          </a:xfrm>
          <a:prstGeom prst="rect">
            <a:avLst/>
          </a:prstGeom>
          <a:noFill/>
        </p:spPr>
        <p:txBody>
          <a:bodyPr wrap="none" lIns="0" rIns="0" tIns="0" bIns="0">
            <a:spAutoFit/>
          </a:bodyPr>
          <a:lstStyle/>
          <a:p>
            <a:pPr algn="l"/>
            <a:r>
              <a:rPr sz="750" b="0">
                <a:solidFill>
                  <a:srgbClr val="4A5568"/>
                </a:solidFill>
                <a:latin typeface="Microsoft YaHei"/>
              </a:rPr>
              <a:t>被选择执行并完成</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descr="&lt;Slide style={{ width: 1280, height: 720, background: '#FFFFFF', position: 'relative', fontFamily: 'Source Han Sans CN, Microsoft YaHei, sans-serif' }}&gt;&#10;  &lt;Box style={{ position: 'absolute', top: 0, left: 0, width: 1280, height: 12, background: '#1E4FA8' }} /&gt;&#10;  &lt;Box style={{ position: 'absolute', top: 28, left: 40, flexDirection: 'row', alignItems: 'center', gap: 14 }}&gt;&#10;    &lt;Box style={{ width: 6, height: 34, background: '#1E4FA8' }} /&gt;&#10;    &lt;Text style={{ fontSize: 32, fontWeight: 'bold', color: '#0E3F8C' }}&gt;总体求解框架：分层滚动闭环&lt;/Text&gt;&#10;  &lt;/Box&gt;&#10;  &lt;Box style={{ position: 'absolute', top: 74, left: 60, padding: '6px 18px', background: '#0E3F8C', borderRadius: 6 }}&gt;&#10;    &lt;Text style={{ fontSize: 16, fontWeight: 'bold', color: '#FFFFFF' }}&gt;核心主张：快速任务选择缩空间 + 精细 MUAS 组合优化&lt;/Text&gt;&#10;  &lt;/Box&gt;&#10;&#10;  &lt;Box style={{ position: 'absolute', top: 112, left: 60 }}&gt;&#10;    &lt;svg width={1160} height={296} viewBox='0 0 1160 296'&gt;&#10;      &lt;rect x='18' y='102' width='142' height='92' rx='10' fill='#F0F5FC' stroke='#1E4FA8' strokeWidth='1.2' /&gt;&#10;      &lt;text x='89' y='140' font-size='16' font-weight='bold' fill='#0E3F8C' text-anchor='middle'&gt;动态任务池&lt;/text&gt;&#10;      &lt;text x='89' y='166' font-size='13' fill='#4A5568' text-anchor='middle'&gt;滚动到达 · 滞留留池&lt;/text&gt;&#10;      &lt;line x1='160' y1='148' x2='216' y2='148' stroke='#1E4FA8' strokeWidth='1.8' markerEnd='url(#ah1)' /&gt;&#10;      &lt;rect x='220' y='30' width='332' height='236' rx='12' fill='#FFFFFF' stroke='#1E4FA8' strokeWidth='1.2' /&gt;&#10;      &lt;rect x='220' y='30' width='332' height='44' rx='12' fill='#1E4FA8' /&gt;&#10;      &lt;rect x='220' y='58' width='332' height='16' fill='#1E4FA8' /&gt;&#10;      &lt;text x='386' y='58' font-size='16' font-weight='bold' fill='#FFFFFF' text-anchor='middle'&gt;第一阶段 · 动态任务选择&lt;/text&gt;&#10;      &lt;rect x='240' y='86' width='292' height='38' rx='7' fill='#F0F5FC' stroke='#3D7BD9' strokeWidth='0.8' /&gt;&#10;      &lt;text x='386' y='110' font-size='13.5' fill='#1A2230' text-anchor='middle'&gt;① 优先级排序 P_i（五因素）&lt;/text&gt;&#10;      &lt;rect x='240' y='130' width='292' height='38' rx='7' fill='#F0F5FC' stroke='#3D7BD9' strokeWidth='0.8' /&gt;&#10;      &lt;text x='386' y='154' font-size='13.5' fill='#1A2230' text-anchor='middle'&gt;② 规模：n_cand富 / n_sel卡cap&lt;/text&gt;&#10;      &lt;rect x='240' y='174' width='292' height='38' rx='7' fill='#F0F5FC' stroke='#3D7BD9' strokeWidth='0.8' /&gt;&#10;      &lt;text x='386' y='198' font-size='13.5' fill='#1A2230' text-anchor='middle'&gt;③ 边际增益 Δ = ΔB / ΔC&lt;/text&gt;&#10;      &lt;rect x='240' y='218' width='292' height='38' rx='7' fill='#F0F5FC' stroke='#3D7BD9' strokeWidth='0.8' /&gt;&#10;      &lt;text x='386' y='242' font-size='13.5' fill='#1A2230' text-anchor='middle'&gt;两道闸门 prefilter / postcheck&lt;/text&gt;&#10;      &lt;line x1='552' y1='237' x2='606' y2='237' stroke='#1E4FA8' strokeWidth='1.8' markerEnd='url(#ah1)' /&gt;&#10;      &lt;text x='579' y='225' font-size='13' font-weight='bold' fill='#1E4FA8' text-anchor='middle'&gt;选择集&lt;/text&gt;&#10;      &lt;rect x='610' y='30' width='332' height='236' rx='12' fill='#FFFFFF' stroke='#1E4FA8' strokeWidth='1.2' /&gt;&#10;      &lt;rect x='610' y='30' width='332' height='44' rx='12' fill='#0E3F8C' /&gt;&#10;      &lt;rect x='610' y='58' width='332' height='16' fill='#0E3F8C' /&gt;&#10;      &lt;text x='776' y='58' font-size='16' font-weight='bold' fill='#FFFFFF' text-anchor='middle'&gt;第二阶段 · 选择性 MUAS&lt;/text&gt;&#10;      &lt;rect x='630' y='90' width='292' height='44' rx='7' fill='#F0F5FC' stroke='#3D7BD9' strokeWidth='0.8' /&gt;&#10;      &lt;text x='776' y='118' font-size='14' fill='#1A2230' text-anchor='middle'&gt;统一编码 + DMDE 进化搜索&lt;/text&gt;&#10;      &lt;line x1='776' y1='134' x2='776' y2='148' stroke='#3D7BD9' strokeWidth='1.2' markerEnd='url(#ah2)' /&gt;&#10;      &lt;rect x='630' y='148' width='292' height='44' rx='7' fill='#F0F5FC' stroke='#3D7BD9' strokeWidth='0.8' /&gt;&#10;      &lt;text x='776' y='176' font-size='14' fill='#1A2230' text-anchor='middle'&gt;解码 + 可行性修复（Lamarckian 回写）&lt;/text&gt;&#10;      &lt;line x1='776' y1='192' x2='776' y2='206' stroke='#3D7BD9' strokeWidth='1.2' markerEnd='url(#ah2)' /&gt;&#10;      &lt;rect x='630' y='206' width='292' height='44' rx='7' fill='#F0F5FC' stroke='#3D7BD9' strokeWidth='0.8' /&gt;&#10;      &lt;text x='776' y='234' font-size='14' fill='#1A2230' text-anchor='middle'&gt;终点机巢：最小费用流精确求解&lt;/text&gt;&#10;      &lt;line x1='942' y1='148' x2='996' y2='148' stroke='#1E4FA8' strokeWidth='1.8' markerEnd='url(#ah1)' /&gt;&#10;      &lt;rect x='1000' y='102' width='142' height='92' rx='10' fill='#E8EFF8' stroke='#1E4FA8' strokeWidth='1.2' /&gt;&#10;      &lt;text x='1071' y='140' font-size='16' font-weight='bold' fill='#0E3F8C' text-anchor='middle'&gt;执行与反馈&lt;/text&gt;&#10;      &lt;text x='1071' y='166' font-size='13' fill='#4A5568' text-anchor='middle'&gt;状态更新 · 事件重规划&lt;/text&gt;&#10;      &lt;path d='M 1071,194 L 1071,266 L 89,266 L 89,198' fill='none' stroke='#3D7BD9' strokeWidth='1.6' strokeDasharray='7 5' markerEnd='url(#ah1)' /&gt;&#10;      &lt;text x='580' y='286' font-size='14' fill='#3D7BD9' text-anchor='middle'&gt;周期 t+1：任务池更新 T(t+1) = remain ∪ new ∪ release，UAV 状态同步更新&lt;/text&gt;&#10;      &lt;defs&gt;&#10;        &lt;marker id='ah1' viewBox='0 0 10 10' refX='8' refY='5' markerWidth='7' markerHeight='7' orient='auto-start-reverse'&gt;&#10;          &lt;path d='M2 1L8 5L2 9' fill='none' stroke='#1E4FA8' strokeWidth='1.6' strokeLinecap='round' strokeLinejoin='round' /&gt;&#10;        &lt;/marker&gt;&#10;        &lt;marker id='ah2' viewBox='0 0 10 10' refX='8' refY='5' markerWidth='6' markerHeight='6' orient='auto-start-reverse'&gt;&#10;          &lt;path d='M2 1L8 5L2 9' fill='none' stroke='#3D7BD9' strokeWidth='1.4' strokeLinecap='round' strokeLinejoin='round' /&gt;&#10;        &lt;/marker&gt;&#10;      &lt;/defs&gt;&#10;    &lt;/svg&gt;&#10;  &lt;/Box&gt;&#10;&#10;  &lt;Box style={{ position: 'absolute', top: 442, left: 60, width: 1160, flexDirection: 'row', gap: 20 }}&gt;&#10;    {[&#10;      { t: '第一阶段：轻量不构造成组合问题', d: '只为「值得考虑的任务」快速排序与筛选，落选任务留池下周期再评——避免对整个动态任务池做昂贵组合搜索，同时保住与执行代价的联系。', tag: '缩空间' },&#10;      { t: '第二阶段：四类决策联合优化', d: '任务是否执行 y × 归属 x × 访问顺序 π × 终点机巢 z 联合确定；起点固定、终点可选、允许部分空闲——这是多机巢动态滚动的 MTSP 变体。', tag: '精优化' },&#10;      { t: '滚动闭环：能力范围内做更多', d: '完成出池、未选留池、故障释放、新任务到达；迟到不等于废飞，完成口径只认物理约束——保证长程运行下的任务不丢失。', tag: '闭环运行' },&#10;    ].map((c) =&gt; (&#10;      &lt;Box key={c.tag} style={{ flex: 1, background: '#F7F9FC', border: '1px solid #D6DCE5', borderTop: '4px solid #1E4FA8', borderRadius: 10, padding: '14px 18px', flexDirection: 'column' }}&gt;&#10;        &lt;Box style={{ flexDirection: 'row', justifyContent: 'space-between', alignItems: 'center' }}&gt;&#10;          &lt;Text style={{ fontSize: 17, fontWeight: 'bold', color: '#0E3F8C' }}&gt;{c.t}&lt;/Text&gt;&#10;          &lt;Text style={{ fontSize: 13, fontWeight: 'bold', color: '#FFFFFF', background: '#3D7BD9', padding: '3px 10px', borderRadius: 10 }}&gt;{c.tag}&lt;/Text&gt;&#10;        &lt;/Box&gt;&#10;        &lt;Text style={{ fontSize: 14, color: '#4A5568', lineHeight: 1.6, marginTop: 8 }}&gt;{c.d}&lt;/Text&gt;&#10;      &lt;/Box&gt;&#10;    ))}&#10;  &lt;/Box&gt;&#10;&#10;  &lt;Box style={{ position: 'absolute', bottom: 0, left: 0, width: 1280, height: 44, background: '#F7F9FC', flexDirection: 'row', justifyContent: 'space-between', alignItems: 'center', padding: '0 40px', borderTop: '1px solid #E5E7EB' }}&gt;&#10;    &lt;Text style={{ fontSize: 13, color: '#8B97A8' }}&gt;动态滚动的多机巢多无人机协同任务分配 · 进展汇报&lt;/Text&gt;&#10;    &lt;Text style={{ fontSize: 15, color: '#1E4FA8', fontWeight: 'bold' }}&gt;05 / 16&lt;/Text&gt;&#10;  &lt;/Box&gt;&#10;&lt;/Slide&gt;&#10;"/>
        <p:cNvGrpSpPr/>
        <p:nvPr/>
      </p:nvGrpSpPr>
      <p:grpSpPr>
        <a:xfrm>
          <a:off x="0" y="0"/>
          <a:ext cx="0" cy="0"/>
          <a:chOff x="0" y="0"/>
          <a:chExt cx="0" cy="0"/>
        </a:xfrm>
      </p:grpSpPr>
      <p:sp>
        <p:nvSpPr>
          <p:cNvPr id="320" name="矩形 319"/>
          <p:cNvSpPr/>
          <p:nvPr/>
        </p:nvSpPr>
        <p:spPr>
          <a:xfrm>
            <a:off x="0" y="0"/>
            <a:ext cx="12192000" cy="6858000"/>
          </a:xfrm>
          <a:prstGeom prst="rect">
            <a:avLst/>
          </a:prstGeom>
          <a:solidFill>
            <a:srgbClr val="FFFFFF"/>
          </a:solidFill>
          <a:ln/>
        </p:spPr>
        <p:txBody>
          <a:bodyPr/>
          <a:lstStyle/>
          <a:p>
            <a:endParaRPr/>
          </a:p>
        </p:txBody>
      </p:sp>
      <p:sp>
        <p:nvSpPr>
          <p:cNvPr id="321" name="矩形 320"/>
          <p:cNvSpPr/>
          <p:nvPr/>
        </p:nvSpPr>
        <p:spPr>
          <a:xfrm>
            <a:off x="0" y="0"/>
            <a:ext cx="12192000" cy="114300"/>
          </a:xfrm>
          <a:prstGeom prst="rect">
            <a:avLst/>
          </a:prstGeom>
          <a:solidFill>
            <a:srgbClr val="1E4FA8"/>
          </a:solidFill>
          <a:ln/>
        </p:spPr>
        <p:txBody>
          <a:bodyPr/>
          <a:lstStyle/>
          <a:p>
            <a:endParaRPr/>
          </a:p>
        </p:txBody>
      </p:sp>
      <p:sp>
        <p:nvSpPr>
          <p:cNvPr id="322" name="矩形 321"/>
          <p:cNvSpPr/>
          <p:nvPr/>
        </p:nvSpPr>
        <p:spPr>
          <a:xfrm>
            <a:off x="381000" y="295275"/>
            <a:ext cx="57150" cy="323850"/>
          </a:xfrm>
          <a:prstGeom prst="rect">
            <a:avLst/>
          </a:prstGeom>
          <a:solidFill>
            <a:srgbClr val="1E4FA8"/>
          </a:solidFill>
          <a:ln/>
        </p:spPr>
        <p:txBody>
          <a:bodyPr/>
          <a:lstStyle/>
          <a:p>
            <a:endParaRPr/>
          </a:p>
        </p:txBody>
      </p:sp>
      <p:sp>
        <p:nvSpPr>
          <p:cNvPr id="323" name="文本框 322" descr="{&quot;isTemplate&quot;:true,&quot;type&quot;:&quot;text&quot;}"/>
          <p:cNvSpPr txBox="1"/>
          <p:nvPr/>
        </p:nvSpPr>
        <p:spPr>
          <a:xfrm>
            <a:off x="571500" y="266700"/>
            <a:ext cx="3962400" cy="371475"/>
          </a:xfrm>
          <a:prstGeom prst="rect">
            <a:avLst/>
          </a:prstGeom>
        </p:spPr>
        <p:txBody>
          <a:bodyPr wrap="none" lIns="0" tIns="0" rIns="0" bIns="0"/>
          <a:lstStyle/>
          <a:p>
            <a:pPr>
              <a:lnSpc>
                <a:spcPct val="100000"/>
              </a:lnSpc>
            </a:pPr>
            <a:r>
              <a:rPr lang="zh-CN" sz="2400" b="1">
                <a:solidFill>
                  <a:srgbClr val="0E3F8C"/>
                </a:solidFill>
                <a:latin typeface="Source Han Sans CN"/>
                <a:ea typeface="Source Han Sans CN"/>
              </a:rPr>
              <a:t>总体求解框架：分层滚动闭环</a:t>
            </a:r>
            <a:endParaRPr/>
          </a:p>
        </p:txBody>
      </p:sp>
      <p:sp>
        <p:nvSpPr>
          <p:cNvPr id="324" name="矩形: 圆角 323"/>
          <p:cNvSpPr/>
          <p:nvPr/>
        </p:nvSpPr>
        <p:spPr>
          <a:xfrm>
            <a:off x="571500" y="704850"/>
            <a:ext cx="4171950" cy="304800"/>
          </a:xfrm>
          <a:prstGeom prst="roundRect">
            <a:avLst>
              <a:gd name="adj" fmla="val 18750"/>
            </a:avLst>
          </a:prstGeom>
          <a:solidFill>
            <a:srgbClr val="0E3F8C"/>
          </a:solidFill>
          <a:ln/>
        </p:spPr>
        <p:txBody>
          <a:bodyPr/>
          <a:lstStyle/>
          <a:p>
            <a:endParaRPr/>
          </a:p>
        </p:txBody>
      </p:sp>
      <p:sp>
        <p:nvSpPr>
          <p:cNvPr id="325" name="文本框 324" descr="{&quot;isTemplate&quot;:true,&quot;type&quot;:&quot;text&quot;}"/>
          <p:cNvSpPr txBox="1"/>
          <p:nvPr/>
        </p:nvSpPr>
        <p:spPr>
          <a:xfrm>
            <a:off x="742950" y="762000"/>
            <a:ext cx="3829050" cy="190500"/>
          </a:xfrm>
          <a:prstGeom prst="rect">
            <a:avLst/>
          </a:prstGeom>
        </p:spPr>
        <p:txBody>
          <a:bodyPr wrap="none" lIns="0" tIns="0" rIns="0" bIns="0"/>
          <a:lstStyle/>
          <a:p>
            <a:pPr>
              <a:lnSpc>
                <a:spcPct val="100000"/>
              </a:lnSpc>
            </a:pPr>
            <a:r>
              <a:rPr lang="zh-CN" sz="1200" b="1">
                <a:solidFill>
                  <a:srgbClr val="FFFFFF"/>
                </a:solidFill>
                <a:latin typeface="Source Han Sans CN"/>
                <a:ea typeface="Source Han Sans CN"/>
              </a:rPr>
              <a:t>核心主张：任务选择缩空间 → 四类决策精优化</a:t>
            </a:r>
            <a:r>
              <a:rPr lang="en-US" sz="1200" b="1">
                <a:solidFill>
                  <a:srgbClr val="FFFFFF"/>
                </a:solidFill>
                <a:latin typeface="Source Han Sans CN"/>
                <a:ea typeface="Source Han Sans CN"/>
              </a:rPr>
              <a:t/>
            </a:r>
            <a:r>
              <a:rPr lang="zh-CN" sz="1200" b="1">
                <a:solidFill>
                  <a:srgbClr val="FFFFFF"/>
                </a:solidFill>
                <a:latin typeface="Source Han Sans CN"/>
                <a:ea typeface="Source Han Sans CN"/>
              </a:rPr>
              <a:t/>
            </a:r>
            <a:r>
              <a:rPr lang="en-US" sz="1200" b="1">
                <a:solidFill>
                  <a:srgbClr val="FFFFFF"/>
                </a:solidFill>
                <a:latin typeface="Source Han Sans CN"/>
                <a:ea typeface="Source Han Sans CN"/>
              </a:rPr>
              <a:t/>
            </a:r>
            <a:r>
              <a:rPr lang="zh-CN" sz="1200" b="1">
                <a:solidFill>
                  <a:srgbClr val="FFFFFF"/>
                </a:solidFill>
                <a:latin typeface="Source Han Sans CN"/>
                <a:ea typeface="Source Han Sans CN"/>
              </a:rPr>
              <a:t/>
            </a:r>
            <a:endParaRPr/>
          </a:p>
        </p:txBody>
      </p:sp>
      <p:pic>
        <p:nvPicPr>
          <p:cNvPr id="326" name="图形 325"/>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71500" y="1066800"/>
            <a:ext cx="11049000" cy="2819400"/>
          </a:xfrm>
          <a:prstGeom prst="rect">
            <a:avLst/>
          </a:prstGeom>
          <a:ln/>
        </p:spPr>
      </p:pic>
      <p:sp>
        <p:nvSpPr>
          <p:cNvPr id="327" name="矩形: 圆角 326"/>
          <p:cNvSpPr/>
          <p:nvPr/>
        </p:nvSpPr>
        <p:spPr>
          <a:xfrm>
            <a:off x="571500" y="4248150"/>
            <a:ext cx="3552825" cy="1362075"/>
          </a:xfrm>
          <a:prstGeom prst="roundRect">
            <a:avLst>
              <a:gd name="adj" fmla="val 6993"/>
            </a:avLst>
          </a:prstGeom>
          <a:solidFill>
            <a:srgbClr val="F7F9FC"/>
          </a:solidFill>
          <a:ln/>
        </p:spPr>
        <p:txBody>
          <a:bodyPr/>
          <a:lstStyle/>
          <a:p>
            <a:endParaRPr/>
          </a:p>
        </p:txBody>
      </p:sp>
      <p:sp>
        <p:nvSpPr>
          <p:cNvPr id="328" name="任意多边形: 形状 327"/>
          <p:cNvSpPr/>
          <p:nvPr/>
        </p:nvSpPr>
        <p:spPr>
          <a:xfrm>
            <a:off x="571500" y="4248150"/>
            <a:ext cx="3552825" cy="1362075"/>
          </a:xfrm>
          <a:custGeom>
            <a:avLst/>
            <a:gdLst/>
            <a:ahLst/>
            <a:cxnLst/>
            <a:rect l="0" t="0" r="0" b="0"/>
            <a:pathLst>
              <a:path w="373" h="143">
                <a:moveTo>
                  <a:pt x="363" y="0"/>
                </a:moveTo>
                <a:cubicBezTo>
                  <a:pt x="368" y="0"/>
                  <a:pt x="372" y="4"/>
                  <a:pt x="373" y="8"/>
                </a:cubicBezTo>
                <a:cubicBezTo>
                  <a:pt x="372" y="6"/>
                  <a:pt x="370" y="4"/>
                  <a:pt x="367" y="4"/>
                </a:cubicBezTo>
                <a:lnTo>
                  <a:pt x="6" y="4"/>
                </a:lnTo>
                <a:cubicBezTo>
                  <a:pt x="3" y="4"/>
                  <a:pt x="1" y="6"/>
                  <a:pt x="0" y="9"/>
                </a:cubicBezTo>
                <a:cubicBezTo>
                  <a:pt x="1" y="4"/>
                  <a:pt x="5" y="0"/>
                  <a:pt x="10" y="0"/>
                </a:cubicBezTo>
                <a:lnTo>
                  <a:pt x="363" y="0"/>
                </a:lnTo>
                <a:close/>
              </a:path>
            </a:pathLst>
          </a:custGeom>
          <a:solidFill>
            <a:srgbClr val="1E4FA8"/>
          </a:solidFill>
          <a:ln/>
        </p:spPr>
        <p:txBody>
          <a:bodyPr/>
          <a:lstStyle/>
          <a:p>
            <a:endParaRPr/>
          </a:p>
        </p:txBody>
      </p:sp>
      <p:sp>
        <p:nvSpPr>
          <p:cNvPr id="329" name="文本框 328" descr="{&quot;isTemplate&quot;:true,&quot;type&quot;:&quot;text&quot;}"/>
          <p:cNvSpPr txBox="1"/>
          <p:nvPr/>
        </p:nvSpPr>
        <p:spPr>
          <a:xfrm>
            <a:off x="742950" y="4391025"/>
            <a:ext cx="2428875" cy="200025"/>
          </a:xfrm>
          <a:prstGeom prst="rect">
            <a:avLst/>
          </a:prstGeom>
        </p:spPr>
        <p:txBody>
          <a:bodyPr wrap="none" lIns="0" tIns="0" rIns="0" bIns="0"/>
          <a:lstStyle/>
          <a:p>
            <a:pPr>
              <a:lnSpc>
                <a:spcPct val="100000"/>
              </a:lnSpc>
            </a:pPr>
            <a:r>
              <a:rPr lang="zh-CN" sz="1275" b="1">
                <a:solidFill>
                  <a:srgbClr val="0E3F8C"/>
                </a:solidFill>
                <a:latin typeface="Source Han Sans CN"/>
                <a:ea typeface="Source Han Sans CN"/>
              </a:rPr>
              <a:t>第一阶段：轻量不构造成组合问题</a:t>
            </a:r>
            <a:endParaRPr/>
          </a:p>
        </p:txBody>
      </p:sp>
      <p:sp>
        <p:nvSpPr>
          <p:cNvPr id="330" name="矩形: 圆角 329"/>
          <p:cNvSpPr/>
          <p:nvPr/>
        </p:nvSpPr>
        <p:spPr>
          <a:xfrm>
            <a:off x="3390900" y="4381500"/>
            <a:ext cx="561975" cy="209550"/>
          </a:xfrm>
          <a:prstGeom prst="roundRect">
            <a:avLst>
              <a:gd name="adj" fmla="val 45455"/>
            </a:avLst>
          </a:prstGeom>
          <a:solidFill>
            <a:srgbClr val="3D7BD9"/>
          </a:solidFill>
          <a:ln/>
        </p:spPr>
        <p:txBody>
          <a:bodyPr/>
          <a:lstStyle/>
          <a:p>
            <a:endParaRPr/>
          </a:p>
        </p:txBody>
      </p:sp>
      <p:sp>
        <p:nvSpPr>
          <p:cNvPr id="331" name="文本框 330" descr="{&quot;isTemplate&quot;:true,&quot;type&quot;:&quot;text&quot;}"/>
          <p:cNvSpPr txBox="1"/>
          <p:nvPr/>
        </p:nvSpPr>
        <p:spPr>
          <a:xfrm>
            <a:off x="3390900" y="4381500"/>
            <a:ext cx="561975" cy="209550"/>
          </a:xfrm>
          <a:prstGeom prst="rect">
            <a:avLst/>
          </a:prstGeom>
        </p:spPr>
        <p:txBody>
          <a:bodyPr wrap="none" lIns="71438" tIns="21431" rIns="71438" bIns="21431"/>
          <a:lstStyle/>
          <a:p>
            <a:pPr>
              <a:lnSpc>
                <a:spcPct val="100000"/>
              </a:lnSpc>
            </a:pPr>
            <a:r>
              <a:rPr lang="zh-CN" sz="975" b="1">
                <a:solidFill>
                  <a:srgbClr val="FFFFFF"/>
                </a:solidFill>
                <a:highlight>
                  <a:srgbClr val="3D7BD9"/>
                </a:highlight>
                <a:latin typeface="Source Han Sans CN"/>
                <a:ea typeface="Source Han Sans CN"/>
              </a:rPr>
              <a:t>缩空间</a:t>
            </a:r>
            <a:endParaRPr/>
          </a:p>
        </p:txBody>
      </p:sp>
      <p:sp>
        <p:nvSpPr>
          <p:cNvPr id="332" name="文本框 331" descr="{&quot;isTemplate&quot;:true,&quot;type&quot;:&quot;text&quot;}"/>
          <p:cNvSpPr txBox="1"/>
          <p:nvPr/>
        </p:nvSpPr>
        <p:spPr>
          <a:xfrm>
            <a:off x="742950" y="4667250"/>
            <a:ext cx="3209925" cy="771525"/>
          </a:xfrm>
          <a:prstGeom prst="rect">
            <a:avLst/>
          </a:prstGeom>
        </p:spPr>
        <p:txBody>
          <a:bodyPr wrap="square" lIns="0" tIns="0" rIns="0" bIns="0">
            <a:normAutofit/>
          </a:bodyPr>
          <a:lstStyle/>
          <a:p>
            <a:pPr>
              <a:lnSpc>
                <a:spcPct val="160000"/>
              </a:lnSpc>
            </a:pPr>
            <a:r>
              <a:rPr lang="zh-CN" sz="1050">
                <a:solidFill>
                  <a:srgbClr val="4A5568"/>
                </a:solidFill>
                <a:latin typeface="Source Han Sans CN"/>
                <a:ea typeface="Source Han Sans CN"/>
              </a:rPr>
              <a:t>只为「值得考虑的任务」快速排序与筛选，落选任务留池下周期再评——避免对整个动态任务池做昂贵组合搜索，同时保住与执行代价的联系，分层动机见 P6。</a:t>
            </a:r>
            <a:endParaRPr/>
          </a:p>
        </p:txBody>
      </p:sp>
      <p:sp>
        <p:nvSpPr>
          <p:cNvPr id="333" name="矩形: 圆角 332"/>
          <p:cNvSpPr/>
          <p:nvPr/>
        </p:nvSpPr>
        <p:spPr>
          <a:xfrm>
            <a:off x="4314825" y="4248150"/>
            <a:ext cx="3562350" cy="1362075"/>
          </a:xfrm>
          <a:prstGeom prst="roundRect">
            <a:avLst>
              <a:gd name="adj" fmla="val 6993"/>
            </a:avLst>
          </a:prstGeom>
          <a:solidFill>
            <a:srgbClr val="F7F9FC"/>
          </a:solidFill>
          <a:ln/>
        </p:spPr>
        <p:txBody>
          <a:bodyPr/>
          <a:lstStyle/>
          <a:p>
            <a:endParaRPr/>
          </a:p>
        </p:txBody>
      </p:sp>
      <p:sp>
        <p:nvSpPr>
          <p:cNvPr id="334" name="任意多边形: 形状 333"/>
          <p:cNvSpPr/>
          <p:nvPr/>
        </p:nvSpPr>
        <p:spPr>
          <a:xfrm>
            <a:off x="4314825" y="4248150"/>
            <a:ext cx="3562350" cy="1362075"/>
          </a:xfrm>
          <a:custGeom>
            <a:avLst/>
            <a:gdLst/>
            <a:ahLst/>
            <a:cxnLst/>
            <a:rect l="0" t="0" r="0" b="0"/>
            <a:pathLst>
              <a:path w="374" h="143">
                <a:moveTo>
                  <a:pt x="364" y="0"/>
                </a:moveTo>
                <a:cubicBezTo>
                  <a:pt x="369" y="0"/>
                  <a:pt x="373" y="4"/>
                  <a:pt x="374" y="8"/>
                </a:cubicBezTo>
                <a:cubicBezTo>
                  <a:pt x="373" y="6"/>
                  <a:pt x="371" y="4"/>
                  <a:pt x="368" y="4"/>
                </a:cubicBezTo>
                <a:lnTo>
                  <a:pt x="6" y="4"/>
                </a:lnTo>
                <a:cubicBezTo>
                  <a:pt x="3" y="4"/>
                  <a:pt x="1" y="6"/>
                  <a:pt x="0" y="9"/>
                </a:cubicBezTo>
                <a:cubicBezTo>
                  <a:pt x="1" y="4"/>
                  <a:pt x="5" y="0"/>
                  <a:pt x="10" y="0"/>
                </a:cubicBezTo>
                <a:lnTo>
                  <a:pt x="364" y="0"/>
                </a:lnTo>
                <a:close/>
              </a:path>
            </a:pathLst>
          </a:custGeom>
          <a:solidFill>
            <a:srgbClr val="1E4FA8"/>
          </a:solidFill>
          <a:ln/>
        </p:spPr>
        <p:txBody>
          <a:bodyPr/>
          <a:lstStyle/>
          <a:p>
            <a:endParaRPr/>
          </a:p>
        </p:txBody>
      </p:sp>
      <p:sp>
        <p:nvSpPr>
          <p:cNvPr id="335" name="文本框 334" descr="{&quot;isTemplate&quot;:true,&quot;type&quot;:&quot;text&quot;}"/>
          <p:cNvSpPr txBox="1"/>
          <p:nvPr/>
        </p:nvSpPr>
        <p:spPr>
          <a:xfrm>
            <a:off x="4486275" y="4391025"/>
            <a:ext cx="2105025" cy="200025"/>
          </a:xfrm>
          <a:prstGeom prst="rect">
            <a:avLst/>
          </a:prstGeom>
        </p:spPr>
        <p:txBody>
          <a:bodyPr wrap="none" lIns="0" tIns="0" rIns="0" bIns="0"/>
          <a:lstStyle/>
          <a:p>
            <a:pPr>
              <a:lnSpc>
                <a:spcPct val="100000"/>
              </a:lnSpc>
            </a:pPr>
            <a:r>
              <a:rPr lang="zh-CN" sz="1275" b="1">
                <a:solidFill>
                  <a:srgbClr val="0E3F8C"/>
                </a:solidFill>
                <a:latin typeface="Source Han Sans CN"/>
                <a:ea typeface="Source Han Sans CN"/>
              </a:rPr>
              <a:t>第二阶段：四类决策联合优化</a:t>
            </a:r>
            <a:endParaRPr/>
          </a:p>
        </p:txBody>
      </p:sp>
      <p:sp>
        <p:nvSpPr>
          <p:cNvPr id="336" name="矩形: 圆角 335"/>
          <p:cNvSpPr/>
          <p:nvPr/>
        </p:nvSpPr>
        <p:spPr>
          <a:xfrm>
            <a:off x="7143750" y="4381500"/>
            <a:ext cx="561975" cy="209550"/>
          </a:xfrm>
          <a:prstGeom prst="roundRect">
            <a:avLst>
              <a:gd name="adj" fmla="val 45455"/>
            </a:avLst>
          </a:prstGeom>
          <a:solidFill>
            <a:srgbClr val="3D7BD9"/>
          </a:solidFill>
          <a:ln/>
        </p:spPr>
        <p:txBody>
          <a:bodyPr/>
          <a:lstStyle/>
          <a:p>
            <a:endParaRPr/>
          </a:p>
        </p:txBody>
      </p:sp>
      <p:sp>
        <p:nvSpPr>
          <p:cNvPr id="337" name="文本框 336" descr="{&quot;isTemplate&quot;:true,&quot;type&quot;:&quot;text&quot;}"/>
          <p:cNvSpPr txBox="1"/>
          <p:nvPr/>
        </p:nvSpPr>
        <p:spPr>
          <a:xfrm>
            <a:off x="7143750" y="4381500"/>
            <a:ext cx="561975" cy="209550"/>
          </a:xfrm>
          <a:prstGeom prst="rect">
            <a:avLst/>
          </a:prstGeom>
        </p:spPr>
        <p:txBody>
          <a:bodyPr wrap="none" lIns="71438" tIns="21431" rIns="71438" bIns="21431"/>
          <a:lstStyle/>
          <a:p>
            <a:pPr>
              <a:lnSpc>
                <a:spcPct val="100000"/>
              </a:lnSpc>
            </a:pPr>
            <a:r>
              <a:rPr lang="zh-CN" sz="975" b="1">
                <a:solidFill>
                  <a:srgbClr val="FFFFFF"/>
                </a:solidFill>
                <a:highlight>
                  <a:srgbClr val="3D7BD9"/>
                </a:highlight>
                <a:latin typeface="Source Han Sans CN"/>
                <a:ea typeface="Source Han Sans CN"/>
              </a:rPr>
              <a:t>精优化</a:t>
            </a:r>
            <a:endParaRPr/>
          </a:p>
        </p:txBody>
      </p:sp>
      <p:sp>
        <p:nvSpPr>
          <p:cNvPr id="338" name="文本框 337" descr="{&quot;isTemplate&quot;:true,&quot;type&quot;:&quot;text&quot;}"/>
          <p:cNvSpPr txBox="1"/>
          <p:nvPr/>
        </p:nvSpPr>
        <p:spPr>
          <a:xfrm>
            <a:off x="4486275" y="4667250"/>
            <a:ext cx="3219450" cy="771525"/>
          </a:xfrm>
          <a:prstGeom prst="rect">
            <a:avLst/>
          </a:prstGeom>
        </p:spPr>
        <p:txBody>
          <a:bodyPr wrap="square" lIns="0" tIns="0" rIns="0" bIns="0">
            <a:normAutofit/>
          </a:bodyPr>
          <a:lstStyle/>
          <a:p>
            <a:pPr>
              <a:lnSpc>
                <a:spcPct val="160000"/>
              </a:lnSpc>
            </a:pPr>
            <a:r>
              <a:rPr lang="zh-CN" sz="1050">
                <a:solidFill>
                  <a:srgbClr val="4A5568"/>
                </a:solidFill>
                <a:latin typeface="Source Han Sans CN"/>
                <a:ea typeface="Source Han Sans CN"/>
              </a:rPr>
              <a:t>任务是否执行</a:t>
            </a:r>
            <a:r>
              <a:rPr lang="en-US" sz="1050">
                <a:solidFill>
                  <a:srgbClr val="4A5568"/>
                </a:solidFill>
                <a:latin typeface="Source Han Sans CN"/>
                <a:ea typeface="Source Han Sans CN"/>
              </a:rPr>
              <a:t> y × </a:t>
            </a:r>
            <a:r>
              <a:rPr lang="zh-CN" sz="1050">
                <a:solidFill>
                  <a:srgbClr val="4A5568"/>
                </a:solidFill>
                <a:latin typeface="Source Han Sans CN"/>
                <a:ea typeface="Source Han Sans CN"/>
              </a:rPr>
              <a:t>归属</a:t>
            </a:r>
            <a:r>
              <a:rPr lang="en-US" sz="1050">
                <a:solidFill>
                  <a:srgbClr val="4A5568"/>
                </a:solidFill>
                <a:latin typeface="Source Han Sans CN"/>
                <a:ea typeface="Source Han Sans CN"/>
              </a:rPr>
              <a:t> x × </a:t>
            </a:r>
            <a:r>
              <a:rPr lang="zh-CN" sz="1050">
                <a:solidFill>
                  <a:srgbClr val="4A5568"/>
                </a:solidFill>
                <a:latin typeface="Source Han Sans CN"/>
                <a:ea typeface="Source Han Sans CN"/>
              </a:rPr>
              <a:t>访问顺序</a:t>
            </a:r>
            <a:r>
              <a:rPr lang="en-US" sz="1050">
                <a:solidFill>
                  <a:srgbClr val="4A5568"/>
                </a:solidFill>
                <a:latin typeface="Source Han Sans CN"/>
                <a:ea typeface="Source Han Sans CN"/>
              </a:rPr>
              <a:t> π × </a:t>
            </a:r>
            <a:r>
              <a:rPr lang="zh-CN" sz="1050">
                <a:solidFill>
                  <a:srgbClr val="4A5568"/>
                </a:solidFill>
                <a:latin typeface="Source Han Sans CN"/>
                <a:ea typeface="Source Han Sans CN"/>
              </a:rPr>
              <a:t>终点机巢</a:t>
            </a:r>
            <a:r>
              <a:rPr lang="en-US" sz="1050">
                <a:solidFill>
                  <a:srgbClr val="4A5568"/>
                </a:solidFill>
                <a:latin typeface="Source Han Sans CN"/>
                <a:ea typeface="Source Han Sans CN"/>
              </a:rPr>
              <a:t> z </a:t>
            </a:r>
            <a:r>
              <a:rPr lang="zh-CN" sz="1050">
                <a:solidFill>
                  <a:srgbClr val="4A5568"/>
                </a:solidFill>
                <a:latin typeface="Source Han Sans CN"/>
                <a:ea typeface="Source Han Sans CN"/>
              </a:rPr>
              <a:t>联合确定；起点固定、终点可选、允许部分空闲——这是多机巢动态滚动的</a:t>
            </a:r>
            <a:r>
              <a:rPr lang="en-US" sz="1050">
                <a:solidFill>
                  <a:srgbClr val="4A5568"/>
                </a:solidFill>
                <a:latin typeface="Source Han Sans CN"/>
                <a:ea typeface="Source Han Sans CN"/>
              </a:rPr>
              <a:t> MTSP </a:t>
            </a:r>
            <a:r>
              <a:rPr lang="zh-CN" sz="1050">
                <a:solidFill>
                  <a:srgbClr val="4A5568"/>
                </a:solidFill>
                <a:latin typeface="Source Han Sans CN"/>
                <a:ea typeface="Source Han Sans CN"/>
              </a:rPr>
              <a:t>变体。</a:t>
            </a:r>
            <a:endParaRPr/>
          </a:p>
        </p:txBody>
      </p:sp>
      <p:sp>
        <p:nvSpPr>
          <p:cNvPr id="339" name="矩形: 圆角 338"/>
          <p:cNvSpPr/>
          <p:nvPr/>
        </p:nvSpPr>
        <p:spPr>
          <a:xfrm>
            <a:off x="8067675" y="4248150"/>
            <a:ext cx="3552825" cy="1362075"/>
          </a:xfrm>
          <a:prstGeom prst="roundRect">
            <a:avLst>
              <a:gd name="adj" fmla="val 6993"/>
            </a:avLst>
          </a:prstGeom>
          <a:solidFill>
            <a:srgbClr val="F7F9FC"/>
          </a:solidFill>
          <a:ln/>
        </p:spPr>
        <p:txBody>
          <a:bodyPr/>
          <a:lstStyle/>
          <a:p>
            <a:endParaRPr/>
          </a:p>
        </p:txBody>
      </p:sp>
      <p:sp>
        <p:nvSpPr>
          <p:cNvPr id="340" name="任意多边形: 形状 339"/>
          <p:cNvSpPr/>
          <p:nvPr/>
        </p:nvSpPr>
        <p:spPr>
          <a:xfrm>
            <a:off x="8067675" y="4248150"/>
            <a:ext cx="3552825" cy="1362075"/>
          </a:xfrm>
          <a:custGeom>
            <a:avLst/>
            <a:gdLst/>
            <a:ahLst/>
            <a:cxnLst/>
            <a:rect l="0" t="0" r="0" b="0"/>
            <a:pathLst>
              <a:path w="373" h="143">
                <a:moveTo>
                  <a:pt x="363" y="0"/>
                </a:moveTo>
                <a:cubicBezTo>
                  <a:pt x="368" y="0"/>
                  <a:pt x="372" y="4"/>
                  <a:pt x="373" y="8"/>
                </a:cubicBezTo>
                <a:cubicBezTo>
                  <a:pt x="372" y="6"/>
                  <a:pt x="370" y="4"/>
                  <a:pt x="367" y="4"/>
                </a:cubicBezTo>
                <a:lnTo>
                  <a:pt x="6" y="4"/>
                </a:lnTo>
                <a:cubicBezTo>
                  <a:pt x="3" y="4"/>
                  <a:pt x="1" y="6"/>
                  <a:pt x="0" y="9"/>
                </a:cubicBezTo>
                <a:cubicBezTo>
                  <a:pt x="1" y="4"/>
                  <a:pt x="5" y="0"/>
                  <a:pt x="10" y="0"/>
                </a:cubicBezTo>
                <a:lnTo>
                  <a:pt x="363" y="0"/>
                </a:lnTo>
                <a:close/>
              </a:path>
            </a:pathLst>
          </a:custGeom>
          <a:solidFill>
            <a:srgbClr val="1E4FA8"/>
          </a:solidFill>
          <a:ln/>
        </p:spPr>
        <p:txBody>
          <a:bodyPr/>
          <a:lstStyle/>
          <a:p>
            <a:endParaRPr/>
          </a:p>
        </p:txBody>
      </p:sp>
      <p:sp>
        <p:nvSpPr>
          <p:cNvPr id="341" name="文本框 340" descr="{&quot;isTemplate&quot;:true,&quot;type&quot;:&quot;text&quot;}"/>
          <p:cNvSpPr txBox="1"/>
          <p:nvPr/>
        </p:nvSpPr>
        <p:spPr>
          <a:xfrm>
            <a:off x="8239125" y="4391025"/>
            <a:ext cx="2105025" cy="200025"/>
          </a:xfrm>
          <a:prstGeom prst="rect">
            <a:avLst/>
          </a:prstGeom>
        </p:spPr>
        <p:txBody>
          <a:bodyPr wrap="none" lIns="0" tIns="0" rIns="0" bIns="0"/>
          <a:lstStyle/>
          <a:p>
            <a:pPr>
              <a:lnSpc>
                <a:spcPct val="100000"/>
              </a:lnSpc>
            </a:pPr>
            <a:r>
              <a:rPr lang="zh-CN" sz="1275" b="1">
                <a:solidFill>
                  <a:srgbClr val="0E3F8C"/>
                </a:solidFill>
                <a:latin typeface="Source Han Sans CN"/>
                <a:ea typeface="Source Han Sans CN"/>
              </a:rPr>
              <a:t>滚动闭环：能力范围内做更多</a:t>
            </a:r>
            <a:endParaRPr/>
          </a:p>
        </p:txBody>
      </p:sp>
      <p:sp>
        <p:nvSpPr>
          <p:cNvPr id="342" name="矩形: 圆角 341"/>
          <p:cNvSpPr/>
          <p:nvPr/>
        </p:nvSpPr>
        <p:spPr>
          <a:xfrm>
            <a:off x="10763250" y="4381500"/>
            <a:ext cx="685800" cy="209550"/>
          </a:xfrm>
          <a:prstGeom prst="roundRect">
            <a:avLst>
              <a:gd name="adj" fmla="val 45455"/>
            </a:avLst>
          </a:prstGeom>
          <a:solidFill>
            <a:srgbClr val="3D7BD9"/>
          </a:solidFill>
          <a:ln/>
        </p:spPr>
        <p:txBody>
          <a:bodyPr/>
          <a:lstStyle/>
          <a:p>
            <a:endParaRPr/>
          </a:p>
        </p:txBody>
      </p:sp>
      <p:sp>
        <p:nvSpPr>
          <p:cNvPr id="343" name="文本框 342" descr="{&quot;isTemplate&quot;:true,&quot;type&quot;:&quot;text&quot;}"/>
          <p:cNvSpPr txBox="1"/>
          <p:nvPr/>
        </p:nvSpPr>
        <p:spPr>
          <a:xfrm>
            <a:off x="10763250" y="4381500"/>
            <a:ext cx="685800" cy="209550"/>
          </a:xfrm>
          <a:prstGeom prst="rect">
            <a:avLst/>
          </a:prstGeom>
        </p:spPr>
        <p:txBody>
          <a:bodyPr wrap="none" lIns="71438" tIns="21431" rIns="71438" bIns="21431"/>
          <a:lstStyle/>
          <a:p>
            <a:pPr>
              <a:lnSpc>
                <a:spcPct val="100000"/>
              </a:lnSpc>
            </a:pPr>
            <a:r>
              <a:rPr lang="zh-CN" sz="975" b="1">
                <a:solidFill>
                  <a:srgbClr val="FFFFFF"/>
                </a:solidFill>
                <a:highlight>
                  <a:srgbClr val="3D7BD9"/>
                </a:highlight>
                <a:latin typeface="Source Han Sans CN"/>
                <a:ea typeface="Source Han Sans CN"/>
              </a:rPr>
              <a:t>闭环运行</a:t>
            </a:r>
            <a:endParaRPr/>
          </a:p>
        </p:txBody>
      </p:sp>
      <p:sp>
        <p:nvSpPr>
          <p:cNvPr id="344" name="文本框 343" descr="{&quot;isTemplate&quot;:true,&quot;type&quot;:&quot;text&quot;}"/>
          <p:cNvSpPr txBox="1"/>
          <p:nvPr/>
        </p:nvSpPr>
        <p:spPr>
          <a:xfrm>
            <a:off x="8239125" y="4667250"/>
            <a:ext cx="3209925" cy="771525"/>
          </a:xfrm>
          <a:prstGeom prst="rect">
            <a:avLst/>
          </a:prstGeom>
        </p:spPr>
        <p:txBody>
          <a:bodyPr wrap="square" lIns="0" tIns="0" rIns="0" bIns="0">
            <a:normAutofit/>
          </a:bodyPr>
          <a:lstStyle/>
          <a:p>
            <a:pPr>
              <a:lnSpc>
                <a:spcPct val="160000"/>
              </a:lnSpc>
            </a:pPr>
            <a:r>
              <a:rPr lang="zh-CN" sz="1050">
                <a:solidFill>
                  <a:srgbClr val="4A5568"/>
                </a:solidFill>
                <a:latin typeface="Source Han Sans CN"/>
                <a:ea typeface="Source Han Sans CN"/>
              </a:rPr>
              <a:t>完成出池、未选留池、故障释放、新任务到达；迟到不等于废飞，完成口径只认物理约束——保证长程运行下的任务不丢失。</a:t>
            </a:r>
            <a:endParaRPr/>
          </a:p>
        </p:txBody>
      </p:sp>
      <p:sp>
        <p:nvSpPr>
          <p:cNvPr id="345" name="矩形 344"/>
          <p:cNvSpPr/>
          <p:nvPr/>
        </p:nvSpPr>
        <p:spPr>
          <a:xfrm>
            <a:off x="0" y="6448425"/>
            <a:ext cx="12192000" cy="409575"/>
          </a:xfrm>
          <a:prstGeom prst="rect">
            <a:avLst/>
          </a:prstGeom>
          <a:solidFill>
            <a:srgbClr val="F7F9FC"/>
          </a:solidFill>
          <a:ln/>
        </p:spPr>
        <p:txBody>
          <a:bodyPr/>
          <a:lstStyle/>
          <a:p>
            <a:endParaRPr/>
          </a:p>
        </p:txBody>
      </p:sp>
      <p:sp>
        <p:nvSpPr>
          <p:cNvPr id="346" name="任意多边形: 形状 345"/>
          <p:cNvSpPr/>
          <p:nvPr/>
        </p:nvSpPr>
        <p:spPr>
          <a:xfrm>
            <a:off x="0" y="6438900"/>
            <a:ext cx="12192000" cy="419100"/>
          </a:xfrm>
          <a:custGeom>
            <a:avLst/>
            <a:gdLst/>
            <a:ahLst/>
            <a:cxnLst/>
            <a:rect l="0" t="0" r="0" b="0"/>
            <a:pathLst>
              <a:path w="1280" h="44">
                <a:moveTo>
                  <a:pt x="0" y="0"/>
                </a:moveTo>
                <a:lnTo>
                  <a:pt x="1280" y="0"/>
                </a:lnTo>
                <a:lnTo>
                  <a:pt x="1280" y="1"/>
                </a:lnTo>
                <a:lnTo>
                  <a:pt x="0" y="1"/>
                </a:lnTo>
                <a:close/>
              </a:path>
            </a:pathLst>
          </a:custGeom>
          <a:solidFill>
            <a:srgbClr val="E5E7EB"/>
          </a:solidFill>
          <a:ln/>
        </p:spPr>
        <p:txBody>
          <a:bodyPr/>
          <a:lstStyle/>
          <a:p>
            <a:endParaRPr/>
          </a:p>
        </p:txBody>
      </p:sp>
      <p:sp>
        <p:nvSpPr>
          <p:cNvPr id="347" name="文本框 346" descr="{&quot;isTemplate&quot;:true,&quot;type&quot;:&quot;text&quot;}"/>
          <p:cNvSpPr txBox="1"/>
          <p:nvPr/>
        </p:nvSpPr>
        <p:spPr>
          <a:xfrm>
            <a:off x="381000" y="6581775"/>
            <a:ext cx="2828925" cy="152400"/>
          </a:xfrm>
          <a:prstGeom prst="rect">
            <a:avLst/>
          </a:prstGeom>
        </p:spPr>
        <p:txBody>
          <a:bodyPr wrap="none" lIns="0" tIns="0" rIns="0" bIns="0"/>
          <a:lstStyle/>
          <a:p>
            <a:pPr>
              <a:lnSpc>
                <a:spcPct val="100000"/>
              </a:lnSpc>
            </a:pPr>
            <a:r>
              <a:rPr lang="zh-CN" sz="975">
                <a:solidFill>
                  <a:srgbClr val="8B97A8"/>
                </a:solidFill>
                <a:latin typeface="Source Han Sans CN"/>
                <a:ea typeface="Source Han Sans CN"/>
              </a:rPr>
              <a:t>动态滚动的多机巢多无人机协同任务分配</a:t>
            </a:r>
            <a:r>
              <a:rPr lang="en-US" sz="975">
                <a:solidFill>
                  <a:srgbClr val="8B97A8"/>
                </a:solidFill>
                <a:latin typeface="Source Han Sans CN"/>
                <a:ea typeface="Source Han Sans CN"/>
              </a:rPr>
              <a:t> · </a:t>
            </a:r>
            <a:r>
              <a:rPr lang="zh-CN" sz="975">
                <a:solidFill>
                  <a:srgbClr val="8B97A8"/>
                </a:solidFill>
                <a:latin typeface="Source Han Sans CN"/>
                <a:ea typeface="Source Han Sans CN"/>
              </a:rPr>
              <a:t>进展汇报</a:t>
            </a:r>
            <a:endParaRPr/>
          </a:p>
        </p:txBody>
      </p:sp>
      <p:sp>
        <p:nvSpPr>
          <p:cNvPr id="348" name="文本框 347" descr="{&quot;isTemplate&quot;:true,&quot;type&quot;:&quot;text&quot;}"/>
          <p:cNvSpPr txBox="1"/>
          <p:nvPr/>
        </p:nvSpPr>
        <p:spPr>
          <a:xfrm>
            <a:off x="11296650" y="6572250"/>
            <a:ext cx="514350" cy="171450"/>
          </a:xfrm>
          <a:prstGeom prst="rect">
            <a:avLst/>
          </a:prstGeom>
        </p:spPr>
        <p:txBody>
          <a:bodyPr wrap="none" lIns="0" tIns="0" rIns="0" bIns="0"/>
          <a:lstStyle/>
          <a:p>
            <a:pPr>
              <a:lnSpc>
                <a:spcPct val="100000"/>
              </a:lnSpc>
            </a:pPr>
            <a:r>
              <a:rPr lang="en-US" sz="1125" b="1">
                <a:solidFill>
                  <a:srgbClr val="1E4FA8"/>
                </a:solidFill>
                <a:latin typeface="Source Han Sans CN"/>
                <a:ea typeface="Source Han Sans CN"/>
              </a:rPr>
              <a:t>11 / 18</a:t>
            </a:r>
            <a:endParaRP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83" name="矩形 382"/>
          <p:cNvSpPr/>
          <p:nvPr/>
        </p:nvSpPr>
        <p:spPr>
          <a:xfrm>
            <a:off x="0" y="0"/>
            <a:ext cx="12192000" cy="6858000"/>
          </a:xfrm>
          <a:prstGeom prst="rect">
            <a:avLst/>
          </a:prstGeom>
          <a:solidFill>
            <a:srgbClr val="FFFFFF"/>
          </a:solidFill>
          <a:ln/>
        </p:spPr>
        <p:txBody>
          <a:bodyPr/>
          <a:lstStyle/>
          <a:p>
            <a:endParaRPr/>
          </a:p>
        </p:txBody>
      </p:sp>
      <p:sp>
        <p:nvSpPr>
          <p:cNvPr id="384" name="矩形 383"/>
          <p:cNvSpPr/>
          <p:nvPr/>
        </p:nvSpPr>
        <p:spPr>
          <a:xfrm>
            <a:off x="0" y="0"/>
            <a:ext cx="12192000" cy="114300"/>
          </a:xfrm>
          <a:prstGeom prst="rect">
            <a:avLst/>
          </a:prstGeom>
          <a:solidFill>
            <a:srgbClr val="1E4FA8"/>
          </a:solidFill>
          <a:ln/>
        </p:spPr>
        <p:txBody>
          <a:bodyPr/>
          <a:lstStyle/>
          <a:p>
            <a:endParaRPr/>
          </a:p>
        </p:txBody>
      </p:sp>
      <p:sp>
        <p:nvSpPr>
          <p:cNvPr id="385" name="矩形 384"/>
          <p:cNvSpPr/>
          <p:nvPr/>
        </p:nvSpPr>
        <p:spPr>
          <a:xfrm>
            <a:off x="381000" y="314325"/>
            <a:ext cx="57150" cy="323850"/>
          </a:xfrm>
          <a:prstGeom prst="rect">
            <a:avLst/>
          </a:prstGeom>
          <a:solidFill>
            <a:srgbClr val="1E4FA8"/>
          </a:solidFill>
          <a:ln/>
        </p:spPr>
        <p:txBody>
          <a:bodyPr/>
          <a:lstStyle/>
          <a:p>
            <a:endParaRPr/>
          </a:p>
        </p:txBody>
      </p:sp>
      <p:sp>
        <p:nvSpPr>
          <p:cNvPr id="386" name="文本框 385" descr="{&quot;isTemplate&quot;:true,&quot;type&quot;:&quot;text&quot;}"/>
          <p:cNvSpPr txBox="1"/>
          <p:nvPr/>
        </p:nvSpPr>
        <p:spPr>
          <a:xfrm>
            <a:off x="571500" y="285750"/>
            <a:ext cx="5295900" cy="371475"/>
          </a:xfrm>
          <a:prstGeom prst="rect">
            <a:avLst/>
          </a:prstGeom>
        </p:spPr>
        <p:txBody>
          <a:bodyPr wrap="none" lIns="0" tIns="0" rIns="0" bIns="0"/>
          <a:lstStyle/>
          <a:p>
            <a:pPr>
              <a:lnSpc>
                <a:spcPct val="100000"/>
              </a:lnSpc>
            </a:pPr>
            <a:r>
              <a:rPr lang="zh-CN" sz="2400" b="1">
                <a:solidFill>
                  <a:srgbClr val="0E3F8C"/>
                </a:solidFill>
                <a:latin typeface="Source Han Sans CN"/>
                <a:ea typeface="Source Han Sans CN"/>
              </a:rPr>
              <a:t>动态滚动与闭环运行：周期时序与状态更新</a:t>
            </a:r>
            <a:r>
              <a:rPr lang="en-US" sz="2400" b="1">
                <a:solidFill>
                  <a:srgbClr val="0E3F8C"/>
                </a:solidFill>
                <a:latin typeface="Source Han Sans CN"/>
                <a:ea typeface="Source Han Sans CN"/>
              </a:rPr>
              <a:t/>
            </a:r>
            <a:r>
              <a:rPr lang="zh-CN" sz="2400" b="1">
                <a:solidFill>
                  <a:srgbClr val="0E3F8C"/>
                </a:solidFill>
                <a:latin typeface="Source Han Sans CN"/>
                <a:ea typeface="Source Han Sans CN"/>
              </a:rPr>
              <a:t/>
            </a:r>
            <a:endParaRPr/>
          </a:p>
        </p:txBody>
      </p:sp>
      <p:sp>
        <p:nvSpPr>
          <p:cNvPr id="387" name="文本框 386" descr="{&quot;isTemplate&quot;:true,&quot;type&quot;:&quot;text&quot;}"/>
          <p:cNvSpPr txBox="1"/>
          <p:nvPr/>
        </p:nvSpPr>
        <p:spPr>
          <a:xfrm>
            <a:off x="571500" y="742950"/>
            <a:ext cx="4572000" cy="171450"/>
          </a:xfrm>
          <a:prstGeom prst="rect">
            <a:avLst/>
          </a:prstGeom>
        </p:spPr>
        <p:txBody>
          <a:bodyPr wrap="none" lIns="0" tIns="0" rIns="0" bIns="0"/>
          <a:lstStyle/>
          <a:p>
            <a:pPr>
              <a:lnSpc>
                <a:spcPct val="100000"/>
              </a:lnSpc>
            </a:pPr>
            <a:r>
              <a:rPr lang="zh-CN" sz="1125">
                <a:solidFill>
                  <a:srgbClr val="8B97A8"/>
                </a:solidFill>
                <a:latin typeface="Source Han Sans CN"/>
                <a:ea typeface="Source Han Sans CN"/>
              </a:rPr>
              <a:t>每周期独立重算选择与分配，状态只经执行反馈演化——长程运行不丢任务</a:t>
            </a:r>
            <a:endParaRPr/>
          </a:p>
        </p:txBody>
      </p:sp>
      <p:sp>
        <p:nvSpPr>
          <p:cNvPr id="388" name="矩形: 圆角 387"/>
          <p:cNvSpPr/>
          <p:nvPr/>
        </p:nvSpPr>
        <p:spPr>
          <a:xfrm>
            <a:off x="381000" y="1104900"/>
            <a:ext cx="6667500" cy="2085975"/>
          </a:xfrm>
          <a:prstGeom prst="roundRect">
            <a:avLst>
              <a:gd name="adj" fmla="val 4566"/>
            </a:avLst>
          </a:prstGeom>
          <a:solidFill>
            <a:srgbClr val="F7F9FC"/>
          </a:solidFill>
          <a:ln w="12700">
            <a:solidFill>
              <a:srgbClr val="D6DCE5"/>
            </a:solidFill>
            <a:prstDash val="solid"/>
          </a:ln>
        </p:spPr>
        <p:txBody>
          <a:bodyPr/>
          <a:lstStyle/>
          <a:p>
            <a:endParaRPr/>
          </a:p>
        </p:txBody>
      </p:sp>
      <p:sp>
        <p:nvSpPr>
          <p:cNvPr id="389" name="文本框 388" descr="{&quot;isTemplate&quot;:true,&quot;type&quot;:&quot;text&quot;}"/>
          <p:cNvSpPr txBox="1"/>
          <p:nvPr/>
        </p:nvSpPr>
        <p:spPr>
          <a:xfrm>
            <a:off x="571500" y="1257300"/>
            <a:ext cx="6286500" cy="219075"/>
          </a:xfrm>
          <a:prstGeom prst="rect">
            <a:avLst/>
          </a:prstGeom>
        </p:spPr>
        <p:txBody>
          <a:bodyPr wrap="none" lIns="0" tIns="0" rIns="0" bIns="0"/>
          <a:lstStyle/>
          <a:p>
            <a:pPr>
              <a:lnSpc>
                <a:spcPct val="100000"/>
              </a:lnSpc>
            </a:pPr>
            <a:r>
              <a:rPr lang="en-US" sz="1425" b="1">
                <a:solidFill>
                  <a:srgbClr val="0E3F8C"/>
                </a:solidFill>
                <a:latin typeface="Source Han Sans CN"/>
                <a:ea typeface="Source Han Sans CN"/>
              </a:rPr>
              <a:t>① 任务池演化（完成出池 · 未选留池 · 新到入池）</a:t>
            </a:r>
            <a:r>
              <a:rPr lang="zh-CN" sz="1425" b="1">
                <a:solidFill>
                  <a:srgbClr val="0E3F8C"/>
                </a:solidFill>
                <a:latin typeface="Source Han Sans CN"/>
                <a:ea typeface="Source Han Sans CN"/>
              </a:rPr>
              <a:t/>
            </a:r>
            <a:r>
              <a:rPr lang="en-US" sz="1425" b="1">
                <a:solidFill>
                  <a:srgbClr val="0E3F8C"/>
                </a:solidFill>
                <a:latin typeface="Source Han Sans CN"/>
                <a:ea typeface="Source Han Sans CN"/>
              </a:rPr>
              <a:t/>
            </a:r>
            <a:r>
              <a:rPr lang="zh-CN" sz="1425" b="1">
                <a:solidFill>
                  <a:srgbClr val="0E3F8C"/>
                </a:solidFill>
                <a:latin typeface="Source Han Sans CN"/>
                <a:ea typeface="Source Han Sans CN"/>
              </a:rPr>
              <a:t/>
            </a:r>
            <a:endParaRPr/>
          </a:p>
        </p:txBody>
      </p:sp>
      <p:sp>
        <p:nvSpPr>
          <p:cNvPr id="390" name="矩形: 圆角 389"/>
          <p:cNvSpPr/>
          <p:nvPr/>
        </p:nvSpPr>
        <p:spPr>
          <a:xfrm>
            <a:off x="571500" y="1590675"/>
            <a:ext cx="6286500" cy="533400"/>
          </a:xfrm>
          <a:prstGeom prst="roundRect">
            <a:avLst>
              <a:gd name="adj" fmla="val 14286"/>
            </a:avLst>
          </a:prstGeom>
          <a:solidFill>
            <a:srgbClr val="E8EFF8"/>
          </a:solidFill>
          <a:ln/>
        </p:spPr>
        <p:txBody>
          <a:bodyPr/>
          <a:lstStyle/>
          <a:p>
            <a:endParaRPr/>
          </a:p>
        </p:txBody>
      </p:sp>
      <p:sp>
        <p:nvSpPr>
          <p:cNvPr id="391" name="文本框 390" descr="{&quot;isTemplate&quot;:true,&quot;type&quot;:&quot;text&quot;}"/>
          <p:cNvSpPr txBox="1"/>
          <p:nvPr/>
        </p:nvSpPr>
        <p:spPr>
          <a:xfrm>
            <a:off x="1419225" y="1724025"/>
            <a:ext cx="4600575" cy="266700"/>
          </a:xfrm>
          <a:prstGeom prst="rect">
            <a:avLst/>
          </a:prstGeom>
        </p:spPr>
        <p:txBody>
          <a:bodyPr wrap="none" lIns="0" tIns="0" rIns="0" bIns="0"/>
          <a:lstStyle/>
          <a:p>
            <a:pPr>
              <a:lnSpc>
                <a:spcPct val="100000"/>
              </a:lnSpc>
            </a:pPr>
            <a:r>
              <a:rPr lang="en-US" sz="1725" b="1">
                <a:solidFill>
                  <a:srgbClr val="0E3F8C"/>
                </a:solidFill>
                <a:latin typeface="Source Han Sans CN"/>
                <a:ea typeface="Source Han Sans CN"/>
              </a:rPr>
              <a:t>T(t+1) = remain ∪ new ∪ release</a:t>
            </a:r>
            <a:r>
              <a:rPr lang="en-US" sz="1125" b="1">
                <a:solidFill>
                  <a:srgbClr val="0E3F8C"/>
                </a:solidFill>
                <a:latin typeface="Source Han Sans CN"/>
                <a:ea typeface="Source Han Sans CN"/>
              </a:rPr>
              <a:t/>
            </a:r>
            <a:r>
              <a:rPr lang="en-US" sz="1725" b="1">
                <a:solidFill>
                  <a:srgbClr val="0E3F8C"/>
                </a:solidFill>
                <a:latin typeface="Source Han Sans CN"/>
                <a:ea typeface="Source Han Sans CN"/>
              </a:rPr>
              <a:t/>
            </a:r>
            <a:r>
              <a:rPr lang="en-US" sz="1125" b="1">
                <a:solidFill>
                  <a:srgbClr val="0E3F8C"/>
                </a:solidFill>
                <a:latin typeface="Source Han Sans CN"/>
                <a:ea typeface="Source Han Sans CN"/>
              </a:rPr>
              <a:t/>
            </a:r>
            <a:r>
              <a:rPr lang="en-US" sz="1725" b="1">
                <a:solidFill>
                  <a:srgbClr val="0E3F8C"/>
                </a:solidFill>
                <a:latin typeface="Source Han Sans CN"/>
                <a:ea typeface="Source Han Sans CN"/>
              </a:rPr>
              <a:t/>
            </a:r>
            <a:r>
              <a:rPr lang="en-US" sz="1125" b="1">
                <a:solidFill>
                  <a:srgbClr val="0E3F8C"/>
                </a:solidFill>
                <a:latin typeface="Source Han Sans CN"/>
                <a:ea typeface="Source Han Sans CN"/>
              </a:rPr>
              <a:t/>
            </a:r>
            <a:r>
              <a:rPr lang="en-US" sz="1725" b="1">
                <a:solidFill>
                  <a:srgbClr val="0E3F8C"/>
                </a:solidFill>
                <a:latin typeface="Source Han Sans CN"/>
                <a:ea typeface="Source Han Sans CN"/>
              </a:rPr>
              <a:t/>
            </a:r>
            <a:r>
              <a:rPr lang="en-US" sz="1125" b="1">
                <a:solidFill>
                  <a:srgbClr val="0E3F8C"/>
                </a:solidFill>
                <a:latin typeface="Source Han Sans CN"/>
                <a:ea typeface="Source Han Sans CN"/>
              </a:rPr>
              <a:t/>
            </a:r>
            <a:r>
              <a:rPr lang="en-US" sz="1725" b="1">
                <a:solidFill>
                  <a:srgbClr val="0E3F8C"/>
                </a:solidFill>
                <a:latin typeface="Source Han Sans CN"/>
                <a:ea typeface="Source Han Sans CN"/>
              </a:rPr>
              <a:t/>
            </a:r>
            <a:r>
              <a:rPr lang="en-US" sz="1125" b="1">
                <a:solidFill>
                  <a:srgbClr val="0E3F8C"/>
                </a:solidFill>
                <a:latin typeface="Source Han Sans CN"/>
                <a:ea typeface="Source Han Sans CN"/>
              </a:rPr>
              <a:t/>
            </a:r>
            <a:r>
              <a:rPr lang="en-US" sz="1725" b="1">
                <a:solidFill>
                  <a:srgbClr val="0E3F8C"/>
                </a:solidFill>
                <a:latin typeface="Source Han Sans CN"/>
                <a:ea typeface="Source Han Sans CN"/>
              </a:rPr>
              <a:t/>
            </a:r>
            <a:r>
              <a:rPr lang="en-US" sz="1125" b="1">
                <a:solidFill>
                  <a:srgbClr val="0E3F8C"/>
                </a:solidFill>
                <a:latin typeface="Source Han Sans CN"/>
                <a:ea typeface="Source Han Sans CN"/>
              </a:rPr>
              <a:t/>
            </a:r>
            <a:r>
              <a:rPr lang="en-US" sz="1725" b="1">
                <a:solidFill>
                  <a:srgbClr val="0E3F8C"/>
                </a:solidFill>
                <a:latin typeface="Source Han Sans CN"/>
                <a:ea typeface="Source Han Sans CN"/>
              </a:rPr>
              <a:t/>
            </a:r>
            <a:r>
              <a:rPr lang="en-US" sz="1125" b="1">
                <a:solidFill>
                  <a:srgbClr val="0E3F8C"/>
                </a:solidFill>
                <a:latin typeface="Source Han Sans CN"/>
                <a:ea typeface="Source Han Sans CN"/>
              </a:rPr>
              <a:t/>
            </a:r>
            <a:r>
              <a:rPr lang="en-US" sz="1725" b="1">
                <a:solidFill>
                  <a:srgbClr val="0E3F8C"/>
                </a:solidFill>
                <a:latin typeface="Source Han Sans CN"/>
                <a:ea typeface="Source Han Sans CN"/>
              </a:rPr>
              <a:t/>
            </a:r>
            <a:r>
              <a:rPr lang="en-US" sz="1125" b="1">
                <a:solidFill>
                  <a:srgbClr val="0E3F8C"/>
                </a:solidFill>
                <a:latin typeface="Source Han Sans CN"/>
                <a:ea typeface="Source Han Sans CN"/>
              </a:rPr>
              <a:t/>
            </a:r>
            <a:r>
              <a:rPr lang="en-US" sz="1725" b="1">
                <a:solidFill>
                  <a:srgbClr val="0E3F8C"/>
                </a:solidFill>
                <a:latin typeface="Source Han Sans CN"/>
                <a:ea typeface="Source Han Sans CN"/>
              </a:rPr>
              <a:t/>
            </a:r>
            <a:r>
              <a:rPr lang="en-US" sz="1125" b="1">
                <a:solidFill>
                  <a:srgbClr val="0E3F8C"/>
                </a:solidFill>
                <a:latin typeface="Source Han Sans CN"/>
                <a:ea typeface="Source Han Sans CN"/>
              </a:rPr>
              <a:t/>
            </a:r>
            <a:r>
              <a:rPr lang="en-US" sz="1725" b="1">
                <a:solidFill>
                  <a:srgbClr val="0E3F8C"/>
                </a:solidFill>
                <a:latin typeface="Source Han Sans CN"/>
                <a:ea typeface="Source Han Sans CN"/>
              </a:rPr>
              <a:t/>
            </a:r>
            <a:r>
              <a:rPr lang="en-US" sz="1125" b="1">
                <a:solidFill>
                  <a:srgbClr val="0E3F8C"/>
                </a:solidFill>
                <a:latin typeface="Source Han Sans CN"/>
                <a:ea typeface="Source Han Sans CN"/>
              </a:rPr>
              <a:t/>
            </a:r>
            <a:r>
              <a:rPr lang="en-US" sz="1725" b="1">
                <a:solidFill>
                  <a:srgbClr val="0E3F8C"/>
                </a:solidFill>
                <a:latin typeface="Source Han Sans CN"/>
                <a:ea typeface="Source Han Sans CN"/>
              </a:rPr>
              <a:t/>
            </a:r>
            <a:r>
              <a:rPr lang="en-US" sz="1125" b="1">
                <a:solidFill>
                  <a:srgbClr val="0E3F8C"/>
                </a:solidFill>
                <a:latin typeface="Source Han Sans CN"/>
                <a:ea typeface="Source Han Sans CN"/>
              </a:rPr>
              <a:t/>
            </a:r>
            <a:endParaRPr/>
          </a:p>
        </p:txBody>
      </p:sp>
      <p:sp>
        <p:nvSpPr>
          <p:cNvPr id="392" name="文本框 391" descr="{&quot;isTemplate&quot;:true,&quot;type&quot;:&quot;text&quot;}"/>
          <p:cNvSpPr txBox="1"/>
          <p:nvPr/>
        </p:nvSpPr>
        <p:spPr>
          <a:xfrm>
            <a:off x="571500" y="2219325"/>
            <a:ext cx="6286500" cy="819150"/>
          </a:xfrm>
          <a:prstGeom prst="rect">
            <a:avLst/>
          </a:prstGeom>
        </p:spPr>
        <p:txBody>
          <a:bodyPr wrap="square" lIns="0" tIns="0" rIns="0" bIns="0">
            <a:normAutofit/>
          </a:bodyPr>
          <a:lstStyle/>
          <a:p>
            <a:pPr>
              <a:lnSpc>
                <a:spcPct val="170000"/>
              </a:lnSpc>
            </a:pPr>
            <a:r>
              <a:rPr lang="zh-CN" sz="1050">
                <a:solidFill>
                  <a:srgbClr val="4A5568"/>
                </a:solidFill>
                <a:latin typeface="Source Han Sans CN"/>
                <a:ea typeface="Source Han Sans CN"/>
              </a:rPr>
              <a:t>完成出池、未选留池、故障释放、新任务到达；滞留任务带等待补偿 W = 1−e−t/τ 参与下周期排序，不会被静默丢失——池水位全程守恒：arrived = done + unreach + elim + remain（终局核验口径）。</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zh-CN" sz="1050" b="1">
                <a:solidFill>
                  <a:srgbClr val="1E4FA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endParaRPr/>
          </a:p>
        </p:txBody>
      </p:sp>
      <p:sp>
        <p:nvSpPr>
          <p:cNvPr id="393" name="矩形: 圆角 392"/>
          <p:cNvSpPr/>
          <p:nvPr/>
        </p:nvSpPr>
        <p:spPr>
          <a:xfrm>
            <a:off x="381000" y="3343275"/>
            <a:ext cx="6667500" cy="1905000"/>
          </a:xfrm>
          <a:prstGeom prst="roundRect">
            <a:avLst>
              <a:gd name="adj" fmla="val 5000"/>
            </a:avLst>
          </a:prstGeom>
          <a:solidFill>
            <a:srgbClr val="F7F9FC"/>
          </a:solidFill>
          <a:ln w="12700">
            <a:solidFill>
              <a:srgbClr val="D6DCE5"/>
            </a:solidFill>
            <a:prstDash val="solid"/>
          </a:ln>
        </p:spPr>
        <p:txBody>
          <a:bodyPr/>
          <a:lstStyle/>
          <a:p>
            <a:endParaRPr/>
          </a:p>
        </p:txBody>
      </p:sp>
      <p:sp>
        <p:nvSpPr>
          <p:cNvPr id="394" name="文本框 393" descr="{&quot;isTemplate&quot;:true,&quot;type&quot;:&quot;text&quot;}"/>
          <p:cNvSpPr txBox="1"/>
          <p:nvPr/>
        </p:nvSpPr>
        <p:spPr>
          <a:xfrm>
            <a:off x="571500" y="3495675"/>
            <a:ext cx="6286500" cy="219075"/>
          </a:xfrm>
          <a:prstGeom prst="rect">
            <a:avLst/>
          </a:prstGeom>
        </p:spPr>
        <p:txBody>
          <a:bodyPr wrap="none" lIns="0" tIns="0" rIns="0" bIns="0"/>
          <a:lstStyle/>
          <a:p>
            <a:pPr>
              <a:lnSpc>
                <a:spcPct val="100000"/>
              </a:lnSpc>
            </a:pPr>
            <a:r>
              <a:rPr lang="en-US" sz="1425" b="1">
                <a:solidFill>
                  <a:srgbClr val="0E3F8C"/>
                </a:solidFill>
                <a:latin typeface="Source Han Sans CN"/>
                <a:ea typeface="Source Han Sans CN"/>
              </a:rPr>
              <a:t>② 机队状态更新（规划只用当前真实状态）</a:t>
            </a:r>
            <a:r>
              <a:rPr lang="zh-CN" sz="1425" b="1">
                <a:solidFill>
                  <a:srgbClr val="0E3F8C"/>
                </a:solidFill>
                <a:latin typeface="Source Han Sans CN"/>
                <a:ea typeface="Source Han Sans CN"/>
              </a:rPr>
              <a:t/>
            </a:r>
            <a:r>
              <a:rPr lang="en-US" sz="1425" b="1">
                <a:solidFill>
                  <a:srgbClr val="0E3F8C"/>
                </a:solidFill>
                <a:latin typeface="Source Han Sans CN"/>
                <a:ea typeface="Source Han Sans CN"/>
              </a:rPr>
              <a:t/>
            </a:r>
            <a:r>
              <a:rPr lang="zh-CN" sz="1425" b="1">
                <a:solidFill>
                  <a:srgbClr val="0E3F8C"/>
                </a:solidFill>
                <a:latin typeface="Source Han Sans CN"/>
                <a:ea typeface="Source Han Sans CN"/>
              </a:rPr>
              <a:t/>
            </a:r>
            <a:r>
              <a:rPr lang="en-US" sz="1425" b="1">
                <a:solidFill>
                  <a:srgbClr val="0E3F8C"/>
                </a:solidFill>
                <a:latin typeface="Source Han Sans CN"/>
                <a:ea typeface="Source Han Sans CN"/>
              </a:rPr>
              <a:t/>
            </a:r>
            <a:r>
              <a:rPr lang="zh-CN" sz="1425" b="1">
                <a:solidFill>
                  <a:srgbClr val="0E3F8C"/>
                </a:solidFill>
                <a:latin typeface="Source Han Sans CN"/>
                <a:ea typeface="Source Han Sans CN"/>
              </a:rPr>
              <a:t/>
            </a:r>
            <a:r>
              <a:rPr lang="en-US" sz="1425" b="1">
                <a:solidFill>
                  <a:srgbClr val="0E3F8C"/>
                </a:solidFill>
                <a:latin typeface="Source Han Sans CN"/>
                <a:ea typeface="Source Han Sans CN"/>
              </a:rPr>
              <a:t/>
            </a:r>
            <a:r>
              <a:rPr lang="zh-CN" sz="1425" b="1">
                <a:solidFill>
                  <a:srgbClr val="0E3F8C"/>
                </a:solidFill>
                <a:latin typeface="Source Han Sans CN"/>
                <a:ea typeface="Source Han Sans CN"/>
              </a:rPr>
              <a:t/>
            </a:r>
            <a:endParaRPr/>
          </a:p>
        </p:txBody>
      </p:sp>
      <p:sp>
        <p:nvSpPr>
          <p:cNvPr id="395" name="矩形: 圆角 394"/>
          <p:cNvSpPr/>
          <p:nvPr/>
        </p:nvSpPr>
        <p:spPr>
          <a:xfrm>
            <a:off x="571500" y="3829050"/>
            <a:ext cx="6286500" cy="619125"/>
          </a:xfrm>
          <a:prstGeom prst="roundRect">
            <a:avLst>
              <a:gd name="adj" fmla="val 12308"/>
            </a:avLst>
          </a:prstGeom>
          <a:solidFill>
            <a:srgbClr val="E8EFF8"/>
          </a:solidFill>
          <a:ln/>
        </p:spPr>
        <p:txBody>
          <a:bodyPr/>
          <a:lstStyle/>
          <a:p>
            <a:endParaRPr/>
          </a:p>
        </p:txBody>
      </p:sp>
      <p:sp>
        <p:nvSpPr>
          <p:cNvPr id="396" name="文本框 395" descr="{&quot;isTemplate&quot;:true,&quot;type&quot;:&quot;text&quot;}"/>
          <p:cNvSpPr txBox="1"/>
          <p:nvPr/>
        </p:nvSpPr>
        <p:spPr>
          <a:xfrm>
            <a:off x="904875" y="3943350"/>
            <a:ext cx="5629275" cy="190500"/>
          </a:xfrm>
          <a:prstGeom prst="rect">
            <a:avLst/>
          </a:prstGeom>
        </p:spPr>
        <p:txBody>
          <a:bodyPr wrap="none" lIns="0" tIns="0" rIns="0" bIns="0"/>
          <a:lstStyle/>
          <a:p>
            <a:pPr>
              <a:lnSpc>
                <a:spcPct val="100000"/>
              </a:lnSpc>
            </a:pPr>
            <a:r>
              <a:rPr lang="en-US" sz="1238" b="1">
                <a:solidFill>
                  <a:srgbClr val="0E3F8C"/>
                </a:solidFill>
                <a:latin typeface="Source Han Sans CN"/>
                <a:ea typeface="Source Han Sans CN"/>
              </a:rPr>
              <a:t>状态(u) = 停靠机巢 + 剩余航程 + 可用性　　每周期重算 K(t) 与 cap(t)</a:t>
            </a:r>
            <a:r>
              <a:rPr lang="zh-CN" sz="1238" b="1">
                <a:solidFill>
                  <a:srgbClr val="0E3F8C"/>
                </a:solidFill>
                <a:latin typeface="Source Han Sans CN"/>
                <a:ea typeface="Source Han Sans CN"/>
              </a:rPr>
              <a:t/>
            </a:r>
            <a:r>
              <a:rPr lang="en-US" sz="1238" b="1">
                <a:solidFill>
                  <a:srgbClr val="0E3F8C"/>
                </a:solidFill>
                <a:latin typeface="Source Han Sans CN"/>
                <a:ea typeface="Source Han Sans CN"/>
              </a:rPr>
              <a:t/>
            </a:r>
            <a:endParaRPr/>
          </a:p>
        </p:txBody>
      </p:sp>
      <p:sp>
        <p:nvSpPr>
          <p:cNvPr id="397" name="文本框 396" descr="{&quot;isTemplate&quot;:true,&quot;type&quot;:&quot;text&quot;}"/>
          <p:cNvSpPr txBox="1"/>
          <p:nvPr/>
        </p:nvSpPr>
        <p:spPr>
          <a:xfrm>
            <a:off x="1181100" y="4181475"/>
            <a:ext cx="5067300" cy="152400"/>
          </a:xfrm>
          <a:prstGeom prst="rect">
            <a:avLst/>
          </a:prstGeom>
        </p:spPr>
        <p:txBody>
          <a:bodyPr wrap="none" lIns="0" tIns="0" rIns="0" bIns="0"/>
          <a:lstStyle/>
          <a:p>
            <a:pPr>
              <a:lnSpc>
                <a:spcPct val="100000"/>
              </a:lnSpc>
            </a:pPr>
            <a:r>
              <a:rPr lang="en-US" sz="975">
                <a:solidFill>
                  <a:srgbClr val="4A5568"/>
                </a:solidFill>
                <a:latin typeface="Source Han Sans CN"/>
                <a:ea typeface="Source Han Sans CN"/>
              </a:rPr>
              <a:t>B(t) = 可起飞子集剩余航程和；cap(t) = max(min_cap, ⌊B(t)/c_med⌋)</a:t>
            </a:r>
            <a:r>
              <a:rPr lang="zh-CN" sz="975">
                <a:solidFill>
                  <a:srgbClr val="4A5568"/>
                </a:solidFill>
                <a:latin typeface="Source Han Sans CN"/>
                <a:ea typeface="Source Han Sans CN"/>
              </a:rPr>
              <a:t/>
            </a:r>
            <a:r>
              <a:rPr lang="en-US" sz="975">
                <a:solidFill>
                  <a:srgbClr val="4A5568"/>
                </a:solidFill>
                <a:latin typeface="Source Han Sans CN"/>
                <a:ea typeface="Source Han Sans CN"/>
              </a:rPr>
              <a:t/>
            </a:r>
            <a:r>
              <a:rPr lang="zh-CN" sz="975">
                <a:solidFill>
                  <a:srgbClr val="4A5568"/>
                </a:solidFill>
                <a:latin typeface="Source Han Sans CN"/>
                <a:ea typeface="Source Han Sans CN"/>
              </a:rPr>
              <a:t/>
            </a:r>
            <a:r>
              <a:rPr lang="en-US" sz="975">
                <a:solidFill>
                  <a:srgbClr val="4A5568"/>
                </a:solidFill>
                <a:latin typeface="Source Han Sans CN"/>
                <a:ea typeface="Source Han Sans CN"/>
              </a:rPr>
              <a:t/>
            </a:r>
            <a:r>
              <a:rPr lang="zh-CN" sz="975">
                <a:solidFill>
                  <a:srgbClr val="4A5568"/>
                </a:solidFill>
                <a:latin typeface="Source Han Sans CN"/>
                <a:ea typeface="Source Han Sans CN"/>
              </a:rPr>
              <a:t/>
            </a:r>
            <a:r>
              <a:rPr lang="en-US" sz="975">
                <a:solidFill>
                  <a:srgbClr val="4A5568"/>
                </a:solidFill>
                <a:latin typeface="Source Han Sans CN"/>
                <a:ea typeface="Source Han Sans CN"/>
              </a:rPr>
              <a:t/>
            </a:r>
            <a:r>
              <a:rPr lang="zh-CN" sz="975">
                <a:solidFill>
                  <a:srgbClr val="4A5568"/>
                </a:solidFill>
                <a:latin typeface="Source Han Sans CN"/>
                <a:ea typeface="Source Han Sans CN"/>
              </a:rPr>
              <a:t/>
            </a:r>
            <a:endParaRPr/>
          </a:p>
        </p:txBody>
      </p:sp>
      <p:sp>
        <p:nvSpPr>
          <p:cNvPr id="398" name="文本框 397" descr="{&quot;isTemplate&quot;:true,&quot;type&quot;:&quot;text&quot;}"/>
          <p:cNvSpPr txBox="1"/>
          <p:nvPr/>
        </p:nvSpPr>
        <p:spPr>
          <a:xfrm>
            <a:off x="571500" y="4543425"/>
            <a:ext cx="6286500" cy="552450"/>
          </a:xfrm>
          <a:prstGeom prst="rect">
            <a:avLst/>
          </a:prstGeom>
        </p:spPr>
        <p:txBody>
          <a:bodyPr wrap="square" lIns="0" tIns="0" rIns="0" bIns="0">
            <a:normAutofit/>
          </a:bodyPr>
          <a:lstStyle/>
          <a:p>
            <a:pPr>
              <a:lnSpc>
                <a:spcPct val="170000"/>
              </a:lnSpc>
            </a:pPr>
            <a:r>
              <a:rPr lang="zh-CN" sz="1050">
                <a:solidFill>
                  <a:srgbClr val="4A5568"/>
                </a:solidFill>
                <a:latin typeface="Source Han Sans CN"/>
                <a:ea typeface="Source Han Sans CN"/>
              </a:rPr>
              <a:t>起降、充电、故障与返航迁移每周期改变可用集与停靠巢；充电中的机是幻影容量、不计入 B(t)——规划基于当前状态而非初始快照。</a:t>
            </a:r>
            <a:r>
              <a:rPr lang="zh-CN" sz="1050" b="1">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endParaRPr/>
          </a:p>
        </p:txBody>
      </p:sp>
      <p:sp>
        <p:nvSpPr>
          <p:cNvPr id="399" name="矩形: 圆角 398"/>
          <p:cNvSpPr/>
          <p:nvPr/>
        </p:nvSpPr>
        <p:spPr>
          <a:xfrm>
            <a:off x="381000" y="5400675"/>
            <a:ext cx="6667500" cy="495300"/>
          </a:xfrm>
          <a:prstGeom prst="roundRect">
            <a:avLst>
              <a:gd name="adj" fmla="val 19231"/>
            </a:avLst>
          </a:prstGeom>
          <a:solidFill>
            <a:srgbClr val="F0F5FC"/>
          </a:solidFill>
          <a:ln w="12700">
            <a:solidFill>
              <a:srgbClr val="D6DCE5"/>
            </a:solidFill>
            <a:prstDash val="solid"/>
          </a:ln>
        </p:spPr>
        <p:txBody>
          <a:bodyPr/>
          <a:lstStyle/>
          <a:p>
            <a:endParaRPr/>
          </a:p>
        </p:txBody>
      </p:sp>
      <p:sp>
        <p:nvSpPr>
          <p:cNvPr id="400" name="文本框 399" descr="{&quot;isTemplate&quot;:true,&quot;type&quot;:&quot;text&quot;}"/>
          <p:cNvSpPr txBox="1"/>
          <p:nvPr/>
        </p:nvSpPr>
        <p:spPr>
          <a:xfrm>
            <a:off x="571500" y="5562600"/>
            <a:ext cx="571500" cy="171450"/>
          </a:xfrm>
          <a:prstGeom prst="rect">
            <a:avLst/>
          </a:prstGeom>
        </p:spPr>
        <p:txBody>
          <a:bodyPr wrap="none" lIns="0" tIns="0" rIns="0" bIns="0"/>
          <a:lstStyle/>
          <a:p>
            <a:pPr>
              <a:lnSpc>
                <a:spcPct val="100000"/>
              </a:lnSpc>
            </a:pPr>
            <a:r>
              <a:rPr lang="zh-CN" sz="1125" b="1">
                <a:solidFill>
                  <a:srgbClr val="0E3F8C"/>
                </a:solidFill>
                <a:latin typeface="Source Han Sans CN"/>
                <a:ea typeface="Source Han Sans CN"/>
              </a:rPr>
              <a:t>周期时序：</a:t>
            </a:r>
            <a:endParaRPr/>
          </a:p>
        </p:txBody>
      </p:sp>
      <p:sp>
        <p:nvSpPr>
          <p:cNvPr id="401" name="矩形: 圆角 400"/>
          <p:cNvSpPr/>
          <p:nvPr/>
        </p:nvSpPr>
        <p:spPr>
          <a:xfrm>
            <a:off x="1238250" y="5438775"/>
            <a:ext cx="666750" cy="419100"/>
          </a:xfrm>
          <a:prstGeom prst="roundRect">
            <a:avLst>
              <a:gd name="adj" fmla="val 31818"/>
            </a:avLst>
          </a:prstGeom>
          <a:solidFill>
            <a:srgbClr val="FFFFFF"/>
          </a:solidFill>
          <a:ln w="12700">
            <a:solidFill>
              <a:srgbClr val="3D7BD9"/>
            </a:solidFill>
            <a:prstDash val="solid"/>
          </a:ln>
        </p:spPr>
        <p:txBody>
          <a:bodyPr/>
          <a:lstStyle/>
          <a:p>
            <a:endParaRPr/>
          </a:p>
        </p:txBody>
      </p:sp>
      <p:sp>
        <p:nvSpPr>
          <p:cNvPr id="402" name="文本框 401" descr="{&quot;isTemplate&quot;:true,&quot;type&quot;:&quot;text&quot;}"/>
          <p:cNvSpPr txBox="1"/>
          <p:nvPr/>
        </p:nvSpPr>
        <p:spPr>
          <a:xfrm>
            <a:off x="1352550" y="5495925"/>
            <a:ext cx="438150" cy="304800"/>
          </a:xfrm>
          <a:prstGeom prst="rect">
            <a:avLst/>
          </a:prstGeom>
        </p:spPr>
        <p:txBody>
          <a:bodyPr wrap="square" lIns="0" tIns="0" rIns="0" bIns="0">
            <a:normAutofit/>
          </a:bodyPr>
          <a:lstStyle/>
          <a:p>
            <a:pPr>
              <a:lnSpc>
                <a:spcPct val="100000"/>
              </a:lnSpc>
            </a:pPr>
            <a:r>
              <a:rPr lang="zh-CN" sz="975">
                <a:solidFill>
                  <a:srgbClr val="1E4FA8"/>
                </a:solidFill>
                <a:latin typeface="Source Han Sans CN"/>
                <a:ea typeface="Source Han Sans CN"/>
              </a:rPr>
              <a:t>到达入池</a:t>
            </a:r>
            <a:r>
              <a:rPr lang="en-US" sz="975">
                <a:solidFill>
                  <a:srgbClr val="1E4FA8"/>
                </a:solidFill>
                <a:latin typeface="Source Han Sans CN"/>
                <a:ea typeface="Source Han Sans CN"/>
              </a:rPr>
              <a:t/>
            </a:r>
            <a:r>
              <a:rPr lang="zh-CN" sz="975">
                <a:solidFill>
                  <a:srgbClr val="1E4FA8"/>
                </a:solidFill>
                <a:latin typeface="Source Han Sans CN"/>
                <a:ea typeface="Source Han Sans CN"/>
              </a:rPr>
              <a:t/>
            </a:r>
            <a:endParaRPr/>
          </a:p>
        </p:txBody>
      </p:sp>
      <p:sp>
        <p:nvSpPr>
          <p:cNvPr id="403" name="文本框 402" descr="{&quot;isTemplate&quot;:true,&quot;type&quot;:&quot;text&quot;}"/>
          <p:cNvSpPr txBox="1"/>
          <p:nvPr/>
        </p:nvSpPr>
        <p:spPr>
          <a:xfrm>
            <a:off x="2000250" y="5553075"/>
            <a:ext cx="123825" cy="190500"/>
          </a:xfrm>
          <a:prstGeom prst="rect">
            <a:avLst/>
          </a:prstGeom>
        </p:spPr>
        <p:txBody>
          <a:bodyPr wrap="none" lIns="0" tIns="0" rIns="0" bIns="0"/>
          <a:lstStyle/>
          <a:p>
            <a:pPr>
              <a:lnSpc>
                <a:spcPct val="100000"/>
              </a:lnSpc>
            </a:pPr>
            <a:r>
              <a:rPr sz="1200" b="1">
                <a:solidFill>
                  <a:srgbClr val="3D7BD9"/>
                </a:solidFill>
                <a:latin typeface="Source Han Sans CN"/>
                <a:ea typeface="Source Han Sans CN"/>
              </a:rPr>
              <a:t>→</a:t>
            </a:r>
            <a:endParaRPr/>
          </a:p>
        </p:txBody>
      </p:sp>
      <p:sp>
        <p:nvSpPr>
          <p:cNvPr id="404" name="矩形: 圆角 403"/>
          <p:cNvSpPr/>
          <p:nvPr/>
        </p:nvSpPr>
        <p:spPr>
          <a:xfrm>
            <a:off x="2219325" y="5438775"/>
            <a:ext cx="885825" cy="419100"/>
          </a:xfrm>
          <a:prstGeom prst="roundRect">
            <a:avLst>
              <a:gd name="adj" fmla="val 31818"/>
            </a:avLst>
          </a:prstGeom>
          <a:solidFill>
            <a:srgbClr val="FFFFFF"/>
          </a:solidFill>
          <a:ln w="12700">
            <a:solidFill>
              <a:srgbClr val="3D7BD9"/>
            </a:solidFill>
            <a:prstDash val="solid"/>
          </a:ln>
        </p:spPr>
        <p:txBody>
          <a:bodyPr/>
          <a:lstStyle/>
          <a:p>
            <a:endParaRPr/>
          </a:p>
        </p:txBody>
      </p:sp>
      <p:sp>
        <p:nvSpPr>
          <p:cNvPr id="405" name="文本框 404" descr="{&quot;isTemplate&quot;:true,&quot;type&quot;:&quot;text&quot;}"/>
          <p:cNvSpPr txBox="1"/>
          <p:nvPr/>
        </p:nvSpPr>
        <p:spPr>
          <a:xfrm>
            <a:off x="2333625" y="5495925"/>
            <a:ext cx="657225" cy="304800"/>
          </a:xfrm>
          <a:prstGeom prst="rect">
            <a:avLst/>
          </a:prstGeom>
        </p:spPr>
        <p:txBody>
          <a:bodyPr wrap="square" lIns="0" tIns="0" rIns="0" bIns="0">
            <a:normAutofit/>
          </a:bodyPr>
          <a:lstStyle/>
          <a:p>
            <a:pPr>
              <a:lnSpc>
                <a:spcPct val="100000"/>
              </a:lnSpc>
            </a:pPr>
            <a:r>
              <a:rPr lang="en-US" sz="975">
                <a:solidFill>
                  <a:srgbClr val="1E4FA8"/>
                </a:solidFill>
                <a:latin typeface="Source Han Sans CN"/>
                <a:ea typeface="Source Han Sans CN"/>
              </a:rPr>
              <a:t>① 任务选择</a:t>
            </a:r>
            <a:r>
              <a:rPr lang="zh-CN" sz="975">
                <a:solidFill>
                  <a:srgbClr val="1E4FA8"/>
                </a:solidFill>
                <a:latin typeface="Source Han Sans CN"/>
                <a:ea typeface="Source Han Sans CN"/>
              </a:rPr>
              <a:t/>
            </a:r>
            <a:r>
              <a:rPr lang="en-US" sz="975">
                <a:solidFill>
                  <a:srgbClr val="1E4FA8"/>
                </a:solidFill>
                <a:latin typeface="Source Han Sans CN"/>
                <a:ea typeface="Source Han Sans CN"/>
              </a:rPr>
              <a:t/>
            </a:r>
            <a:r>
              <a:rPr lang="zh-CN" sz="975">
                <a:solidFill>
                  <a:srgbClr val="1E4FA8"/>
                </a:solidFill>
                <a:latin typeface="Source Han Sans CN"/>
                <a:ea typeface="Source Han Sans CN"/>
              </a:rPr>
              <a:t/>
            </a:r>
            <a:r>
              <a:rPr lang="en-US" sz="975">
                <a:solidFill>
                  <a:srgbClr val="1E4FA8"/>
                </a:solidFill>
                <a:latin typeface="Source Han Sans CN"/>
                <a:ea typeface="Source Han Sans CN"/>
              </a:rPr>
              <a:t/>
            </a:r>
            <a:endParaRPr/>
          </a:p>
        </p:txBody>
      </p:sp>
      <p:sp>
        <p:nvSpPr>
          <p:cNvPr id="406" name="文本框 405" descr="{&quot;isTemplate&quot;:true,&quot;type&quot;:&quot;text&quot;}"/>
          <p:cNvSpPr txBox="1"/>
          <p:nvPr/>
        </p:nvSpPr>
        <p:spPr>
          <a:xfrm>
            <a:off x="3200400" y="5553075"/>
            <a:ext cx="123825" cy="190500"/>
          </a:xfrm>
          <a:prstGeom prst="rect">
            <a:avLst/>
          </a:prstGeom>
        </p:spPr>
        <p:txBody>
          <a:bodyPr wrap="none" lIns="0" tIns="0" rIns="0" bIns="0"/>
          <a:lstStyle/>
          <a:p>
            <a:pPr>
              <a:lnSpc>
                <a:spcPct val="100000"/>
              </a:lnSpc>
            </a:pPr>
            <a:r>
              <a:rPr sz="1200" b="1">
                <a:solidFill>
                  <a:srgbClr val="3D7BD9"/>
                </a:solidFill>
                <a:latin typeface="Source Han Sans CN"/>
                <a:ea typeface="Source Han Sans CN"/>
              </a:rPr>
              <a:t>→</a:t>
            </a:r>
            <a:endParaRPr/>
          </a:p>
        </p:txBody>
      </p:sp>
      <p:sp>
        <p:nvSpPr>
          <p:cNvPr id="407" name="矩形: 圆角 406"/>
          <p:cNvSpPr/>
          <p:nvPr/>
        </p:nvSpPr>
        <p:spPr>
          <a:xfrm>
            <a:off x="3419475" y="5438775"/>
            <a:ext cx="857250" cy="419100"/>
          </a:xfrm>
          <a:prstGeom prst="roundRect">
            <a:avLst>
              <a:gd name="adj" fmla="val 31818"/>
            </a:avLst>
          </a:prstGeom>
          <a:solidFill>
            <a:srgbClr val="FFFFFF"/>
          </a:solidFill>
          <a:ln w="12700">
            <a:solidFill>
              <a:srgbClr val="3D7BD9"/>
            </a:solidFill>
            <a:prstDash val="solid"/>
          </a:ln>
        </p:spPr>
        <p:txBody>
          <a:bodyPr/>
          <a:lstStyle/>
          <a:p>
            <a:endParaRPr/>
          </a:p>
        </p:txBody>
      </p:sp>
      <p:sp>
        <p:nvSpPr>
          <p:cNvPr id="408" name="文本框 407" descr="{&quot;isTemplate&quot;:true,&quot;type&quot;:&quot;text&quot;}"/>
          <p:cNvSpPr txBox="1"/>
          <p:nvPr/>
        </p:nvSpPr>
        <p:spPr>
          <a:xfrm>
            <a:off x="3533775" y="5495925"/>
            <a:ext cx="628650" cy="304800"/>
          </a:xfrm>
          <a:prstGeom prst="rect">
            <a:avLst/>
          </a:prstGeom>
        </p:spPr>
        <p:txBody>
          <a:bodyPr wrap="square" lIns="0" tIns="0" rIns="0" bIns="0">
            <a:normAutofit/>
          </a:bodyPr>
          <a:lstStyle/>
          <a:p>
            <a:pPr>
              <a:lnSpc>
                <a:spcPct val="100000"/>
              </a:lnSpc>
            </a:pPr>
            <a:r>
              <a:rPr lang="zh-CN" sz="975">
                <a:solidFill>
                  <a:srgbClr val="1E4FA8"/>
                </a:solidFill>
                <a:latin typeface="Source Han Sans CN"/>
                <a:ea typeface="Source Han Sans CN"/>
              </a:rPr>
              <a:t>② MUAS 求解</a:t>
            </a:r>
            <a:r>
              <a:rPr lang="en-US" sz="975">
                <a:solidFill>
                  <a:srgbClr val="1E4FA8"/>
                </a:solidFill>
                <a:latin typeface="Source Han Sans CN"/>
                <a:ea typeface="Source Han Sans CN"/>
              </a:rPr>
              <a:t/>
            </a:r>
            <a:endParaRPr/>
          </a:p>
        </p:txBody>
      </p:sp>
      <p:sp>
        <p:nvSpPr>
          <p:cNvPr id="409" name="文本框 408" descr="{&quot;isTemplate&quot;:true,&quot;type&quot;:&quot;text&quot;}"/>
          <p:cNvSpPr txBox="1"/>
          <p:nvPr/>
        </p:nvSpPr>
        <p:spPr>
          <a:xfrm>
            <a:off x="4371975" y="5553075"/>
            <a:ext cx="123825" cy="190500"/>
          </a:xfrm>
          <a:prstGeom prst="rect">
            <a:avLst/>
          </a:prstGeom>
        </p:spPr>
        <p:txBody>
          <a:bodyPr wrap="none" lIns="0" tIns="0" rIns="0" bIns="0"/>
          <a:lstStyle/>
          <a:p>
            <a:pPr>
              <a:lnSpc>
                <a:spcPct val="100000"/>
              </a:lnSpc>
            </a:pPr>
            <a:r>
              <a:rPr sz="1200" b="1">
                <a:solidFill>
                  <a:srgbClr val="3D7BD9"/>
                </a:solidFill>
                <a:latin typeface="Source Han Sans CN"/>
                <a:ea typeface="Source Han Sans CN"/>
              </a:rPr>
              <a:t>→</a:t>
            </a:r>
            <a:endParaRPr/>
          </a:p>
        </p:txBody>
      </p:sp>
      <p:sp>
        <p:nvSpPr>
          <p:cNvPr id="410" name="矩形: 圆角 409"/>
          <p:cNvSpPr/>
          <p:nvPr/>
        </p:nvSpPr>
        <p:spPr>
          <a:xfrm>
            <a:off x="4591050" y="5438775"/>
            <a:ext cx="990600" cy="419100"/>
          </a:xfrm>
          <a:prstGeom prst="roundRect">
            <a:avLst>
              <a:gd name="adj" fmla="val 31818"/>
            </a:avLst>
          </a:prstGeom>
          <a:solidFill>
            <a:srgbClr val="FFFFFF"/>
          </a:solidFill>
          <a:ln w="12700">
            <a:solidFill>
              <a:srgbClr val="3D7BD9"/>
            </a:solidFill>
            <a:prstDash val="solid"/>
          </a:ln>
        </p:spPr>
        <p:txBody>
          <a:bodyPr/>
          <a:lstStyle/>
          <a:p>
            <a:endParaRPr/>
          </a:p>
        </p:txBody>
      </p:sp>
      <p:sp>
        <p:nvSpPr>
          <p:cNvPr id="411" name="文本框 410" descr="{&quot;isTemplate&quot;:true,&quot;type&quot;:&quot;text&quot;}"/>
          <p:cNvSpPr txBox="1"/>
          <p:nvPr/>
        </p:nvSpPr>
        <p:spPr>
          <a:xfrm>
            <a:off x="4705350" y="5495925"/>
            <a:ext cx="762000" cy="304800"/>
          </a:xfrm>
          <a:prstGeom prst="rect">
            <a:avLst/>
          </a:prstGeom>
        </p:spPr>
        <p:txBody>
          <a:bodyPr wrap="square" lIns="0" tIns="0" rIns="0" bIns="0">
            <a:normAutofit/>
          </a:bodyPr>
          <a:lstStyle/>
          <a:p>
            <a:pPr>
              <a:lnSpc>
                <a:spcPct val="100000"/>
              </a:lnSpc>
            </a:pPr>
            <a:r>
              <a:rPr lang="en-US" sz="975">
                <a:solidFill>
                  <a:srgbClr val="1E4FA8"/>
                </a:solidFill>
                <a:latin typeface="Source Han Sans CN"/>
                <a:ea typeface="Source Han Sans CN"/>
              </a:rPr>
              <a:t>③ 执行出动</a:t>
            </a:r>
            <a:r>
              <a:rPr lang="zh-CN" sz="975">
                <a:solidFill>
                  <a:srgbClr val="1E4FA8"/>
                </a:solidFill>
                <a:latin typeface="Source Han Sans CN"/>
                <a:ea typeface="Source Han Sans CN"/>
              </a:rPr>
              <a:t/>
            </a:r>
            <a:r>
              <a:rPr lang="en-US" sz="975">
                <a:solidFill>
                  <a:srgbClr val="1E4FA8"/>
                </a:solidFill>
                <a:latin typeface="Source Han Sans CN"/>
                <a:ea typeface="Source Han Sans CN"/>
              </a:rPr>
              <a:t/>
            </a:r>
            <a:r>
              <a:rPr lang="zh-CN" sz="975">
                <a:solidFill>
                  <a:srgbClr val="1E4FA8"/>
                </a:solidFill>
                <a:latin typeface="Source Han Sans CN"/>
                <a:ea typeface="Source Han Sans CN"/>
              </a:rPr>
              <a:t/>
            </a:r>
            <a:r>
              <a:rPr lang="en-US" sz="975">
                <a:solidFill>
                  <a:srgbClr val="1E4FA8"/>
                </a:solidFill>
                <a:latin typeface="Source Han Sans CN"/>
                <a:ea typeface="Source Han Sans CN"/>
              </a:rPr>
              <a:t/>
            </a:r>
            <a:endParaRPr/>
          </a:p>
        </p:txBody>
      </p:sp>
      <p:sp>
        <p:nvSpPr>
          <p:cNvPr id="412" name="文本框 411" descr="{&quot;isTemplate&quot;:true,&quot;type&quot;:&quot;text&quot;}"/>
          <p:cNvSpPr txBox="1"/>
          <p:nvPr/>
        </p:nvSpPr>
        <p:spPr>
          <a:xfrm>
            <a:off x="5676900" y="5553075"/>
            <a:ext cx="123825" cy="190500"/>
          </a:xfrm>
          <a:prstGeom prst="rect">
            <a:avLst/>
          </a:prstGeom>
        </p:spPr>
        <p:txBody>
          <a:bodyPr wrap="none" lIns="0" tIns="0" rIns="0" bIns="0"/>
          <a:lstStyle/>
          <a:p>
            <a:pPr>
              <a:lnSpc>
                <a:spcPct val="100000"/>
              </a:lnSpc>
            </a:pPr>
            <a:r>
              <a:rPr sz="1200" b="1">
                <a:solidFill>
                  <a:srgbClr val="3D7BD9"/>
                </a:solidFill>
                <a:latin typeface="Source Han Sans CN"/>
                <a:ea typeface="Source Han Sans CN"/>
              </a:rPr>
              <a:t>→</a:t>
            </a:r>
            <a:endParaRPr/>
          </a:p>
        </p:txBody>
      </p:sp>
      <p:sp>
        <p:nvSpPr>
          <p:cNvPr id="413" name="矩形: 圆角 412"/>
          <p:cNvSpPr/>
          <p:nvPr/>
        </p:nvSpPr>
        <p:spPr>
          <a:xfrm>
            <a:off x="5895975" y="5438775"/>
            <a:ext cx="962025" cy="419100"/>
          </a:xfrm>
          <a:prstGeom prst="roundRect">
            <a:avLst>
              <a:gd name="adj" fmla="val 31818"/>
            </a:avLst>
          </a:prstGeom>
          <a:solidFill>
            <a:srgbClr val="FFFFFF"/>
          </a:solidFill>
          <a:ln w="12700">
            <a:solidFill>
              <a:srgbClr val="3D7BD9"/>
            </a:solidFill>
            <a:prstDash val="solid"/>
          </a:ln>
        </p:spPr>
        <p:txBody>
          <a:bodyPr/>
          <a:lstStyle/>
          <a:p>
            <a:endParaRPr/>
          </a:p>
        </p:txBody>
      </p:sp>
      <p:sp>
        <p:nvSpPr>
          <p:cNvPr id="414" name="文本框 413" descr="{&quot;isTemplate&quot;:true,&quot;type&quot;:&quot;text&quot;}"/>
          <p:cNvSpPr txBox="1"/>
          <p:nvPr/>
        </p:nvSpPr>
        <p:spPr>
          <a:xfrm>
            <a:off x="6010275" y="5495925"/>
            <a:ext cx="733425" cy="304800"/>
          </a:xfrm>
          <a:prstGeom prst="rect">
            <a:avLst/>
          </a:prstGeom>
        </p:spPr>
        <p:txBody>
          <a:bodyPr wrap="square" lIns="0" tIns="0" rIns="0" bIns="0">
            <a:normAutofit/>
          </a:bodyPr>
          <a:lstStyle/>
          <a:p>
            <a:pPr>
              <a:lnSpc>
                <a:spcPct val="100000"/>
              </a:lnSpc>
            </a:pPr>
            <a:r>
              <a:rPr lang="zh-CN" sz="975">
                <a:solidFill>
                  <a:srgbClr val="1E4FA8"/>
                </a:solidFill>
                <a:latin typeface="Source Han Sans CN"/>
                <a:ea typeface="Source Han Sans CN"/>
              </a:rPr>
              <a:t>④ 反馈更新</a:t>
            </a:r>
            <a:r>
              <a:rPr lang="en-US" sz="975">
                <a:solidFill>
                  <a:srgbClr val="1E4FA8"/>
                </a:solidFill>
                <a:latin typeface="Source Han Sans CN"/>
                <a:ea typeface="Source Han Sans CN"/>
              </a:rPr>
              <a:t/>
            </a:r>
            <a:endParaRPr/>
          </a:p>
        </p:txBody>
      </p:sp>
      <p:sp>
        <p:nvSpPr>
          <p:cNvPr id="415" name="矩形: 圆角 414"/>
          <p:cNvSpPr/>
          <p:nvPr/>
        </p:nvSpPr>
        <p:spPr>
          <a:xfrm>
            <a:off x="7277100" y="1143000"/>
            <a:ext cx="4533900" cy="2400300"/>
          </a:xfrm>
          <a:prstGeom prst="roundRect">
            <a:avLst>
              <a:gd name="adj" fmla="val 3968"/>
            </a:avLst>
          </a:prstGeom>
          <a:solidFill>
            <a:srgbClr val="F0F5FC"/>
          </a:solidFill>
          <a:ln/>
        </p:spPr>
        <p:txBody>
          <a:bodyPr/>
          <a:lstStyle/>
          <a:p>
            <a:endParaRPr/>
          </a:p>
        </p:txBody>
      </p:sp>
      <p:sp>
        <p:nvSpPr>
          <p:cNvPr id="416" name="任意多边形: 形状 415"/>
          <p:cNvSpPr/>
          <p:nvPr/>
        </p:nvSpPr>
        <p:spPr>
          <a:xfrm>
            <a:off x="7277100" y="1143000"/>
            <a:ext cx="4533900" cy="2400300"/>
          </a:xfrm>
          <a:custGeom>
            <a:avLst/>
            <a:gdLst/>
            <a:ahLst/>
            <a:cxnLst/>
            <a:rect l="0" t="0" r="0" b="0"/>
            <a:pathLst>
              <a:path w="476" h="252">
                <a:moveTo>
                  <a:pt x="466" y="0"/>
                </a:moveTo>
                <a:cubicBezTo>
                  <a:pt x="471" y="0"/>
                  <a:pt x="475" y="4"/>
                  <a:pt x="476" y="8"/>
                </a:cubicBezTo>
                <a:cubicBezTo>
                  <a:pt x="475" y="6"/>
                  <a:pt x="473" y="4"/>
                  <a:pt x="470" y="4"/>
                </a:cubicBezTo>
                <a:lnTo>
                  <a:pt x="6" y="4"/>
                </a:lnTo>
                <a:cubicBezTo>
                  <a:pt x="3" y="4"/>
                  <a:pt x="1" y="6"/>
                  <a:pt x="0" y="9"/>
                </a:cubicBezTo>
                <a:cubicBezTo>
                  <a:pt x="1" y="4"/>
                  <a:pt x="5" y="0"/>
                  <a:pt x="10" y="0"/>
                </a:cubicBezTo>
                <a:lnTo>
                  <a:pt x="466" y="0"/>
                </a:lnTo>
                <a:close/>
              </a:path>
            </a:pathLst>
          </a:custGeom>
          <a:solidFill>
            <a:srgbClr val="1E4FA8"/>
          </a:solidFill>
          <a:ln/>
        </p:spPr>
        <p:txBody>
          <a:bodyPr/>
          <a:lstStyle/>
          <a:p>
            <a:endParaRPr/>
          </a:p>
        </p:txBody>
      </p:sp>
      <p:sp>
        <p:nvSpPr>
          <p:cNvPr id="417" name="文本框 416" descr="{&quot;isTemplate&quot;:true,&quot;type&quot;:&quot;text&quot;}"/>
          <p:cNvSpPr txBox="1"/>
          <p:nvPr/>
        </p:nvSpPr>
        <p:spPr>
          <a:xfrm>
            <a:off x="7467600" y="1276350"/>
            <a:ext cx="4152900" cy="219075"/>
          </a:xfrm>
          <a:prstGeom prst="rect">
            <a:avLst/>
          </a:prstGeom>
        </p:spPr>
        <p:txBody>
          <a:bodyPr wrap="none" lIns="0" tIns="0" rIns="0" bIns="0"/>
          <a:lstStyle/>
          <a:p>
            <a:pPr>
              <a:lnSpc>
                <a:spcPct val="100000"/>
              </a:lnSpc>
            </a:pPr>
            <a:r>
              <a:rPr lang="en-US" sz="1425" b="1">
                <a:solidFill>
                  <a:srgbClr val="0E3F8C"/>
                </a:solidFill>
                <a:latin typeface="Source Han Sans CN"/>
                <a:ea typeface="Source Han Sans CN"/>
              </a:rPr>
              <a:t>③ 完成反馈闸门（完成只认物理约束）</a:t>
            </a:r>
            <a:r>
              <a:rPr lang="zh-CN" sz="1425" b="1">
                <a:solidFill>
                  <a:srgbClr val="0E3F8C"/>
                </a:solidFill>
                <a:latin typeface="Source Han Sans CN"/>
                <a:ea typeface="Source Han Sans CN"/>
              </a:rPr>
              <a:t/>
            </a:r>
            <a:endParaRPr/>
          </a:p>
        </p:txBody>
      </p:sp>
      <p:sp>
        <p:nvSpPr>
          <p:cNvPr id="418" name="矩形: 圆角 417"/>
          <p:cNvSpPr/>
          <p:nvPr/>
        </p:nvSpPr>
        <p:spPr>
          <a:xfrm>
            <a:off x="7467600" y="1590675"/>
            <a:ext cx="4152900" cy="885825"/>
          </a:xfrm>
          <a:prstGeom prst="roundRect">
            <a:avLst>
              <a:gd name="adj" fmla="val 8602"/>
            </a:avLst>
          </a:prstGeom>
          <a:solidFill>
            <a:srgbClr val="FFFFFF"/>
          </a:solidFill>
          <a:ln/>
        </p:spPr>
        <p:txBody>
          <a:bodyPr/>
          <a:lstStyle/>
          <a:p>
            <a:endParaRPr/>
          </a:p>
        </p:txBody>
      </p:sp>
      <p:sp>
        <p:nvSpPr>
          <p:cNvPr id="419" name="文本框 418" descr="{&quot;isTemplate&quot;:true,&quot;type&quot;:&quot;text&quot;}"/>
          <p:cNvSpPr txBox="1"/>
          <p:nvPr/>
        </p:nvSpPr>
        <p:spPr>
          <a:xfrm>
            <a:off x="8667750" y="1704975"/>
            <a:ext cx="1762125" cy="228600"/>
          </a:xfrm>
          <a:prstGeom prst="rect">
            <a:avLst/>
          </a:prstGeom>
        </p:spPr>
        <p:txBody>
          <a:bodyPr wrap="none" lIns="0" tIns="0" rIns="0" bIns="0"/>
          <a:lstStyle/>
          <a:p>
            <a:pPr>
              <a:lnSpc>
                <a:spcPct val="100000"/>
              </a:lnSpc>
            </a:pPr>
            <a:r>
              <a:rPr sz="1500" b="1">
                <a:solidFill>
                  <a:srgbClr val="0E3F8C"/>
                </a:solidFill>
                <a:latin typeface="Source Han Sans CN"/>
                <a:ea typeface="Source Han Sans CN"/>
              </a:rPr>
              <a:t>迟到照常完成 · 物理不可行回池</a:t>
            </a:r>
            <a:r>
              <a:rPr lang="en-US" sz="975" b="1">
                <a:solidFill>
                  <a:srgbClr val="0E3F8C"/>
                </a:solidFill>
                <a:latin typeface="Source Han Sans CN"/>
                <a:ea typeface="Source Han Sans CN"/>
              </a:rPr>
              <a:t/>
            </a:r>
            <a:r>
              <a:rPr lang="en-US" sz="1500" b="1">
                <a:solidFill>
                  <a:srgbClr val="0E3F8C"/>
                </a:solidFill>
                <a:latin typeface="Source Han Sans CN"/>
                <a:ea typeface="Source Han Sans CN"/>
              </a:rPr>
              <a:t/>
            </a:r>
            <a:r>
              <a:rPr lang="en-US" sz="975" b="1">
                <a:solidFill>
                  <a:srgbClr val="0E3F8C"/>
                </a:solidFill>
                <a:latin typeface="Source Han Sans CN"/>
                <a:ea typeface="Source Han Sans CN"/>
              </a:rPr>
              <a:t/>
            </a:r>
            <a:r>
              <a:rPr lang="en-US" sz="1500" b="1">
                <a:solidFill>
                  <a:srgbClr val="0E3F8C"/>
                </a:solidFill>
                <a:latin typeface="Source Han Sans CN"/>
                <a:ea typeface="Source Han Sans CN"/>
              </a:rPr>
              <a:t/>
            </a:r>
            <a:r>
              <a:rPr lang="en-US" sz="975" b="1">
                <a:solidFill>
                  <a:srgbClr val="0E3F8C"/>
                </a:solidFill>
                <a:latin typeface="Source Han Sans CN"/>
                <a:ea typeface="Source Han Sans CN"/>
              </a:rPr>
              <a:t/>
            </a:r>
            <a:r>
              <a:rPr lang="en-US" sz="1500" b="1">
                <a:solidFill>
                  <a:srgbClr val="0E3F8C"/>
                </a:solidFill>
                <a:latin typeface="Source Han Sans CN"/>
                <a:ea typeface="Source Han Sans CN"/>
              </a:rPr>
              <a:t/>
            </a:r>
            <a:endParaRPr/>
          </a:p>
        </p:txBody>
      </p:sp>
      <p:sp>
        <p:nvSpPr>
          <p:cNvPr id="420" name="文本框 419" descr="{&quot;isTemplate&quot;:true,&quot;type&quot;:&quot;text&quot;}"/>
          <p:cNvSpPr txBox="1"/>
          <p:nvPr/>
        </p:nvSpPr>
        <p:spPr>
          <a:xfrm>
            <a:off x="7600950" y="1990725"/>
            <a:ext cx="3886200" cy="371475"/>
          </a:xfrm>
          <a:prstGeom prst="rect">
            <a:avLst/>
          </a:prstGeom>
        </p:spPr>
        <p:txBody>
          <a:bodyPr wrap="square" lIns="0" tIns="0" rIns="0" bIns="0">
            <a:normAutofit/>
          </a:bodyPr>
          <a:lstStyle/>
          <a:p>
            <a:pPr>
              <a:lnSpc>
                <a:spcPct val="100000"/>
              </a:lnSpc>
            </a:pPr>
            <a:r>
              <a:rPr lang="en-US" sz="1200">
                <a:solidFill>
                  <a:srgbClr val="1E4FA8"/>
                </a:solidFill>
                <a:latin typeface="Source Han Sans CN"/>
                <a:ea typeface="Source Han Sans CN"/>
              </a:rPr>
              <a:t>迟到交付按 L 折价计收益、不计废飞；物理不可行才回池重选，是唯一合法的未完成原因</a:t>
            </a:r>
            <a:r>
              <a:rPr lang="en-US" sz="825">
                <a:solidFill>
                  <a:srgbClr val="1E4FA8"/>
                </a:solidFill>
                <a:latin typeface="Source Han Sans CN"/>
                <a:ea typeface="Source Han Sans CN"/>
              </a:rPr>
              <a:t/>
            </a:r>
            <a:r>
              <a:rPr lang="en-US" sz="1200">
                <a:solidFill>
                  <a:srgbClr val="1E4FA8"/>
                </a:solidFill>
                <a:latin typeface="Source Han Sans CN"/>
                <a:ea typeface="Source Han Sans CN"/>
              </a:rPr>
              <a:t/>
            </a:r>
            <a:r>
              <a:rPr lang="en-US" sz="900">
                <a:solidFill>
                  <a:srgbClr val="1E4FA8"/>
                </a:solidFill>
                <a:latin typeface="Source Han Sans CN"/>
                <a:ea typeface="Source Han Sans CN"/>
              </a:rPr>
              <a:t/>
            </a:r>
            <a:r>
              <a:rPr lang="en-US" sz="750">
                <a:solidFill>
                  <a:srgbClr val="1E4FA8"/>
                </a:solidFill>
                <a:latin typeface="Source Han Sans CN"/>
                <a:ea typeface="Source Han Sans CN"/>
              </a:rPr>
              <a:t/>
            </a:r>
            <a:r>
              <a:rPr lang="en-US" sz="900">
                <a:solidFill>
                  <a:srgbClr val="1E4FA8"/>
                </a:solidFill>
                <a:latin typeface="Source Han Sans CN"/>
                <a:ea typeface="Source Han Sans CN"/>
              </a:rPr>
              <a:t/>
            </a:r>
            <a:r>
              <a:rPr lang="en-US" sz="750">
                <a:solidFill>
                  <a:srgbClr val="1E4FA8"/>
                </a:solidFill>
                <a:latin typeface="Source Han Sans CN"/>
                <a:ea typeface="Source Han Sans CN"/>
              </a:rPr>
              <a:t/>
            </a:r>
            <a:r>
              <a:rPr lang="en-US" sz="900">
                <a:solidFill>
                  <a:srgbClr val="1E4FA8"/>
                </a:solidFill>
                <a:latin typeface="Source Han Sans CN"/>
                <a:ea typeface="Source Han Sans CN"/>
              </a:rPr>
              <a:t/>
            </a:r>
            <a:r>
              <a:rPr lang="en-US" sz="750">
                <a:solidFill>
                  <a:srgbClr val="1E4FA8"/>
                </a:solidFill>
                <a:latin typeface="Source Han Sans CN"/>
                <a:ea typeface="Source Han Sans CN"/>
              </a:rPr>
              <a:t/>
            </a:r>
            <a:r>
              <a:rPr lang="en-US" sz="900">
                <a:solidFill>
                  <a:srgbClr val="1E4FA8"/>
                </a:solidFill>
                <a:latin typeface="Source Han Sans CN"/>
                <a:ea typeface="Source Han Sans CN"/>
              </a:rPr>
              <a:t/>
            </a:r>
            <a:r>
              <a:rPr lang="zh-CN" sz="1200">
                <a:solidFill>
                  <a:srgbClr val="1E4FA8"/>
                </a:solidFill>
                <a:latin typeface="Source Han Sans CN"/>
                <a:ea typeface="Source Han Sans CN"/>
              </a:rPr>
              <a:t/>
            </a:r>
            <a:r>
              <a:rPr lang="en-US" sz="1200">
                <a:solidFill>
                  <a:srgbClr val="1E4FA8"/>
                </a:solidFill>
                <a:latin typeface="Source Han Sans CN"/>
                <a:ea typeface="Source Han Sans CN"/>
              </a:rPr>
              <a:t/>
            </a:r>
            <a:r>
              <a:rPr lang="zh-CN" sz="1200">
                <a:solidFill>
                  <a:srgbClr val="1E4FA8"/>
                </a:solidFill>
                <a:latin typeface="Source Han Sans CN"/>
                <a:ea typeface="Source Han Sans CN"/>
              </a:rPr>
              <a:t/>
            </a:r>
            <a:endParaRPr/>
          </a:p>
        </p:txBody>
      </p:sp>
      <p:sp>
        <p:nvSpPr>
          <p:cNvPr id="421" name="文本框 420" descr="{&quot;isTemplate&quot;:true,&quot;type&quot;:&quot;text&quot;}"/>
          <p:cNvSpPr txBox="1"/>
          <p:nvPr/>
        </p:nvSpPr>
        <p:spPr>
          <a:xfrm>
            <a:off x="7467600" y="2552700"/>
            <a:ext cx="4152900" cy="819150"/>
          </a:xfrm>
          <a:prstGeom prst="rect">
            <a:avLst/>
          </a:prstGeom>
        </p:spPr>
        <p:txBody>
          <a:bodyPr wrap="square" lIns="0" tIns="0" rIns="0" bIns="0">
            <a:normAutofit/>
          </a:bodyPr>
          <a:lstStyle/>
          <a:p>
            <a:pPr>
              <a:lnSpc>
                <a:spcPct val="170000"/>
              </a:lnSpc>
            </a:pPr>
            <a:r>
              <a:rPr lang="zh-CN" sz="1050">
                <a:solidFill>
                  <a:srgbClr val="4A5568"/>
                </a:solidFill>
                <a:latin typeface="Source Han Sans CN"/>
                <a:ea typeface="Source Han Sans CN"/>
              </a:rPr>
              <a:t>执行反馈只按物理可行性裁决——「任务不被完成只有物理约束被违反」；迟到由适应度按 w_late 计价，与航程代价同台竞争。</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zh-CN" sz="1050" b="1">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endParaRPr/>
          </a:p>
        </p:txBody>
      </p:sp>
      <p:sp>
        <p:nvSpPr>
          <p:cNvPr id="422" name="矩形: 圆角 421"/>
          <p:cNvSpPr/>
          <p:nvPr/>
        </p:nvSpPr>
        <p:spPr>
          <a:xfrm>
            <a:off x="7277100" y="3638550"/>
            <a:ext cx="4533900" cy="1323975"/>
          </a:xfrm>
          <a:prstGeom prst="roundRect">
            <a:avLst>
              <a:gd name="adj" fmla="val 7194"/>
            </a:avLst>
          </a:prstGeom>
          <a:solidFill>
            <a:srgbClr val="F7F9FC"/>
          </a:solidFill>
          <a:ln w="12700">
            <a:solidFill>
              <a:srgbClr val="D6DCE5"/>
            </a:solidFill>
            <a:prstDash val="solid"/>
          </a:ln>
        </p:spPr>
        <p:txBody>
          <a:bodyPr/>
          <a:lstStyle/>
          <a:p>
            <a:endParaRPr/>
          </a:p>
        </p:txBody>
      </p:sp>
      <p:sp>
        <p:nvSpPr>
          <p:cNvPr id="423" name="文本框 422" descr="{&quot;isTemplate&quot;:true,&quot;type&quot;:&quot;text&quot;}"/>
          <p:cNvSpPr txBox="1"/>
          <p:nvPr/>
        </p:nvSpPr>
        <p:spPr>
          <a:xfrm>
            <a:off x="7467600" y="3762375"/>
            <a:ext cx="4152900" cy="200025"/>
          </a:xfrm>
          <a:prstGeom prst="rect">
            <a:avLst/>
          </a:prstGeom>
        </p:spPr>
        <p:txBody>
          <a:bodyPr wrap="none" lIns="0" tIns="0" rIns="0" bIns="0"/>
          <a:lstStyle/>
          <a:p>
            <a:pPr>
              <a:lnSpc>
                <a:spcPct val="100000"/>
              </a:lnSpc>
            </a:pPr>
            <a:r>
              <a:rPr lang="en-US" sz="1275" b="1">
                <a:solidFill>
                  <a:srgbClr val="0E3F8C"/>
                </a:solidFill>
                <a:latin typeface="Source Han Sans CN"/>
                <a:ea typeface="Source Han Sans CN"/>
              </a:rPr>
              <a:t>④ 滞留与防饥饿（不停饿兜底）</a:t>
            </a:r>
            <a:r>
              <a:rPr lang="zh-CN" sz="1275" b="1">
                <a:solidFill>
                  <a:srgbClr val="0E3F8C"/>
                </a:solidFill>
                <a:latin typeface="Source Han Sans CN"/>
                <a:ea typeface="Source Han Sans CN"/>
              </a:rPr>
              <a:t/>
            </a:r>
            <a:endParaRPr/>
          </a:p>
        </p:txBody>
      </p:sp>
      <p:sp>
        <p:nvSpPr>
          <p:cNvPr id="424" name="文本框 423" descr="{&quot;isTemplate&quot;:true,&quot;type&quot;:&quot;text&quot;}"/>
          <p:cNvSpPr txBox="1"/>
          <p:nvPr/>
        </p:nvSpPr>
        <p:spPr>
          <a:xfrm>
            <a:off x="7467600" y="4019550"/>
            <a:ext cx="4152900" cy="819150"/>
          </a:xfrm>
          <a:prstGeom prst="rect">
            <a:avLst/>
          </a:prstGeom>
        </p:spPr>
        <p:txBody>
          <a:bodyPr wrap="square" lIns="0" tIns="0" rIns="0" bIns="0">
            <a:normAutofit/>
          </a:bodyPr>
          <a:lstStyle/>
          <a:p>
            <a:pPr>
              <a:lnSpc>
                <a:spcPct val="170000"/>
              </a:lnSpc>
            </a:pPr>
            <a:r>
              <a:rPr lang="zh-CN" sz="1050">
                <a:solidFill>
                  <a:srgbClr val="4A5568"/>
                </a:solidFill>
                <a:latin typeface="Source Han Sans CN"/>
                <a:ea typeface="Source Han Sans CN"/>
              </a:rPr>
              <a:t>等待超阈值或逼近 latest 的任务强制纳入候选集并在终刀获强优先；边际接受判据带等待软加权 eff = ratio·(1+γ·age)——长程运行下没有任务被无限期挤出。</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endParaRPr/>
          </a:p>
        </p:txBody>
      </p:sp>
      <p:sp>
        <p:nvSpPr>
          <p:cNvPr id="425" name="矩形: 圆角 424"/>
          <p:cNvSpPr/>
          <p:nvPr/>
        </p:nvSpPr>
        <p:spPr>
          <a:xfrm>
            <a:off x="7277100" y="5095875"/>
            <a:ext cx="4533900" cy="1152525"/>
          </a:xfrm>
          <a:prstGeom prst="roundRect">
            <a:avLst>
              <a:gd name="adj" fmla="val 8264"/>
            </a:avLst>
          </a:prstGeom>
          <a:solidFill>
            <a:srgbClr val="0E3F8C"/>
          </a:solidFill>
          <a:ln/>
        </p:spPr>
        <p:txBody>
          <a:bodyPr/>
          <a:lstStyle/>
          <a:p>
            <a:endParaRPr/>
          </a:p>
        </p:txBody>
      </p:sp>
      <p:sp>
        <p:nvSpPr>
          <p:cNvPr id="426" name="文本框 425" descr="{&quot;isTemplate&quot;:true,&quot;type&quot;:&quot;text&quot;}"/>
          <p:cNvSpPr txBox="1"/>
          <p:nvPr/>
        </p:nvSpPr>
        <p:spPr>
          <a:xfrm>
            <a:off x="7467600" y="5229225"/>
            <a:ext cx="4152900" cy="885825"/>
          </a:xfrm>
          <a:prstGeom prst="rect">
            <a:avLst/>
          </a:prstGeom>
        </p:spPr>
        <p:txBody>
          <a:bodyPr wrap="square" lIns="0" tIns="0" rIns="0" bIns="0">
            <a:normAutofit/>
          </a:bodyPr>
          <a:lstStyle/>
          <a:p>
            <a:pPr>
              <a:lnSpc>
                <a:spcPct val="160000"/>
              </a:lnSpc>
            </a:pPr>
            <a:r>
              <a:rPr lang="zh-CN" sz="1200" b="1">
                <a:solidFill>
                  <a:srgbClr val="FFFFFF"/>
                </a:solidFill>
                <a:latin typeface="Source Han Sans CN"/>
                <a:ea typeface="Source Han Sans CN"/>
              </a:rPr>
              <a:t>判断：滚动闭环把「求解一次」变成「持续服务」——每周期规模由 cap(t) 卡住、状态由执行反馈驱动，任务去留全程可审计，长程运行不丢任务。</a:t>
            </a:r>
            <a:r>
              <a:rPr lang="en-US" sz="1200" b="1">
                <a:solidFill>
                  <a:srgbClr val="FFFFFF"/>
                </a:solidFill>
                <a:latin typeface="Source Han Sans CN"/>
                <a:ea typeface="Source Han Sans CN"/>
              </a:rPr>
              <a:t/>
            </a:r>
            <a:r>
              <a:rPr lang="zh-CN" sz="1200" b="1">
                <a:solidFill>
                  <a:srgbClr val="FFFFFF"/>
                </a:solidFill>
                <a:latin typeface="Source Han Sans CN"/>
                <a:ea typeface="Source Han Sans CN"/>
              </a:rPr>
              <a:t/>
            </a:r>
            <a:endParaRPr/>
          </a:p>
        </p:txBody>
      </p:sp>
      <p:sp>
        <p:nvSpPr>
          <p:cNvPr id="427" name="矩形 426"/>
          <p:cNvSpPr/>
          <p:nvPr/>
        </p:nvSpPr>
        <p:spPr>
          <a:xfrm>
            <a:off x="0" y="6448425"/>
            <a:ext cx="12192000" cy="409575"/>
          </a:xfrm>
          <a:prstGeom prst="rect">
            <a:avLst/>
          </a:prstGeom>
          <a:solidFill>
            <a:srgbClr val="F7F9FC"/>
          </a:solidFill>
          <a:ln/>
        </p:spPr>
        <p:txBody>
          <a:bodyPr/>
          <a:lstStyle/>
          <a:p>
            <a:endParaRPr/>
          </a:p>
        </p:txBody>
      </p:sp>
      <p:sp>
        <p:nvSpPr>
          <p:cNvPr id="428" name="任意多边形: 形状 427"/>
          <p:cNvSpPr/>
          <p:nvPr/>
        </p:nvSpPr>
        <p:spPr>
          <a:xfrm>
            <a:off x="0" y="6438900"/>
            <a:ext cx="12192000" cy="419100"/>
          </a:xfrm>
          <a:custGeom>
            <a:avLst/>
            <a:gdLst/>
            <a:ahLst/>
            <a:cxnLst/>
            <a:rect l="0" t="0" r="0" b="0"/>
            <a:pathLst>
              <a:path w="1280" h="44">
                <a:moveTo>
                  <a:pt x="0" y="0"/>
                </a:moveTo>
                <a:lnTo>
                  <a:pt x="1280" y="0"/>
                </a:lnTo>
                <a:lnTo>
                  <a:pt x="1280" y="1"/>
                </a:lnTo>
                <a:lnTo>
                  <a:pt x="0" y="1"/>
                </a:lnTo>
                <a:close/>
              </a:path>
            </a:pathLst>
          </a:custGeom>
          <a:solidFill>
            <a:srgbClr val="E5E7EB"/>
          </a:solidFill>
          <a:ln/>
        </p:spPr>
        <p:txBody>
          <a:bodyPr/>
          <a:lstStyle/>
          <a:p>
            <a:endParaRPr/>
          </a:p>
        </p:txBody>
      </p:sp>
      <p:sp>
        <p:nvSpPr>
          <p:cNvPr id="429" name="文本框 428" descr="{&quot;isTemplate&quot;:true,&quot;type&quot;:&quot;text&quot;}"/>
          <p:cNvSpPr txBox="1"/>
          <p:nvPr/>
        </p:nvSpPr>
        <p:spPr>
          <a:xfrm>
            <a:off x="381000" y="6581775"/>
            <a:ext cx="2828925" cy="152400"/>
          </a:xfrm>
          <a:prstGeom prst="rect">
            <a:avLst/>
          </a:prstGeom>
        </p:spPr>
        <p:txBody>
          <a:bodyPr wrap="none" lIns="0" tIns="0" rIns="0" bIns="0"/>
          <a:lstStyle/>
          <a:p>
            <a:pPr>
              <a:lnSpc>
                <a:spcPct val="100000"/>
              </a:lnSpc>
            </a:pPr>
            <a:r>
              <a:rPr lang="zh-CN" sz="975">
                <a:solidFill>
                  <a:srgbClr val="8B97A8"/>
                </a:solidFill>
                <a:latin typeface="Source Han Sans CN"/>
                <a:ea typeface="Source Han Sans CN"/>
              </a:rPr>
              <a:t>动态滚动的多机巢多无人机协同任务分配</a:t>
            </a:r>
            <a:r>
              <a:rPr lang="en-US" sz="975">
                <a:solidFill>
                  <a:srgbClr val="8B97A8"/>
                </a:solidFill>
                <a:latin typeface="Source Han Sans CN"/>
                <a:ea typeface="Source Han Sans CN"/>
              </a:rPr>
              <a:t> · </a:t>
            </a:r>
            <a:r>
              <a:rPr lang="zh-CN" sz="975">
                <a:solidFill>
                  <a:srgbClr val="8B97A8"/>
                </a:solidFill>
                <a:latin typeface="Source Han Sans CN"/>
                <a:ea typeface="Source Han Sans CN"/>
              </a:rPr>
              <a:t>进展汇报</a:t>
            </a:r>
            <a:endParaRPr/>
          </a:p>
        </p:txBody>
      </p:sp>
      <p:sp>
        <p:nvSpPr>
          <p:cNvPr id="430" name="文本框 429" descr="{&quot;isTemplate&quot;:true,&quot;type&quot;:&quot;text&quot;}"/>
          <p:cNvSpPr txBox="1"/>
          <p:nvPr/>
        </p:nvSpPr>
        <p:spPr>
          <a:xfrm>
            <a:off x="11296650" y="6572250"/>
            <a:ext cx="514350" cy="171450"/>
          </a:xfrm>
          <a:prstGeom prst="rect">
            <a:avLst/>
          </a:prstGeom>
        </p:spPr>
        <p:txBody>
          <a:bodyPr wrap="none" lIns="0" tIns="0" rIns="0" bIns="0"/>
          <a:lstStyle/>
          <a:p>
            <a:pPr>
              <a:lnSpc>
                <a:spcPct val="100000"/>
              </a:lnSpc>
            </a:pPr>
            <a:r>
              <a:rPr lang="en-US" sz="1125" b="1">
                <a:solidFill>
                  <a:srgbClr val="1E4FA8"/>
                </a:solidFill>
                <a:latin typeface="Source Han Sans CN"/>
                <a:ea typeface="Source Han Sans CN"/>
              </a:rPr>
              <a:t>12 / 18</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0" name="矩形 349"/>
          <p:cNvSpPr/>
          <p:nvPr/>
        </p:nvSpPr>
        <p:spPr>
          <a:xfrm>
            <a:off x="0" y="0"/>
            <a:ext cx="12192000" cy="6858000"/>
          </a:xfrm>
          <a:prstGeom prst="rect">
            <a:avLst/>
          </a:prstGeom>
          <a:solidFill>
            <a:srgbClr val="FFFFFF"/>
          </a:solidFill>
          <a:ln/>
        </p:spPr>
        <p:txBody>
          <a:bodyPr/>
          <a:lstStyle/>
          <a:p>
            <a:endParaRPr/>
          </a:p>
        </p:txBody>
      </p:sp>
      <p:sp>
        <p:nvSpPr>
          <p:cNvPr id="351" name="矩形 350"/>
          <p:cNvSpPr/>
          <p:nvPr/>
        </p:nvSpPr>
        <p:spPr>
          <a:xfrm>
            <a:off x="0" y="0"/>
            <a:ext cx="12192000" cy="114300"/>
          </a:xfrm>
          <a:prstGeom prst="rect">
            <a:avLst/>
          </a:prstGeom>
          <a:solidFill>
            <a:srgbClr val="1E4FA8"/>
          </a:solidFill>
          <a:ln/>
        </p:spPr>
        <p:txBody>
          <a:bodyPr/>
          <a:lstStyle/>
          <a:p>
            <a:endParaRPr/>
          </a:p>
        </p:txBody>
      </p:sp>
      <p:sp>
        <p:nvSpPr>
          <p:cNvPr id="352" name="文本框 351" descr="{&quot;isTemplate&quot;:true,&quot;type&quot;:&quot;text&quot;}"/>
          <p:cNvSpPr txBox="1"/>
          <p:nvPr/>
        </p:nvSpPr>
        <p:spPr>
          <a:xfrm>
            <a:off x="7734300" y="1238250"/>
            <a:ext cx="3886200" cy="3771900"/>
          </a:xfrm>
          <a:prstGeom prst="rect">
            <a:avLst/>
          </a:prstGeom>
        </p:spPr>
        <p:txBody>
          <a:bodyPr wrap="none" lIns="0" tIns="0" rIns="0" bIns="0"/>
          <a:lstStyle/>
          <a:p>
            <a:pPr>
              <a:lnSpc>
                <a:spcPct val="100000"/>
              </a:lnSpc>
            </a:pPr>
            <a:r>
              <a:rPr lang="en-US" sz="24750" b="1">
                <a:solidFill>
                  <a:srgbClr val="E8EFF8"/>
                </a:solidFill>
                <a:latin typeface="Source Han Sans CN"/>
                <a:ea typeface="Source Han Sans CN"/>
              </a:rPr>
              <a:t>02</a:t>
            </a:r>
            <a:endParaRPr/>
          </a:p>
        </p:txBody>
      </p:sp>
      <p:sp>
        <p:nvSpPr>
          <p:cNvPr id="353" name="矩形 352"/>
          <p:cNvSpPr/>
          <p:nvPr/>
        </p:nvSpPr>
        <p:spPr>
          <a:xfrm>
            <a:off x="762000" y="1990725"/>
            <a:ext cx="381000" cy="38100"/>
          </a:xfrm>
          <a:prstGeom prst="rect">
            <a:avLst/>
          </a:prstGeom>
          <a:solidFill>
            <a:srgbClr val="FFC107"/>
          </a:solidFill>
          <a:ln/>
        </p:spPr>
        <p:txBody>
          <a:bodyPr/>
          <a:lstStyle/>
          <a:p>
            <a:endParaRPr/>
          </a:p>
        </p:txBody>
      </p:sp>
      <p:sp>
        <p:nvSpPr>
          <p:cNvPr id="354" name="文本框 353" descr="{&quot;isTemplate&quot;:true,&quot;type&quot;:&quot;text&quot;}"/>
          <p:cNvSpPr txBox="1"/>
          <p:nvPr/>
        </p:nvSpPr>
        <p:spPr>
          <a:xfrm>
            <a:off x="1276350" y="1905000"/>
            <a:ext cx="1457325" cy="200025"/>
          </a:xfrm>
          <a:prstGeom prst="rect">
            <a:avLst/>
          </a:prstGeom>
        </p:spPr>
        <p:txBody>
          <a:bodyPr wrap="none" lIns="0" tIns="0" rIns="0" bIns="0"/>
          <a:lstStyle/>
          <a:p>
            <a:pPr>
              <a:lnSpc>
                <a:spcPct val="100000"/>
              </a:lnSpc>
            </a:pPr>
            <a:r>
              <a:rPr lang="en-US" sz="1275" spc="375">
                <a:solidFill>
                  <a:srgbClr val="3D7BD9"/>
                </a:solidFill>
                <a:latin typeface="Source Han Sans CN"/>
                <a:ea typeface="Source Han Sans CN"/>
              </a:rPr>
              <a:t>CHAPTER 02</a:t>
            </a:r>
            <a:endParaRPr/>
          </a:p>
        </p:txBody>
      </p:sp>
      <p:sp>
        <p:nvSpPr>
          <p:cNvPr id="355" name="文本框 354" descr="{&quot;isTemplate&quot;:true,&quot;type&quot;:&quot;text&quot;}"/>
          <p:cNvSpPr txBox="1"/>
          <p:nvPr/>
        </p:nvSpPr>
        <p:spPr>
          <a:xfrm>
            <a:off x="762000" y="2276475"/>
            <a:ext cx="7239000" cy="504825"/>
          </a:xfrm>
          <a:prstGeom prst="rect">
            <a:avLst/>
          </a:prstGeom>
        </p:spPr>
        <p:txBody>
          <a:bodyPr wrap="none" lIns="0" tIns="0" rIns="0" bIns="0"/>
          <a:lstStyle/>
          <a:p>
            <a:pPr>
              <a:lnSpc>
                <a:spcPct val="100000"/>
              </a:lnSpc>
            </a:pPr>
            <a:r>
              <a:rPr lang="zh-CN" sz="3300" b="1">
                <a:solidFill>
                  <a:srgbClr val="0E3F8C"/>
                </a:solidFill>
                <a:latin typeface="Source Han Sans CN"/>
                <a:ea typeface="Source Han Sans CN"/>
              </a:rPr>
              <a:t>第一阶段：动态任务选择</a:t>
            </a:r>
            <a:endParaRPr/>
          </a:p>
        </p:txBody>
      </p:sp>
      <p:sp>
        <p:nvSpPr>
          <p:cNvPr id="356" name="矩形: 圆角 355"/>
          <p:cNvSpPr/>
          <p:nvPr/>
        </p:nvSpPr>
        <p:spPr>
          <a:xfrm>
            <a:off x="762000" y="3209925"/>
            <a:ext cx="76200" cy="76200"/>
          </a:xfrm>
          <a:prstGeom prst="roundRect">
            <a:avLst>
              <a:gd name="adj" fmla="val 50000"/>
            </a:avLst>
          </a:prstGeom>
          <a:solidFill>
            <a:srgbClr val="1E4FA8"/>
          </a:solidFill>
          <a:ln/>
        </p:spPr>
        <p:txBody>
          <a:bodyPr/>
          <a:lstStyle/>
          <a:p>
            <a:endParaRPr/>
          </a:p>
        </p:txBody>
      </p:sp>
      <p:sp>
        <p:nvSpPr>
          <p:cNvPr id="357" name="文本框 356" descr="{&quot;isTemplate&quot;:true,&quot;type&quot;:&quot;text&quot;}"/>
          <p:cNvSpPr txBox="1"/>
          <p:nvPr/>
        </p:nvSpPr>
        <p:spPr>
          <a:xfrm>
            <a:off x="952500" y="3105150"/>
            <a:ext cx="7048500" cy="742950"/>
          </a:xfrm>
          <a:prstGeom prst="rect">
            <a:avLst/>
          </a:prstGeom>
        </p:spPr>
        <p:txBody>
          <a:bodyPr wrap="square" lIns="0" tIns="0" rIns="0" bIns="0">
            <a:normAutofit/>
          </a:bodyPr>
          <a:lstStyle/>
          <a:p>
            <a:pPr>
              <a:lnSpc>
                <a:spcPct val="170000"/>
              </a:lnSpc>
            </a:pPr>
            <a:r>
              <a:rPr lang="zh-CN" sz="1425" b="1">
                <a:solidFill>
                  <a:srgbClr val="1A2230"/>
                </a:solidFill>
                <a:latin typeface="Source Han Sans CN"/>
                <a:ea typeface="Source Han Sans CN"/>
              </a:rPr>
              <a:t>不构造成全局组合优化问题</a:t>
            </a:r>
            <a:r>
              <a:rPr lang="zh-CN" sz="1425">
                <a:solidFill>
                  <a:srgbClr val="1A2230"/>
                </a:solidFill>
                <a:latin typeface="Source Han Sans CN"/>
                <a:ea typeface="Source Han Sans CN"/>
              </a:rPr>
              <a:t>——采用轻量化的「预筛选</a:t>
            </a:r>
            <a:r>
              <a:rPr lang="en-US" sz="1425">
                <a:solidFill>
                  <a:srgbClr val="1A2230"/>
                </a:solidFill>
                <a:latin typeface="Source Han Sans CN"/>
                <a:ea typeface="Source Han Sans CN"/>
              </a:rPr>
              <a:t> + </a:t>
            </a:r>
            <a:r>
              <a:rPr lang="zh-CN" sz="1425">
                <a:solidFill>
                  <a:srgbClr val="1A2230"/>
                </a:solidFill>
                <a:latin typeface="Source Han Sans CN"/>
                <a:ea typeface="Source Han Sans CN"/>
              </a:rPr>
              <a:t>增量选择</a:t>
            </a:r>
            <a:r>
              <a:rPr lang="en-US" sz="1425">
                <a:solidFill>
                  <a:srgbClr val="1A2230"/>
                </a:solidFill>
                <a:latin typeface="Source Han Sans CN"/>
                <a:ea typeface="Source Han Sans CN"/>
              </a:rPr>
              <a:t> + </a:t>
            </a:r>
            <a:r>
              <a:rPr lang="zh-CN" sz="1425">
                <a:solidFill>
                  <a:srgbClr val="1A2230"/>
                </a:solidFill>
                <a:latin typeface="Source Han Sans CN"/>
                <a:ea typeface="Source Han Sans CN"/>
              </a:rPr>
              <a:t>可行性检查」三步机制</a:t>
            </a:r>
            <a:endParaRPr/>
          </a:p>
        </p:txBody>
      </p:sp>
      <p:sp>
        <p:nvSpPr>
          <p:cNvPr id="358" name="矩形: 圆角 357"/>
          <p:cNvSpPr/>
          <p:nvPr/>
        </p:nvSpPr>
        <p:spPr>
          <a:xfrm>
            <a:off x="762000" y="4124325"/>
            <a:ext cx="76200" cy="76200"/>
          </a:xfrm>
          <a:prstGeom prst="roundRect">
            <a:avLst>
              <a:gd name="adj" fmla="val 50000"/>
            </a:avLst>
          </a:prstGeom>
          <a:solidFill>
            <a:srgbClr val="1E4FA8"/>
          </a:solidFill>
          <a:ln/>
        </p:spPr>
        <p:txBody>
          <a:bodyPr/>
          <a:lstStyle/>
          <a:p>
            <a:endParaRPr/>
          </a:p>
        </p:txBody>
      </p:sp>
      <p:sp>
        <p:nvSpPr>
          <p:cNvPr id="359" name="文本框 358" descr="{&quot;isTemplate&quot;:true,&quot;type&quot;:&quot;text&quot;}"/>
          <p:cNvSpPr txBox="1"/>
          <p:nvPr/>
        </p:nvSpPr>
        <p:spPr>
          <a:xfrm>
            <a:off x="952500" y="4019550"/>
            <a:ext cx="7048500" cy="742950"/>
          </a:xfrm>
          <a:prstGeom prst="rect">
            <a:avLst/>
          </a:prstGeom>
        </p:spPr>
        <p:txBody>
          <a:bodyPr wrap="square" lIns="0" tIns="0" rIns="0" bIns="0">
            <a:normAutofit/>
          </a:bodyPr>
          <a:lstStyle/>
          <a:p>
            <a:pPr>
              <a:lnSpc>
                <a:spcPct val="170000"/>
              </a:lnSpc>
            </a:pPr>
            <a:r>
              <a:rPr lang="zh-CN" sz="1425">
                <a:solidFill>
                  <a:srgbClr val="1A2230"/>
                </a:solidFill>
                <a:latin typeface="Source Han Sans CN"/>
                <a:ea typeface="Source Han Sans CN"/>
              </a:rPr>
              <a:t>候选池与能力</a:t>
            </a:r>
            <a:r>
              <a:rPr lang="zh-CN" sz="1425" b="1">
                <a:solidFill>
                  <a:srgbClr val="1A2230"/>
                </a:solidFill>
                <a:latin typeface="Source Han Sans CN"/>
                <a:ea typeface="Source Han Sans CN"/>
              </a:rPr>
              <a:t>解耦</a:t>
            </a:r>
            <a:r>
              <a:rPr lang="zh-CN" sz="1425">
                <a:solidFill>
                  <a:srgbClr val="1A2230"/>
                </a:solidFill>
                <a:latin typeface="Source Han Sans CN"/>
                <a:ea typeface="Source Han Sans CN"/>
              </a:rPr>
              <a:t>（</a:t>
            </a:r>
            <a:r>
              <a:rPr lang="en-US" sz="1425">
                <a:solidFill>
                  <a:srgbClr val="1A2230"/>
                </a:solidFill>
                <a:latin typeface="Source Han Sans CN"/>
                <a:ea typeface="Source Han Sans CN"/>
              </a:rPr>
              <a:t>n_cand=⌈αK⌉</a:t>
            </a:r>
            <a:r>
              <a:rPr lang="zh-CN" sz="1425">
                <a:solidFill>
                  <a:srgbClr val="1A2230"/>
                </a:solidFill>
                <a:latin typeface="Source Han Sans CN"/>
                <a:ea typeface="Source Han Sans CN"/>
              </a:rPr>
              <a:t>，富）；选择数由</a:t>
            </a:r>
            <a:r>
              <a:rPr lang="en-US" sz="1425">
                <a:solidFill>
                  <a:srgbClr val="1A2230"/>
                </a:solidFill>
                <a:latin typeface="Source Han Sans CN"/>
                <a:ea typeface="Source Han Sans CN"/>
              </a:rPr>
              <a:t> </a:t>
            </a:r>
            <a:r>
              <a:rPr lang="en-US" sz="1425" b="1">
                <a:solidFill>
                  <a:srgbClr val="1A2230"/>
                </a:solidFill>
                <a:latin typeface="Source Han Sans CN"/>
                <a:ea typeface="Source Han Sans CN"/>
              </a:rPr>
              <a:t>cap(t)</a:t>
            </a:r>
            <a:r>
              <a:rPr lang="en-US" sz="1425">
                <a:solidFill>
                  <a:srgbClr val="1A2230"/>
                </a:solidFill>
                <a:latin typeface="Source Han Sans CN"/>
                <a:ea typeface="Source Han Sans CN"/>
              </a:rPr>
              <a:t> </a:t>
            </a:r>
            <a:r>
              <a:rPr lang="zh-CN" sz="1425">
                <a:solidFill>
                  <a:srgbClr val="1A2230"/>
                </a:solidFill>
                <a:latin typeface="Source Han Sans CN"/>
                <a:ea typeface="Source Han Sans CN"/>
              </a:rPr>
              <a:t>卡紧（</a:t>
            </a:r>
            <a:r>
              <a:rPr lang="en-US" sz="1425">
                <a:solidFill>
                  <a:srgbClr val="1A2230"/>
                </a:solidFill>
                <a:latin typeface="Source Han Sans CN"/>
                <a:ea typeface="Source Han Sans CN"/>
              </a:rPr>
              <a:t>n_sel</a:t>
            </a:r>
            <a:r>
              <a:rPr lang="zh-CN" sz="1425">
                <a:solidFill>
                  <a:srgbClr val="1A2230"/>
                </a:solidFill>
                <a:latin typeface="Source Han Sans CN"/>
                <a:ea typeface="Source Han Sans CN"/>
              </a:rPr>
              <a:t>），与后续执行代价保持联系</a:t>
            </a:r>
            <a:endParaRPr/>
          </a:p>
        </p:txBody>
      </p:sp>
      <p:sp>
        <p:nvSpPr>
          <p:cNvPr id="360" name="文本框 359" descr="{&quot;isTemplate&quot;:true,&quot;type&quot;:&quot;text&quot;}"/>
          <p:cNvSpPr txBox="1"/>
          <p:nvPr/>
        </p:nvSpPr>
        <p:spPr>
          <a:xfrm>
            <a:off x="762000" y="5048250"/>
            <a:ext cx="7239000" cy="666750"/>
          </a:xfrm>
          <a:prstGeom prst="rect">
            <a:avLst/>
          </a:prstGeom>
        </p:spPr>
        <p:txBody>
          <a:bodyPr wrap="square" lIns="0" tIns="0" rIns="0" bIns="0">
            <a:normAutofit/>
          </a:bodyPr>
          <a:lstStyle/>
          <a:p>
            <a:pPr>
              <a:lnSpc>
                <a:spcPct val="180000"/>
              </a:lnSpc>
            </a:pPr>
            <a:r>
              <a:rPr lang="zh-CN" sz="1200">
                <a:solidFill>
                  <a:srgbClr val="4A5568"/>
                </a:solidFill>
                <a:latin typeface="Source Han Sans CN"/>
                <a:ea typeface="Source Han Sans CN"/>
              </a:rPr>
              <a:t>该阶段的目的不是直接确定最终执行任务，而是将原始动态任务池缩减为规模可控的候选集合，使后续边际选择与</a:t>
            </a:r>
            <a:r>
              <a:rPr lang="en-US" sz="1200">
                <a:solidFill>
                  <a:srgbClr val="4A5568"/>
                </a:solidFill>
                <a:latin typeface="Source Han Sans CN"/>
                <a:ea typeface="Source Han Sans CN"/>
              </a:rPr>
              <a:t> MUAS </a:t>
            </a:r>
            <a:r>
              <a:rPr lang="zh-CN" sz="1200">
                <a:solidFill>
                  <a:srgbClr val="4A5568"/>
                </a:solidFill>
                <a:latin typeface="Source Han Sans CN"/>
                <a:ea typeface="Source Han Sans CN"/>
              </a:rPr>
              <a:t>精细优化无需面对全部任务；落选任务留池、下周期再评。</a:t>
            </a:r>
            <a:endParaRPr/>
          </a:p>
        </p:txBody>
      </p:sp>
      <p:sp>
        <p:nvSpPr>
          <p:cNvPr id="361" name="矩形: 圆角 360"/>
          <p:cNvSpPr/>
          <p:nvPr/>
        </p:nvSpPr>
        <p:spPr>
          <a:xfrm>
            <a:off x="762000" y="5943600"/>
            <a:ext cx="2558609" cy="295275"/>
          </a:xfrm>
          <a:prstGeom prst="roundRect">
            <a:avLst>
              <a:gd name="adj" fmla="val 19355"/>
            </a:avLst>
          </a:prstGeom>
          <a:solidFill>
            <a:srgbClr val="1E4FA8"/>
          </a:solidFill>
          <a:ln/>
        </p:spPr>
        <p:txBody>
          <a:bodyPr/>
          <a:lstStyle/>
          <a:p>
            <a:endParaRPr/>
          </a:p>
        </p:txBody>
      </p:sp>
      <p:sp>
        <p:nvSpPr>
          <p:cNvPr id="362" name="文本框 361" descr="{&quot;isTemplate&quot;:true,&quot;type&quot;:&quot;text&quot;}"/>
          <p:cNvSpPr txBox="1"/>
          <p:nvPr/>
        </p:nvSpPr>
        <p:spPr>
          <a:xfrm>
            <a:off x="914400" y="6010275"/>
            <a:ext cx="2310959" cy="161925"/>
          </a:xfrm>
          <a:prstGeom prst="rect">
            <a:avLst/>
          </a:prstGeom>
        </p:spPr>
        <p:txBody>
          <a:bodyPr wrap="none" lIns="0" tIns="0" rIns="0" bIns="0"/>
          <a:lstStyle/>
          <a:p>
            <a:pPr>
              <a:lnSpc>
                <a:spcPct val="100000"/>
              </a:lnSpc>
            </a:pPr>
            <a:r>
              <a:rPr lang="en-US" sz="1050" b="1">
                <a:solidFill>
                  <a:srgbClr val="FFFFFF"/>
                </a:solidFill>
                <a:latin typeface="Source Han Sans CN"/>
                <a:ea typeface="Source Han Sans CN"/>
              </a:rPr>
              <a:t>P14 · 优先级预筛选与边际收益选择</a:t>
            </a:r>
            <a:r>
              <a:rPr lang="zh-CN" sz="1050" b="1">
                <a:solidFill>
                  <a:srgbClr val="FFFFFF"/>
                </a:solidFill>
                <a:latin typeface="Source Han Sans CN"/>
                <a:ea typeface="Source Han Sans CN"/>
              </a:rPr>
              <a:t/>
            </a:r>
            <a:endParaRPr/>
          </a:p>
        </p:txBody>
      </p:sp>
      <p:sp>
        <p:nvSpPr>
          <p:cNvPr id="363" name="矩形: 圆角 362"/>
          <p:cNvSpPr/>
          <p:nvPr/>
        </p:nvSpPr>
        <p:spPr>
          <a:xfrm>
            <a:off x="10086975" y="4572000"/>
            <a:ext cx="1343025" cy="323850"/>
          </a:xfrm>
          <a:prstGeom prst="roundRect">
            <a:avLst>
              <a:gd name="adj" fmla="val 52941"/>
            </a:avLst>
          </a:prstGeom>
          <a:solidFill>
            <a:srgbClr val="F0F5FC"/>
          </a:solidFill>
          <a:ln w="12700">
            <a:solidFill>
              <a:srgbClr val="D6DCE5"/>
            </a:solidFill>
            <a:prstDash val="solid"/>
          </a:ln>
        </p:spPr>
        <p:txBody>
          <a:bodyPr/>
          <a:lstStyle/>
          <a:p>
            <a:endParaRPr/>
          </a:p>
        </p:txBody>
      </p:sp>
      <p:sp>
        <p:nvSpPr>
          <p:cNvPr id="364" name="文本框 363" descr="{&quot;isTemplate&quot;:true,&quot;type&quot;:&quot;text&quot;}"/>
          <p:cNvSpPr txBox="1"/>
          <p:nvPr/>
        </p:nvSpPr>
        <p:spPr>
          <a:xfrm>
            <a:off x="10258425" y="4648200"/>
            <a:ext cx="1000125" cy="171450"/>
          </a:xfrm>
          <a:prstGeom prst="rect">
            <a:avLst/>
          </a:prstGeom>
        </p:spPr>
        <p:txBody>
          <a:bodyPr wrap="none" lIns="0" tIns="0" rIns="0" bIns="0"/>
          <a:lstStyle/>
          <a:p>
            <a:pPr>
              <a:lnSpc>
                <a:spcPct val="100000"/>
              </a:lnSpc>
            </a:pPr>
            <a:r>
              <a:rPr lang="zh-CN" sz="1125" b="1">
                <a:solidFill>
                  <a:srgbClr val="1E4FA8"/>
                </a:solidFill>
                <a:latin typeface="Source Han Sans CN"/>
                <a:ea typeface="Source Han Sans CN"/>
              </a:rPr>
              <a:t>基础优先级排序</a:t>
            </a:r>
            <a:endParaRPr/>
          </a:p>
        </p:txBody>
      </p:sp>
      <p:sp>
        <p:nvSpPr>
          <p:cNvPr id="365" name="矩形: 圆角 364"/>
          <p:cNvSpPr/>
          <p:nvPr/>
        </p:nvSpPr>
        <p:spPr>
          <a:xfrm>
            <a:off x="10001250" y="5010150"/>
            <a:ext cx="1428750" cy="323850"/>
          </a:xfrm>
          <a:prstGeom prst="roundRect">
            <a:avLst>
              <a:gd name="adj" fmla="val 52941"/>
            </a:avLst>
          </a:prstGeom>
          <a:solidFill>
            <a:srgbClr val="F0F5FC"/>
          </a:solidFill>
          <a:ln w="12700">
            <a:solidFill>
              <a:srgbClr val="D6DCE5"/>
            </a:solidFill>
            <a:prstDash val="solid"/>
          </a:ln>
        </p:spPr>
        <p:txBody>
          <a:bodyPr/>
          <a:lstStyle/>
          <a:p>
            <a:endParaRPr/>
          </a:p>
        </p:txBody>
      </p:sp>
      <p:sp>
        <p:nvSpPr>
          <p:cNvPr id="366" name="文本框 365" descr="{&quot;isTemplate&quot;:true,&quot;type&quot;:&quot;text&quot;}"/>
          <p:cNvSpPr txBox="1"/>
          <p:nvPr/>
        </p:nvSpPr>
        <p:spPr>
          <a:xfrm>
            <a:off x="10172700" y="5086350"/>
            <a:ext cx="1085850" cy="171450"/>
          </a:xfrm>
          <a:prstGeom prst="rect">
            <a:avLst/>
          </a:prstGeom>
        </p:spPr>
        <p:txBody>
          <a:bodyPr wrap="none" lIns="0" tIns="0" rIns="0" bIns="0"/>
          <a:lstStyle/>
          <a:p>
            <a:pPr>
              <a:lnSpc>
                <a:spcPct val="100000"/>
              </a:lnSpc>
            </a:pPr>
            <a:r>
              <a:rPr lang="zh-CN" sz="1125" b="1">
                <a:solidFill>
                  <a:srgbClr val="1E4FA8"/>
                </a:solidFill>
                <a:latin typeface="Source Han Sans CN"/>
                <a:ea typeface="Source Han Sans CN"/>
              </a:rPr>
              <a:t>能力定规模</a:t>
            </a:r>
            <a:r>
              <a:rPr lang="en-US" sz="1125" b="1">
                <a:solidFill>
                  <a:srgbClr val="1E4FA8"/>
                </a:solidFill>
                <a:latin typeface="Source Han Sans CN"/>
                <a:ea typeface="Source Han Sans CN"/>
              </a:rPr>
              <a:t>(cap)</a:t>
            </a:r>
            <a:endParaRPr/>
          </a:p>
        </p:txBody>
      </p:sp>
      <p:sp>
        <p:nvSpPr>
          <p:cNvPr id="367" name="矩形: 圆角 366"/>
          <p:cNvSpPr/>
          <p:nvPr/>
        </p:nvSpPr>
        <p:spPr>
          <a:xfrm>
            <a:off x="10229850" y="5448300"/>
            <a:ext cx="1200150" cy="323850"/>
          </a:xfrm>
          <a:prstGeom prst="roundRect">
            <a:avLst>
              <a:gd name="adj" fmla="val 52941"/>
            </a:avLst>
          </a:prstGeom>
          <a:solidFill>
            <a:srgbClr val="F0F5FC"/>
          </a:solidFill>
          <a:ln w="12700">
            <a:solidFill>
              <a:srgbClr val="D6DCE5"/>
            </a:solidFill>
            <a:prstDash val="solid"/>
          </a:ln>
        </p:spPr>
        <p:txBody>
          <a:bodyPr/>
          <a:lstStyle/>
          <a:p>
            <a:endParaRPr/>
          </a:p>
        </p:txBody>
      </p:sp>
      <p:sp>
        <p:nvSpPr>
          <p:cNvPr id="368" name="文本框 367" descr="{&quot;isTemplate&quot;:true,&quot;type&quot;:&quot;text&quot;}"/>
          <p:cNvSpPr txBox="1"/>
          <p:nvPr/>
        </p:nvSpPr>
        <p:spPr>
          <a:xfrm>
            <a:off x="10401300" y="5524500"/>
            <a:ext cx="857250" cy="171450"/>
          </a:xfrm>
          <a:prstGeom prst="rect">
            <a:avLst/>
          </a:prstGeom>
        </p:spPr>
        <p:txBody>
          <a:bodyPr wrap="none" lIns="0" tIns="0" rIns="0" bIns="0"/>
          <a:lstStyle/>
          <a:p>
            <a:pPr>
              <a:lnSpc>
                <a:spcPct val="100000"/>
              </a:lnSpc>
            </a:pPr>
            <a:r>
              <a:rPr lang="zh-CN" sz="1125" b="1">
                <a:solidFill>
                  <a:srgbClr val="1E4FA8"/>
                </a:solidFill>
                <a:latin typeface="Source Han Sans CN"/>
                <a:ea typeface="Source Han Sans CN"/>
              </a:rPr>
              <a:t>边际增量选择</a:t>
            </a:r>
            <a:endParaRPr/>
          </a:p>
        </p:txBody>
      </p:sp>
      <p:sp>
        <p:nvSpPr>
          <p:cNvPr id="369" name="矩形: 圆角 368"/>
          <p:cNvSpPr/>
          <p:nvPr/>
        </p:nvSpPr>
        <p:spPr>
          <a:xfrm>
            <a:off x="7258050" y="5857875"/>
            <a:ext cx="476250" cy="276225"/>
          </a:xfrm>
          <a:prstGeom prst="roundRect">
            <a:avLst>
              <a:gd name="adj" fmla="val 48276"/>
            </a:avLst>
          </a:prstGeom>
          <a:solidFill>
            <a:srgbClr val="F0F5FC"/>
          </a:solidFill>
          <a:ln/>
        </p:spPr>
        <p:txBody>
          <a:bodyPr/>
          <a:lstStyle/>
          <a:p>
            <a:endParaRPr/>
          </a:p>
        </p:txBody>
      </p:sp>
      <p:sp>
        <p:nvSpPr>
          <p:cNvPr id="370" name="文本框 369" descr="{&quot;isTemplate&quot;:true,&quot;type&quot;:&quot;text&quot;}"/>
          <p:cNvSpPr txBox="1"/>
          <p:nvPr/>
        </p:nvSpPr>
        <p:spPr>
          <a:xfrm>
            <a:off x="7410450" y="5915025"/>
            <a:ext cx="171450" cy="161925"/>
          </a:xfrm>
          <a:prstGeom prst="rect">
            <a:avLst/>
          </a:prstGeom>
        </p:spPr>
        <p:txBody>
          <a:bodyPr wrap="none" lIns="0" tIns="0" rIns="0" bIns="0"/>
          <a:lstStyle/>
          <a:p>
            <a:pPr>
              <a:lnSpc>
                <a:spcPct val="100000"/>
              </a:lnSpc>
            </a:pPr>
            <a:r>
              <a:rPr lang="en-US" sz="1050" b="1">
                <a:solidFill>
                  <a:srgbClr val="8B97A8"/>
                </a:solidFill>
                <a:latin typeface="Source Han Sans CN"/>
                <a:ea typeface="Source Han Sans CN"/>
              </a:rPr>
              <a:t>01</a:t>
            </a:r>
            <a:endParaRPr/>
          </a:p>
        </p:txBody>
      </p:sp>
      <p:sp>
        <p:nvSpPr>
          <p:cNvPr id="371" name="矩形: 圆角 370"/>
          <p:cNvSpPr/>
          <p:nvPr/>
        </p:nvSpPr>
        <p:spPr>
          <a:xfrm>
            <a:off x="7848600" y="5857875"/>
            <a:ext cx="476250" cy="276225"/>
          </a:xfrm>
          <a:prstGeom prst="roundRect">
            <a:avLst>
              <a:gd name="adj" fmla="val 48276"/>
            </a:avLst>
          </a:prstGeom>
          <a:solidFill>
            <a:srgbClr val="1E4FA8"/>
          </a:solidFill>
          <a:ln/>
        </p:spPr>
        <p:txBody>
          <a:bodyPr/>
          <a:lstStyle/>
          <a:p>
            <a:endParaRPr/>
          </a:p>
        </p:txBody>
      </p:sp>
      <p:sp>
        <p:nvSpPr>
          <p:cNvPr id="372" name="文本框 371" descr="{&quot;isTemplate&quot;:true,&quot;type&quot;:&quot;text&quot;}"/>
          <p:cNvSpPr txBox="1"/>
          <p:nvPr/>
        </p:nvSpPr>
        <p:spPr>
          <a:xfrm>
            <a:off x="8001000" y="5915025"/>
            <a:ext cx="171450" cy="161925"/>
          </a:xfrm>
          <a:prstGeom prst="rect">
            <a:avLst/>
          </a:prstGeom>
        </p:spPr>
        <p:txBody>
          <a:bodyPr wrap="none" lIns="0" tIns="0" rIns="0" bIns="0"/>
          <a:lstStyle/>
          <a:p>
            <a:pPr>
              <a:lnSpc>
                <a:spcPct val="100000"/>
              </a:lnSpc>
            </a:pPr>
            <a:r>
              <a:rPr lang="en-US" sz="1050" b="1">
                <a:solidFill>
                  <a:srgbClr val="FFFFFF"/>
                </a:solidFill>
                <a:latin typeface="Source Han Sans CN"/>
                <a:ea typeface="Source Han Sans CN"/>
              </a:rPr>
              <a:t>02</a:t>
            </a:r>
            <a:endParaRPr/>
          </a:p>
        </p:txBody>
      </p:sp>
      <p:sp>
        <p:nvSpPr>
          <p:cNvPr id="373" name="矩形: 圆角 372"/>
          <p:cNvSpPr/>
          <p:nvPr/>
        </p:nvSpPr>
        <p:spPr>
          <a:xfrm>
            <a:off x="8439150" y="5857875"/>
            <a:ext cx="476250" cy="276225"/>
          </a:xfrm>
          <a:prstGeom prst="roundRect">
            <a:avLst>
              <a:gd name="adj" fmla="val 48276"/>
            </a:avLst>
          </a:prstGeom>
          <a:solidFill>
            <a:srgbClr val="F0F5FC"/>
          </a:solidFill>
          <a:ln/>
        </p:spPr>
        <p:txBody>
          <a:bodyPr/>
          <a:lstStyle/>
          <a:p>
            <a:endParaRPr/>
          </a:p>
        </p:txBody>
      </p:sp>
      <p:sp>
        <p:nvSpPr>
          <p:cNvPr id="374" name="文本框 373" descr="{&quot;isTemplate&quot;:true,&quot;type&quot;:&quot;text&quot;}"/>
          <p:cNvSpPr txBox="1"/>
          <p:nvPr/>
        </p:nvSpPr>
        <p:spPr>
          <a:xfrm>
            <a:off x="8591550" y="5915025"/>
            <a:ext cx="171450" cy="161925"/>
          </a:xfrm>
          <a:prstGeom prst="rect">
            <a:avLst/>
          </a:prstGeom>
        </p:spPr>
        <p:txBody>
          <a:bodyPr wrap="none" lIns="0" tIns="0" rIns="0" bIns="0"/>
          <a:lstStyle/>
          <a:p>
            <a:pPr>
              <a:lnSpc>
                <a:spcPct val="100000"/>
              </a:lnSpc>
            </a:pPr>
            <a:r>
              <a:rPr lang="en-US" sz="1050" b="1">
                <a:solidFill>
                  <a:srgbClr val="8B97A8"/>
                </a:solidFill>
                <a:latin typeface="Source Han Sans CN"/>
                <a:ea typeface="Source Han Sans CN"/>
              </a:rPr>
              <a:t>03</a:t>
            </a:r>
            <a:endParaRPr/>
          </a:p>
        </p:txBody>
      </p:sp>
      <p:sp>
        <p:nvSpPr>
          <p:cNvPr id="377" name="文本框 376" descr="{&quot;isTemplate&quot;:true,&quot;type&quot;:&quot;text&quot;}"/>
          <p:cNvSpPr txBox="1"/>
          <p:nvPr/>
        </p:nvSpPr>
        <p:spPr>
          <a:xfrm>
            <a:off x="9220200" y="5915025"/>
            <a:ext cx="2209800" cy="161925"/>
          </a:xfrm>
          <a:prstGeom prst="rect">
            <a:avLst/>
          </a:prstGeom>
        </p:spPr>
        <p:txBody>
          <a:bodyPr wrap="none" lIns="0" tIns="0" rIns="0" bIns="0"/>
          <a:lstStyle/>
          <a:p>
            <a:pPr>
              <a:lnSpc>
                <a:spcPct val="100000"/>
              </a:lnSpc>
            </a:pPr>
            <a:r>
              <a:rPr lang="zh-CN" sz="1050">
                <a:solidFill>
                  <a:srgbClr val="8B97A8"/>
                </a:solidFill>
                <a:latin typeface="Source Han Sans CN"/>
                <a:ea typeface="Source Han Sans CN"/>
              </a:rPr>
              <a:t>研究问题 · 两阶段方法 · 滚动闭环</a:t>
            </a:r>
            <a:r>
              <a:rPr lang="en-US" sz="1050">
                <a:solidFill>
                  <a:srgbClr val="8B97A8"/>
                </a:solidFill>
                <a:latin typeface="Source Han Sans CN"/>
                <a:ea typeface="Source Han Sans CN"/>
              </a:rPr>
              <a:t/>
            </a:r>
            <a:r>
              <a:rPr lang="zh-CN" sz="1050">
                <a:solidFill>
                  <a:srgbClr val="8B97A8"/>
                </a:solidFill>
                <a:latin typeface="Source Han Sans CN"/>
                <a:ea typeface="Source Han Sans CN"/>
              </a:rPr>
              <a:t/>
            </a:r>
            <a:r>
              <a:rPr lang="en-US" sz="1050">
                <a:solidFill>
                  <a:srgbClr val="8B97A8"/>
                </a:solidFill>
                <a:latin typeface="Source Han Sans CN"/>
                <a:ea typeface="Source Han Sans CN"/>
              </a:rPr>
              <a:t/>
            </a:r>
            <a:r>
              <a:rPr lang="zh-CN" sz="1050">
                <a:solidFill>
                  <a:srgbClr val="8B97A8"/>
                </a:solidFill>
                <a:latin typeface="Source Han Sans CN"/>
                <a:ea typeface="Source Han Sans CN"/>
              </a:rPr>
              <a:t/>
            </a:r>
            <a:endParaRPr/>
          </a:p>
        </p:txBody>
      </p:sp>
      <p:sp>
        <p:nvSpPr>
          <p:cNvPr id="378" name="矩形 377"/>
          <p:cNvSpPr/>
          <p:nvPr/>
        </p:nvSpPr>
        <p:spPr>
          <a:xfrm>
            <a:off x="0" y="6448425"/>
            <a:ext cx="12192000" cy="409575"/>
          </a:xfrm>
          <a:prstGeom prst="rect">
            <a:avLst/>
          </a:prstGeom>
          <a:solidFill>
            <a:srgbClr val="F7F9FC"/>
          </a:solidFill>
          <a:ln/>
        </p:spPr>
        <p:txBody>
          <a:bodyPr/>
          <a:lstStyle/>
          <a:p>
            <a:endParaRPr/>
          </a:p>
        </p:txBody>
      </p:sp>
      <p:sp>
        <p:nvSpPr>
          <p:cNvPr id="379" name="任意多边形: 形状 378"/>
          <p:cNvSpPr/>
          <p:nvPr/>
        </p:nvSpPr>
        <p:spPr>
          <a:xfrm>
            <a:off x="0" y="6438900"/>
            <a:ext cx="12192000" cy="419100"/>
          </a:xfrm>
          <a:custGeom>
            <a:avLst/>
            <a:gdLst/>
            <a:ahLst/>
            <a:cxnLst/>
            <a:rect l="0" t="0" r="0" b="0"/>
            <a:pathLst>
              <a:path w="1280" h="44">
                <a:moveTo>
                  <a:pt x="0" y="0"/>
                </a:moveTo>
                <a:lnTo>
                  <a:pt x="1280" y="0"/>
                </a:lnTo>
                <a:lnTo>
                  <a:pt x="1280" y="1"/>
                </a:lnTo>
                <a:lnTo>
                  <a:pt x="0" y="1"/>
                </a:lnTo>
                <a:close/>
              </a:path>
            </a:pathLst>
          </a:custGeom>
          <a:solidFill>
            <a:srgbClr val="E5E7EB"/>
          </a:solidFill>
          <a:ln/>
        </p:spPr>
        <p:txBody>
          <a:bodyPr/>
          <a:lstStyle/>
          <a:p>
            <a:endParaRPr/>
          </a:p>
        </p:txBody>
      </p:sp>
      <p:sp>
        <p:nvSpPr>
          <p:cNvPr id="380" name="文本框 379" descr="{&quot;isTemplate&quot;:true,&quot;type&quot;:&quot;text&quot;}"/>
          <p:cNvSpPr txBox="1"/>
          <p:nvPr/>
        </p:nvSpPr>
        <p:spPr>
          <a:xfrm>
            <a:off x="381000" y="6581775"/>
            <a:ext cx="2828925" cy="152400"/>
          </a:xfrm>
          <a:prstGeom prst="rect">
            <a:avLst/>
          </a:prstGeom>
        </p:spPr>
        <p:txBody>
          <a:bodyPr wrap="none" lIns="0" tIns="0" rIns="0" bIns="0"/>
          <a:lstStyle/>
          <a:p>
            <a:pPr>
              <a:lnSpc>
                <a:spcPct val="100000"/>
              </a:lnSpc>
            </a:pPr>
            <a:r>
              <a:rPr lang="zh-CN" sz="975">
                <a:solidFill>
                  <a:srgbClr val="8B97A8"/>
                </a:solidFill>
                <a:latin typeface="Source Han Sans CN"/>
                <a:ea typeface="Source Han Sans CN"/>
              </a:rPr>
              <a:t>动态滚动的多机巢多无人机协同任务分配</a:t>
            </a:r>
            <a:r>
              <a:rPr lang="en-US" sz="975">
                <a:solidFill>
                  <a:srgbClr val="8B97A8"/>
                </a:solidFill>
                <a:latin typeface="Source Han Sans CN"/>
                <a:ea typeface="Source Han Sans CN"/>
              </a:rPr>
              <a:t> · </a:t>
            </a:r>
            <a:r>
              <a:rPr lang="zh-CN" sz="975">
                <a:solidFill>
                  <a:srgbClr val="8B97A8"/>
                </a:solidFill>
                <a:latin typeface="Source Han Sans CN"/>
                <a:ea typeface="Source Han Sans CN"/>
              </a:rPr>
              <a:t>进展汇报</a:t>
            </a:r>
            <a:endParaRPr/>
          </a:p>
        </p:txBody>
      </p:sp>
      <p:sp>
        <p:nvSpPr>
          <p:cNvPr id="381" name="文本框 380" descr="{&quot;isTemplate&quot;:true,&quot;type&quot;:&quot;text&quot;}"/>
          <p:cNvSpPr txBox="1"/>
          <p:nvPr/>
        </p:nvSpPr>
        <p:spPr>
          <a:xfrm>
            <a:off x="11296650" y="6572250"/>
            <a:ext cx="514350" cy="171450"/>
          </a:xfrm>
          <a:prstGeom prst="rect">
            <a:avLst/>
          </a:prstGeom>
        </p:spPr>
        <p:txBody>
          <a:bodyPr wrap="none" lIns="0" tIns="0" rIns="0" bIns="0"/>
          <a:lstStyle/>
          <a:p>
            <a:pPr>
              <a:lnSpc>
                <a:spcPct val="100000"/>
              </a:lnSpc>
            </a:pPr>
            <a:r>
              <a:rPr lang="en-US" sz="1125" b="1">
                <a:solidFill>
                  <a:srgbClr val="1E4FA8"/>
                </a:solidFill>
                <a:latin typeface="Source Han Sans CN"/>
                <a:ea typeface="Source Han Sans CN"/>
              </a:rPr>
              <a:t>13 / 18</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descr="&lt;Slide style={{ width: 1280, height: 720, background: '#FFFFFF', position: 'relative', fontFamily: 'Source Han Sans CN, Microsoft YaHei, sans-serif' }}&gt;&#10;  &lt;Box style={{ position: 'absolute', top: 0, left: 0, width: 1280, height: 12, background: '#1E4FA8' }} /&gt;&#10;  &lt;Box style={{ position: 'absolute', top: 30, left: 40, flexDirection: 'row', alignItems: 'center', gap: 14 }}&gt;&#10;    &lt;Box style={{ width: 6, height: 34, background: '#1E4FA8' }} /&gt;&#10;    &lt;Text style={{ fontSize: 32, fontWeight: 'bold', color: '#0E3F8C' }}&gt;基础优先级预筛选 + 边际收益增量选择&lt;/Text&gt;&#10;  &lt;/Box&gt;&#10;  &lt;Text style={{ position: 'absolute', top: 78, left: 60, fontSize: 15, color: '#8B97A8' }}&gt;五因素加权排序缩池，边际价值决定「加入当前组合后是否仍值得执行」&lt;/Text&gt;&#10;&#10;  &lt;Box style={{ position: 'absolute', top: 116, left: 40, width: 700, flexDirection: 'column', gap: 16 }}&gt;&#10;    &lt;Box style={{ background: '#F7F9FC', border: '1px solid #D6DCE5', borderRadius: 10, padding: '16px 20px', flexDirection: 'column' }}&gt;&#10;      &lt;Text style={{ fontSize: 19, fontWeight: 'bold', color: '#0E3F8C' }}&gt;① 基础任务优先级（五因素 min-max 归一化加权）&lt;/Text&gt;&#10;      &lt;Box style={{ marginTop: 12, background: '#E8EFF8', borderRadius: 8, padding: '14px 16px', alignItems: 'center' }}&gt;&#10;        &lt;Text style={{ fontSize: 23, fontWeight: 'bold', color: '#0E3F8C' }}&gt;&#10;          P&lt;span style={{ fontSize: 15 }}&gt;i&lt;/span&gt; = w&lt;span style={{ fontSize: 15 }}&gt;r&lt;/span&gt;·R&lt;span style={{ fontSize: 15 }}&gt;i&lt;/span&gt; + w&lt;span style={{ fontSize: 15 }}&gt;u&lt;/span&gt;·U&lt;span style={{ fontSize: 15 }}&gt;i&lt;/span&gt; + w&lt;span style={{ fontSize: 15 }}&gt;w&lt;/span&gt;·W&lt;span style={{ fontSize: 15 }}&gt;i&lt;/span&gt; + w&lt;span style={{ fontSize: 15 }}&gt;s&lt;/span&gt;·G&lt;span style={{ fontSize: 15 }}&gt;i&lt;/span&gt; − w&lt;span style={{ fontSize: 15 }}&gt;c&lt;/span&gt;·C&lt;span style={{ fontSize: 15 }}&gt;i&lt;/span&gt;&#10;        &lt;/Text&gt;&#10;      &lt;/Box&gt;&#10;      &lt;Text style={{ fontSize: 14, color: '#4A5568', lineHeight: 1.7, marginTop: 10 }}&gt;&#10;        五因素均先做 min-max 归一化：收益 R · 时间紧迫度 U · 等待补偿 W = 1−e&lt;sup&gt;−t/τ&lt;/sup&gt;（防长期滞留）· 空间协同增益 G（近邻任务可同机连续执行，聚集是&lt;span style={{ color: '#1E4FA8', fontWeight: 'bold' }}&gt;正因素&lt;/span&gt;）· 粗执行代价 C；权重和为 1，默认 0.30 / 0.25 / 0.15 / 0.15 / 0.15&#10;      &lt;/Text&gt;&#10;    &lt;/Box&gt;&#10;&#10;    &lt;Box style={{ background: '#F7F9FC', border: '1px solid #D6DCE5', borderRadius: 10, padding: '16px 20px', flexDirection: 'column' }}&gt;&#10;      &lt;Text style={{ fontSize: 19, fontWeight: 'bold', color: '#0E3F8C' }}&gt;② 候选池（能力无关）/ 选择数（卡 cap）：机数名额 × 能力上界解耦&lt;/Text&gt;&#10;      &lt;Box style={{ marginTop: 12, background: '#E8EFF8', borderRadius: 8, padding: '12px 16px', flexDirection: 'column', gap: 5, alignItems: 'center' }}&gt;&#10;        &lt;Text style={{ fontSize: 16.5, fontWeight: 'bold', color: '#0E3F8C' }}&gt;&#10;          n_cand = ceil(α·K)（能力无关）　　n_sel = min{&quot;{&quot;}ceil(max_ratio·K), cap(t){&quot;}&quot;}&#10;        &lt;/Text&gt;&#10;        &lt;Text style={{ fontSize: 13, color: '#4A5568' }}&gt;&#10;          cap(t) = floor(B(t) / c_med)；K = 可用无人机数，α = 2.5、max_ratio = 2.0 均为机数倍率&#10;        &lt;/Text&gt;&#10;      &lt;/Box&gt;&#10;      &lt;Text style={{ fontSize: 14, color: '#4A5568', lineHeight: 1.7, marginTop: 10 }}&gt;&#10;        机数名额保护搜索复杂度；能力承载数只计&lt;span style={{ fontWeight: 'bold' }}&gt;可起飞子集&lt;/span&gt;的剩余航程 B(t)——正在充电的机是幻影容量，不计入；紧急/释放任务可绕过名额强制纳入，但仍须过可行性检查&#10;      &lt;/Text&gt;&#10;    &lt;/Box&gt;&#10;&#10;    &lt;Box style={{ background: '#F0F5FC', border: '1px solid #D6DCE5', borderRadius: 10, padding: '12px 20px', flexDirection: 'row', alignItems: 'center', gap: 10 }}&gt;&#10;      &lt;Text style={{ fontSize: 15, fontWeight: 'bold', color: '#0E3F8C' }}&gt;机制串联：&lt;/Text&gt;&#10;      {['按 P_i 排序', 'n_cand 候选(富)', '闸门① prefilter', 'n_sel 边际纳入(紧)', '闸门② postcheck'].map((s, i) =&gt; (&#10;        &lt;Box key={s} style={{ flexDirection: 'row', alignItems: 'center', gap: 10 }}&gt;&#10;          {i &gt; 0 &amp;&amp; &lt;Text style={{ fontSize: 16, color: '#3D7BD9', fontWeight: 'bold' }}&gt;→&lt;/Text&gt;}&#10;          &lt;Box style={{ padding: '6px 12px', background: '#FFFFFF', borderRadius: 14, border: '1px solid #3D7BD9' }}&gt;&#10;            &lt;Text style={{ fontSize: 13, color: '#1E4FA8' }}&gt;{s}&lt;/Text&gt;&#10;          &lt;/Box&gt;&#10;        &lt;/Box&gt;&#10;      ))}&#10;    &lt;/Box&gt;&#10;  &lt;/Box&gt;&#10;&#10;  &lt;Box style={{ position: 'absolute', top: 116, left: 764, width: 476, flexDirection: 'column', gap: 14 }}&gt;&#10;    &lt;Box style={{ background: '#F0F5FC', border: '1px solid #D6DCE5', borderTop: '4px solid #1E4FA8', borderRadius: 10, padding: '14px 20px', flexDirection: 'column' }}&gt;&#10;      &lt;Text style={{ fontSize: 19, fontWeight: 'bold', color: '#0E3F8C' }}&gt;③ 边际收益增量选择&lt;/Text&gt;&#10;      &lt;Box style={{ marginTop: 10, background: '#FFFFFF', borderRadius: 8, padding: '12px 14px', alignItems: 'center' }}&gt;&#10;        &lt;Text style={{ fontSize: 20, fontWeight: 'bold', color: '#0E3F8C' }}&gt;&#10;          Δ&lt;span style={{ fontSize: 13 }}&gt;i&lt;/span&gt; = ΔB&lt;span style={{ fontSize: 13 }}&gt;i&lt;/span&gt; / (ΔC&lt;span style={{ fontSize: 13 }}&gt;i&lt;/span&gt; + ε)&#10;        &lt;/Text&gt;&#10;        &lt;Text style={{ fontSize: 16, color: '#1E4FA8', marginTop: 6 }}&gt;&#10;          ΔC&lt;span style={{ fontSize: 11 }}&gt;i&lt;/span&gt; = min&lt;span style={{ fontSize: 12 }}&gt;{&quot;{&quot;} C&lt;span style={{ fontSize: 10 }}&gt;ai&lt;/span&gt; + C&lt;span style={{ fontSize: 10 }}&gt;ib&lt;/span&gt; − C&lt;span style={{ fontSize: 10 }}&gt;ab&lt;/span&gt; {&quot;}&quot;}&#10;          &lt;/span&gt;（所有锚点对插入，统一 DEM 三维航程）&#10;        &lt;/Text&gt;&#10;      &lt;/Box&gt;&#10;      &lt;Text style={{ fontSize: 14, color: '#4A5568', lineHeight: 1.7, marginTop: 8 }}&gt;&#10;        插入式快速估计：对「已选集合 + 最近机巢」的&lt;span style={{ fontWeight: 'bold' }}&gt;所有锚点对&lt;/span&gt;试接入任务 i，取最小三维航程增量——不预设任何顺序、不求解完整 MUAS，与已选任务空间相近者因增量代价低而胜出&#10;      &lt;/Text&gt;&#10;    &lt;/Box&gt;&#10;&#10;    &lt;Box style={{ background: '#F7F9FC', border: '1px solid #D6DCE5', borderRadius: 10, padding: '13px 20px', flexDirection: 'column' }}&gt;&#10;      &lt;Text style={{ fontSize: 17, fontWeight: 'bold', color: '#0E3F8C' }}&gt;④ 两道可行性闸门（粗粒度，弹回不淘汰）&lt;/Text&gt;&#10;      &lt;Text style={{ fontSize: 14, color: '#4A5568', lineHeight: 1.7, marginTop: 6 }}&gt;&#10;        闸门① prefilter：是否有可用机 · 单任务往返可达 · 三维地形不可达；闸门② postcheck：机群剩余航程预算——仅物理不可行才不进候选，否则留池下周期再评；时间窗迟到由适应度折减、非参选资格&#10;      &lt;/Text&gt;&#10;    &lt;/Box&gt;&#10;&#10;    &lt;Box style={{ background: '#0E3F8C', borderRadius: 10, padding: '14px 20px', flexDirection: 'column' }}&gt;&#10;      &lt;Text style={{ fontSize: 16, fontWeight: 'bold', color: '#FFFFFF', lineHeight: 1.6 }}&gt;&#10;        判断：选择质量与实时性兼得——边际比只依赖代价矩阵查表与插入估计，单周期选择开销可忽略，却保住了「任务 × 组合」的匹配质量。&#10;      &lt;/Text&gt;&#10;    &lt;/Box&gt;&#10;  &lt;/Box&gt;&#10;&#10;  &lt;Box style={{ position: 'absolute', bottom: 0, left: 0, width: 1280, height: 44, background: '#F7F9FC', flexDirection: 'row', justifyContent: 'space-between', alignItems: 'center', padding: '0 40px', borderTop: '1px solid #E5E7EB' }}&gt;&#10;    &lt;Text style={{ fontSize: 13, color: '#8B97A8' }}&gt;动态滚动的多机巢多无人机协同任务分配 · 进展汇报&lt;/Text&gt;&#10;    &lt;Text style={{ fontSize: 15, color: '#1E4FA8', fontWeight: 'bold' }}&gt;07 / 16&lt;/Text&gt;&#10;  &lt;/Box&gt;&#10;&lt;/Slide&gt;&#10;"/>
        <p:cNvGrpSpPr/>
        <p:nvPr/>
      </p:nvGrpSpPr>
      <p:grpSpPr>
        <a:xfrm>
          <a:off x="0" y="0"/>
          <a:ext cx="0" cy="0"/>
          <a:chOff x="0" y="0"/>
          <a:chExt cx="0" cy="0"/>
        </a:xfrm>
      </p:grpSpPr>
      <p:sp>
        <p:nvSpPr>
          <p:cNvPr id="383" name="矩形 382"/>
          <p:cNvSpPr/>
          <p:nvPr/>
        </p:nvSpPr>
        <p:spPr>
          <a:xfrm>
            <a:off x="0" y="0"/>
            <a:ext cx="12192000" cy="6858000"/>
          </a:xfrm>
          <a:prstGeom prst="rect">
            <a:avLst/>
          </a:prstGeom>
          <a:solidFill>
            <a:srgbClr val="FFFFFF"/>
          </a:solidFill>
          <a:ln/>
        </p:spPr>
        <p:txBody>
          <a:bodyPr/>
          <a:lstStyle/>
          <a:p>
            <a:endParaRPr/>
          </a:p>
        </p:txBody>
      </p:sp>
      <p:sp>
        <p:nvSpPr>
          <p:cNvPr id="384" name="矩形 383"/>
          <p:cNvSpPr/>
          <p:nvPr/>
        </p:nvSpPr>
        <p:spPr>
          <a:xfrm>
            <a:off x="0" y="0"/>
            <a:ext cx="12192000" cy="114300"/>
          </a:xfrm>
          <a:prstGeom prst="rect">
            <a:avLst/>
          </a:prstGeom>
          <a:solidFill>
            <a:srgbClr val="1E4FA8"/>
          </a:solidFill>
          <a:ln/>
        </p:spPr>
        <p:txBody>
          <a:bodyPr/>
          <a:lstStyle/>
          <a:p>
            <a:endParaRPr/>
          </a:p>
        </p:txBody>
      </p:sp>
      <p:sp>
        <p:nvSpPr>
          <p:cNvPr id="385" name="矩形 384"/>
          <p:cNvSpPr/>
          <p:nvPr/>
        </p:nvSpPr>
        <p:spPr>
          <a:xfrm>
            <a:off x="381000" y="314325"/>
            <a:ext cx="57150" cy="323850"/>
          </a:xfrm>
          <a:prstGeom prst="rect">
            <a:avLst/>
          </a:prstGeom>
          <a:solidFill>
            <a:srgbClr val="1E4FA8"/>
          </a:solidFill>
          <a:ln/>
        </p:spPr>
        <p:txBody>
          <a:bodyPr/>
          <a:lstStyle/>
          <a:p>
            <a:endParaRPr/>
          </a:p>
        </p:txBody>
      </p:sp>
      <p:sp>
        <p:nvSpPr>
          <p:cNvPr id="386" name="文本框 385" descr="{&quot;isTemplate&quot;:true,&quot;type&quot;:&quot;text&quot;}"/>
          <p:cNvSpPr txBox="1"/>
          <p:nvPr/>
        </p:nvSpPr>
        <p:spPr>
          <a:xfrm>
            <a:off x="571500" y="285750"/>
            <a:ext cx="5295900" cy="371475"/>
          </a:xfrm>
          <a:prstGeom prst="rect">
            <a:avLst/>
          </a:prstGeom>
        </p:spPr>
        <p:txBody>
          <a:bodyPr wrap="none" lIns="0" tIns="0" rIns="0" bIns="0"/>
          <a:lstStyle/>
          <a:p>
            <a:pPr>
              <a:lnSpc>
                <a:spcPct val="100000"/>
              </a:lnSpc>
            </a:pPr>
            <a:r>
              <a:rPr lang="zh-CN" sz="2400" b="1">
                <a:solidFill>
                  <a:srgbClr val="0E3F8C"/>
                </a:solidFill>
                <a:latin typeface="Source Han Sans CN"/>
                <a:ea typeface="Source Han Sans CN"/>
              </a:rPr>
              <a:t>基础优先级预筛选</a:t>
            </a:r>
            <a:r>
              <a:rPr lang="en-US" sz="2400" b="1">
                <a:solidFill>
                  <a:srgbClr val="0E3F8C"/>
                </a:solidFill>
                <a:latin typeface="Source Han Sans CN"/>
                <a:ea typeface="Source Han Sans CN"/>
              </a:rPr>
              <a:t> + </a:t>
            </a:r>
            <a:r>
              <a:rPr lang="zh-CN" sz="2400" b="1">
                <a:solidFill>
                  <a:srgbClr val="0E3F8C"/>
                </a:solidFill>
                <a:latin typeface="Source Han Sans CN"/>
                <a:ea typeface="Source Han Sans CN"/>
              </a:rPr>
              <a:t>边际收益增量选择</a:t>
            </a:r>
            <a:endParaRPr/>
          </a:p>
        </p:txBody>
      </p:sp>
      <p:sp>
        <p:nvSpPr>
          <p:cNvPr id="387" name="文本框 386" descr="{&quot;isTemplate&quot;:true,&quot;type&quot;:&quot;text&quot;}"/>
          <p:cNvSpPr txBox="1"/>
          <p:nvPr/>
        </p:nvSpPr>
        <p:spPr>
          <a:xfrm>
            <a:off x="571500" y="742950"/>
            <a:ext cx="4572000" cy="171450"/>
          </a:xfrm>
          <a:prstGeom prst="rect">
            <a:avLst/>
          </a:prstGeom>
        </p:spPr>
        <p:txBody>
          <a:bodyPr wrap="none" lIns="0" tIns="0" rIns="0" bIns="0"/>
          <a:lstStyle/>
          <a:p>
            <a:pPr>
              <a:lnSpc>
                <a:spcPct val="100000"/>
              </a:lnSpc>
            </a:pPr>
            <a:r>
              <a:rPr lang="zh-CN" sz="1125">
                <a:solidFill>
                  <a:srgbClr val="8B97A8"/>
                </a:solidFill>
                <a:latin typeface="Source Han Sans CN"/>
                <a:ea typeface="Source Han Sans CN"/>
              </a:rPr>
              <a:t>五因素加权排序缩池，边际价值决定「加入当前组合后是否仍值得执行」</a:t>
            </a:r>
            <a:endParaRPr/>
          </a:p>
        </p:txBody>
      </p:sp>
      <p:sp>
        <p:nvSpPr>
          <p:cNvPr id="388" name="矩形: 圆角 387"/>
          <p:cNvSpPr/>
          <p:nvPr/>
        </p:nvSpPr>
        <p:spPr>
          <a:xfrm>
            <a:off x="381000" y="1104900"/>
            <a:ext cx="6667500" cy="2085975"/>
          </a:xfrm>
          <a:prstGeom prst="roundRect">
            <a:avLst>
              <a:gd name="adj" fmla="val 4566"/>
            </a:avLst>
          </a:prstGeom>
          <a:solidFill>
            <a:srgbClr val="F7F9FC"/>
          </a:solidFill>
          <a:ln w="12700">
            <a:solidFill>
              <a:srgbClr val="D6DCE5"/>
            </a:solidFill>
            <a:prstDash val="solid"/>
          </a:ln>
        </p:spPr>
        <p:txBody>
          <a:bodyPr/>
          <a:lstStyle/>
          <a:p>
            <a:endParaRPr/>
          </a:p>
        </p:txBody>
      </p:sp>
      <p:sp>
        <p:nvSpPr>
          <p:cNvPr id="389" name="文本框 388" descr="{&quot;isTemplate&quot;:true,&quot;type&quot;:&quot;text&quot;}"/>
          <p:cNvSpPr txBox="1"/>
          <p:nvPr/>
        </p:nvSpPr>
        <p:spPr>
          <a:xfrm>
            <a:off x="571500" y="1257300"/>
            <a:ext cx="6286500" cy="219075"/>
          </a:xfrm>
          <a:prstGeom prst="rect">
            <a:avLst/>
          </a:prstGeom>
        </p:spPr>
        <p:txBody>
          <a:bodyPr wrap="none" lIns="0" tIns="0" rIns="0" bIns="0"/>
          <a:lstStyle/>
          <a:p>
            <a:pPr>
              <a:lnSpc>
                <a:spcPct val="100000"/>
              </a:lnSpc>
            </a:pPr>
            <a:r>
              <a:rPr lang="en-US" sz="1425" b="1">
                <a:solidFill>
                  <a:srgbClr val="0E3F8C"/>
                </a:solidFill>
                <a:latin typeface="Source Han Sans CN"/>
                <a:ea typeface="Source Han Sans CN"/>
              </a:rPr>
              <a:t>① </a:t>
            </a:r>
            <a:r>
              <a:rPr lang="zh-CN" sz="1425" b="1">
                <a:solidFill>
                  <a:srgbClr val="0E3F8C"/>
                </a:solidFill>
                <a:latin typeface="Source Han Sans CN"/>
                <a:ea typeface="Source Han Sans CN"/>
              </a:rPr>
              <a:t>基础任务优先级（五因素</a:t>
            </a:r>
            <a:r>
              <a:rPr lang="en-US" sz="1425" b="1">
                <a:solidFill>
                  <a:srgbClr val="0E3F8C"/>
                </a:solidFill>
                <a:latin typeface="Source Han Sans CN"/>
                <a:ea typeface="Source Han Sans CN"/>
              </a:rPr>
              <a:t> min-max </a:t>
            </a:r>
            <a:r>
              <a:rPr lang="zh-CN" sz="1425" b="1">
                <a:solidFill>
                  <a:srgbClr val="0E3F8C"/>
                </a:solidFill>
                <a:latin typeface="Source Han Sans CN"/>
                <a:ea typeface="Source Han Sans CN"/>
              </a:rPr>
              <a:t>归一化加权）</a:t>
            </a:r>
            <a:endParaRPr/>
          </a:p>
        </p:txBody>
      </p:sp>
      <p:sp>
        <p:nvSpPr>
          <p:cNvPr id="390" name="矩形: 圆角 389"/>
          <p:cNvSpPr/>
          <p:nvPr/>
        </p:nvSpPr>
        <p:spPr>
          <a:xfrm>
            <a:off x="571500" y="1590675"/>
            <a:ext cx="6286500" cy="533400"/>
          </a:xfrm>
          <a:prstGeom prst="roundRect">
            <a:avLst>
              <a:gd name="adj" fmla="val 14286"/>
            </a:avLst>
          </a:prstGeom>
          <a:solidFill>
            <a:srgbClr val="E8EFF8"/>
          </a:solidFill>
          <a:ln/>
        </p:spPr>
        <p:txBody>
          <a:bodyPr/>
          <a:lstStyle/>
          <a:p>
            <a:endParaRPr/>
          </a:p>
        </p:txBody>
      </p:sp>
      <p:sp>
        <p:nvSpPr>
          <p:cNvPr id="391" name="文本框 390" descr="{&quot;isTemplate&quot;:true,&quot;type&quot;:&quot;text&quot;}"/>
          <p:cNvSpPr txBox="1"/>
          <p:nvPr/>
        </p:nvSpPr>
        <p:spPr>
          <a:xfrm>
            <a:off x="1419225" y="1724025"/>
            <a:ext cx="4600575" cy="266700"/>
          </a:xfrm>
          <a:prstGeom prst="rect">
            <a:avLst/>
          </a:prstGeom>
        </p:spPr>
        <p:txBody>
          <a:bodyPr wrap="none" lIns="0" tIns="0" rIns="0" bIns="0"/>
          <a:lstStyle/>
          <a:p>
            <a:pPr>
              <a:lnSpc>
                <a:spcPct val="100000"/>
              </a:lnSpc>
            </a:pPr>
            <a:r>
              <a:rPr lang="en-US" sz="1725" b="1">
                <a:solidFill>
                  <a:srgbClr val="0E3F8C"/>
                </a:solidFill>
                <a:latin typeface="Source Han Sans CN"/>
                <a:ea typeface="Source Han Sans CN"/>
              </a:rPr>
              <a:t>P</a:t>
            </a:r>
            <a:r>
              <a:rPr lang="en-US" sz="1125" b="1">
                <a:solidFill>
                  <a:srgbClr val="0E3F8C"/>
                </a:solidFill>
                <a:latin typeface="Source Han Sans CN"/>
                <a:ea typeface="Source Han Sans CN"/>
              </a:rPr>
              <a:t>i</a:t>
            </a:r>
            <a:r>
              <a:rPr lang="en-US" sz="1725" b="1">
                <a:solidFill>
                  <a:srgbClr val="0E3F8C"/>
                </a:solidFill>
                <a:latin typeface="Source Han Sans CN"/>
                <a:ea typeface="Source Han Sans CN"/>
              </a:rPr>
              <a:t> = w</a:t>
            </a:r>
            <a:r>
              <a:rPr lang="en-US" sz="1125" b="1">
                <a:solidFill>
                  <a:srgbClr val="0E3F8C"/>
                </a:solidFill>
                <a:latin typeface="Source Han Sans CN"/>
                <a:ea typeface="Source Han Sans CN"/>
              </a:rPr>
              <a:t>r</a:t>
            </a:r>
            <a:r>
              <a:rPr lang="en-US" sz="1725" b="1">
                <a:solidFill>
                  <a:srgbClr val="0E3F8C"/>
                </a:solidFill>
                <a:latin typeface="Source Han Sans CN"/>
                <a:ea typeface="Source Han Sans CN"/>
              </a:rPr>
              <a:t>·R</a:t>
            </a:r>
            <a:r>
              <a:rPr lang="en-US" sz="1125" b="1">
                <a:solidFill>
                  <a:srgbClr val="0E3F8C"/>
                </a:solidFill>
                <a:latin typeface="Source Han Sans CN"/>
                <a:ea typeface="Source Han Sans CN"/>
              </a:rPr>
              <a:t>i</a:t>
            </a:r>
            <a:r>
              <a:rPr lang="en-US" sz="1725" b="1">
                <a:solidFill>
                  <a:srgbClr val="0E3F8C"/>
                </a:solidFill>
                <a:latin typeface="Source Han Sans CN"/>
                <a:ea typeface="Source Han Sans CN"/>
              </a:rPr>
              <a:t> + w</a:t>
            </a:r>
            <a:r>
              <a:rPr lang="en-US" sz="1125" b="1">
                <a:solidFill>
                  <a:srgbClr val="0E3F8C"/>
                </a:solidFill>
                <a:latin typeface="Source Han Sans CN"/>
                <a:ea typeface="Source Han Sans CN"/>
              </a:rPr>
              <a:t>u</a:t>
            </a:r>
            <a:r>
              <a:rPr lang="en-US" sz="1725" b="1">
                <a:solidFill>
                  <a:srgbClr val="0E3F8C"/>
                </a:solidFill>
                <a:latin typeface="Source Han Sans CN"/>
                <a:ea typeface="Source Han Sans CN"/>
              </a:rPr>
              <a:t>·U</a:t>
            </a:r>
            <a:r>
              <a:rPr lang="en-US" sz="1125" b="1">
                <a:solidFill>
                  <a:srgbClr val="0E3F8C"/>
                </a:solidFill>
                <a:latin typeface="Source Han Sans CN"/>
                <a:ea typeface="Source Han Sans CN"/>
              </a:rPr>
              <a:t>i</a:t>
            </a:r>
            <a:r>
              <a:rPr lang="en-US" sz="1725" b="1">
                <a:solidFill>
                  <a:srgbClr val="0E3F8C"/>
                </a:solidFill>
                <a:latin typeface="Source Han Sans CN"/>
                <a:ea typeface="Source Han Sans CN"/>
              </a:rPr>
              <a:t> + w</a:t>
            </a:r>
            <a:r>
              <a:rPr lang="en-US" sz="1125" b="1">
                <a:solidFill>
                  <a:srgbClr val="0E3F8C"/>
                </a:solidFill>
                <a:latin typeface="Source Han Sans CN"/>
                <a:ea typeface="Source Han Sans CN"/>
              </a:rPr>
              <a:t>w</a:t>
            </a:r>
            <a:r>
              <a:rPr lang="en-US" sz="1725" b="1">
                <a:solidFill>
                  <a:srgbClr val="0E3F8C"/>
                </a:solidFill>
                <a:latin typeface="Source Han Sans CN"/>
                <a:ea typeface="Source Han Sans CN"/>
              </a:rPr>
              <a:t>·W</a:t>
            </a:r>
            <a:r>
              <a:rPr lang="en-US" sz="1125" b="1">
                <a:solidFill>
                  <a:srgbClr val="0E3F8C"/>
                </a:solidFill>
                <a:latin typeface="Source Han Sans CN"/>
                <a:ea typeface="Source Han Sans CN"/>
              </a:rPr>
              <a:t>i</a:t>
            </a:r>
            <a:r>
              <a:rPr lang="en-US" sz="1725" b="1">
                <a:solidFill>
                  <a:srgbClr val="0E3F8C"/>
                </a:solidFill>
                <a:latin typeface="Source Han Sans CN"/>
                <a:ea typeface="Source Han Sans CN"/>
              </a:rPr>
              <a:t> + w</a:t>
            </a:r>
            <a:r>
              <a:rPr lang="en-US" sz="1125" b="1">
                <a:solidFill>
                  <a:srgbClr val="0E3F8C"/>
                </a:solidFill>
                <a:latin typeface="Source Han Sans CN"/>
                <a:ea typeface="Source Han Sans CN"/>
              </a:rPr>
              <a:t>s</a:t>
            </a:r>
            <a:r>
              <a:rPr lang="en-US" sz="1725" b="1">
                <a:solidFill>
                  <a:srgbClr val="0E3F8C"/>
                </a:solidFill>
                <a:latin typeface="Source Han Sans CN"/>
                <a:ea typeface="Source Han Sans CN"/>
              </a:rPr>
              <a:t>·G</a:t>
            </a:r>
            <a:r>
              <a:rPr lang="en-US" sz="1125" b="1">
                <a:solidFill>
                  <a:srgbClr val="0E3F8C"/>
                </a:solidFill>
                <a:latin typeface="Source Han Sans CN"/>
                <a:ea typeface="Source Han Sans CN"/>
              </a:rPr>
              <a:t>i</a:t>
            </a:r>
            <a:r>
              <a:rPr lang="en-US" sz="1725" b="1">
                <a:solidFill>
                  <a:srgbClr val="0E3F8C"/>
                </a:solidFill>
                <a:latin typeface="Source Han Sans CN"/>
                <a:ea typeface="Source Han Sans CN"/>
              </a:rPr>
              <a:t> − w</a:t>
            </a:r>
            <a:r>
              <a:rPr lang="en-US" sz="1125" b="1">
                <a:solidFill>
                  <a:srgbClr val="0E3F8C"/>
                </a:solidFill>
                <a:latin typeface="Source Han Sans CN"/>
                <a:ea typeface="Source Han Sans CN"/>
              </a:rPr>
              <a:t>c</a:t>
            </a:r>
            <a:r>
              <a:rPr lang="en-US" sz="1725" b="1">
                <a:solidFill>
                  <a:srgbClr val="0E3F8C"/>
                </a:solidFill>
                <a:latin typeface="Source Han Sans CN"/>
                <a:ea typeface="Source Han Sans CN"/>
              </a:rPr>
              <a:t>·C</a:t>
            </a:r>
            <a:r>
              <a:rPr lang="en-US" sz="1125" b="1">
                <a:solidFill>
                  <a:srgbClr val="0E3F8C"/>
                </a:solidFill>
                <a:latin typeface="Source Han Sans CN"/>
                <a:ea typeface="Source Han Sans CN"/>
              </a:rPr>
              <a:t>i</a:t>
            </a:r>
            <a:endParaRPr/>
          </a:p>
        </p:txBody>
      </p:sp>
      <p:sp>
        <p:nvSpPr>
          <p:cNvPr id="392" name="文本框 391" descr="{&quot;isTemplate&quot;:true,&quot;type&quot;:&quot;text&quot;}"/>
          <p:cNvSpPr txBox="1"/>
          <p:nvPr/>
        </p:nvSpPr>
        <p:spPr>
          <a:xfrm>
            <a:off x="571500" y="2219325"/>
            <a:ext cx="6286500" cy="819150"/>
          </a:xfrm>
          <a:prstGeom prst="rect">
            <a:avLst/>
          </a:prstGeom>
        </p:spPr>
        <p:txBody>
          <a:bodyPr wrap="square" lIns="0" tIns="0" rIns="0" bIns="0">
            <a:normAutofit/>
          </a:bodyPr>
          <a:lstStyle/>
          <a:p>
            <a:pPr>
              <a:lnSpc>
                <a:spcPct val="170000"/>
              </a:lnSpc>
            </a:pPr>
            <a:r>
              <a:rPr lang="zh-CN" sz="1050">
                <a:solidFill>
                  <a:srgbClr val="4A5568"/>
                </a:solidFill>
                <a:latin typeface="Source Han Sans CN"/>
                <a:ea typeface="Source Han Sans CN"/>
              </a:rPr>
              <a:t>五因素均先做</a:t>
            </a:r>
            <a:r>
              <a:rPr lang="en-US" sz="1050">
                <a:solidFill>
                  <a:srgbClr val="4A5568"/>
                </a:solidFill>
                <a:latin typeface="Source Han Sans CN"/>
                <a:ea typeface="Source Han Sans CN"/>
              </a:rPr>
              <a:t> min-max </a:t>
            </a:r>
            <a:r>
              <a:rPr lang="zh-CN" sz="1050">
                <a:solidFill>
                  <a:srgbClr val="4A5568"/>
                </a:solidFill>
                <a:latin typeface="Source Han Sans CN"/>
                <a:ea typeface="Source Han Sans CN"/>
              </a:rPr>
              <a:t>归一化：收益</a:t>
            </a:r>
            <a:r>
              <a:rPr lang="en-US" sz="1050">
                <a:solidFill>
                  <a:srgbClr val="4A5568"/>
                </a:solidFill>
                <a:latin typeface="Source Han Sans CN"/>
                <a:ea typeface="Source Han Sans CN"/>
              </a:rPr>
              <a:t> R · </a:t>
            </a:r>
            <a:r>
              <a:rPr lang="zh-CN" sz="1050">
                <a:solidFill>
                  <a:srgbClr val="4A5568"/>
                </a:solidFill>
                <a:latin typeface="Source Han Sans CN"/>
                <a:ea typeface="Source Han Sans CN"/>
              </a:rPr>
              <a:t>时间紧迫度</a:t>
            </a:r>
            <a:r>
              <a:rPr lang="en-US" sz="1050">
                <a:solidFill>
                  <a:srgbClr val="4A5568"/>
                </a:solidFill>
                <a:latin typeface="Source Han Sans CN"/>
                <a:ea typeface="Source Han Sans CN"/>
              </a:rPr>
              <a:t> U · </a:t>
            </a:r>
            <a:r>
              <a:rPr lang="zh-CN" sz="1050">
                <a:solidFill>
                  <a:srgbClr val="4A5568"/>
                </a:solidFill>
                <a:latin typeface="Source Han Sans CN"/>
                <a:ea typeface="Source Han Sans CN"/>
              </a:rPr>
              <a:t>等待补偿</a:t>
            </a:r>
            <a:r>
              <a:rPr lang="en-US" sz="1050">
                <a:solidFill>
                  <a:srgbClr val="4A5568"/>
                </a:solidFill>
                <a:latin typeface="Source Han Sans CN"/>
                <a:ea typeface="Source Han Sans CN"/>
              </a:rPr>
              <a:t> W = 1−e−t/τ</a:t>
            </a:r>
            <a:r>
              <a:rPr lang="zh-CN" sz="1050">
                <a:solidFill>
                  <a:srgbClr val="4A5568"/>
                </a:solidFill>
                <a:latin typeface="Source Han Sans CN"/>
                <a:ea typeface="Source Han Sans CN"/>
              </a:rPr>
              <a:t>（防长期滞留）·</a:t>
            </a:r>
            <a:r>
              <a:rPr lang="en-US" sz="1050">
                <a:solidFill>
                  <a:srgbClr val="4A5568"/>
                </a:solidFill>
                <a:latin typeface="Source Han Sans CN"/>
                <a:ea typeface="Source Han Sans CN"/>
              </a:rPr>
              <a:t> </a:t>
            </a:r>
            <a:r>
              <a:rPr lang="zh-CN" sz="1050">
                <a:solidFill>
                  <a:srgbClr val="4A5568"/>
                </a:solidFill>
                <a:latin typeface="Source Han Sans CN"/>
                <a:ea typeface="Source Han Sans CN"/>
              </a:rPr>
              <a:t>空间协同增益</a:t>
            </a:r>
            <a:r>
              <a:rPr lang="en-US" sz="1050">
                <a:solidFill>
                  <a:srgbClr val="4A5568"/>
                </a:solidFill>
                <a:latin typeface="Source Han Sans CN"/>
                <a:ea typeface="Source Han Sans CN"/>
              </a:rPr>
              <a:t> G</a:t>
            </a:r>
            <a:r>
              <a:rPr lang="zh-CN" sz="1050">
                <a:solidFill>
                  <a:srgbClr val="4A5568"/>
                </a:solidFill>
                <a:latin typeface="Source Han Sans CN"/>
                <a:ea typeface="Source Han Sans CN"/>
              </a:rPr>
              <a:t>（近邻任务可同机连续执行，聚集是</a:t>
            </a:r>
            <a:r>
              <a:rPr lang="zh-CN" sz="1050" b="1">
                <a:solidFill>
                  <a:srgbClr val="1E4FA8"/>
                </a:solidFill>
                <a:latin typeface="Source Han Sans CN"/>
                <a:ea typeface="Source Han Sans CN"/>
              </a:rPr>
              <a:t>正因素</a:t>
            </a:r>
            <a:r>
              <a:rPr lang="zh-CN" sz="1050">
                <a:solidFill>
                  <a:srgbClr val="4A5568"/>
                </a:solidFill>
                <a:latin typeface="Source Han Sans CN"/>
                <a:ea typeface="Source Han Sans CN"/>
              </a:rPr>
              <a:t>）·</a:t>
            </a:r>
            <a:r>
              <a:rPr lang="en-US" sz="1050">
                <a:solidFill>
                  <a:srgbClr val="4A5568"/>
                </a:solidFill>
                <a:latin typeface="Source Han Sans CN"/>
                <a:ea typeface="Source Han Sans CN"/>
              </a:rPr>
              <a:t> </a:t>
            </a:r>
            <a:r>
              <a:rPr lang="zh-CN" sz="1050">
                <a:solidFill>
                  <a:srgbClr val="4A5568"/>
                </a:solidFill>
                <a:latin typeface="Source Han Sans CN"/>
                <a:ea typeface="Source Han Sans CN"/>
              </a:rPr>
              <a:t>粗执行代价</a:t>
            </a:r>
            <a:r>
              <a:rPr lang="en-US" sz="1050">
                <a:solidFill>
                  <a:srgbClr val="4A5568"/>
                </a:solidFill>
                <a:latin typeface="Source Han Sans CN"/>
                <a:ea typeface="Source Han Sans CN"/>
              </a:rPr>
              <a:t> C</a:t>
            </a:r>
            <a:r>
              <a:rPr lang="zh-CN" sz="1050">
                <a:solidFill>
                  <a:srgbClr val="4A5568"/>
                </a:solidFill>
                <a:latin typeface="Source Han Sans CN"/>
                <a:ea typeface="Source Han Sans CN"/>
              </a:rPr>
              <a:t>；权重和为</a:t>
            </a:r>
            <a:r>
              <a:rPr lang="en-US" sz="1050">
                <a:solidFill>
                  <a:srgbClr val="4A5568"/>
                </a:solidFill>
                <a:latin typeface="Source Han Sans CN"/>
                <a:ea typeface="Source Han Sans CN"/>
              </a:rPr>
              <a:t> 1</a:t>
            </a:r>
            <a:r>
              <a:rPr lang="zh-CN" sz="1050">
                <a:solidFill>
                  <a:srgbClr val="4A5568"/>
                </a:solidFill>
                <a:latin typeface="Source Han Sans CN"/>
                <a:ea typeface="Source Han Sans CN"/>
              </a:rPr>
              <a:t>，默认</a:t>
            </a:r>
            <a:r>
              <a:rPr lang="en-US" sz="1050">
                <a:solidFill>
                  <a:srgbClr val="4A5568"/>
                </a:solidFill>
                <a:latin typeface="Source Han Sans CN"/>
                <a:ea typeface="Source Han Sans CN"/>
              </a:rPr>
              <a:t> 0.30 / 0.25 / 0.15 / 0.15 / 0.15</a:t>
            </a:r>
            <a:endParaRPr/>
          </a:p>
        </p:txBody>
      </p:sp>
      <p:sp>
        <p:nvSpPr>
          <p:cNvPr id="393" name="矩形: 圆角 392"/>
          <p:cNvSpPr/>
          <p:nvPr/>
        </p:nvSpPr>
        <p:spPr>
          <a:xfrm>
            <a:off x="381000" y="3343275"/>
            <a:ext cx="6667500" cy="1905000"/>
          </a:xfrm>
          <a:prstGeom prst="roundRect">
            <a:avLst>
              <a:gd name="adj" fmla="val 5000"/>
            </a:avLst>
          </a:prstGeom>
          <a:solidFill>
            <a:srgbClr val="F7F9FC"/>
          </a:solidFill>
          <a:ln w="12700">
            <a:solidFill>
              <a:srgbClr val="D6DCE5"/>
            </a:solidFill>
            <a:prstDash val="solid"/>
          </a:ln>
        </p:spPr>
        <p:txBody>
          <a:bodyPr/>
          <a:lstStyle/>
          <a:p>
            <a:endParaRPr/>
          </a:p>
        </p:txBody>
      </p:sp>
      <p:sp>
        <p:nvSpPr>
          <p:cNvPr id="394" name="文本框 393" descr="{&quot;isTemplate&quot;:true,&quot;type&quot;:&quot;text&quot;}"/>
          <p:cNvSpPr txBox="1"/>
          <p:nvPr/>
        </p:nvSpPr>
        <p:spPr>
          <a:xfrm>
            <a:off x="571500" y="3495675"/>
            <a:ext cx="6286500" cy="219075"/>
          </a:xfrm>
          <a:prstGeom prst="rect">
            <a:avLst/>
          </a:prstGeom>
        </p:spPr>
        <p:txBody>
          <a:bodyPr wrap="none" lIns="0" tIns="0" rIns="0" bIns="0"/>
          <a:lstStyle/>
          <a:p>
            <a:pPr>
              <a:lnSpc>
                <a:spcPct val="100000"/>
              </a:lnSpc>
            </a:pPr>
            <a:r>
              <a:rPr lang="en-US" sz="1425" b="1">
                <a:solidFill>
                  <a:srgbClr val="0E3F8C"/>
                </a:solidFill>
                <a:latin typeface="Source Han Sans CN"/>
                <a:ea typeface="Source Han Sans CN"/>
              </a:rPr>
              <a:t>② </a:t>
            </a:r>
            <a:r>
              <a:rPr lang="zh-CN" sz="1425" b="1">
                <a:solidFill>
                  <a:srgbClr val="0E3F8C"/>
                </a:solidFill>
                <a:latin typeface="Source Han Sans CN"/>
                <a:ea typeface="Source Han Sans CN"/>
              </a:rPr>
              <a:t>候选池（能力无关）</a:t>
            </a:r>
            <a:r>
              <a:rPr lang="en-US" sz="1425" b="1">
                <a:solidFill>
                  <a:srgbClr val="0E3F8C"/>
                </a:solidFill>
                <a:latin typeface="Source Han Sans CN"/>
                <a:ea typeface="Source Han Sans CN"/>
              </a:rPr>
              <a:t>/ </a:t>
            </a:r>
            <a:r>
              <a:rPr lang="zh-CN" sz="1425" b="1">
                <a:solidFill>
                  <a:srgbClr val="0E3F8C"/>
                </a:solidFill>
                <a:latin typeface="Source Han Sans CN"/>
                <a:ea typeface="Source Han Sans CN"/>
              </a:rPr>
              <a:t>选择数（卡</a:t>
            </a:r>
            <a:r>
              <a:rPr lang="en-US" sz="1425" b="1">
                <a:solidFill>
                  <a:srgbClr val="0E3F8C"/>
                </a:solidFill>
                <a:latin typeface="Source Han Sans CN"/>
                <a:ea typeface="Source Han Sans CN"/>
              </a:rPr>
              <a:t> cap</a:t>
            </a:r>
            <a:r>
              <a:rPr lang="zh-CN" sz="1425" b="1">
                <a:solidFill>
                  <a:srgbClr val="0E3F8C"/>
                </a:solidFill>
                <a:latin typeface="Source Han Sans CN"/>
                <a:ea typeface="Source Han Sans CN"/>
              </a:rPr>
              <a:t>）：机数名额</a:t>
            </a:r>
            <a:r>
              <a:rPr lang="en-US" sz="1425" b="1">
                <a:solidFill>
                  <a:srgbClr val="0E3F8C"/>
                </a:solidFill>
                <a:latin typeface="Source Han Sans CN"/>
                <a:ea typeface="Source Han Sans CN"/>
              </a:rPr>
              <a:t> × </a:t>
            </a:r>
            <a:r>
              <a:rPr lang="zh-CN" sz="1425" b="1">
                <a:solidFill>
                  <a:srgbClr val="0E3F8C"/>
                </a:solidFill>
                <a:latin typeface="Source Han Sans CN"/>
                <a:ea typeface="Source Han Sans CN"/>
              </a:rPr>
              <a:t>能力上界解耦</a:t>
            </a:r>
            <a:endParaRPr/>
          </a:p>
        </p:txBody>
      </p:sp>
      <p:sp>
        <p:nvSpPr>
          <p:cNvPr id="395" name="矩形: 圆角 394"/>
          <p:cNvSpPr/>
          <p:nvPr/>
        </p:nvSpPr>
        <p:spPr>
          <a:xfrm>
            <a:off x="571500" y="3829050"/>
            <a:ext cx="6286500" cy="619125"/>
          </a:xfrm>
          <a:prstGeom prst="roundRect">
            <a:avLst>
              <a:gd name="adj" fmla="val 12308"/>
            </a:avLst>
          </a:prstGeom>
          <a:solidFill>
            <a:srgbClr val="E8EFF8"/>
          </a:solidFill>
          <a:ln/>
        </p:spPr>
        <p:txBody>
          <a:bodyPr/>
          <a:lstStyle/>
          <a:p>
            <a:endParaRPr/>
          </a:p>
        </p:txBody>
      </p:sp>
      <p:sp>
        <p:nvSpPr>
          <p:cNvPr id="396" name="文本框 395" descr="{&quot;isTemplate&quot;:true,&quot;type&quot;:&quot;text&quot;}"/>
          <p:cNvSpPr txBox="1"/>
          <p:nvPr/>
        </p:nvSpPr>
        <p:spPr>
          <a:xfrm>
            <a:off x="904875" y="3943350"/>
            <a:ext cx="5629275" cy="190500"/>
          </a:xfrm>
          <a:prstGeom prst="rect">
            <a:avLst/>
          </a:prstGeom>
        </p:spPr>
        <p:txBody>
          <a:bodyPr wrap="none" lIns="0" tIns="0" rIns="0" bIns="0"/>
          <a:lstStyle/>
          <a:p>
            <a:pPr>
              <a:lnSpc>
                <a:spcPct val="100000"/>
              </a:lnSpc>
            </a:pPr>
            <a:r>
              <a:rPr lang="en-US" sz="1238" b="1">
                <a:solidFill>
                  <a:srgbClr val="0E3F8C"/>
                </a:solidFill>
                <a:latin typeface="Source Han Sans CN"/>
                <a:ea typeface="Source Han Sans CN"/>
              </a:rPr>
              <a:t>n_cand = ceil(α·K)</a:t>
            </a:r>
            <a:r>
              <a:rPr lang="zh-CN" sz="1238" b="1">
                <a:solidFill>
                  <a:srgbClr val="0E3F8C"/>
                </a:solidFill>
                <a:latin typeface="Source Han Sans CN"/>
                <a:ea typeface="Source Han Sans CN"/>
              </a:rPr>
              <a:t>（能力无关）　　</a:t>
            </a:r>
            <a:r>
              <a:rPr lang="en-US" sz="1238" b="1">
                <a:solidFill>
                  <a:srgbClr val="0E3F8C"/>
                </a:solidFill>
                <a:latin typeface="Source Han Sans CN"/>
                <a:ea typeface="Source Han Sans CN"/>
              </a:rPr>
              <a:t>n_sel = min{ceil(max_ratio·K), cap(t)}</a:t>
            </a:r>
            <a:endParaRPr/>
          </a:p>
        </p:txBody>
      </p:sp>
      <p:sp>
        <p:nvSpPr>
          <p:cNvPr id="397" name="文本框 396" descr="{&quot;isTemplate&quot;:true,&quot;type&quot;:&quot;text&quot;}"/>
          <p:cNvSpPr txBox="1"/>
          <p:nvPr/>
        </p:nvSpPr>
        <p:spPr>
          <a:xfrm>
            <a:off x="1181100" y="4181475"/>
            <a:ext cx="5067300" cy="152400"/>
          </a:xfrm>
          <a:prstGeom prst="rect">
            <a:avLst/>
          </a:prstGeom>
        </p:spPr>
        <p:txBody>
          <a:bodyPr wrap="none" lIns="0" tIns="0" rIns="0" bIns="0"/>
          <a:lstStyle/>
          <a:p>
            <a:pPr>
              <a:lnSpc>
                <a:spcPct val="100000"/>
              </a:lnSpc>
            </a:pPr>
            <a:r>
              <a:rPr lang="en-US" sz="975">
                <a:solidFill>
                  <a:srgbClr val="4A5568"/>
                </a:solidFill>
                <a:latin typeface="Source Han Sans CN"/>
                <a:ea typeface="Source Han Sans CN"/>
              </a:rPr>
              <a:t>cap(t) = max(min_cap, ⌊B(t)/c_med⌋)</a:t>
            </a:r>
            <a:r>
              <a:rPr lang="zh-CN" sz="975">
                <a:solidFill>
                  <a:srgbClr val="4A5568"/>
                </a:solidFill>
                <a:latin typeface="Source Han Sans CN"/>
                <a:ea typeface="Source Han Sans CN"/>
              </a:rPr>
              <a:t>；</a:t>
            </a:r>
            <a:r>
              <a:rPr lang="en-US" sz="975">
                <a:solidFill>
                  <a:srgbClr val="4A5568"/>
                </a:solidFill>
                <a:latin typeface="Source Han Sans CN"/>
                <a:ea typeface="Source Han Sans CN"/>
              </a:rPr>
              <a:t>K = </a:t>
            </a:r>
            <a:r>
              <a:rPr lang="zh-CN" sz="975">
                <a:solidFill>
                  <a:srgbClr val="4A5568"/>
                </a:solidFill>
                <a:latin typeface="Source Han Sans CN"/>
                <a:ea typeface="Source Han Sans CN"/>
              </a:rPr>
              <a:t>可用无人机数，α</a:t>
            </a:r>
            <a:r>
              <a:rPr lang="en-US" sz="975">
                <a:solidFill>
                  <a:srgbClr val="4A5568"/>
                </a:solidFill>
                <a:latin typeface="Source Han Sans CN"/>
                <a:ea typeface="Source Han Sans CN"/>
              </a:rPr>
              <a:t> = 2.5</a:t>
            </a:r>
            <a:r>
              <a:rPr lang="zh-CN" sz="975">
                <a:solidFill>
                  <a:srgbClr val="4A5568"/>
                </a:solidFill>
                <a:latin typeface="Source Han Sans CN"/>
                <a:ea typeface="Source Han Sans CN"/>
              </a:rPr>
              <a:t>、</a:t>
            </a:r>
            <a:r>
              <a:rPr lang="en-US" sz="975">
                <a:solidFill>
                  <a:srgbClr val="4A5568"/>
                </a:solidFill>
                <a:latin typeface="Source Han Sans CN"/>
                <a:ea typeface="Source Han Sans CN"/>
              </a:rPr>
              <a:t>max_ratio = 2.0 </a:t>
            </a:r>
            <a:r>
              <a:rPr lang="zh-CN" sz="975">
                <a:solidFill>
                  <a:srgbClr val="4A5568"/>
                </a:solidFill>
                <a:latin typeface="Source Han Sans CN"/>
                <a:ea typeface="Source Han Sans CN"/>
              </a:rPr>
              <a:t>为机数倍率</a:t>
            </a:r>
            <a:endParaRPr/>
          </a:p>
        </p:txBody>
      </p:sp>
      <p:sp>
        <p:nvSpPr>
          <p:cNvPr id="398" name="文本框 397" descr="{&quot;isTemplate&quot;:true,&quot;type&quot;:&quot;text&quot;}"/>
          <p:cNvSpPr txBox="1"/>
          <p:nvPr/>
        </p:nvSpPr>
        <p:spPr>
          <a:xfrm>
            <a:off x="571500" y="4543425"/>
            <a:ext cx="6286500" cy="552450"/>
          </a:xfrm>
          <a:prstGeom prst="rect">
            <a:avLst/>
          </a:prstGeom>
        </p:spPr>
        <p:txBody>
          <a:bodyPr wrap="square" lIns="0" tIns="0" rIns="0" bIns="0">
            <a:normAutofit/>
          </a:bodyPr>
          <a:lstStyle/>
          <a:p>
            <a:pPr>
              <a:lnSpc>
                <a:spcPct val="170000"/>
              </a:lnSpc>
            </a:pPr>
            <a:r>
              <a:rPr lang="zh-CN" sz="1050">
                <a:solidFill>
                  <a:srgbClr val="4A5568"/>
                </a:solidFill>
                <a:latin typeface="Source Han Sans CN"/>
                <a:ea typeface="Source Han Sans CN"/>
              </a:rPr>
              <a:t>机数名额保护搜索复杂度；能力承载数只计</a:t>
            </a:r>
            <a:r>
              <a:rPr lang="zh-CN" sz="1050" b="1">
                <a:solidFill>
                  <a:srgbClr val="4A5568"/>
                </a:solidFill>
                <a:latin typeface="Source Han Sans CN"/>
                <a:ea typeface="Source Han Sans CN"/>
              </a:rPr>
              <a:t>可起飞子集</a:t>
            </a:r>
            <a:r>
              <a:rPr lang="zh-CN" sz="1050">
                <a:solidFill>
                  <a:srgbClr val="4A5568"/>
                </a:solidFill>
                <a:latin typeface="Source Han Sans CN"/>
                <a:ea typeface="Source Han Sans CN"/>
              </a:rPr>
              <a:t>的剩余航程</a:t>
            </a:r>
            <a:r>
              <a:rPr lang="en-US" sz="1050">
                <a:solidFill>
                  <a:srgbClr val="4A5568"/>
                </a:solidFill>
                <a:latin typeface="Source Han Sans CN"/>
                <a:ea typeface="Source Han Sans CN"/>
              </a:rPr>
              <a:t> B(t)——</a:t>
            </a:r>
            <a:r>
              <a:rPr lang="zh-CN" sz="1050">
                <a:solidFill>
                  <a:srgbClr val="4A5568"/>
                </a:solidFill>
                <a:latin typeface="Source Han Sans CN"/>
                <a:ea typeface="Source Han Sans CN"/>
              </a:rPr>
              <a:t>正在充电的机是幻影容量，不计入；紧急</a:t>
            </a:r>
            <a:r>
              <a:rPr lang="en-US" sz="1050">
                <a:solidFill>
                  <a:srgbClr val="4A5568"/>
                </a:solidFill>
                <a:latin typeface="Source Han Sans CN"/>
                <a:ea typeface="Source Han Sans CN"/>
              </a:rPr>
              <a:t>/</a:t>
            </a:r>
            <a:r>
              <a:rPr lang="zh-CN" sz="1050">
                <a:solidFill>
                  <a:srgbClr val="4A5568"/>
                </a:solidFill>
                <a:latin typeface="Source Han Sans CN"/>
                <a:ea typeface="Source Han Sans CN"/>
              </a:rPr>
              <a:t>释放任务可绕过名额强制纳入，但仍须过可行性检查</a:t>
            </a:r>
            <a:endParaRPr/>
          </a:p>
        </p:txBody>
      </p:sp>
      <p:sp>
        <p:nvSpPr>
          <p:cNvPr id="399" name="矩形: 圆角 398"/>
          <p:cNvSpPr/>
          <p:nvPr/>
        </p:nvSpPr>
        <p:spPr>
          <a:xfrm>
            <a:off x="381000" y="5400675"/>
            <a:ext cx="6667500" cy="495300"/>
          </a:xfrm>
          <a:prstGeom prst="roundRect">
            <a:avLst>
              <a:gd name="adj" fmla="val 19231"/>
            </a:avLst>
          </a:prstGeom>
          <a:solidFill>
            <a:srgbClr val="F0F5FC"/>
          </a:solidFill>
          <a:ln w="12700">
            <a:solidFill>
              <a:srgbClr val="D6DCE5"/>
            </a:solidFill>
            <a:prstDash val="solid"/>
          </a:ln>
        </p:spPr>
        <p:txBody>
          <a:bodyPr/>
          <a:lstStyle/>
          <a:p>
            <a:endParaRPr/>
          </a:p>
        </p:txBody>
      </p:sp>
      <p:sp>
        <p:nvSpPr>
          <p:cNvPr id="400" name="文本框 399" descr="{&quot;isTemplate&quot;:true,&quot;type&quot;:&quot;text&quot;}"/>
          <p:cNvSpPr txBox="1"/>
          <p:nvPr/>
        </p:nvSpPr>
        <p:spPr>
          <a:xfrm>
            <a:off x="571500" y="5562600"/>
            <a:ext cx="571500" cy="171450"/>
          </a:xfrm>
          <a:prstGeom prst="rect">
            <a:avLst/>
          </a:prstGeom>
        </p:spPr>
        <p:txBody>
          <a:bodyPr wrap="none" lIns="0" tIns="0" rIns="0" bIns="0"/>
          <a:lstStyle/>
          <a:p>
            <a:pPr>
              <a:lnSpc>
                <a:spcPct val="100000"/>
              </a:lnSpc>
            </a:pPr>
            <a:r>
              <a:rPr lang="zh-CN" sz="1125" b="1">
                <a:solidFill>
                  <a:srgbClr val="0E3F8C"/>
                </a:solidFill>
                <a:latin typeface="Source Han Sans CN"/>
                <a:ea typeface="Source Han Sans CN"/>
              </a:rPr>
              <a:t>机制串联：</a:t>
            </a:r>
            <a:endParaRPr/>
          </a:p>
        </p:txBody>
      </p:sp>
      <p:sp>
        <p:nvSpPr>
          <p:cNvPr id="401" name="矩形: 圆角 400"/>
          <p:cNvSpPr/>
          <p:nvPr/>
        </p:nvSpPr>
        <p:spPr>
          <a:xfrm>
            <a:off x="1238250" y="5438775"/>
            <a:ext cx="666750" cy="419100"/>
          </a:xfrm>
          <a:prstGeom prst="roundRect">
            <a:avLst>
              <a:gd name="adj" fmla="val 31818"/>
            </a:avLst>
          </a:prstGeom>
          <a:solidFill>
            <a:srgbClr val="FFFFFF"/>
          </a:solidFill>
          <a:ln w="12700">
            <a:solidFill>
              <a:srgbClr val="3D7BD9"/>
            </a:solidFill>
            <a:prstDash val="solid"/>
          </a:ln>
        </p:spPr>
        <p:txBody>
          <a:bodyPr/>
          <a:lstStyle/>
          <a:p>
            <a:endParaRPr/>
          </a:p>
        </p:txBody>
      </p:sp>
      <p:sp>
        <p:nvSpPr>
          <p:cNvPr id="402" name="文本框 401" descr="{&quot;isTemplate&quot;:true,&quot;type&quot;:&quot;text&quot;}"/>
          <p:cNvSpPr txBox="1"/>
          <p:nvPr/>
        </p:nvSpPr>
        <p:spPr>
          <a:xfrm>
            <a:off x="1352550" y="5495925"/>
            <a:ext cx="438150" cy="304800"/>
          </a:xfrm>
          <a:prstGeom prst="rect">
            <a:avLst/>
          </a:prstGeom>
        </p:spPr>
        <p:txBody>
          <a:bodyPr wrap="square" lIns="0" tIns="0" rIns="0" bIns="0">
            <a:normAutofit/>
          </a:bodyPr>
          <a:lstStyle/>
          <a:p>
            <a:pPr>
              <a:lnSpc>
                <a:spcPct val="100000"/>
              </a:lnSpc>
            </a:pPr>
            <a:r>
              <a:rPr lang="zh-CN" sz="975">
                <a:solidFill>
                  <a:srgbClr val="1E4FA8"/>
                </a:solidFill>
                <a:latin typeface="Source Han Sans CN"/>
                <a:ea typeface="Source Han Sans CN"/>
              </a:rPr>
              <a:t>按</a:t>
            </a:r>
            <a:r>
              <a:rPr lang="en-US" sz="975">
                <a:solidFill>
                  <a:srgbClr val="1E4FA8"/>
                </a:solidFill>
                <a:latin typeface="Source Han Sans CN"/>
                <a:ea typeface="Source Han Sans CN"/>
              </a:rPr>
              <a:t> P_i </a:t>
            </a:r>
            <a:r>
              <a:rPr lang="zh-CN" sz="975">
                <a:solidFill>
                  <a:srgbClr val="1E4FA8"/>
                </a:solidFill>
                <a:latin typeface="Source Han Sans CN"/>
                <a:ea typeface="Source Han Sans CN"/>
              </a:rPr>
              <a:t>排序</a:t>
            </a:r>
            <a:endParaRPr/>
          </a:p>
        </p:txBody>
      </p:sp>
      <p:sp>
        <p:nvSpPr>
          <p:cNvPr id="403" name="文本框 402" descr="{&quot;isTemplate&quot;:true,&quot;type&quot;:&quot;text&quot;}"/>
          <p:cNvSpPr txBox="1"/>
          <p:nvPr/>
        </p:nvSpPr>
        <p:spPr>
          <a:xfrm>
            <a:off x="2000250" y="5553075"/>
            <a:ext cx="123825" cy="190500"/>
          </a:xfrm>
          <a:prstGeom prst="rect">
            <a:avLst/>
          </a:prstGeom>
        </p:spPr>
        <p:txBody>
          <a:bodyPr wrap="none" lIns="0" tIns="0" rIns="0" bIns="0"/>
          <a:lstStyle/>
          <a:p>
            <a:pPr>
              <a:lnSpc>
                <a:spcPct val="100000"/>
              </a:lnSpc>
            </a:pPr>
            <a:r>
              <a:rPr sz="1200" b="1">
                <a:solidFill>
                  <a:srgbClr val="3D7BD9"/>
                </a:solidFill>
                <a:latin typeface="Source Han Sans CN"/>
                <a:ea typeface="Source Han Sans CN"/>
              </a:rPr>
              <a:t>→</a:t>
            </a:r>
            <a:endParaRPr/>
          </a:p>
        </p:txBody>
      </p:sp>
      <p:sp>
        <p:nvSpPr>
          <p:cNvPr id="404" name="矩形: 圆角 403"/>
          <p:cNvSpPr/>
          <p:nvPr/>
        </p:nvSpPr>
        <p:spPr>
          <a:xfrm>
            <a:off x="2219325" y="5438775"/>
            <a:ext cx="885825" cy="419100"/>
          </a:xfrm>
          <a:prstGeom prst="roundRect">
            <a:avLst>
              <a:gd name="adj" fmla="val 31818"/>
            </a:avLst>
          </a:prstGeom>
          <a:solidFill>
            <a:srgbClr val="FFFFFF"/>
          </a:solidFill>
          <a:ln w="12700">
            <a:solidFill>
              <a:srgbClr val="3D7BD9"/>
            </a:solidFill>
            <a:prstDash val="solid"/>
          </a:ln>
        </p:spPr>
        <p:txBody>
          <a:bodyPr/>
          <a:lstStyle/>
          <a:p>
            <a:endParaRPr/>
          </a:p>
        </p:txBody>
      </p:sp>
      <p:sp>
        <p:nvSpPr>
          <p:cNvPr id="405" name="文本框 404" descr="{&quot;isTemplate&quot;:true,&quot;type&quot;:&quot;text&quot;}"/>
          <p:cNvSpPr txBox="1"/>
          <p:nvPr/>
        </p:nvSpPr>
        <p:spPr>
          <a:xfrm>
            <a:off x="2333625" y="5495925"/>
            <a:ext cx="657225" cy="304800"/>
          </a:xfrm>
          <a:prstGeom prst="rect">
            <a:avLst/>
          </a:prstGeom>
        </p:spPr>
        <p:txBody>
          <a:bodyPr wrap="square" lIns="0" tIns="0" rIns="0" bIns="0">
            <a:normAutofit/>
          </a:bodyPr>
          <a:lstStyle/>
          <a:p>
            <a:pPr>
              <a:lnSpc>
                <a:spcPct val="100000"/>
              </a:lnSpc>
            </a:pPr>
            <a:r>
              <a:rPr lang="en-US" sz="975">
                <a:solidFill>
                  <a:srgbClr val="1E4FA8"/>
                </a:solidFill>
                <a:latin typeface="Source Han Sans CN"/>
                <a:ea typeface="Source Han Sans CN"/>
              </a:rPr>
              <a:t>n_cand </a:t>
            </a:r>
            <a:r>
              <a:rPr lang="zh-CN" sz="975">
                <a:solidFill>
                  <a:srgbClr val="1E4FA8"/>
                </a:solidFill>
                <a:latin typeface="Source Han Sans CN"/>
                <a:ea typeface="Source Han Sans CN"/>
              </a:rPr>
              <a:t>候选</a:t>
            </a:r>
            <a:r>
              <a:rPr lang="en-US" sz="975">
                <a:solidFill>
                  <a:srgbClr val="1E4FA8"/>
                </a:solidFill>
                <a:latin typeface="Source Han Sans CN"/>
                <a:ea typeface="Source Han Sans CN"/>
              </a:rPr>
              <a:t>(</a:t>
            </a:r>
            <a:r>
              <a:rPr lang="zh-CN" sz="975">
                <a:solidFill>
                  <a:srgbClr val="1E4FA8"/>
                </a:solidFill>
                <a:latin typeface="Source Han Sans CN"/>
                <a:ea typeface="Source Han Sans CN"/>
              </a:rPr>
              <a:t>富</a:t>
            </a:r>
            <a:r>
              <a:rPr lang="en-US" sz="975">
                <a:solidFill>
                  <a:srgbClr val="1E4FA8"/>
                </a:solidFill>
                <a:latin typeface="Source Han Sans CN"/>
                <a:ea typeface="Source Han Sans CN"/>
              </a:rPr>
              <a:t>)</a:t>
            </a:r>
            <a:endParaRPr/>
          </a:p>
        </p:txBody>
      </p:sp>
      <p:sp>
        <p:nvSpPr>
          <p:cNvPr id="406" name="文本框 405" descr="{&quot;isTemplate&quot;:true,&quot;type&quot;:&quot;text&quot;}"/>
          <p:cNvSpPr txBox="1"/>
          <p:nvPr/>
        </p:nvSpPr>
        <p:spPr>
          <a:xfrm>
            <a:off x="3200400" y="5553075"/>
            <a:ext cx="123825" cy="190500"/>
          </a:xfrm>
          <a:prstGeom prst="rect">
            <a:avLst/>
          </a:prstGeom>
        </p:spPr>
        <p:txBody>
          <a:bodyPr wrap="none" lIns="0" tIns="0" rIns="0" bIns="0"/>
          <a:lstStyle/>
          <a:p>
            <a:pPr>
              <a:lnSpc>
                <a:spcPct val="100000"/>
              </a:lnSpc>
            </a:pPr>
            <a:r>
              <a:rPr sz="1200" b="1">
                <a:solidFill>
                  <a:srgbClr val="3D7BD9"/>
                </a:solidFill>
                <a:latin typeface="Source Han Sans CN"/>
                <a:ea typeface="Source Han Sans CN"/>
              </a:rPr>
              <a:t>→</a:t>
            </a:r>
            <a:endParaRPr/>
          </a:p>
        </p:txBody>
      </p:sp>
      <p:sp>
        <p:nvSpPr>
          <p:cNvPr id="407" name="矩形: 圆角 406"/>
          <p:cNvSpPr/>
          <p:nvPr/>
        </p:nvSpPr>
        <p:spPr>
          <a:xfrm>
            <a:off x="3419475" y="5438775"/>
            <a:ext cx="857250" cy="419100"/>
          </a:xfrm>
          <a:prstGeom prst="roundRect">
            <a:avLst>
              <a:gd name="adj" fmla="val 31818"/>
            </a:avLst>
          </a:prstGeom>
          <a:solidFill>
            <a:srgbClr val="FFFFFF"/>
          </a:solidFill>
          <a:ln w="12700">
            <a:solidFill>
              <a:srgbClr val="3D7BD9"/>
            </a:solidFill>
            <a:prstDash val="solid"/>
          </a:ln>
        </p:spPr>
        <p:txBody>
          <a:bodyPr/>
          <a:lstStyle/>
          <a:p>
            <a:endParaRPr/>
          </a:p>
        </p:txBody>
      </p:sp>
      <p:sp>
        <p:nvSpPr>
          <p:cNvPr id="408" name="文本框 407" descr="{&quot;isTemplate&quot;:true,&quot;type&quot;:&quot;text&quot;}"/>
          <p:cNvSpPr txBox="1"/>
          <p:nvPr/>
        </p:nvSpPr>
        <p:spPr>
          <a:xfrm>
            <a:off x="3533775" y="5495925"/>
            <a:ext cx="628650" cy="304800"/>
          </a:xfrm>
          <a:prstGeom prst="rect">
            <a:avLst/>
          </a:prstGeom>
        </p:spPr>
        <p:txBody>
          <a:bodyPr wrap="square" lIns="0" tIns="0" rIns="0" bIns="0">
            <a:normAutofit/>
          </a:bodyPr>
          <a:lstStyle/>
          <a:p>
            <a:pPr>
              <a:lnSpc>
                <a:spcPct val="100000"/>
              </a:lnSpc>
            </a:pPr>
            <a:r>
              <a:rPr lang="zh-CN" sz="975">
                <a:solidFill>
                  <a:srgbClr val="1E4FA8"/>
                </a:solidFill>
                <a:latin typeface="Source Han Sans CN"/>
                <a:ea typeface="Source Han Sans CN"/>
              </a:rPr>
              <a:t>闸门①</a:t>
            </a:r>
            <a:r>
              <a:rPr lang="en-US" sz="975">
                <a:solidFill>
                  <a:srgbClr val="1E4FA8"/>
                </a:solidFill>
                <a:latin typeface="Source Han Sans CN"/>
                <a:ea typeface="Source Han Sans CN"/>
              </a:rPr>
              <a:t> prefilter</a:t>
            </a:r>
            <a:endParaRPr/>
          </a:p>
        </p:txBody>
      </p:sp>
      <p:sp>
        <p:nvSpPr>
          <p:cNvPr id="409" name="文本框 408" descr="{&quot;isTemplate&quot;:true,&quot;type&quot;:&quot;text&quot;}"/>
          <p:cNvSpPr txBox="1"/>
          <p:nvPr/>
        </p:nvSpPr>
        <p:spPr>
          <a:xfrm>
            <a:off x="4371975" y="5553075"/>
            <a:ext cx="123825" cy="190500"/>
          </a:xfrm>
          <a:prstGeom prst="rect">
            <a:avLst/>
          </a:prstGeom>
        </p:spPr>
        <p:txBody>
          <a:bodyPr wrap="none" lIns="0" tIns="0" rIns="0" bIns="0"/>
          <a:lstStyle/>
          <a:p>
            <a:pPr>
              <a:lnSpc>
                <a:spcPct val="100000"/>
              </a:lnSpc>
            </a:pPr>
            <a:r>
              <a:rPr sz="1200" b="1">
                <a:solidFill>
                  <a:srgbClr val="3D7BD9"/>
                </a:solidFill>
                <a:latin typeface="Source Han Sans CN"/>
                <a:ea typeface="Source Han Sans CN"/>
              </a:rPr>
              <a:t>→</a:t>
            </a:r>
            <a:endParaRPr/>
          </a:p>
        </p:txBody>
      </p:sp>
      <p:sp>
        <p:nvSpPr>
          <p:cNvPr id="410" name="矩形: 圆角 409"/>
          <p:cNvSpPr/>
          <p:nvPr/>
        </p:nvSpPr>
        <p:spPr>
          <a:xfrm>
            <a:off x="4591050" y="5438775"/>
            <a:ext cx="990600" cy="419100"/>
          </a:xfrm>
          <a:prstGeom prst="roundRect">
            <a:avLst>
              <a:gd name="adj" fmla="val 31818"/>
            </a:avLst>
          </a:prstGeom>
          <a:solidFill>
            <a:srgbClr val="FFFFFF"/>
          </a:solidFill>
          <a:ln w="12700">
            <a:solidFill>
              <a:srgbClr val="3D7BD9"/>
            </a:solidFill>
            <a:prstDash val="solid"/>
          </a:ln>
        </p:spPr>
        <p:txBody>
          <a:bodyPr/>
          <a:lstStyle/>
          <a:p>
            <a:endParaRPr/>
          </a:p>
        </p:txBody>
      </p:sp>
      <p:sp>
        <p:nvSpPr>
          <p:cNvPr id="411" name="文本框 410" descr="{&quot;isTemplate&quot;:true,&quot;type&quot;:&quot;text&quot;}"/>
          <p:cNvSpPr txBox="1"/>
          <p:nvPr/>
        </p:nvSpPr>
        <p:spPr>
          <a:xfrm>
            <a:off x="4705350" y="5495925"/>
            <a:ext cx="762000" cy="304800"/>
          </a:xfrm>
          <a:prstGeom prst="rect">
            <a:avLst/>
          </a:prstGeom>
        </p:spPr>
        <p:txBody>
          <a:bodyPr wrap="square" lIns="0" tIns="0" rIns="0" bIns="0">
            <a:normAutofit/>
          </a:bodyPr>
          <a:lstStyle/>
          <a:p>
            <a:pPr>
              <a:lnSpc>
                <a:spcPct val="100000"/>
              </a:lnSpc>
            </a:pPr>
            <a:r>
              <a:rPr lang="en-US" sz="975">
                <a:solidFill>
                  <a:srgbClr val="1E4FA8"/>
                </a:solidFill>
                <a:latin typeface="Source Han Sans CN"/>
                <a:ea typeface="Source Han Sans CN"/>
              </a:rPr>
              <a:t>n_sel </a:t>
            </a:r>
            <a:r>
              <a:rPr lang="zh-CN" sz="975">
                <a:solidFill>
                  <a:srgbClr val="1E4FA8"/>
                </a:solidFill>
                <a:latin typeface="Source Han Sans CN"/>
                <a:ea typeface="Source Han Sans CN"/>
              </a:rPr>
              <a:t>边际纳入</a:t>
            </a:r>
            <a:r>
              <a:rPr lang="en-US" sz="975">
                <a:solidFill>
                  <a:srgbClr val="1E4FA8"/>
                </a:solidFill>
                <a:latin typeface="Source Han Sans CN"/>
                <a:ea typeface="Source Han Sans CN"/>
              </a:rPr>
              <a:t>(</a:t>
            </a:r>
            <a:r>
              <a:rPr lang="zh-CN" sz="975">
                <a:solidFill>
                  <a:srgbClr val="1E4FA8"/>
                </a:solidFill>
                <a:latin typeface="Source Han Sans CN"/>
                <a:ea typeface="Source Han Sans CN"/>
              </a:rPr>
              <a:t>紧</a:t>
            </a:r>
            <a:r>
              <a:rPr lang="en-US" sz="975">
                <a:solidFill>
                  <a:srgbClr val="1E4FA8"/>
                </a:solidFill>
                <a:latin typeface="Source Han Sans CN"/>
                <a:ea typeface="Source Han Sans CN"/>
              </a:rPr>
              <a:t>)</a:t>
            </a:r>
            <a:endParaRPr/>
          </a:p>
        </p:txBody>
      </p:sp>
      <p:sp>
        <p:nvSpPr>
          <p:cNvPr id="412" name="文本框 411" descr="{&quot;isTemplate&quot;:true,&quot;type&quot;:&quot;text&quot;}"/>
          <p:cNvSpPr txBox="1"/>
          <p:nvPr/>
        </p:nvSpPr>
        <p:spPr>
          <a:xfrm>
            <a:off x="5676900" y="5553075"/>
            <a:ext cx="123825" cy="190500"/>
          </a:xfrm>
          <a:prstGeom prst="rect">
            <a:avLst/>
          </a:prstGeom>
        </p:spPr>
        <p:txBody>
          <a:bodyPr wrap="none" lIns="0" tIns="0" rIns="0" bIns="0"/>
          <a:lstStyle/>
          <a:p>
            <a:pPr>
              <a:lnSpc>
                <a:spcPct val="100000"/>
              </a:lnSpc>
            </a:pPr>
            <a:r>
              <a:rPr sz="1200" b="1">
                <a:solidFill>
                  <a:srgbClr val="3D7BD9"/>
                </a:solidFill>
                <a:latin typeface="Source Han Sans CN"/>
                <a:ea typeface="Source Han Sans CN"/>
              </a:rPr>
              <a:t>→</a:t>
            </a:r>
            <a:endParaRPr/>
          </a:p>
        </p:txBody>
      </p:sp>
      <p:sp>
        <p:nvSpPr>
          <p:cNvPr id="413" name="矩形: 圆角 412"/>
          <p:cNvSpPr/>
          <p:nvPr/>
        </p:nvSpPr>
        <p:spPr>
          <a:xfrm>
            <a:off x="5895975" y="5438775"/>
            <a:ext cx="962025" cy="419100"/>
          </a:xfrm>
          <a:prstGeom prst="roundRect">
            <a:avLst>
              <a:gd name="adj" fmla="val 31818"/>
            </a:avLst>
          </a:prstGeom>
          <a:solidFill>
            <a:srgbClr val="FFFFFF"/>
          </a:solidFill>
          <a:ln w="12700">
            <a:solidFill>
              <a:srgbClr val="3D7BD9"/>
            </a:solidFill>
            <a:prstDash val="solid"/>
          </a:ln>
        </p:spPr>
        <p:txBody>
          <a:bodyPr/>
          <a:lstStyle/>
          <a:p>
            <a:endParaRPr/>
          </a:p>
        </p:txBody>
      </p:sp>
      <p:sp>
        <p:nvSpPr>
          <p:cNvPr id="414" name="文本框 413" descr="{&quot;isTemplate&quot;:true,&quot;type&quot;:&quot;text&quot;}"/>
          <p:cNvSpPr txBox="1"/>
          <p:nvPr/>
        </p:nvSpPr>
        <p:spPr>
          <a:xfrm>
            <a:off x="6010275" y="5495925"/>
            <a:ext cx="733425" cy="304800"/>
          </a:xfrm>
          <a:prstGeom prst="rect">
            <a:avLst/>
          </a:prstGeom>
        </p:spPr>
        <p:txBody>
          <a:bodyPr wrap="square" lIns="0" tIns="0" rIns="0" bIns="0">
            <a:normAutofit/>
          </a:bodyPr>
          <a:lstStyle/>
          <a:p>
            <a:pPr>
              <a:lnSpc>
                <a:spcPct val="100000"/>
              </a:lnSpc>
            </a:pPr>
            <a:r>
              <a:rPr lang="zh-CN" sz="975">
                <a:solidFill>
                  <a:srgbClr val="1E4FA8"/>
                </a:solidFill>
                <a:latin typeface="Source Han Sans CN"/>
                <a:ea typeface="Source Han Sans CN"/>
              </a:rPr>
              <a:t>闸门②</a:t>
            </a:r>
            <a:r>
              <a:rPr lang="en-US" sz="975">
                <a:solidFill>
                  <a:srgbClr val="1E4FA8"/>
                </a:solidFill>
                <a:latin typeface="Source Han Sans CN"/>
                <a:ea typeface="Source Han Sans CN"/>
              </a:rPr>
              <a:t> postcheck</a:t>
            </a:r>
            <a:endParaRPr/>
          </a:p>
        </p:txBody>
      </p:sp>
      <p:sp>
        <p:nvSpPr>
          <p:cNvPr id="415" name="矩形: 圆角 414"/>
          <p:cNvSpPr/>
          <p:nvPr/>
        </p:nvSpPr>
        <p:spPr>
          <a:xfrm>
            <a:off x="7277100" y="1143000"/>
            <a:ext cx="4533900" cy="2400300"/>
          </a:xfrm>
          <a:prstGeom prst="roundRect">
            <a:avLst>
              <a:gd name="adj" fmla="val 3968"/>
            </a:avLst>
          </a:prstGeom>
          <a:solidFill>
            <a:srgbClr val="F0F5FC"/>
          </a:solidFill>
          <a:ln/>
        </p:spPr>
        <p:txBody>
          <a:bodyPr/>
          <a:lstStyle/>
          <a:p>
            <a:endParaRPr/>
          </a:p>
        </p:txBody>
      </p:sp>
      <p:sp>
        <p:nvSpPr>
          <p:cNvPr id="416" name="任意多边形: 形状 415"/>
          <p:cNvSpPr/>
          <p:nvPr/>
        </p:nvSpPr>
        <p:spPr>
          <a:xfrm>
            <a:off x="7277100" y="1143000"/>
            <a:ext cx="4533900" cy="2400300"/>
          </a:xfrm>
          <a:custGeom>
            <a:avLst/>
            <a:gdLst/>
            <a:ahLst/>
            <a:cxnLst/>
            <a:rect l="0" t="0" r="0" b="0"/>
            <a:pathLst>
              <a:path w="476" h="252">
                <a:moveTo>
                  <a:pt x="466" y="0"/>
                </a:moveTo>
                <a:cubicBezTo>
                  <a:pt x="471" y="0"/>
                  <a:pt x="475" y="4"/>
                  <a:pt x="476" y="8"/>
                </a:cubicBezTo>
                <a:cubicBezTo>
                  <a:pt x="475" y="6"/>
                  <a:pt x="473" y="4"/>
                  <a:pt x="470" y="4"/>
                </a:cubicBezTo>
                <a:lnTo>
                  <a:pt x="6" y="4"/>
                </a:lnTo>
                <a:cubicBezTo>
                  <a:pt x="3" y="4"/>
                  <a:pt x="1" y="6"/>
                  <a:pt x="0" y="9"/>
                </a:cubicBezTo>
                <a:cubicBezTo>
                  <a:pt x="1" y="4"/>
                  <a:pt x="5" y="0"/>
                  <a:pt x="10" y="0"/>
                </a:cubicBezTo>
                <a:lnTo>
                  <a:pt x="466" y="0"/>
                </a:lnTo>
                <a:close/>
              </a:path>
            </a:pathLst>
          </a:custGeom>
          <a:solidFill>
            <a:srgbClr val="1E4FA8"/>
          </a:solidFill>
          <a:ln/>
        </p:spPr>
        <p:txBody>
          <a:bodyPr/>
          <a:lstStyle/>
          <a:p>
            <a:endParaRPr/>
          </a:p>
        </p:txBody>
      </p:sp>
      <p:sp>
        <p:nvSpPr>
          <p:cNvPr id="417" name="文本框 416" descr="{&quot;isTemplate&quot;:true,&quot;type&quot;:&quot;text&quot;}"/>
          <p:cNvSpPr txBox="1"/>
          <p:nvPr/>
        </p:nvSpPr>
        <p:spPr>
          <a:xfrm>
            <a:off x="7467600" y="1276350"/>
            <a:ext cx="4152900" cy="219075"/>
          </a:xfrm>
          <a:prstGeom prst="rect">
            <a:avLst/>
          </a:prstGeom>
        </p:spPr>
        <p:txBody>
          <a:bodyPr wrap="none" lIns="0" tIns="0" rIns="0" bIns="0"/>
          <a:lstStyle/>
          <a:p>
            <a:pPr>
              <a:lnSpc>
                <a:spcPct val="100000"/>
              </a:lnSpc>
            </a:pPr>
            <a:r>
              <a:rPr lang="en-US" sz="1425" b="1">
                <a:solidFill>
                  <a:srgbClr val="0E3F8C"/>
                </a:solidFill>
                <a:latin typeface="Source Han Sans CN"/>
                <a:ea typeface="Source Han Sans CN"/>
              </a:rPr>
              <a:t>③ </a:t>
            </a:r>
            <a:r>
              <a:rPr lang="zh-CN" sz="1425" b="1">
                <a:solidFill>
                  <a:srgbClr val="0E3F8C"/>
                </a:solidFill>
                <a:latin typeface="Source Han Sans CN"/>
                <a:ea typeface="Source Han Sans CN"/>
              </a:rPr>
              <a:t>边际收益增量选择</a:t>
            </a:r>
            <a:endParaRPr/>
          </a:p>
        </p:txBody>
      </p:sp>
      <p:sp>
        <p:nvSpPr>
          <p:cNvPr id="418" name="矩形: 圆角 417"/>
          <p:cNvSpPr/>
          <p:nvPr/>
        </p:nvSpPr>
        <p:spPr>
          <a:xfrm>
            <a:off x="7467600" y="1590675"/>
            <a:ext cx="4152900" cy="885825"/>
          </a:xfrm>
          <a:prstGeom prst="roundRect">
            <a:avLst>
              <a:gd name="adj" fmla="val 8602"/>
            </a:avLst>
          </a:prstGeom>
          <a:solidFill>
            <a:srgbClr val="FFFFFF"/>
          </a:solidFill>
          <a:ln/>
        </p:spPr>
        <p:txBody>
          <a:bodyPr/>
          <a:lstStyle/>
          <a:p>
            <a:endParaRPr/>
          </a:p>
        </p:txBody>
      </p:sp>
      <p:sp>
        <p:nvSpPr>
          <p:cNvPr id="419" name="文本框 418" descr="{&quot;isTemplate&quot;:true,&quot;type&quot;:&quot;text&quot;}"/>
          <p:cNvSpPr txBox="1"/>
          <p:nvPr/>
        </p:nvSpPr>
        <p:spPr>
          <a:xfrm>
            <a:off x="8667750" y="1704975"/>
            <a:ext cx="1762125" cy="228600"/>
          </a:xfrm>
          <a:prstGeom prst="rect">
            <a:avLst/>
          </a:prstGeom>
        </p:spPr>
        <p:txBody>
          <a:bodyPr wrap="none" lIns="0" tIns="0" rIns="0" bIns="0"/>
          <a:lstStyle/>
          <a:p>
            <a:pPr>
              <a:lnSpc>
                <a:spcPct val="100000"/>
              </a:lnSpc>
            </a:pPr>
            <a:r>
              <a:rPr sz="1500" b="1">
                <a:solidFill>
                  <a:srgbClr val="0E3F8C"/>
                </a:solidFill>
                <a:latin typeface="Source Han Sans CN"/>
                <a:ea typeface="Source Han Sans CN"/>
              </a:rPr>
              <a:t>Δ</a:t>
            </a:r>
            <a:r>
              <a:rPr lang="en-US" sz="975" b="1">
                <a:solidFill>
                  <a:srgbClr val="0E3F8C"/>
                </a:solidFill>
                <a:latin typeface="Source Han Sans CN"/>
                <a:ea typeface="Source Han Sans CN"/>
              </a:rPr>
              <a:t>i</a:t>
            </a:r>
            <a:r>
              <a:rPr lang="en-US" sz="1500" b="1">
                <a:solidFill>
                  <a:srgbClr val="0E3F8C"/>
                </a:solidFill>
                <a:latin typeface="Source Han Sans CN"/>
                <a:ea typeface="Source Han Sans CN"/>
              </a:rPr>
              <a:t> = ΔB</a:t>
            </a:r>
            <a:r>
              <a:rPr lang="en-US" sz="975" b="1">
                <a:solidFill>
                  <a:srgbClr val="0E3F8C"/>
                </a:solidFill>
                <a:latin typeface="Source Han Sans CN"/>
                <a:ea typeface="Source Han Sans CN"/>
              </a:rPr>
              <a:t>i</a:t>
            </a:r>
            <a:r>
              <a:rPr lang="en-US" sz="1500" b="1">
                <a:solidFill>
                  <a:srgbClr val="0E3F8C"/>
                </a:solidFill>
                <a:latin typeface="Source Han Sans CN"/>
                <a:ea typeface="Source Han Sans CN"/>
              </a:rPr>
              <a:t> / (ΔC</a:t>
            </a:r>
            <a:r>
              <a:rPr lang="en-US" sz="975" b="1">
                <a:solidFill>
                  <a:srgbClr val="0E3F8C"/>
                </a:solidFill>
                <a:latin typeface="Source Han Sans CN"/>
                <a:ea typeface="Source Han Sans CN"/>
              </a:rPr>
              <a:t>i</a:t>
            </a:r>
            <a:r>
              <a:rPr lang="en-US" sz="1500" b="1">
                <a:solidFill>
                  <a:srgbClr val="0E3F8C"/>
                </a:solidFill>
                <a:latin typeface="Source Han Sans CN"/>
                <a:ea typeface="Source Han Sans CN"/>
              </a:rPr>
              <a:t> + ε)</a:t>
            </a:r>
            <a:endParaRPr/>
          </a:p>
        </p:txBody>
      </p:sp>
      <p:sp>
        <p:nvSpPr>
          <p:cNvPr id="420" name="文本框 419" descr="{&quot;isTemplate&quot;:true,&quot;type&quot;:&quot;text&quot;}"/>
          <p:cNvSpPr txBox="1"/>
          <p:nvPr/>
        </p:nvSpPr>
        <p:spPr>
          <a:xfrm>
            <a:off x="7600950" y="1990725"/>
            <a:ext cx="3886200" cy="371475"/>
          </a:xfrm>
          <a:prstGeom prst="rect">
            <a:avLst/>
          </a:prstGeom>
        </p:spPr>
        <p:txBody>
          <a:bodyPr wrap="square" lIns="0" tIns="0" rIns="0" bIns="0">
            <a:normAutofit/>
          </a:bodyPr>
          <a:lstStyle/>
          <a:p>
            <a:pPr>
              <a:lnSpc>
                <a:spcPct val="100000"/>
              </a:lnSpc>
            </a:pPr>
            <a:r>
              <a:rPr lang="en-US" sz="1200">
                <a:solidFill>
                  <a:srgbClr val="1E4FA8"/>
                </a:solidFill>
                <a:latin typeface="Source Han Sans CN"/>
                <a:ea typeface="Source Han Sans CN"/>
              </a:rPr>
              <a:t>ΔC</a:t>
            </a:r>
            <a:r>
              <a:rPr lang="en-US" sz="825">
                <a:solidFill>
                  <a:srgbClr val="1E4FA8"/>
                </a:solidFill>
                <a:latin typeface="Source Han Sans CN"/>
                <a:ea typeface="Source Han Sans CN"/>
              </a:rPr>
              <a:t>i</a:t>
            </a:r>
            <a:r>
              <a:rPr lang="en-US" sz="1200">
                <a:solidFill>
                  <a:srgbClr val="1E4FA8"/>
                </a:solidFill>
                <a:latin typeface="Source Han Sans CN"/>
                <a:ea typeface="Source Han Sans CN"/>
              </a:rPr>
              <a:t> = min</a:t>
            </a:r>
            <a:r>
              <a:rPr lang="en-US" sz="900">
                <a:solidFill>
                  <a:srgbClr val="1E4FA8"/>
                </a:solidFill>
                <a:latin typeface="Source Han Sans CN"/>
                <a:ea typeface="Source Han Sans CN"/>
              </a:rPr>
              <a:t>{ C</a:t>
            </a:r>
            <a:r>
              <a:rPr lang="en-US" sz="750">
                <a:solidFill>
                  <a:srgbClr val="1E4FA8"/>
                </a:solidFill>
                <a:latin typeface="Source Han Sans CN"/>
                <a:ea typeface="Source Han Sans CN"/>
              </a:rPr>
              <a:t>ai</a:t>
            </a:r>
            <a:r>
              <a:rPr lang="en-US" sz="900">
                <a:solidFill>
                  <a:srgbClr val="1E4FA8"/>
                </a:solidFill>
                <a:latin typeface="Source Han Sans CN"/>
                <a:ea typeface="Source Han Sans CN"/>
              </a:rPr>
              <a:t> + C</a:t>
            </a:r>
            <a:r>
              <a:rPr lang="en-US" sz="750">
                <a:solidFill>
                  <a:srgbClr val="1E4FA8"/>
                </a:solidFill>
                <a:latin typeface="Source Han Sans CN"/>
                <a:ea typeface="Source Han Sans CN"/>
              </a:rPr>
              <a:t>ib</a:t>
            </a:r>
            <a:r>
              <a:rPr lang="en-US" sz="900">
                <a:solidFill>
                  <a:srgbClr val="1E4FA8"/>
                </a:solidFill>
                <a:latin typeface="Source Han Sans CN"/>
                <a:ea typeface="Source Han Sans CN"/>
              </a:rPr>
              <a:t> − C</a:t>
            </a:r>
            <a:r>
              <a:rPr lang="en-US" sz="750">
                <a:solidFill>
                  <a:srgbClr val="1E4FA8"/>
                </a:solidFill>
                <a:latin typeface="Source Han Sans CN"/>
                <a:ea typeface="Source Han Sans CN"/>
              </a:rPr>
              <a:t>ab</a:t>
            </a:r>
            <a:r>
              <a:rPr lang="en-US" sz="900">
                <a:solidFill>
                  <a:srgbClr val="1E4FA8"/>
                </a:solidFill>
                <a:latin typeface="Source Han Sans CN"/>
                <a:ea typeface="Source Han Sans CN"/>
              </a:rPr>
              <a:t> }</a:t>
            </a:r>
            <a:r>
              <a:rPr lang="zh-CN" sz="1200">
                <a:solidFill>
                  <a:srgbClr val="1E4FA8"/>
                </a:solidFill>
                <a:latin typeface="Source Han Sans CN"/>
                <a:ea typeface="Source Han Sans CN"/>
              </a:rPr>
              <a:t>（所有锚点对插入，统一</a:t>
            </a:r>
            <a:r>
              <a:rPr lang="en-US" sz="1200">
                <a:solidFill>
                  <a:srgbClr val="1E4FA8"/>
                </a:solidFill>
                <a:latin typeface="Source Han Sans CN"/>
                <a:ea typeface="Source Han Sans CN"/>
              </a:rPr>
              <a:t> DEM </a:t>
            </a:r>
            <a:r>
              <a:rPr lang="zh-CN" sz="1200">
                <a:solidFill>
                  <a:srgbClr val="1E4FA8"/>
                </a:solidFill>
                <a:latin typeface="Source Han Sans CN"/>
                <a:ea typeface="Source Han Sans CN"/>
              </a:rPr>
              <a:t>三维航程）</a:t>
            </a:r>
            <a:endParaRPr/>
          </a:p>
        </p:txBody>
      </p:sp>
      <p:sp>
        <p:nvSpPr>
          <p:cNvPr id="421" name="文本框 420" descr="{&quot;isTemplate&quot;:true,&quot;type&quot;:&quot;text&quot;}"/>
          <p:cNvSpPr txBox="1"/>
          <p:nvPr/>
        </p:nvSpPr>
        <p:spPr>
          <a:xfrm>
            <a:off x="7467600" y="2552700"/>
            <a:ext cx="4152900" cy="819150"/>
          </a:xfrm>
          <a:prstGeom prst="rect">
            <a:avLst/>
          </a:prstGeom>
        </p:spPr>
        <p:txBody>
          <a:bodyPr wrap="square" lIns="0" tIns="0" rIns="0" bIns="0">
            <a:normAutofit/>
          </a:bodyPr>
          <a:lstStyle/>
          <a:p>
            <a:pPr>
              <a:lnSpc>
                <a:spcPct val="170000"/>
              </a:lnSpc>
            </a:pPr>
            <a:r>
              <a:rPr lang="zh-CN" sz="1050">
                <a:solidFill>
                  <a:srgbClr val="4A5568"/>
                </a:solidFill>
                <a:latin typeface="Source Han Sans CN"/>
                <a:ea typeface="Source Han Sans CN"/>
              </a:rPr>
              <a:t>插入式快速估计：对「已选集合</a:t>
            </a:r>
            <a:r>
              <a:rPr lang="en-US" sz="1050">
                <a:solidFill>
                  <a:srgbClr val="4A5568"/>
                </a:solidFill>
                <a:latin typeface="Source Han Sans CN"/>
                <a:ea typeface="Source Han Sans CN"/>
              </a:rPr>
              <a:t> + </a:t>
            </a:r>
            <a:r>
              <a:rPr lang="zh-CN" sz="1050">
                <a:solidFill>
                  <a:srgbClr val="4A5568"/>
                </a:solidFill>
                <a:latin typeface="Source Han Sans CN"/>
                <a:ea typeface="Source Han Sans CN"/>
              </a:rPr>
              <a:t>最近机巢」的</a:t>
            </a:r>
            <a:r>
              <a:rPr lang="zh-CN" sz="1050" b="1">
                <a:solidFill>
                  <a:srgbClr val="4A5568"/>
                </a:solidFill>
                <a:latin typeface="Source Han Sans CN"/>
                <a:ea typeface="Source Han Sans CN"/>
              </a:rPr>
              <a:t>所有锚点对</a:t>
            </a:r>
            <a:r>
              <a:rPr lang="zh-CN" sz="1050">
                <a:solidFill>
                  <a:srgbClr val="4A5568"/>
                </a:solidFill>
                <a:latin typeface="Source Han Sans CN"/>
                <a:ea typeface="Source Han Sans CN"/>
              </a:rPr>
              <a:t>试接入任务</a:t>
            </a:r>
            <a:r>
              <a:rPr lang="en-US" sz="1050">
                <a:solidFill>
                  <a:srgbClr val="4A5568"/>
                </a:solidFill>
                <a:latin typeface="Source Han Sans CN"/>
                <a:ea typeface="Source Han Sans CN"/>
              </a:rPr>
              <a:t> i</a:t>
            </a:r>
            <a:r>
              <a:rPr lang="zh-CN" sz="1050">
                <a:solidFill>
                  <a:srgbClr val="4A5568"/>
                </a:solidFill>
                <a:latin typeface="Source Han Sans CN"/>
                <a:ea typeface="Source Han Sans CN"/>
              </a:rPr>
              <a:t>，取最小三维航程增量——不预设任何顺序、不求解完整</a:t>
            </a:r>
            <a:r>
              <a:rPr lang="en-US" sz="1050">
                <a:solidFill>
                  <a:srgbClr val="4A5568"/>
                </a:solidFill>
                <a:latin typeface="Source Han Sans CN"/>
                <a:ea typeface="Source Han Sans CN"/>
              </a:rPr>
              <a:t> MUAS</a:t>
            </a:r>
            <a:r>
              <a:rPr lang="zh-CN" sz="1050">
                <a:solidFill>
                  <a:srgbClr val="4A5568"/>
                </a:solidFill>
                <a:latin typeface="Source Han Sans CN"/>
                <a:ea typeface="Source Han Sans CN"/>
              </a:rPr>
              <a:t>，与已选任务空间相近者因增量代价低而胜出</a:t>
            </a:r>
            <a:endParaRPr/>
          </a:p>
        </p:txBody>
      </p:sp>
      <p:sp>
        <p:nvSpPr>
          <p:cNvPr id="422" name="矩形: 圆角 421"/>
          <p:cNvSpPr/>
          <p:nvPr/>
        </p:nvSpPr>
        <p:spPr>
          <a:xfrm>
            <a:off x="7277100" y="3638550"/>
            <a:ext cx="4533900" cy="1323975"/>
          </a:xfrm>
          <a:prstGeom prst="roundRect">
            <a:avLst>
              <a:gd name="adj" fmla="val 7194"/>
            </a:avLst>
          </a:prstGeom>
          <a:solidFill>
            <a:srgbClr val="F7F9FC"/>
          </a:solidFill>
          <a:ln w="12700">
            <a:solidFill>
              <a:srgbClr val="D6DCE5"/>
            </a:solidFill>
            <a:prstDash val="solid"/>
          </a:ln>
        </p:spPr>
        <p:txBody>
          <a:bodyPr/>
          <a:lstStyle/>
          <a:p>
            <a:endParaRPr/>
          </a:p>
        </p:txBody>
      </p:sp>
      <p:sp>
        <p:nvSpPr>
          <p:cNvPr id="423" name="文本框 422" descr="{&quot;isTemplate&quot;:true,&quot;type&quot;:&quot;text&quot;}"/>
          <p:cNvSpPr txBox="1"/>
          <p:nvPr/>
        </p:nvSpPr>
        <p:spPr>
          <a:xfrm>
            <a:off x="7467600" y="3762375"/>
            <a:ext cx="4152900" cy="200025"/>
          </a:xfrm>
          <a:prstGeom prst="rect">
            <a:avLst/>
          </a:prstGeom>
        </p:spPr>
        <p:txBody>
          <a:bodyPr wrap="none" lIns="0" tIns="0" rIns="0" bIns="0"/>
          <a:lstStyle/>
          <a:p>
            <a:pPr>
              <a:lnSpc>
                <a:spcPct val="100000"/>
              </a:lnSpc>
            </a:pPr>
            <a:r>
              <a:rPr lang="en-US" sz="1275" b="1">
                <a:solidFill>
                  <a:srgbClr val="0E3F8C"/>
                </a:solidFill>
                <a:latin typeface="Source Han Sans CN"/>
                <a:ea typeface="Source Han Sans CN"/>
              </a:rPr>
              <a:t>④ </a:t>
            </a:r>
            <a:r>
              <a:rPr lang="zh-CN" sz="1275" b="1">
                <a:solidFill>
                  <a:srgbClr val="0E3F8C"/>
                </a:solidFill>
                <a:latin typeface="Source Han Sans CN"/>
                <a:ea typeface="Source Han Sans CN"/>
              </a:rPr>
              <a:t>两道可行性闸门（粗粒度，弹回不淘汰）</a:t>
            </a:r>
            <a:endParaRPr/>
          </a:p>
        </p:txBody>
      </p:sp>
      <p:sp>
        <p:nvSpPr>
          <p:cNvPr id="424" name="文本框 423" descr="{&quot;isTemplate&quot;:true,&quot;type&quot;:&quot;text&quot;}"/>
          <p:cNvSpPr txBox="1"/>
          <p:nvPr/>
        </p:nvSpPr>
        <p:spPr>
          <a:xfrm>
            <a:off x="7467600" y="4019550"/>
            <a:ext cx="4152900" cy="819150"/>
          </a:xfrm>
          <a:prstGeom prst="rect">
            <a:avLst/>
          </a:prstGeom>
        </p:spPr>
        <p:txBody>
          <a:bodyPr wrap="square" lIns="0" tIns="0" rIns="0" bIns="0">
            <a:normAutofit/>
          </a:bodyPr>
          <a:lstStyle/>
          <a:p>
            <a:pPr>
              <a:lnSpc>
                <a:spcPct val="170000"/>
              </a:lnSpc>
            </a:pPr>
            <a:r>
              <a:rPr lang="zh-CN" sz="1050">
                <a:solidFill>
                  <a:srgbClr val="4A5568"/>
                </a:solidFill>
                <a:latin typeface="Source Han Sans CN"/>
                <a:ea typeface="Source Han Sans CN"/>
              </a:rPr>
              <a:t>闸门①</a:t>
            </a:r>
            <a:r>
              <a:rPr lang="en-US" sz="1050">
                <a:solidFill>
                  <a:srgbClr val="4A5568"/>
                </a:solidFill>
                <a:latin typeface="Source Han Sans CN"/>
                <a:ea typeface="Source Han Sans CN"/>
              </a:rPr>
              <a:t> prefilter</a:t>
            </a:r>
            <a:r>
              <a:rPr lang="zh-CN" sz="1050">
                <a:solidFill>
                  <a:srgbClr val="4A5568"/>
                </a:solidFill>
                <a:latin typeface="Source Han Sans CN"/>
                <a:ea typeface="Source Han Sans CN"/>
              </a:rPr>
              <a:t>：是否有可用机</a:t>
            </a:r>
            <a:r>
              <a:rPr lang="en-US" sz="1050">
                <a:solidFill>
                  <a:srgbClr val="4A5568"/>
                </a:solidFill>
                <a:latin typeface="Source Han Sans CN"/>
                <a:ea typeface="Source Han Sans CN"/>
              </a:rPr>
              <a:t> · </a:t>
            </a:r>
            <a:r>
              <a:rPr lang="zh-CN" sz="1050">
                <a:solidFill>
                  <a:srgbClr val="4A5568"/>
                </a:solidFill>
                <a:latin typeface="Source Han Sans CN"/>
                <a:ea typeface="Source Han Sans CN"/>
              </a:rPr>
              <a:t>往返航程可达（DEM 口径）</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闸门②</a:t>
            </a:r>
            <a:r>
              <a:rPr lang="en-US" sz="1050">
                <a:solidFill>
                  <a:srgbClr val="4A5568"/>
                </a:solidFill>
                <a:latin typeface="Source Han Sans CN"/>
                <a:ea typeface="Source Han Sans CN"/>
              </a:rPr>
              <a:t> postcheck</a:t>
            </a:r>
            <a:r>
              <a:rPr lang="zh-CN" sz="1050">
                <a:solidFill>
                  <a:srgbClr val="4A5568"/>
                </a:solidFill>
                <a:latin typeface="Source Han Sans CN"/>
                <a:ea typeface="Source Han Sans CN"/>
              </a:rPr>
              <a:t>：机群剩余航程预算——仅物理不可行才不进候选，否则留池下周期再评；时间窗迟到由适应度折减、非参选资格</a:t>
            </a:r>
            <a:endParaRPr/>
          </a:p>
        </p:txBody>
      </p:sp>
      <p:sp>
        <p:nvSpPr>
          <p:cNvPr id="425" name="矩形: 圆角 424"/>
          <p:cNvSpPr/>
          <p:nvPr/>
        </p:nvSpPr>
        <p:spPr>
          <a:xfrm>
            <a:off x="7277100" y="5095875"/>
            <a:ext cx="4533900" cy="1152525"/>
          </a:xfrm>
          <a:prstGeom prst="roundRect">
            <a:avLst>
              <a:gd name="adj" fmla="val 8264"/>
            </a:avLst>
          </a:prstGeom>
          <a:solidFill>
            <a:srgbClr val="0E3F8C"/>
          </a:solidFill>
          <a:ln/>
        </p:spPr>
        <p:txBody>
          <a:bodyPr/>
          <a:lstStyle/>
          <a:p>
            <a:endParaRPr/>
          </a:p>
        </p:txBody>
      </p:sp>
      <p:sp>
        <p:nvSpPr>
          <p:cNvPr id="426" name="文本框 425" descr="{&quot;isTemplate&quot;:true,&quot;type&quot;:&quot;text&quot;}"/>
          <p:cNvSpPr txBox="1"/>
          <p:nvPr/>
        </p:nvSpPr>
        <p:spPr>
          <a:xfrm>
            <a:off x="7467600" y="5229225"/>
            <a:ext cx="4152900" cy="885825"/>
          </a:xfrm>
          <a:prstGeom prst="rect">
            <a:avLst/>
          </a:prstGeom>
        </p:spPr>
        <p:txBody>
          <a:bodyPr wrap="square" lIns="0" tIns="0" rIns="0" bIns="0">
            <a:normAutofit/>
          </a:bodyPr>
          <a:lstStyle/>
          <a:p>
            <a:pPr>
              <a:lnSpc>
                <a:spcPct val="160000"/>
              </a:lnSpc>
            </a:pPr>
            <a:r>
              <a:rPr lang="zh-CN" sz="1200" b="1">
                <a:solidFill>
                  <a:srgbClr val="FFFFFF"/>
                </a:solidFill>
                <a:latin typeface="Source Han Sans CN"/>
                <a:ea typeface="Source Han Sans CN"/>
              </a:rPr>
              <a:t>判断：以受控折中换实时性——边际比只依赖代价矩阵查表与插入估计，单周期选择开销可忽略；代价是放弃全局组合最优，折中幅度由后续实验量化。</a:t>
            </a:r>
            <a:r>
              <a:rPr lang="en-US" sz="1200" b="1">
                <a:solidFill>
                  <a:srgbClr val="FFFFFF"/>
                </a:solidFill>
                <a:latin typeface="Source Han Sans CN"/>
                <a:ea typeface="Source Han Sans CN"/>
              </a:rPr>
              <a:t/>
            </a:r>
            <a:r>
              <a:rPr lang="zh-CN" sz="1200" b="1">
                <a:solidFill>
                  <a:srgbClr val="FFFFFF"/>
                </a:solidFill>
                <a:latin typeface="Source Han Sans CN"/>
                <a:ea typeface="Source Han Sans CN"/>
              </a:rPr>
              <a:t/>
            </a:r>
            <a:endParaRPr/>
          </a:p>
        </p:txBody>
      </p:sp>
      <p:sp>
        <p:nvSpPr>
          <p:cNvPr id="427" name="矩形 426"/>
          <p:cNvSpPr/>
          <p:nvPr/>
        </p:nvSpPr>
        <p:spPr>
          <a:xfrm>
            <a:off x="0" y="6448425"/>
            <a:ext cx="12192000" cy="409575"/>
          </a:xfrm>
          <a:prstGeom prst="rect">
            <a:avLst/>
          </a:prstGeom>
          <a:solidFill>
            <a:srgbClr val="F7F9FC"/>
          </a:solidFill>
          <a:ln/>
        </p:spPr>
        <p:txBody>
          <a:bodyPr/>
          <a:lstStyle/>
          <a:p>
            <a:endParaRPr/>
          </a:p>
        </p:txBody>
      </p:sp>
      <p:sp>
        <p:nvSpPr>
          <p:cNvPr id="428" name="任意多边形: 形状 427"/>
          <p:cNvSpPr/>
          <p:nvPr/>
        </p:nvSpPr>
        <p:spPr>
          <a:xfrm>
            <a:off x="0" y="6438900"/>
            <a:ext cx="12192000" cy="419100"/>
          </a:xfrm>
          <a:custGeom>
            <a:avLst/>
            <a:gdLst/>
            <a:ahLst/>
            <a:cxnLst/>
            <a:rect l="0" t="0" r="0" b="0"/>
            <a:pathLst>
              <a:path w="1280" h="44">
                <a:moveTo>
                  <a:pt x="0" y="0"/>
                </a:moveTo>
                <a:lnTo>
                  <a:pt x="1280" y="0"/>
                </a:lnTo>
                <a:lnTo>
                  <a:pt x="1280" y="1"/>
                </a:lnTo>
                <a:lnTo>
                  <a:pt x="0" y="1"/>
                </a:lnTo>
                <a:close/>
              </a:path>
            </a:pathLst>
          </a:custGeom>
          <a:solidFill>
            <a:srgbClr val="E5E7EB"/>
          </a:solidFill>
          <a:ln/>
        </p:spPr>
        <p:txBody>
          <a:bodyPr/>
          <a:lstStyle/>
          <a:p>
            <a:endParaRPr/>
          </a:p>
        </p:txBody>
      </p:sp>
      <p:sp>
        <p:nvSpPr>
          <p:cNvPr id="429" name="文本框 428" descr="{&quot;isTemplate&quot;:true,&quot;type&quot;:&quot;text&quot;}"/>
          <p:cNvSpPr txBox="1"/>
          <p:nvPr/>
        </p:nvSpPr>
        <p:spPr>
          <a:xfrm>
            <a:off x="381000" y="6581775"/>
            <a:ext cx="2828925" cy="152400"/>
          </a:xfrm>
          <a:prstGeom prst="rect">
            <a:avLst/>
          </a:prstGeom>
        </p:spPr>
        <p:txBody>
          <a:bodyPr wrap="none" lIns="0" tIns="0" rIns="0" bIns="0"/>
          <a:lstStyle/>
          <a:p>
            <a:pPr>
              <a:lnSpc>
                <a:spcPct val="100000"/>
              </a:lnSpc>
            </a:pPr>
            <a:r>
              <a:rPr lang="zh-CN" sz="975">
                <a:solidFill>
                  <a:srgbClr val="8B97A8"/>
                </a:solidFill>
                <a:latin typeface="Source Han Sans CN"/>
                <a:ea typeface="Source Han Sans CN"/>
              </a:rPr>
              <a:t>动态滚动的多机巢多无人机协同任务分配</a:t>
            </a:r>
            <a:r>
              <a:rPr lang="en-US" sz="975">
                <a:solidFill>
                  <a:srgbClr val="8B97A8"/>
                </a:solidFill>
                <a:latin typeface="Source Han Sans CN"/>
                <a:ea typeface="Source Han Sans CN"/>
              </a:rPr>
              <a:t> · </a:t>
            </a:r>
            <a:r>
              <a:rPr lang="zh-CN" sz="975">
                <a:solidFill>
                  <a:srgbClr val="8B97A8"/>
                </a:solidFill>
                <a:latin typeface="Source Han Sans CN"/>
                <a:ea typeface="Source Han Sans CN"/>
              </a:rPr>
              <a:t>进展汇报</a:t>
            </a:r>
            <a:endParaRPr/>
          </a:p>
        </p:txBody>
      </p:sp>
      <p:sp>
        <p:nvSpPr>
          <p:cNvPr id="430" name="文本框 429" descr="{&quot;isTemplate&quot;:true,&quot;type&quot;:&quot;text&quot;}"/>
          <p:cNvSpPr txBox="1"/>
          <p:nvPr/>
        </p:nvSpPr>
        <p:spPr>
          <a:xfrm>
            <a:off x="11296650" y="6572250"/>
            <a:ext cx="514350" cy="171450"/>
          </a:xfrm>
          <a:prstGeom prst="rect">
            <a:avLst/>
          </a:prstGeom>
        </p:spPr>
        <p:txBody>
          <a:bodyPr wrap="none" lIns="0" tIns="0" rIns="0" bIns="0"/>
          <a:lstStyle/>
          <a:p>
            <a:pPr>
              <a:lnSpc>
                <a:spcPct val="100000"/>
              </a:lnSpc>
            </a:pPr>
            <a:r>
              <a:rPr lang="en-US" sz="1125" b="1">
                <a:solidFill>
                  <a:srgbClr val="1E4FA8"/>
                </a:solidFill>
                <a:latin typeface="Source Han Sans CN"/>
                <a:ea typeface="Source Han Sans CN"/>
              </a:rPr>
              <a:t>14 / 18</a:t>
            </a:r>
            <a:endParaRP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50" name="矩形 349"/>
          <p:cNvSpPr/>
          <p:nvPr/>
        </p:nvSpPr>
        <p:spPr>
          <a:xfrm>
            <a:off x="0" y="0"/>
            <a:ext cx="12192000" cy="6858000"/>
          </a:xfrm>
          <a:prstGeom prst="rect">
            <a:avLst/>
          </a:prstGeom>
          <a:solidFill>
            <a:srgbClr val="FFFFFF"/>
          </a:solidFill>
          <a:ln/>
        </p:spPr>
        <p:txBody>
          <a:bodyPr/>
          <a:lstStyle/>
          <a:p>
            <a:endParaRPr/>
          </a:p>
        </p:txBody>
      </p:sp>
      <p:sp>
        <p:nvSpPr>
          <p:cNvPr id="351" name="矩形 350"/>
          <p:cNvSpPr/>
          <p:nvPr/>
        </p:nvSpPr>
        <p:spPr>
          <a:xfrm>
            <a:off x="0" y="0"/>
            <a:ext cx="12192000" cy="114300"/>
          </a:xfrm>
          <a:prstGeom prst="rect">
            <a:avLst/>
          </a:prstGeom>
          <a:solidFill>
            <a:srgbClr val="1E4FA8"/>
          </a:solidFill>
          <a:ln/>
        </p:spPr>
        <p:txBody>
          <a:bodyPr/>
          <a:lstStyle/>
          <a:p>
            <a:endParaRPr/>
          </a:p>
        </p:txBody>
      </p:sp>
      <p:sp>
        <p:nvSpPr>
          <p:cNvPr id="352" name="文本框 351" descr="{&quot;isTemplate&quot;:true,&quot;type&quot;:&quot;text&quot;}"/>
          <p:cNvSpPr txBox="1"/>
          <p:nvPr/>
        </p:nvSpPr>
        <p:spPr>
          <a:xfrm>
            <a:off x="7734300" y="1238250"/>
            <a:ext cx="3886200" cy="3771900"/>
          </a:xfrm>
          <a:prstGeom prst="rect">
            <a:avLst/>
          </a:prstGeom>
        </p:spPr>
        <p:txBody>
          <a:bodyPr wrap="none" lIns="0" tIns="0" rIns="0" bIns="0"/>
          <a:lstStyle/>
          <a:p>
            <a:pPr>
              <a:lnSpc>
                <a:spcPct val="100000"/>
              </a:lnSpc>
            </a:pPr>
            <a:r>
              <a:rPr lang="en-US" sz="24750" b="1">
                <a:solidFill>
                  <a:srgbClr val="E8EFF8"/>
                </a:solidFill>
                <a:latin typeface="Source Han Sans CN"/>
                <a:ea typeface="Source Han Sans CN"/>
              </a:rPr>
              <a:t>03</a:t>
            </a:r>
            <a:endParaRPr/>
          </a:p>
        </p:txBody>
      </p:sp>
      <p:sp>
        <p:nvSpPr>
          <p:cNvPr id="353" name="矩形 352"/>
          <p:cNvSpPr/>
          <p:nvPr/>
        </p:nvSpPr>
        <p:spPr>
          <a:xfrm>
            <a:off x="762000" y="1990725"/>
            <a:ext cx="381000" cy="38100"/>
          </a:xfrm>
          <a:prstGeom prst="rect">
            <a:avLst/>
          </a:prstGeom>
          <a:solidFill>
            <a:srgbClr val="FFC107"/>
          </a:solidFill>
          <a:ln/>
        </p:spPr>
        <p:txBody>
          <a:bodyPr/>
          <a:lstStyle/>
          <a:p>
            <a:endParaRPr/>
          </a:p>
        </p:txBody>
      </p:sp>
      <p:sp>
        <p:nvSpPr>
          <p:cNvPr id="354" name="文本框 353" descr="{&quot;isTemplate&quot;:true,&quot;type&quot;:&quot;text&quot;}"/>
          <p:cNvSpPr txBox="1"/>
          <p:nvPr/>
        </p:nvSpPr>
        <p:spPr>
          <a:xfrm>
            <a:off x="1276350" y="1905000"/>
            <a:ext cx="1457325" cy="200025"/>
          </a:xfrm>
          <a:prstGeom prst="rect">
            <a:avLst/>
          </a:prstGeom>
        </p:spPr>
        <p:txBody>
          <a:bodyPr wrap="none" lIns="0" tIns="0" rIns="0" bIns="0"/>
          <a:lstStyle/>
          <a:p>
            <a:pPr>
              <a:lnSpc>
                <a:spcPct val="100000"/>
              </a:lnSpc>
            </a:pPr>
            <a:r>
              <a:rPr lang="en-US" sz="1275" spc="375">
                <a:solidFill>
                  <a:srgbClr val="3D7BD9"/>
                </a:solidFill>
                <a:latin typeface="Source Han Sans CN"/>
                <a:ea typeface="Source Han Sans CN"/>
              </a:rPr>
              <a:t>CHAPTER 03</a:t>
            </a:r>
            <a:endParaRPr/>
          </a:p>
        </p:txBody>
      </p:sp>
      <p:sp>
        <p:nvSpPr>
          <p:cNvPr id="355" name="文本框 354" descr="{&quot;isTemplate&quot;:true,&quot;type&quot;:&quot;text&quot;}"/>
          <p:cNvSpPr txBox="1"/>
          <p:nvPr/>
        </p:nvSpPr>
        <p:spPr>
          <a:xfrm>
            <a:off x="762000" y="2276475"/>
            <a:ext cx="7239000" cy="504825"/>
          </a:xfrm>
          <a:prstGeom prst="rect">
            <a:avLst/>
          </a:prstGeom>
        </p:spPr>
        <p:txBody>
          <a:bodyPr wrap="none" lIns="0" tIns="0" rIns="0" bIns="0"/>
          <a:lstStyle/>
          <a:p>
            <a:pPr>
              <a:lnSpc>
                <a:spcPct val="100000"/>
              </a:lnSpc>
            </a:pPr>
            <a:r>
              <a:rPr lang="zh-CN" sz="3300" b="1">
                <a:solidFill>
                  <a:srgbClr val="0E3F8C"/>
                </a:solidFill>
                <a:latin typeface="Source Han Sans CN"/>
                <a:ea typeface="Source Han Sans CN"/>
              </a:rPr>
              <a:t>第二阶段：选择性 MUAS 与 DMDE</a:t>
            </a:r>
            <a:endParaRPr/>
          </a:p>
        </p:txBody>
      </p:sp>
      <p:sp>
        <p:nvSpPr>
          <p:cNvPr id="356" name="矩形: 圆角 355"/>
          <p:cNvSpPr/>
          <p:nvPr/>
        </p:nvSpPr>
        <p:spPr>
          <a:xfrm>
            <a:off x="762000" y="3209925"/>
            <a:ext cx="76200" cy="76200"/>
          </a:xfrm>
          <a:prstGeom prst="roundRect">
            <a:avLst>
              <a:gd name="adj" fmla="val 50000"/>
            </a:avLst>
          </a:prstGeom>
          <a:solidFill>
            <a:srgbClr val="1E4FA8"/>
          </a:solidFill>
          <a:ln/>
        </p:spPr>
        <p:txBody>
          <a:bodyPr/>
          <a:lstStyle/>
          <a:p>
            <a:endParaRPr/>
          </a:p>
        </p:txBody>
      </p:sp>
      <p:sp>
        <p:nvSpPr>
          <p:cNvPr id="357" name="文本框 356" descr="{&quot;isTemplate&quot;:true,&quot;type&quot;:&quot;text&quot;}"/>
          <p:cNvSpPr txBox="1"/>
          <p:nvPr/>
        </p:nvSpPr>
        <p:spPr>
          <a:xfrm>
            <a:off x="952500" y="3105150"/>
            <a:ext cx="7048500" cy="742950"/>
          </a:xfrm>
          <a:prstGeom prst="rect">
            <a:avLst/>
          </a:prstGeom>
        </p:spPr>
        <p:txBody>
          <a:bodyPr wrap="square" lIns="0" tIns="0" rIns="0" bIns="0">
            <a:normAutofit/>
          </a:bodyPr>
          <a:lstStyle/>
          <a:p>
            <a:pPr>
              <a:lnSpc>
                <a:spcPct val="170000"/>
              </a:lnSpc>
            </a:pPr>
            <a:r>
              <a:rPr lang="zh-CN" sz="1425" b="1">
                <a:solidFill>
                  <a:srgbClr val="1A2230"/>
                </a:solidFill>
                <a:latin typeface="Source Han Sans CN"/>
                <a:ea typeface="Source Han Sans CN"/>
              </a:rPr>
              <a:t>单周期精细规划建模为多机巢条件下的选择性多无人机协同任务分配：是否执行 × 归属 × 顺序 × 终点机巢联合决策</a:t>
            </a:r>
            <a:r>
              <a:rPr lang="zh-CN" sz="1425">
                <a:solidFill>
                  <a:srgbClr val="1A2230"/>
                </a:solidFill>
                <a:latin typeface="Source Han Sans CN"/>
                <a:ea typeface="Source Han Sans CN"/>
              </a:rPr>
              <a:t/>
            </a:r>
            <a:r>
              <a:rPr lang="en-US" sz="1425">
                <a:solidFill>
                  <a:srgbClr val="1A2230"/>
                </a:solidFill>
                <a:latin typeface="Source Han Sans CN"/>
                <a:ea typeface="Source Han Sans CN"/>
              </a:rPr>
              <a:t/>
            </a:r>
            <a:r>
              <a:rPr lang="zh-CN" sz="1425">
                <a:solidFill>
                  <a:srgbClr val="1A2230"/>
                </a:solidFill>
                <a:latin typeface="Source Han Sans CN"/>
                <a:ea typeface="Source Han Sans CN"/>
              </a:rPr>
              <a:t/>
            </a:r>
            <a:r>
              <a:rPr lang="en-US" sz="1425">
                <a:solidFill>
                  <a:srgbClr val="1A2230"/>
                </a:solidFill>
                <a:latin typeface="Source Han Sans CN"/>
                <a:ea typeface="Source Han Sans CN"/>
              </a:rPr>
              <a:t/>
            </a:r>
            <a:r>
              <a:rPr lang="zh-CN" sz="1425">
                <a:solidFill>
                  <a:srgbClr val="1A2230"/>
                </a:solidFill>
                <a:latin typeface="Source Han Sans CN"/>
                <a:ea typeface="Source Han Sans CN"/>
              </a:rPr>
              <a:t/>
            </a:r>
            <a:endParaRPr/>
          </a:p>
        </p:txBody>
      </p:sp>
      <p:sp>
        <p:nvSpPr>
          <p:cNvPr id="358" name="矩形: 圆角 357"/>
          <p:cNvSpPr/>
          <p:nvPr/>
        </p:nvSpPr>
        <p:spPr>
          <a:xfrm>
            <a:off x="762000" y="4124325"/>
            <a:ext cx="76200" cy="76200"/>
          </a:xfrm>
          <a:prstGeom prst="roundRect">
            <a:avLst>
              <a:gd name="adj" fmla="val 50000"/>
            </a:avLst>
          </a:prstGeom>
          <a:solidFill>
            <a:srgbClr val="1E4FA8"/>
          </a:solidFill>
          <a:ln/>
        </p:spPr>
        <p:txBody>
          <a:bodyPr/>
          <a:lstStyle/>
          <a:p>
            <a:endParaRPr/>
          </a:p>
        </p:txBody>
      </p:sp>
      <p:sp>
        <p:nvSpPr>
          <p:cNvPr id="359" name="文本框 358" descr="{&quot;isTemplate&quot;:true,&quot;type&quot;:&quot;text&quot;}"/>
          <p:cNvSpPr txBox="1"/>
          <p:nvPr/>
        </p:nvSpPr>
        <p:spPr>
          <a:xfrm>
            <a:off x="952500" y="4019550"/>
            <a:ext cx="7048500" cy="742950"/>
          </a:xfrm>
          <a:prstGeom prst="rect">
            <a:avLst/>
          </a:prstGeom>
        </p:spPr>
        <p:txBody>
          <a:bodyPr wrap="square" lIns="0" tIns="0" rIns="0" bIns="0">
            <a:normAutofit/>
          </a:bodyPr>
          <a:lstStyle/>
          <a:p>
            <a:pPr>
              <a:lnSpc>
                <a:spcPct val="170000"/>
              </a:lnSpc>
            </a:pPr>
            <a:r>
              <a:rPr lang="zh-CN" sz="1425">
                <a:solidFill>
                  <a:srgbClr val="1A2230"/>
                </a:solidFill>
                <a:latin typeface="Source Han Sans CN"/>
                <a:ea typeface="Source Han Sans CN"/>
              </a:rPr>
              <a:t>以离散映射差分进化（DMDE）为基础做结构扩展，支持部分分配、顺序搜索与异巢终止</a:t>
            </a:r>
            <a:r>
              <a:rPr lang="zh-CN" sz="1425" b="1">
                <a:solidFill>
                  <a:srgbClr val="1A2230"/>
                </a:solidFill>
                <a:latin typeface="Source Han Sans CN"/>
                <a:ea typeface="Source Han Sans CN"/>
              </a:rPr>
              <a:t/>
            </a:r>
            <a:r>
              <a:rPr lang="zh-CN" sz="1425">
                <a:solidFill>
                  <a:srgbClr val="1A2230"/>
                </a:solidFill>
                <a:latin typeface="Source Han Sans CN"/>
                <a:ea typeface="Source Han Sans CN"/>
              </a:rPr>
              <a:t/>
            </a:r>
            <a:r>
              <a:rPr lang="en-US" sz="1425">
                <a:solidFill>
                  <a:srgbClr val="1A2230"/>
                </a:solidFill>
                <a:latin typeface="Source Han Sans CN"/>
                <a:ea typeface="Source Han Sans CN"/>
              </a:rPr>
              <a:t/>
            </a:r>
            <a:r>
              <a:rPr lang="zh-CN" sz="1425">
                <a:solidFill>
                  <a:srgbClr val="1A2230"/>
                </a:solidFill>
                <a:latin typeface="Source Han Sans CN"/>
                <a:ea typeface="Source Han Sans CN"/>
              </a:rPr>
              <a:t/>
            </a:r>
            <a:r>
              <a:rPr lang="en-US" sz="1425">
                <a:solidFill>
                  <a:srgbClr val="1A2230"/>
                </a:solidFill>
                <a:latin typeface="Source Han Sans CN"/>
                <a:ea typeface="Source Han Sans CN"/>
              </a:rPr>
              <a:t/>
            </a:r>
            <a:r>
              <a:rPr lang="en-US" sz="1425" b="1">
                <a:solidFill>
                  <a:srgbClr val="1A2230"/>
                </a:solidFill>
                <a:latin typeface="Source Han Sans CN"/>
                <a:ea typeface="Source Han Sans CN"/>
              </a:rPr>
              <a:t/>
            </a:r>
            <a:r>
              <a:rPr lang="en-US" sz="1425">
                <a:solidFill>
                  <a:srgbClr val="1A2230"/>
                </a:solidFill>
                <a:latin typeface="Source Han Sans CN"/>
                <a:ea typeface="Source Han Sans CN"/>
              </a:rPr>
              <a:t/>
            </a:r>
            <a:r>
              <a:rPr lang="zh-CN" sz="1425">
                <a:solidFill>
                  <a:srgbClr val="1A2230"/>
                </a:solidFill>
                <a:latin typeface="Source Han Sans CN"/>
                <a:ea typeface="Source Han Sans CN"/>
              </a:rPr>
              <a:t/>
            </a:r>
            <a:r>
              <a:rPr lang="en-US" sz="1425">
                <a:solidFill>
                  <a:srgbClr val="1A2230"/>
                </a:solidFill>
                <a:latin typeface="Source Han Sans CN"/>
                <a:ea typeface="Source Han Sans CN"/>
              </a:rPr>
              <a:t/>
            </a:r>
            <a:r>
              <a:rPr lang="zh-CN" sz="1425">
                <a:solidFill>
                  <a:srgbClr val="1A2230"/>
                </a:solidFill>
                <a:latin typeface="Source Han Sans CN"/>
                <a:ea typeface="Source Han Sans CN"/>
              </a:rPr>
              <a:t/>
            </a:r>
            <a:endParaRPr/>
          </a:p>
        </p:txBody>
      </p:sp>
      <p:sp>
        <p:nvSpPr>
          <p:cNvPr id="360" name="文本框 359" descr="{&quot;isTemplate&quot;:true,&quot;type&quot;:&quot;text&quot;}"/>
          <p:cNvSpPr txBox="1"/>
          <p:nvPr/>
        </p:nvSpPr>
        <p:spPr>
          <a:xfrm>
            <a:off x="762000" y="5048250"/>
            <a:ext cx="7239000" cy="666750"/>
          </a:xfrm>
          <a:prstGeom prst="rect">
            <a:avLst/>
          </a:prstGeom>
        </p:spPr>
        <p:txBody>
          <a:bodyPr wrap="square" lIns="0" tIns="0" rIns="0" bIns="0">
            <a:normAutofit/>
          </a:bodyPr>
          <a:lstStyle/>
          <a:p>
            <a:pPr>
              <a:lnSpc>
                <a:spcPct val="180000"/>
              </a:lnSpc>
            </a:pPr>
            <a:r>
              <a:rPr lang="zh-CN" sz="1200">
                <a:solidFill>
                  <a:srgbClr val="4A5568"/>
                </a:solidFill>
                <a:latin typeface="Source Han Sans CN"/>
                <a:ea typeface="Source Han Sans CN"/>
              </a:rPr>
              <a:t>起点机巢由 UAV 停靠状态唯一确定（已知），终点机巢在可行集合内择优（决策变量）——「异源起飞—异巢终止」协同；每任务至多一机，部分 UAV 可空闲。</a:t>
            </a:r>
            <a:r>
              <a:rPr lang="en-US" sz="1200">
                <a:solidFill>
                  <a:srgbClr val="4A5568"/>
                </a:solidFill>
                <a:latin typeface="Source Han Sans CN"/>
                <a:ea typeface="Source Han Sans CN"/>
              </a:rPr>
              <a:t/>
            </a:r>
            <a:r>
              <a:rPr lang="zh-CN" sz="1200">
                <a:solidFill>
                  <a:srgbClr val="4A5568"/>
                </a:solidFill>
                <a:latin typeface="Source Han Sans CN"/>
                <a:ea typeface="Source Han Sans CN"/>
              </a:rPr>
              <a:t/>
            </a:r>
            <a:endParaRPr/>
          </a:p>
        </p:txBody>
      </p:sp>
      <p:sp>
        <p:nvSpPr>
          <p:cNvPr id="361" name="矩形: 圆角 360"/>
          <p:cNvSpPr/>
          <p:nvPr/>
        </p:nvSpPr>
        <p:spPr>
          <a:xfrm>
            <a:off x="762000" y="5943600"/>
            <a:ext cx="3165005" cy="295275"/>
          </a:xfrm>
          <a:prstGeom prst="roundRect">
            <a:avLst>
              <a:gd name="adj" fmla="val 19355"/>
            </a:avLst>
          </a:prstGeom>
          <a:solidFill>
            <a:srgbClr val="1E4FA8"/>
          </a:solidFill>
          <a:ln/>
        </p:spPr>
        <p:txBody>
          <a:bodyPr/>
          <a:lstStyle/>
          <a:p>
            <a:endParaRPr/>
          </a:p>
        </p:txBody>
      </p:sp>
      <p:sp>
        <p:nvSpPr>
          <p:cNvPr id="362" name="文本框 361" descr="{&quot;isTemplate&quot;:true,&quot;type&quot;:&quot;text&quot;}"/>
          <p:cNvSpPr txBox="1"/>
          <p:nvPr/>
        </p:nvSpPr>
        <p:spPr>
          <a:xfrm>
            <a:off x="914400" y="6010275"/>
            <a:ext cx="2917355" cy="161925"/>
          </a:xfrm>
          <a:prstGeom prst="rect">
            <a:avLst/>
          </a:prstGeom>
        </p:spPr>
        <p:txBody>
          <a:bodyPr wrap="none" lIns="0" tIns="0" rIns="0" bIns="0"/>
          <a:lstStyle/>
          <a:p>
            <a:pPr>
              <a:lnSpc>
                <a:spcPct val="100000"/>
              </a:lnSpc>
            </a:pPr>
            <a:r>
              <a:rPr lang="en-US" sz="1050" b="1">
                <a:solidFill>
                  <a:srgbClr val="FFFFFF"/>
                </a:solidFill>
                <a:latin typeface="Source Han Sans CN"/>
                <a:ea typeface="Source Han Sans CN"/>
              </a:rPr>
              <a:t>P16 · 优化模型与适应度　　P17 · 改进 DMDE</a:t>
            </a:r>
            <a:r>
              <a:rPr lang="zh-CN" sz="1050" b="1">
                <a:solidFill>
                  <a:srgbClr val="FFFFFF"/>
                </a:solidFill>
                <a:latin typeface="Source Han Sans CN"/>
                <a:ea typeface="Source Han Sans CN"/>
              </a:rPr>
              <a:t/>
            </a:r>
            <a:endParaRPr/>
          </a:p>
        </p:txBody>
      </p:sp>
      <p:sp>
        <p:nvSpPr>
          <p:cNvPr id="363" name="矩形: 圆角 362"/>
          <p:cNvSpPr/>
          <p:nvPr/>
        </p:nvSpPr>
        <p:spPr>
          <a:xfrm>
            <a:off x="9588500" y="4572000"/>
            <a:ext cx="1841500" cy="323850"/>
          </a:xfrm>
          <a:prstGeom prst="roundRect">
            <a:avLst>
              <a:gd name="adj" fmla="val 52941"/>
            </a:avLst>
          </a:prstGeom>
          <a:solidFill>
            <a:srgbClr val="F0F5FC"/>
          </a:solidFill>
          <a:ln w="12700">
            <a:solidFill>
              <a:srgbClr val="D6DCE5"/>
            </a:solidFill>
            <a:prstDash val="solid"/>
          </a:ln>
        </p:spPr>
        <p:txBody>
          <a:bodyPr/>
          <a:lstStyle/>
          <a:p>
            <a:endParaRPr/>
          </a:p>
        </p:txBody>
      </p:sp>
      <p:sp>
        <p:nvSpPr>
          <p:cNvPr id="364" name="文本框 363" descr="{&quot;isTemplate&quot;:true,&quot;type&quot;:&quot;text&quot;}"/>
          <p:cNvSpPr txBox="1"/>
          <p:nvPr/>
        </p:nvSpPr>
        <p:spPr>
          <a:xfrm>
            <a:off x="9753600" y="4648200"/>
            <a:ext cx="1511300" cy="171450"/>
          </a:xfrm>
          <a:prstGeom prst="rect">
            <a:avLst/>
          </a:prstGeom>
        </p:spPr>
        <p:txBody>
          <a:bodyPr wrap="none" lIns="0" tIns="0" rIns="0" bIns="0"/>
          <a:lstStyle/>
          <a:p>
            <a:pPr>
              <a:lnSpc>
                <a:spcPct val="100000"/>
              </a:lnSpc>
            </a:pPr>
            <a:r>
              <a:rPr lang="zh-CN" sz="1125" b="1">
                <a:solidFill>
                  <a:srgbClr val="1E4FA8"/>
                </a:solidFill>
                <a:latin typeface="Source Han Sans CN"/>
                <a:ea typeface="Source Han Sans CN"/>
              </a:rPr>
              <a:t>统一编码 + 逆映射</a:t>
            </a:r>
            <a:endParaRPr/>
          </a:p>
        </p:txBody>
      </p:sp>
      <p:sp>
        <p:nvSpPr>
          <p:cNvPr id="365" name="矩形: 圆角 364"/>
          <p:cNvSpPr/>
          <p:nvPr/>
        </p:nvSpPr>
        <p:spPr>
          <a:xfrm>
            <a:off x="9734550" y="5010150"/>
            <a:ext cx="1695450" cy="323850"/>
          </a:xfrm>
          <a:prstGeom prst="roundRect">
            <a:avLst>
              <a:gd name="adj" fmla="val 52941"/>
            </a:avLst>
          </a:prstGeom>
          <a:solidFill>
            <a:srgbClr val="F0F5FC"/>
          </a:solidFill>
          <a:ln w="12700">
            <a:solidFill>
              <a:srgbClr val="D6DCE5"/>
            </a:solidFill>
            <a:prstDash val="solid"/>
          </a:ln>
        </p:spPr>
        <p:txBody>
          <a:bodyPr/>
          <a:lstStyle/>
          <a:p>
            <a:endParaRPr/>
          </a:p>
        </p:txBody>
      </p:sp>
      <p:sp>
        <p:nvSpPr>
          <p:cNvPr id="366" name="文本框 365" descr="{&quot;isTemplate&quot;:true,&quot;type&quot;:&quot;text&quot;}"/>
          <p:cNvSpPr txBox="1"/>
          <p:nvPr/>
        </p:nvSpPr>
        <p:spPr>
          <a:xfrm>
            <a:off x="9899650" y="5086350"/>
            <a:ext cx="1365250" cy="171450"/>
          </a:xfrm>
          <a:prstGeom prst="rect">
            <a:avLst/>
          </a:prstGeom>
        </p:spPr>
        <p:txBody>
          <a:bodyPr wrap="none" lIns="0" tIns="0" rIns="0" bIns="0"/>
          <a:lstStyle/>
          <a:p>
            <a:pPr>
              <a:lnSpc>
                <a:spcPct val="100000"/>
              </a:lnSpc>
            </a:pPr>
            <a:r>
              <a:rPr lang="zh-CN" sz="1125" b="1">
                <a:solidFill>
                  <a:srgbClr val="1E4FA8"/>
                </a:solidFill>
                <a:latin typeface="Source Han Sans CN"/>
                <a:ea typeface="Source Han Sans CN"/>
              </a:rPr>
              <a:t>终点机巢最小费用流</a:t>
            </a:r>
            <a:r>
              <a:rPr lang="en-US" sz="1125" b="1">
                <a:solidFill>
                  <a:srgbClr val="1E4FA8"/>
                </a:solidFill>
                <a:latin typeface="Source Han Sans CN"/>
                <a:ea typeface="Source Han Sans CN"/>
              </a:rPr>
              <a:t/>
            </a:r>
            <a:endParaRPr/>
          </a:p>
        </p:txBody>
      </p:sp>
      <p:sp>
        <p:nvSpPr>
          <p:cNvPr id="367" name="矩形: 圆角 366"/>
          <p:cNvSpPr/>
          <p:nvPr/>
        </p:nvSpPr>
        <p:spPr>
          <a:xfrm>
            <a:off x="9734550" y="5448300"/>
            <a:ext cx="1695450" cy="323850"/>
          </a:xfrm>
          <a:prstGeom prst="roundRect">
            <a:avLst>
              <a:gd name="adj" fmla="val 52941"/>
            </a:avLst>
          </a:prstGeom>
          <a:solidFill>
            <a:srgbClr val="F0F5FC"/>
          </a:solidFill>
          <a:ln w="12700">
            <a:solidFill>
              <a:srgbClr val="D6DCE5"/>
            </a:solidFill>
            <a:prstDash val="solid"/>
          </a:ln>
        </p:spPr>
        <p:txBody>
          <a:bodyPr/>
          <a:lstStyle/>
          <a:p>
            <a:endParaRPr/>
          </a:p>
        </p:txBody>
      </p:sp>
      <p:sp>
        <p:nvSpPr>
          <p:cNvPr id="368" name="文本框 367" descr="{&quot;isTemplate&quot;:true,&quot;type&quot;:&quot;text&quot;}"/>
          <p:cNvSpPr txBox="1"/>
          <p:nvPr/>
        </p:nvSpPr>
        <p:spPr>
          <a:xfrm>
            <a:off x="9899650" y="5524500"/>
            <a:ext cx="1365250" cy="171450"/>
          </a:xfrm>
          <a:prstGeom prst="rect">
            <a:avLst/>
          </a:prstGeom>
        </p:spPr>
        <p:txBody>
          <a:bodyPr wrap="none" lIns="0" tIns="0" rIns="0" bIns="0"/>
          <a:lstStyle/>
          <a:p>
            <a:pPr>
              <a:lnSpc>
                <a:spcPct val="100000"/>
              </a:lnSpc>
            </a:pPr>
            <a:r>
              <a:rPr lang="zh-CN" sz="1125" b="1">
                <a:solidFill>
                  <a:srgbClr val="1E4FA8"/>
                </a:solidFill>
                <a:latin typeface="Source Han Sans CN"/>
                <a:ea typeface="Source Han Sans CN"/>
              </a:rPr>
              <a:t>四层准字典序适应度</a:t>
            </a:r>
            <a:endParaRPr/>
          </a:p>
        </p:txBody>
      </p:sp>
      <p:sp>
        <p:nvSpPr>
          <p:cNvPr id="369" name="矩形: 圆角 368"/>
          <p:cNvSpPr/>
          <p:nvPr/>
        </p:nvSpPr>
        <p:spPr>
          <a:xfrm>
            <a:off x="7258050" y="5857875"/>
            <a:ext cx="476250" cy="276225"/>
          </a:xfrm>
          <a:prstGeom prst="roundRect">
            <a:avLst>
              <a:gd name="adj" fmla="val 48276"/>
            </a:avLst>
          </a:prstGeom>
          <a:solidFill>
            <a:srgbClr val="F0F5FC"/>
          </a:solidFill>
          <a:ln/>
        </p:spPr>
        <p:txBody>
          <a:bodyPr/>
          <a:lstStyle/>
          <a:p>
            <a:endParaRPr/>
          </a:p>
        </p:txBody>
      </p:sp>
      <p:sp>
        <p:nvSpPr>
          <p:cNvPr id="370" name="文本框 369" descr="{&quot;isTemplate&quot;:true,&quot;type&quot;:&quot;text&quot;}"/>
          <p:cNvSpPr txBox="1"/>
          <p:nvPr/>
        </p:nvSpPr>
        <p:spPr>
          <a:xfrm>
            <a:off x="7410450" y="5915025"/>
            <a:ext cx="171450" cy="161925"/>
          </a:xfrm>
          <a:prstGeom prst="rect">
            <a:avLst/>
          </a:prstGeom>
        </p:spPr>
        <p:txBody>
          <a:bodyPr wrap="none" lIns="0" tIns="0" rIns="0" bIns="0"/>
          <a:lstStyle/>
          <a:p>
            <a:pPr>
              <a:lnSpc>
                <a:spcPct val="100000"/>
              </a:lnSpc>
            </a:pPr>
            <a:r>
              <a:rPr lang="en-US" sz="1050" b="1">
                <a:solidFill>
                  <a:srgbClr val="8B97A8"/>
                </a:solidFill>
                <a:latin typeface="Source Han Sans CN"/>
                <a:ea typeface="Source Han Sans CN"/>
              </a:rPr>
              <a:t>01</a:t>
            </a:r>
            <a:endParaRPr/>
          </a:p>
        </p:txBody>
      </p:sp>
      <p:sp>
        <p:nvSpPr>
          <p:cNvPr id="371" name="矩形: 圆角 370"/>
          <p:cNvSpPr/>
          <p:nvPr/>
        </p:nvSpPr>
        <p:spPr>
          <a:xfrm>
            <a:off x="7848600" y="5857875"/>
            <a:ext cx="476250" cy="276225"/>
          </a:xfrm>
          <a:prstGeom prst="roundRect">
            <a:avLst>
              <a:gd name="adj" fmla="val 48276"/>
            </a:avLst>
          </a:prstGeom>
          <a:solidFill>
            <a:srgbClr val="F0F5FC"/>
          </a:solidFill>
          <a:ln/>
        </p:spPr>
        <p:txBody>
          <a:bodyPr/>
          <a:lstStyle/>
          <a:p>
            <a:endParaRPr/>
          </a:p>
        </p:txBody>
      </p:sp>
      <p:sp>
        <p:nvSpPr>
          <p:cNvPr id="372" name="文本框 371" descr="{&quot;isTemplate&quot;:true,&quot;type&quot;:&quot;text&quot;}"/>
          <p:cNvSpPr txBox="1"/>
          <p:nvPr/>
        </p:nvSpPr>
        <p:spPr>
          <a:xfrm>
            <a:off x="8001000" y="5915025"/>
            <a:ext cx="171450" cy="161925"/>
          </a:xfrm>
          <a:prstGeom prst="rect">
            <a:avLst/>
          </a:prstGeom>
        </p:spPr>
        <p:txBody>
          <a:bodyPr wrap="none" lIns="0" tIns="0" rIns="0" bIns="0"/>
          <a:lstStyle/>
          <a:p>
            <a:pPr>
              <a:lnSpc>
                <a:spcPct val="100000"/>
              </a:lnSpc>
            </a:pPr>
            <a:r>
              <a:rPr lang="en-US" sz="1050" b="1">
                <a:solidFill>
                  <a:srgbClr val="8B97A8"/>
                </a:solidFill>
                <a:latin typeface="Source Han Sans CN"/>
                <a:ea typeface="Source Han Sans CN"/>
              </a:rPr>
              <a:t>02</a:t>
            </a:r>
            <a:endParaRPr/>
          </a:p>
        </p:txBody>
      </p:sp>
      <p:sp>
        <p:nvSpPr>
          <p:cNvPr id="373" name="矩形: 圆角 372"/>
          <p:cNvSpPr/>
          <p:nvPr/>
        </p:nvSpPr>
        <p:spPr>
          <a:xfrm>
            <a:off x="8439150" y="5857875"/>
            <a:ext cx="476250" cy="276225"/>
          </a:xfrm>
          <a:prstGeom prst="roundRect">
            <a:avLst>
              <a:gd name="adj" fmla="val 48276"/>
            </a:avLst>
          </a:prstGeom>
          <a:solidFill>
            <a:srgbClr val="1E4FA8"/>
          </a:solidFill>
          <a:ln/>
        </p:spPr>
        <p:txBody>
          <a:bodyPr/>
          <a:lstStyle/>
          <a:p>
            <a:endParaRPr/>
          </a:p>
        </p:txBody>
      </p:sp>
      <p:sp>
        <p:nvSpPr>
          <p:cNvPr id="374" name="文本框 373" descr="{&quot;isTemplate&quot;:true,&quot;type&quot;:&quot;text&quot;}"/>
          <p:cNvSpPr txBox="1"/>
          <p:nvPr/>
        </p:nvSpPr>
        <p:spPr>
          <a:xfrm>
            <a:off x="8591550" y="5915025"/>
            <a:ext cx="171450" cy="161925"/>
          </a:xfrm>
          <a:prstGeom prst="rect">
            <a:avLst/>
          </a:prstGeom>
        </p:spPr>
        <p:txBody>
          <a:bodyPr wrap="none" lIns="0" tIns="0" rIns="0" bIns="0"/>
          <a:lstStyle/>
          <a:p>
            <a:pPr>
              <a:lnSpc>
                <a:spcPct val="100000"/>
              </a:lnSpc>
            </a:pPr>
            <a:r>
              <a:rPr lang="en-US" sz="1050" b="1">
                <a:solidFill>
                  <a:srgbClr val="FFFFFF"/>
                </a:solidFill>
                <a:latin typeface="Source Han Sans CN"/>
                <a:ea typeface="Source Han Sans CN"/>
              </a:rPr>
              <a:t>03</a:t>
            </a:r>
            <a:endParaRPr/>
          </a:p>
        </p:txBody>
      </p:sp>
      <p:sp>
        <p:nvSpPr>
          <p:cNvPr id="377" name="文本框 376" descr="{&quot;isTemplate&quot;:true,&quot;type&quot;:&quot;text&quot;}"/>
          <p:cNvSpPr txBox="1"/>
          <p:nvPr/>
        </p:nvSpPr>
        <p:spPr>
          <a:xfrm>
            <a:off x="9220200" y="5915025"/>
            <a:ext cx="2209800" cy="161925"/>
          </a:xfrm>
          <a:prstGeom prst="rect">
            <a:avLst/>
          </a:prstGeom>
        </p:spPr>
        <p:txBody>
          <a:bodyPr wrap="none" lIns="0" tIns="0" rIns="0" bIns="0"/>
          <a:lstStyle/>
          <a:p>
            <a:pPr>
              <a:lnSpc>
                <a:spcPct val="100000"/>
              </a:lnSpc>
            </a:pPr>
            <a:r>
              <a:rPr lang="zh-CN" sz="1050">
                <a:solidFill>
                  <a:srgbClr val="8B97A8"/>
                </a:solidFill>
                <a:latin typeface="Source Han Sans CN"/>
                <a:ea typeface="Source Han Sans CN"/>
              </a:rPr>
              <a:t>研究问题 · 两阶段方法 · 滚动闭环</a:t>
            </a:r>
            <a:r>
              <a:rPr lang="en-US" sz="1050">
                <a:solidFill>
                  <a:srgbClr val="8B97A8"/>
                </a:solidFill>
                <a:latin typeface="Source Han Sans CN"/>
                <a:ea typeface="Source Han Sans CN"/>
              </a:rPr>
              <a:t/>
            </a:r>
            <a:r>
              <a:rPr lang="zh-CN" sz="1050">
                <a:solidFill>
                  <a:srgbClr val="8B97A8"/>
                </a:solidFill>
                <a:latin typeface="Source Han Sans CN"/>
                <a:ea typeface="Source Han Sans CN"/>
              </a:rPr>
              <a:t/>
            </a:r>
            <a:r>
              <a:rPr lang="en-US" sz="1050">
                <a:solidFill>
                  <a:srgbClr val="8B97A8"/>
                </a:solidFill>
                <a:latin typeface="Source Han Sans CN"/>
                <a:ea typeface="Source Han Sans CN"/>
              </a:rPr>
              <a:t/>
            </a:r>
            <a:r>
              <a:rPr lang="zh-CN" sz="1050">
                <a:solidFill>
                  <a:srgbClr val="8B97A8"/>
                </a:solidFill>
                <a:latin typeface="Source Han Sans CN"/>
                <a:ea typeface="Source Han Sans CN"/>
              </a:rPr>
              <a:t/>
            </a:r>
            <a:endParaRPr/>
          </a:p>
        </p:txBody>
      </p:sp>
      <p:sp>
        <p:nvSpPr>
          <p:cNvPr id="378" name="矩形 377"/>
          <p:cNvSpPr/>
          <p:nvPr/>
        </p:nvSpPr>
        <p:spPr>
          <a:xfrm>
            <a:off x="0" y="6448425"/>
            <a:ext cx="12192000" cy="409575"/>
          </a:xfrm>
          <a:prstGeom prst="rect">
            <a:avLst/>
          </a:prstGeom>
          <a:solidFill>
            <a:srgbClr val="F7F9FC"/>
          </a:solidFill>
          <a:ln/>
        </p:spPr>
        <p:txBody>
          <a:bodyPr/>
          <a:lstStyle/>
          <a:p>
            <a:endParaRPr/>
          </a:p>
        </p:txBody>
      </p:sp>
      <p:sp>
        <p:nvSpPr>
          <p:cNvPr id="379" name="任意多边形: 形状 378"/>
          <p:cNvSpPr/>
          <p:nvPr/>
        </p:nvSpPr>
        <p:spPr>
          <a:xfrm>
            <a:off x="0" y="6438900"/>
            <a:ext cx="12192000" cy="419100"/>
          </a:xfrm>
          <a:custGeom>
            <a:avLst/>
            <a:gdLst/>
            <a:ahLst/>
            <a:cxnLst/>
            <a:rect l="0" t="0" r="0" b="0"/>
            <a:pathLst>
              <a:path w="1280" h="44">
                <a:moveTo>
                  <a:pt x="0" y="0"/>
                </a:moveTo>
                <a:lnTo>
                  <a:pt x="1280" y="0"/>
                </a:lnTo>
                <a:lnTo>
                  <a:pt x="1280" y="1"/>
                </a:lnTo>
                <a:lnTo>
                  <a:pt x="0" y="1"/>
                </a:lnTo>
                <a:close/>
              </a:path>
            </a:pathLst>
          </a:custGeom>
          <a:solidFill>
            <a:srgbClr val="E5E7EB"/>
          </a:solidFill>
          <a:ln/>
        </p:spPr>
        <p:txBody>
          <a:bodyPr/>
          <a:lstStyle/>
          <a:p>
            <a:endParaRPr/>
          </a:p>
        </p:txBody>
      </p:sp>
      <p:sp>
        <p:nvSpPr>
          <p:cNvPr id="380" name="文本框 379" descr="{&quot;isTemplate&quot;:true,&quot;type&quot;:&quot;text&quot;}"/>
          <p:cNvSpPr txBox="1"/>
          <p:nvPr/>
        </p:nvSpPr>
        <p:spPr>
          <a:xfrm>
            <a:off x="381000" y="6581775"/>
            <a:ext cx="2828925" cy="152400"/>
          </a:xfrm>
          <a:prstGeom prst="rect">
            <a:avLst/>
          </a:prstGeom>
        </p:spPr>
        <p:txBody>
          <a:bodyPr wrap="none" lIns="0" tIns="0" rIns="0" bIns="0"/>
          <a:lstStyle/>
          <a:p>
            <a:pPr>
              <a:lnSpc>
                <a:spcPct val="100000"/>
              </a:lnSpc>
            </a:pPr>
            <a:r>
              <a:rPr lang="zh-CN" sz="975">
                <a:solidFill>
                  <a:srgbClr val="8B97A8"/>
                </a:solidFill>
                <a:latin typeface="Source Han Sans CN"/>
                <a:ea typeface="Source Han Sans CN"/>
              </a:rPr>
              <a:t>动态滚动的多机巢多无人机协同任务分配</a:t>
            </a:r>
            <a:r>
              <a:rPr lang="en-US" sz="975">
                <a:solidFill>
                  <a:srgbClr val="8B97A8"/>
                </a:solidFill>
                <a:latin typeface="Source Han Sans CN"/>
                <a:ea typeface="Source Han Sans CN"/>
              </a:rPr>
              <a:t> · </a:t>
            </a:r>
            <a:r>
              <a:rPr lang="zh-CN" sz="975">
                <a:solidFill>
                  <a:srgbClr val="8B97A8"/>
                </a:solidFill>
                <a:latin typeface="Source Han Sans CN"/>
                <a:ea typeface="Source Han Sans CN"/>
              </a:rPr>
              <a:t>进展汇报</a:t>
            </a:r>
            <a:endParaRPr/>
          </a:p>
        </p:txBody>
      </p:sp>
      <p:sp>
        <p:nvSpPr>
          <p:cNvPr id="381" name="文本框 380" descr="{&quot;isTemplate&quot;:true,&quot;type&quot;:&quot;text&quot;}"/>
          <p:cNvSpPr txBox="1"/>
          <p:nvPr/>
        </p:nvSpPr>
        <p:spPr>
          <a:xfrm>
            <a:off x="11296650" y="6572250"/>
            <a:ext cx="514350" cy="171450"/>
          </a:xfrm>
          <a:prstGeom prst="rect">
            <a:avLst/>
          </a:prstGeom>
        </p:spPr>
        <p:txBody>
          <a:bodyPr wrap="none" lIns="0" tIns="0" rIns="0" bIns="0"/>
          <a:lstStyle/>
          <a:p>
            <a:pPr>
              <a:lnSpc>
                <a:spcPct val="100000"/>
              </a:lnSpc>
            </a:pPr>
            <a:r>
              <a:rPr lang="en-US" sz="1125" b="1">
                <a:solidFill>
                  <a:srgbClr val="1E4FA8"/>
                </a:solidFill>
                <a:latin typeface="Source Han Sans CN"/>
                <a:ea typeface="Source Han Sans CN"/>
              </a:rPr>
              <a:t>15 / 18</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7" name="矩形 497"/>
          <p:cNvSpPr/>
          <p:nvPr/>
        </p:nvSpPr>
        <p:spPr>
          <a:xfrm>
            <a:off x="0" y="0"/>
            <a:ext cx="12192000" cy="6858000"/>
          </a:xfrm>
          <a:prstGeom prst="rect">
            <a:avLst/>
          </a:prstGeom>
          <a:solidFill>
            <a:srgbClr val="FFFFFF"/>
          </a:solidFill>
          <a:ln/>
        </p:spPr>
        <p:txBody>
          <a:bodyPr/>
          <a:lstStyle/>
          <a:p>
            <a:endParaRPr/>
          </a:p>
        </p:txBody>
      </p:sp>
      <p:sp>
        <p:nvSpPr>
          <p:cNvPr id="468" name="矩形 498"/>
          <p:cNvSpPr/>
          <p:nvPr/>
        </p:nvSpPr>
        <p:spPr>
          <a:xfrm>
            <a:off x="0" y="0"/>
            <a:ext cx="12192000" cy="114300"/>
          </a:xfrm>
          <a:prstGeom prst="rect">
            <a:avLst/>
          </a:prstGeom>
          <a:solidFill>
            <a:srgbClr val="1E4FA8"/>
          </a:solidFill>
          <a:ln/>
        </p:spPr>
        <p:txBody>
          <a:bodyPr/>
          <a:lstStyle/>
          <a:p>
            <a:endParaRPr/>
          </a:p>
        </p:txBody>
      </p:sp>
      <p:sp>
        <p:nvSpPr>
          <p:cNvPr id="469" name="矩形 499"/>
          <p:cNvSpPr/>
          <p:nvPr/>
        </p:nvSpPr>
        <p:spPr>
          <a:xfrm>
            <a:off x="381000" y="314325"/>
            <a:ext cx="57150" cy="323850"/>
          </a:xfrm>
          <a:prstGeom prst="rect">
            <a:avLst/>
          </a:prstGeom>
          <a:solidFill>
            <a:srgbClr val="1E4FA8"/>
          </a:solidFill>
          <a:ln/>
        </p:spPr>
        <p:txBody>
          <a:bodyPr/>
          <a:lstStyle/>
          <a:p>
            <a:endParaRPr/>
          </a:p>
        </p:txBody>
      </p:sp>
      <p:sp>
        <p:nvSpPr>
          <p:cNvPr id="470" name="文本框 500" descr="{&quot;isTemplate&quot;:true,&quot;type&quot;:&quot;text&quot;}"/>
          <p:cNvSpPr txBox="1"/>
          <p:nvPr/>
        </p:nvSpPr>
        <p:spPr>
          <a:xfrm>
            <a:off x="571500" y="285750"/>
            <a:ext cx="5410200" cy="371475"/>
          </a:xfrm>
          <a:prstGeom prst="rect">
            <a:avLst/>
          </a:prstGeom>
        </p:spPr>
        <p:txBody>
          <a:bodyPr wrap="none" lIns="0" tIns="0" rIns="0" bIns="0"/>
          <a:lstStyle/>
          <a:p>
            <a:pPr>
              <a:lnSpc>
                <a:spcPct val="100000"/>
              </a:lnSpc>
            </a:pPr>
            <a:r>
              <a:rPr lang="zh-CN" sz="2400" b="1">
                <a:solidFill>
                  <a:srgbClr val="0E3F8C"/>
                </a:solidFill>
                <a:latin typeface="Source Han Sans CN"/>
                <a:ea typeface="Source Han Sans CN"/>
              </a:rPr>
              <a:t>选择性多机巢</a:t>
            </a:r>
            <a:r>
              <a:rPr lang="en-US" sz="2400" b="1">
                <a:solidFill>
                  <a:srgbClr val="0E3F8C"/>
                </a:solidFill>
                <a:latin typeface="Source Han Sans CN"/>
                <a:ea typeface="Source Han Sans CN"/>
              </a:rPr>
              <a:t> MUAS </a:t>
            </a:r>
            <a:r>
              <a:rPr lang="zh-CN" sz="2400" b="1">
                <a:solidFill>
                  <a:srgbClr val="0E3F8C"/>
                </a:solidFill>
                <a:latin typeface="Source Han Sans CN"/>
                <a:ea typeface="Source Han Sans CN"/>
              </a:rPr>
              <a:t>优化模型与适应度</a:t>
            </a:r>
            <a:endParaRPr/>
          </a:p>
        </p:txBody>
      </p:sp>
      <p:sp>
        <p:nvSpPr>
          <p:cNvPr id="471" name="文本框 501" descr="{&quot;isTemplate&quot;:true,&quot;type&quot;:&quot;text&quot;}"/>
          <p:cNvSpPr txBox="1"/>
          <p:nvPr/>
        </p:nvSpPr>
        <p:spPr>
          <a:xfrm>
            <a:off x="571500" y="742950"/>
            <a:ext cx="4572000" cy="171450"/>
          </a:xfrm>
          <a:prstGeom prst="rect">
            <a:avLst/>
          </a:prstGeom>
        </p:spPr>
        <p:txBody>
          <a:bodyPr wrap="none" lIns="0" tIns="0" rIns="0" bIns="0"/>
          <a:lstStyle/>
          <a:p>
            <a:pPr>
              <a:lnSpc>
                <a:spcPct val="100000"/>
              </a:lnSpc>
            </a:pPr>
            <a:r>
              <a:rPr lang="zh-CN" sz="1125">
                <a:solidFill>
                  <a:srgbClr val="8B97A8"/>
                </a:solidFill>
                <a:latin typeface="Source Han Sans CN"/>
                <a:ea typeface="Source Han Sans CN"/>
              </a:rPr>
              <a:t>左：论文组合优化模型　右：进化评价分层结构（覆盖门禁口径）</a:t>
            </a:r>
            <a:endParaRPr/>
          </a:p>
        </p:txBody>
      </p:sp>
      <p:sp>
        <p:nvSpPr>
          <p:cNvPr id="472" name="矩形: 圆角 502"/>
          <p:cNvSpPr/>
          <p:nvPr/>
        </p:nvSpPr>
        <p:spPr>
          <a:xfrm>
            <a:off x="381000" y="1104900"/>
            <a:ext cx="5810250" cy="1895475"/>
          </a:xfrm>
          <a:prstGeom prst="roundRect">
            <a:avLst>
              <a:gd name="adj" fmla="val 5025"/>
            </a:avLst>
          </a:prstGeom>
          <a:solidFill>
            <a:srgbClr val="F7F9FC"/>
          </a:solidFill>
          <a:ln w="12700">
            <a:solidFill>
              <a:srgbClr val="D6DCE5"/>
            </a:solidFill>
            <a:prstDash val="solid"/>
          </a:ln>
        </p:spPr>
        <p:txBody>
          <a:bodyPr/>
          <a:lstStyle/>
          <a:p>
            <a:endParaRPr/>
          </a:p>
        </p:txBody>
      </p:sp>
      <p:sp>
        <p:nvSpPr>
          <p:cNvPr id="473" name="文本框 503" descr="{&quot;isTemplate&quot;:true,&quot;type&quot;:&quot;text&quot;}"/>
          <p:cNvSpPr txBox="1"/>
          <p:nvPr/>
        </p:nvSpPr>
        <p:spPr>
          <a:xfrm>
            <a:off x="552450" y="1238250"/>
            <a:ext cx="5467350" cy="209550"/>
          </a:xfrm>
          <a:prstGeom prst="rect">
            <a:avLst/>
          </a:prstGeom>
        </p:spPr>
        <p:txBody>
          <a:bodyPr wrap="none" lIns="0" tIns="0" rIns="0" bIns="0"/>
          <a:lstStyle/>
          <a:p>
            <a:pPr>
              <a:lnSpc>
                <a:spcPct val="100000"/>
              </a:lnSpc>
            </a:pPr>
            <a:r>
              <a:rPr lang="en-US" sz="1350" b="1">
                <a:solidFill>
                  <a:srgbClr val="0E3F8C"/>
                </a:solidFill>
                <a:latin typeface="Source Han Sans CN"/>
                <a:ea typeface="Source Han Sans CN"/>
              </a:rPr>
              <a:t>① </a:t>
            </a:r>
            <a:r>
              <a:rPr lang="zh-CN" sz="1350" b="1">
                <a:solidFill>
                  <a:srgbClr val="0E3F8C"/>
                </a:solidFill>
                <a:latin typeface="Source Han Sans CN"/>
                <a:ea typeface="Source Han Sans CN"/>
              </a:rPr>
              <a:t>决策变量与耦合约束</a:t>
            </a:r>
            <a:endParaRPr/>
          </a:p>
        </p:txBody>
      </p:sp>
      <p:sp>
        <p:nvSpPr>
          <p:cNvPr id="474" name="矩形: 圆角 504"/>
          <p:cNvSpPr/>
          <p:nvPr/>
        </p:nvSpPr>
        <p:spPr>
          <a:xfrm>
            <a:off x="552450" y="1543050"/>
            <a:ext cx="5467350" cy="714375"/>
          </a:xfrm>
          <a:prstGeom prst="roundRect">
            <a:avLst>
              <a:gd name="adj" fmla="val 10667"/>
            </a:avLst>
          </a:prstGeom>
          <a:solidFill>
            <a:srgbClr val="E8EFF8"/>
          </a:solidFill>
          <a:ln/>
        </p:spPr>
        <p:txBody>
          <a:bodyPr/>
          <a:lstStyle/>
          <a:p>
            <a:endParaRPr/>
          </a:p>
        </p:txBody>
      </p:sp>
      <p:sp>
        <p:nvSpPr>
          <p:cNvPr id="475" name="文本框 505" descr="{&quot;isTemplate&quot;:true,&quot;type&quot;:&quot;text&quot;}"/>
          <p:cNvSpPr txBox="1"/>
          <p:nvPr/>
        </p:nvSpPr>
        <p:spPr>
          <a:xfrm>
            <a:off x="685800" y="1657350"/>
            <a:ext cx="5200650" cy="209550"/>
          </a:xfrm>
          <a:prstGeom prst="rect">
            <a:avLst/>
          </a:prstGeom>
        </p:spPr>
        <p:txBody>
          <a:bodyPr wrap="none" lIns="0" tIns="0" rIns="0" bIns="0"/>
          <a:lstStyle/>
          <a:p>
            <a:pPr>
              <a:lnSpc>
                <a:spcPct val="100000"/>
              </a:lnSpc>
            </a:pPr>
            <a:r>
              <a:rPr lang="en-US" sz="1350" b="1">
                <a:solidFill>
                  <a:srgbClr val="0E3F8C"/>
                </a:solidFill>
                <a:latin typeface="Source Han Sans CN"/>
                <a:ea typeface="Source Han Sans CN"/>
              </a:rPr>
              <a:t>y</a:t>
            </a:r>
            <a:r>
              <a:rPr lang="en-US" sz="900" b="1">
                <a:solidFill>
                  <a:srgbClr val="0E3F8C"/>
                </a:solidFill>
                <a:latin typeface="Source Han Sans CN"/>
                <a:ea typeface="Source Han Sans CN"/>
              </a:rPr>
              <a:t>j</a:t>
            </a:r>
            <a:r>
              <a:rPr lang="en-US" sz="1350" b="1">
                <a:solidFill>
                  <a:srgbClr val="0E3F8C"/>
                </a:solidFill>
                <a:latin typeface="Source Han Sans CN"/>
                <a:ea typeface="Source Han Sans CN"/>
              </a:rPr>
              <a:t> ∈ {0,1}</a:t>
            </a:r>
            <a:r>
              <a:rPr lang="zh-CN" sz="1350" b="1">
                <a:solidFill>
                  <a:srgbClr val="0E3F8C"/>
                </a:solidFill>
                <a:latin typeface="Source Han Sans CN"/>
                <a:ea typeface="Source Han Sans CN"/>
              </a:rPr>
              <a:t>　</a:t>
            </a:r>
            <a:r>
              <a:rPr lang="en-US" sz="1350" b="1">
                <a:solidFill>
                  <a:srgbClr val="0E3F8C"/>
                </a:solidFill>
                <a:latin typeface="Source Han Sans CN"/>
                <a:ea typeface="Source Han Sans CN"/>
              </a:rPr>
              <a:t>x</a:t>
            </a:r>
            <a:r>
              <a:rPr lang="en-US" sz="900" b="1">
                <a:solidFill>
                  <a:srgbClr val="0E3F8C"/>
                </a:solidFill>
                <a:latin typeface="Source Han Sans CN"/>
                <a:ea typeface="Source Han Sans CN"/>
              </a:rPr>
              <a:t>uj</a:t>
            </a:r>
            <a:r>
              <a:rPr lang="en-US" sz="1350" b="1">
                <a:solidFill>
                  <a:srgbClr val="0E3F8C"/>
                </a:solidFill>
                <a:latin typeface="Source Han Sans CN"/>
                <a:ea typeface="Source Han Sans CN"/>
              </a:rPr>
              <a:t> ∈ {0,1}</a:t>
            </a:r>
            <a:r>
              <a:rPr lang="zh-CN" sz="1350" b="1">
                <a:solidFill>
                  <a:srgbClr val="0E3F8C"/>
                </a:solidFill>
                <a:latin typeface="Source Han Sans CN"/>
                <a:ea typeface="Source Han Sans CN"/>
              </a:rPr>
              <a:t>　π</a:t>
            </a:r>
            <a:r>
              <a:rPr lang="en-US" sz="900" b="1">
                <a:solidFill>
                  <a:srgbClr val="0E3F8C"/>
                </a:solidFill>
                <a:latin typeface="Source Han Sans CN"/>
                <a:ea typeface="Source Han Sans CN"/>
              </a:rPr>
              <a:t>u</a:t>
            </a:r>
            <a:r>
              <a:rPr lang="en-US" sz="1350" b="1">
                <a:solidFill>
                  <a:srgbClr val="0E3F8C"/>
                </a:solidFill>
                <a:latin typeface="Source Han Sans CN"/>
                <a:ea typeface="Source Han Sans CN"/>
              </a:rPr>
              <a:t>=(T</a:t>
            </a:r>
            <a:r>
              <a:rPr lang="en-US" sz="900" b="1">
                <a:solidFill>
                  <a:srgbClr val="0E3F8C"/>
                </a:solidFill>
                <a:latin typeface="Source Han Sans CN"/>
                <a:ea typeface="Source Han Sans CN"/>
              </a:rPr>
              <a:t>u1</a:t>
            </a:r>
            <a:r>
              <a:rPr lang="en-US" sz="1350" b="1">
                <a:solidFill>
                  <a:srgbClr val="0E3F8C"/>
                </a:solidFill>
                <a:latin typeface="Source Han Sans CN"/>
                <a:ea typeface="Source Han Sans CN"/>
              </a:rPr>
              <a:t>,…,T</a:t>
            </a:r>
            <a:r>
              <a:rPr lang="en-US" sz="900" b="1">
                <a:solidFill>
                  <a:srgbClr val="0E3F8C"/>
                </a:solidFill>
                <a:latin typeface="Source Han Sans CN"/>
                <a:ea typeface="Source Han Sans CN"/>
              </a:rPr>
              <a:t>un</a:t>
            </a:r>
            <a:r>
              <a:rPr lang="en-US" sz="1350" b="1">
                <a:solidFill>
                  <a:srgbClr val="0E3F8C"/>
                </a:solidFill>
                <a:latin typeface="Source Han Sans CN"/>
                <a:ea typeface="Source Han Sans CN"/>
              </a:rPr>
              <a:t>)</a:t>
            </a:r>
            <a:r>
              <a:rPr lang="zh-CN" sz="1350" b="1">
                <a:solidFill>
                  <a:srgbClr val="0E3F8C"/>
                </a:solidFill>
                <a:latin typeface="Source Han Sans CN"/>
                <a:ea typeface="Source Han Sans CN"/>
              </a:rPr>
              <a:t>　</a:t>
            </a:r>
            <a:r>
              <a:rPr lang="en-US" sz="1350" b="1">
                <a:solidFill>
                  <a:srgbClr val="0E3F8C"/>
                </a:solidFill>
                <a:latin typeface="Source Han Sans CN"/>
                <a:ea typeface="Source Han Sans CN"/>
              </a:rPr>
              <a:t>z</a:t>
            </a:r>
            <a:r>
              <a:rPr lang="en-US" sz="900" b="1">
                <a:solidFill>
                  <a:srgbClr val="0E3F8C"/>
                </a:solidFill>
                <a:latin typeface="Source Han Sans CN"/>
                <a:ea typeface="Source Han Sans CN"/>
              </a:rPr>
              <a:t>ub</a:t>
            </a:r>
            <a:r>
              <a:rPr lang="en-US" sz="1350" b="1">
                <a:solidFill>
                  <a:srgbClr val="0E3F8C"/>
                </a:solidFill>
                <a:latin typeface="Source Han Sans CN"/>
                <a:ea typeface="Source Han Sans CN"/>
              </a:rPr>
              <a:t> ∈ {0,1}</a:t>
            </a:r>
            <a:endParaRPr/>
          </a:p>
        </p:txBody>
      </p:sp>
      <p:sp>
        <p:nvSpPr>
          <p:cNvPr id="476" name="文本框 506" descr="{&quot;isTemplate&quot;:true,&quot;type&quot;:&quot;text&quot;}"/>
          <p:cNvSpPr txBox="1"/>
          <p:nvPr/>
        </p:nvSpPr>
        <p:spPr>
          <a:xfrm>
            <a:off x="685800" y="1943100"/>
            <a:ext cx="5200650" cy="200025"/>
          </a:xfrm>
          <a:prstGeom prst="rect">
            <a:avLst/>
          </a:prstGeom>
        </p:spPr>
        <p:txBody>
          <a:bodyPr wrap="none" lIns="0" tIns="0" rIns="0" bIns="0"/>
          <a:lstStyle/>
          <a:p>
            <a:pPr>
              <a:lnSpc>
                <a:spcPct val="100000"/>
              </a:lnSpc>
            </a:pPr>
            <a:r>
              <a:rPr sz="1275">
                <a:solidFill>
                  <a:srgbClr val="1E4FA8"/>
                </a:solidFill>
                <a:latin typeface="Source Han Sans CN"/>
                <a:ea typeface="Source Han Sans CN"/>
              </a:rPr>
              <a:t>Σ</a:t>
            </a:r>
            <a:r>
              <a:rPr lang="en-US" sz="825">
                <a:solidFill>
                  <a:srgbClr val="1E4FA8"/>
                </a:solidFill>
                <a:latin typeface="Source Han Sans CN"/>
                <a:ea typeface="Source Han Sans CN"/>
              </a:rPr>
              <a:t>u</a:t>
            </a:r>
            <a:r>
              <a:rPr lang="en-US" sz="1275">
                <a:solidFill>
                  <a:srgbClr val="1E4FA8"/>
                </a:solidFill>
                <a:latin typeface="Source Han Sans CN"/>
                <a:ea typeface="Source Han Sans CN"/>
              </a:rPr>
              <a:t> x</a:t>
            </a:r>
            <a:r>
              <a:rPr lang="en-US" sz="825">
                <a:solidFill>
                  <a:srgbClr val="1E4FA8"/>
                </a:solidFill>
                <a:latin typeface="Source Han Sans CN"/>
                <a:ea typeface="Source Han Sans CN"/>
              </a:rPr>
              <a:t>uj</a:t>
            </a:r>
            <a:r>
              <a:rPr lang="en-US" sz="1275">
                <a:solidFill>
                  <a:srgbClr val="1E4FA8"/>
                </a:solidFill>
                <a:latin typeface="Source Han Sans CN"/>
                <a:ea typeface="Source Han Sans CN"/>
              </a:rPr>
              <a:t> = y</a:t>
            </a:r>
            <a:r>
              <a:rPr lang="en-US" sz="825">
                <a:solidFill>
                  <a:srgbClr val="1E4FA8"/>
                </a:solidFill>
                <a:latin typeface="Source Han Sans CN"/>
                <a:ea typeface="Source Han Sans CN"/>
              </a:rPr>
              <a:t>j</a:t>
            </a:r>
            <a:r>
              <a:rPr lang="zh-CN" sz="1275">
                <a:solidFill>
                  <a:srgbClr val="1E4FA8"/>
                </a:solidFill>
                <a:latin typeface="Source Han Sans CN"/>
                <a:ea typeface="Source Han Sans CN"/>
              </a:rPr>
              <a:t>　（每任务至多一机；</a:t>
            </a:r>
            <a:r>
              <a:rPr lang="en-US" sz="1275">
                <a:solidFill>
                  <a:srgbClr val="1E4FA8"/>
                </a:solidFill>
                <a:latin typeface="Source Han Sans CN"/>
                <a:ea typeface="Source Han Sans CN"/>
              </a:rPr>
              <a:t>y=0 </a:t>
            </a:r>
            <a:r>
              <a:rPr lang="zh-CN" sz="1275">
                <a:solidFill>
                  <a:srgbClr val="1E4FA8"/>
                </a:solidFill>
                <a:latin typeface="Source Han Sans CN"/>
                <a:ea typeface="Source Han Sans CN"/>
              </a:rPr>
              <a:t>即暂不执行）</a:t>
            </a:r>
            <a:endParaRPr/>
          </a:p>
        </p:txBody>
      </p:sp>
      <p:sp>
        <p:nvSpPr>
          <p:cNvPr id="477" name="文本框 507" descr="{&quot;isTemplate&quot;:true,&quot;type&quot;:&quot;text&quot;}"/>
          <p:cNvSpPr txBox="1"/>
          <p:nvPr/>
        </p:nvSpPr>
        <p:spPr>
          <a:xfrm>
            <a:off x="552450" y="2333625"/>
            <a:ext cx="5467350" cy="533400"/>
          </a:xfrm>
          <a:prstGeom prst="rect">
            <a:avLst/>
          </a:prstGeom>
        </p:spPr>
        <p:txBody>
          <a:bodyPr wrap="square" lIns="0" tIns="0" rIns="0" bIns="0">
            <a:normAutofit/>
          </a:bodyPr>
          <a:lstStyle/>
          <a:p>
            <a:pPr>
              <a:lnSpc>
                <a:spcPct val="165000"/>
              </a:lnSpc>
            </a:pPr>
            <a:r>
              <a:rPr lang="en-US" sz="1050">
                <a:solidFill>
                  <a:srgbClr val="4A5568"/>
                </a:solidFill>
                <a:latin typeface="Source Han Sans CN"/>
                <a:ea typeface="Source Han Sans CN"/>
              </a:rPr>
              <a:t>y</a:t>
            </a:r>
            <a:r>
              <a:rPr lang="zh-CN" sz="1050">
                <a:solidFill>
                  <a:srgbClr val="4A5568"/>
                </a:solidFill>
                <a:latin typeface="Source Han Sans CN"/>
                <a:ea typeface="Source Han Sans CN"/>
              </a:rPr>
              <a:t>：任务是否执行　</a:t>
            </a:r>
            <a:r>
              <a:rPr lang="en-US" sz="1050">
                <a:solidFill>
                  <a:srgbClr val="4A5568"/>
                </a:solidFill>
                <a:latin typeface="Source Han Sans CN"/>
                <a:ea typeface="Source Han Sans CN"/>
              </a:rPr>
              <a:t>x</a:t>
            </a:r>
            <a:r>
              <a:rPr lang="zh-CN" sz="1050">
                <a:solidFill>
                  <a:srgbClr val="4A5568"/>
                </a:solidFill>
                <a:latin typeface="Source Han Sans CN"/>
                <a:ea typeface="Source Han Sans CN"/>
              </a:rPr>
              <a:t>：</a:t>
            </a:r>
            <a:r>
              <a:rPr lang="en-US" sz="1050">
                <a:solidFill>
                  <a:srgbClr val="4A5568"/>
                </a:solidFill>
                <a:latin typeface="Source Han Sans CN"/>
                <a:ea typeface="Source Han Sans CN"/>
              </a:rPr>
              <a:t>UAV–</a:t>
            </a:r>
            <a:r>
              <a:rPr lang="zh-CN" sz="1050">
                <a:solidFill>
                  <a:srgbClr val="4A5568"/>
                </a:solidFill>
                <a:latin typeface="Source Han Sans CN"/>
                <a:ea typeface="Source Han Sans CN"/>
              </a:rPr>
              <a:t>任务归属　π：访问顺序　</a:t>
            </a:r>
            <a:r>
              <a:rPr lang="en-US" sz="1050">
                <a:solidFill>
                  <a:srgbClr val="4A5568"/>
                </a:solidFill>
                <a:latin typeface="Source Han Sans CN"/>
                <a:ea typeface="Source Han Sans CN"/>
              </a:rPr>
              <a:t>z</a:t>
            </a:r>
            <a:r>
              <a:rPr lang="zh-CN" sz="1050">
                <a:solidFill>
                  <a:srgbClr val="4A5568"/>
                </a:solidFill>
                <a:latin typeface="Source Han Sans CN"/>
                <a:ea typeface="Source Han Sans CN"/>
              </a:rPr>
              <a:t>：终点机巢（起点由停靠状态给定）——允许</a:t>
            </a:r>
            <a:r>
              <a:rPr lang="en-US" sz="1050">
                <a:solidFill>
                  <a:srgbClr val="4A5568"/>
                </a:solidFill>
                <a:latin typeface="Source Han Sans CN"/>
                <a:ea typeface="Source Han Sans CN"/>
              </a:rPr>
              <a:t> n</a:t>
            </a:r>
            <a:r>
              <a:rPr lang="en-US" sz="825">
                <a:solidFill>
                  <a:srgbClr val="4A5568"/>
                </a:solidFill>
                <a:latin typeface="Source Han Sans CN"/>
                <a:ea typeface="Source Han Sans CN"/>
              </a:rPr>
              <a:t>u</a:t>
            </a:r>
            <a:r>
              <a:rPr lang="en-US" sz="1050">
                <a:solidFill>
                  <a:srgbClr val="4A5568"/>
                </a:solidFill>
                <a:latin typeface="Source Han Sans CN"/>
                <a:ea typeface="Source Han Sans CN"/>
              </a:rPr>
              <a:t>=0</a:t>
            </a:r>
            <a:r>
              <a:rPr lang="zh-CN" sz="1050">
                <a:solidFill>
                  <a:srgbClr val="4A5568"/>
                </a:solidFill>
                <a:latin typeface="Source Han Sans CN"/>
                <a:ea typeface="Source Han Sans CN"/>
              </a:rPr>
              <a:t>，即部分</a:t>
            </a:r>
            <a:r>
              <a:rPr lang="en-US" sz="1050">
                <a:solidFill>
                  <a:srgbClr val="4A5568"/>
                </a:solidFill>
                <a:latin typeface="Source Han Sans CN"/>
                <a:ea typeface="Source Han Sans CN"/>
              </a:rPr>
              <a:t> UAV </a:t>
            </a:r>
            <a:r>
              <a:rPr lang="zh-CN" sz="1050">
                <a:solidFill>
                  <a:srgbClr val="4A5568"/>
                </a:solidFill>
                <a:latin typeface="Source Han Sans CN"/>
                <a:ea typeface="Source Han Sans CN"/>
              </a:rPr>
              <a:t>空闲</a:t>
            </a:r>
            <a:endParaRPr/>
          </a:p>
        </p:txBody>
      </p:sp>
      <p:sp>
        <p:nvSpPr>
          <p:cNvPr id="478" name="矩形: 圆角 508"/>
          <p:cNvSpPr/>
          <p:nvPr/>
        </p:nvSpPr>
        <p:spPr>
          <a:xfrm>
            <a:off x="381000" y="3133725"/>
            <a:ext cx="5810250" cy="1628775"/>
          </a:xfrm>
          <a:prstGeom prst="roundRect">
            <a:avLst>
              <a:gd name="adj" fmla="val 5848"/>
            </a:avLst>
          </a:prstGeom>
          <a:solidFill>
            <a:srgbClr val="F7F9FC"/>
          </a:solidFill>
          <a:ln w="12700">
            <a:solidFill>
              <a:srgbClr val="D6DCE5"/>
            </a:solidFill>
            <a:prstDash val="solid"/>
          </a:ln>
        </p:spPr>
        <p:txBody>
          <a:bodyPr/>
          <a:lstStyle/>
          <a:p>
            <a:endParaRPr/>
          </a:p>
        </p:txBody>
      </p:sp>
      <p:sp>
        <p:nvSpPr>
          <p:cNvPr id="479" name="文本框 509" descr="{&quot;isTemplate&quot;:true,&quot;type&quot;:&quot;text&quot;}"/>
          <p:cNvSpPr txBox="1"/>
          <p:nvPr/>
        </p:nvSpPr>
        <p:spPr>
          <a:xfrm>
            <a:off x="552450" y="3267075"/>
            <a:ext cx="5467350" cy="209550"/>
          </a:xfrm>
          <a:prstGeom prst="rect">
            <a:avLst/>
          </a:prstGeom>
        </p:spPr>
        <p:txBody>
          <a:bodyPr wrap="none" lIns="0" tIns="0" rIns="0" bIns="0"/>
          <a:lstStyle/>
          <a:p>
            <a:pPr>
              <a:lnSpc>
                <a:spcPct val="100000"/>
              </a:lnSpc>
            </a:pPr>
            <a:r>
              <a:rPr lang="en-US" sz="1350" b="1">
                <a:solidFill>
                  <a:srgbClr val="0E3F8C"/>
                </a:solidFill>
                <a:latin typeface="Source Han Sans CN"/>
                <a:ea typeface="Source Han Sans CN"/>
              </a:rPr>
              <a:t>② </a:t>
            </a:r>
            <a:r>
              <a:rPr lang="zh-CN" sz="1350" b="1">
                <a:solidFill>
                  <a:srgbClr val="0E3F8C"/>
                </a:solidFill>
                <a:latin typeface="Source Han Sans CN"/>
                <a:ea typeface="Source Han Sans CN"/>
              </a:rPr>
              <a:t>目标退化：完成是约束</a:t>
            </a:r>
            <a:r>
              <a:rPr lang="en-US" sz="1350" b="1">
                <a:solidFill>
                  <a:srgbClr val="0E3F8C"/>
                </a:solidFill>
                <a:latin typeface="Source Han Sans CN"/>
                <a:ea typeface="Source Han Sans CN"/>
              </a:rPr>
              <a:t>，</a:t>
            </a:r>
            <a:r>
              <a:rPr lang="zh-CN" sz="1350" b="1">
                <a:solidFill>
                  <a:srgbClr val="0E3F8C"/>
                </a:solidFill>
                <a:latin typeface="Source Han Sans CN"/>
                <a:ea typeface="Source Han Sans CN"/>
              </a:rPr>
              <a:t>成本是目标</a:t>
            </a:r>
            <a:endParaRPr/>
          </a:p>
        </p:txBody>
      </p:sp>
      <p:sp>
        <p:nvSpPr>
          <p:cNvPr id="480" name="矩形: 圆角 510"/>
          <p:cNvSpPr/>
          <p:nvPr/>
        </p:nvSpPr>
        <p:spPr>
          <a:xfrm>
            <a:off x="552450" y="3571875"/>
            <a:ext cx="5467350" cy="447675"/>
          </a:xfrm>
          <a:prstGeom prst="roundRect">
            <a:avLst>
              <a:gd name="adj" fmla="val 17021"/>
            </a:avLst>
          </a:prstGeom>
          <a:solidFill>
            <a:srgbClr val="E8EFF8"/>
          </a:solidFill>
          <a:ln/>
        </p:spPr>
        <p:txBody>
          <a:bodyPr/>
          <a:lstStyle/>
          <a:p>
            <a:endParaRPr/>
          </a:p>
        </p:txBody>
      </p:sp>
      <p:sp>
        <p:nvSpPr>
          <p:cNvPr id="481" name="文本框 511" descr="{&quot;isTemplate&quot;:true,&quot;type&quot;:&quot;text&quot;}"/>
          <p:cNvSpPr txBox="1"/>
          <p:nvPr/>
        </p:nvSpPr>
        <p:spPr>
          <a:xfrm>
            <a:off x="685800" y="3686175"/>
            <a:ext cx="5200650" cy="219075"/>
          </a:xfrm>
          <a:prstGeom prst="rect">
            <a:avLst/>
          </a:prstGeom>
        </p:spPr>
        <p:txBody>
          <a:bodyPr wrap="none" lIns="0" tIns="0" rIns="0" bIns="0"/>
          <a:lstStyle/>
          <a:p>
            <a:pPr>
              <a:lnSpc>
                <a:spcPct val="100000"/>
              </a:lnSpc>
            </a:pPr>
            <a:r>
              <a:rPr lang="en-US" sz="1425" b="1">
                <a:solidFill>
                  <a:srgbClr val="0E3F8C"/>
                </a:solidFill>
                <a:latin typeface="Source Han Sans CN"/>
                <a:ea typeface="Source Han Sans CN"/>
              </a:rPr>
              <a:t>F</a:t>
            </a:r>
            <a:r>
              <a:rPr lang="en-US" sz="900" b="1">
                <a:solidFill>
                  <a:srgbClr val="0E3F8C"/>
                </a:solidFill>
                <a:latin typeface="Source Han Sans CN"/>
                <a:ea typeface="Source Han Sans CN"/>
              </a:rPr>
              <a:t>1</a:t>
            </a:r>
            <a:r>
              <a:rPr lang="en-US" sz="1425" b="1">
                <a:solidFill>
                  <a:srgbClr val="0E3F8C"/>
                </a:solidFill>
                <a:latin typeface="Source Han Sans CN"/>
                <a:ea typeface="Source Han Sans CN"/>
              </a:rPr>
              <a:t> = Σ</a:t>
            </a:r>
            <a:r>
              <a:rPr lang="en-US" sz="825" b="1">
                <a:solidFill>
                  <a:srgbClr val="0E3F8C"/>
                </a:solidFill>
                <a:latin typeface="Source Han Sans CN"/>
                <a:ea typeface="Source Han Sans CN"/>
              </a:rPr>
              <a:t>j</a:t>
            </a:r>
            <a:r>
              <a:rPr lang="en-US" sz="1425" b="1">
                <a:solidFill>
                  <a:srgbClr val="0E3F8C"/>
                </a:solidFill>
                <a:latin typeface="Source Han Sans CN"/>
                <a:ea typeface="Source Han Sans CN"/>
              </a:rPr>
              <a:t> R</a:t>
            </a:r>
            <a:r>
              <a:rPr lang="en-US" sz="825" b="1">
                <a:solidFill>
                  <a:srgbClr val="0E3F8C"/>
                </a:solidFill>
                <a:latin typeface="Source Han Sans CN"/>
                <a:ea typeface="Source Han Sans CN"/>
              </a:rPr>
              <a:t>j</a:t>
            </a:r>
            <a:r>
              <a:rPr lang="en-US" sz="1425" b="1">
                <a:solidFill>
                  <a:srgbClr val="0E3F8C"/>
                </a:solidFill>
                <a:latin typeface="Source Han Sans CN"/>
                <a:ea typeface="Source Han Sans CN"/>
              </a:rPr>
              <a:t>(t)·y</a:t>
            </a:r>
            <a:r>
              <a:rPr lang="en-US" sz="825" b="1">
                <a:solidFill>
                  <a:srgbClr val="0E3F8C"/>
                </a:solidFill>
                <a:latin typeface="Source Han Sans CN"/>
                <a:ea typeface="Source Han Sans CN"/>
              </a:rPr>
              <a:t>j</a:t>
            </a:r>
            <a:r>
              <a:rPr lang="zh-CN" sz="1425">
                <a:solidFill>
                  <a:srgbClr val="4A5568"/>
                </a:solidFill>
                <a:latin typeface="Source Han Sans CN"/>
                <a:ea typeface="Source Han Sans CN"/>
              </a:rPr>
              <a:t>（事后统计指标）　　</a:t>
            </a:r>
            <a:r>
              <a:rPr lang="en-US" sz="1425" b="1">
                <a:solidFill>
                  <a:srgbClr val="0E3F8C"/>
                </a:solidFill>
                <a:latin typeface="Source Han Sans CN"/>
                <a:ea typeface="Source Han Sans CN"/>
              </a:rPr>
              <a:t>min F</a:t>
            </a:r>
            <a:r>
              <a:rPr lang="en-US" sz="900" b="1">
                <a:solidFill>
                  <a:srgbClr val="0E3F8C"/>
                </a:solidFill>
                <a:latin typeface="Source Han Sans CN"/>
                <a:ea typeface="Source Han Sans CN"/>
              </a:rPr>
              <a:t>2</a:t>
            </a:r>
            <a:r>
              <a:rPr lang="en-US" sz="1425" b="1">
                <a:solidFill>
                  <a:srgbClr val="0E3F8C"/>
                </a:solidFill>
                <a:latin typeface="Source Han Sans CN"/>
                <a:ea typeface="Source Han Sans CN"/>
              </a:rPr>
              <a:t> = C(x, π, z, y)</a:t>
            </a:r>
            <a:endParaRPr/>
          </a:p>
        </p:txBody>
      </p:sp>
      <p:sp>
        <p:nvSpPr>
          <p:cNvPr id="482" name="文本框 512" descr="{&quot;isTemplate&quot;:true,&quot;type&quot;:&quot;text&quot;}"/>
          <p:cNvSpPr txBox="1"/>
          <p:nvPr/>
        </p:nvSpPr>
        <p:spPr>
          <a:xfrm>
            <a:off x="552450" y="4095750"/>
            <a:ext cx="5467350" cy="533400"/>
          </a:xfrm>
          <a:prstGeom prst="rect">
            <a:avLst/>
          </a:prstGeom>
        </p:spPr>
        <p:txBody>
          <a:bodyPr wrap="square" lIns="0" tIns="0" rIns="0" bIns="0">
            <a:normAutofit/>
          </a:bodyPr>
          <a:lstStyle/>
          <a:p>
            <a:pPr>
              <a:lnSpc>
                <a:spcPct val="165000"/>
              </a:lnSpc>
            </a:pPr>
            <a:r>
              <a:rPr lang="en-US" sz="1050">
                <a:solidFill>
                  <a:srgbClr val="4A5568"/>
                </a:solidFill>
                <a:latin typeface="Source Han Sans CN"/>
                <a:ea typeface="Source Han Sans CN"/>
              </a:rPr>
              <a:t>F2 综合三维飞行代价与约束惩罚（航程、时间窗、终点可达、机巢容量末态泊位、三维地理、访问顺序）；「能装必交付」由覆盖门禁保证——F1 恒常、退化为事后指标</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endParaRPr/>
          </a:p>
        </p:txBody>
      </p:sp>
      <p:sp>
        <p:nvSpPr>
          <p:cNvPr id="483" name="矩形: 圆角 513"/>
          <p:cNvSpPr/>
          <p:nvPr/>
        </p:nvSpPr>
        <p:spPr>
          <a:xfrm>
            <a:off x="381000" y="4895850"/>
            <a:ext cx="5810250" cy="1076325"/>
          </a:xfrm>
          <a:prstGeom prst="roundRect">
            <a:avLst>
              <a:gd name="adj" fmla="val 8850"/>
            </a:avLst>
          </a:prstGeom>
          <a:solidFill>
            <a:srgbClr val="0E3F8C"/>
          </a:solidFill>
          <a:ln/>
        </p:spPr>
        <p:txBody>
          <a:bodyPr/>
          <a:lstStyle/>
          <a:p>
            <a:endParaRPr/>
          </a:p>
        </p:txBody>
      </p:sp>
      <p:sp>
        <p:nvSpPr>
          <p:cNvPr id="484" name="文本框 514" descr="{&quot;isTemplate&quot;:true,&quot;type&quot;:&quot;text&quot;}"/>
          <p:cNvSpPr txBox="1"/>
          <p:nvPr/>
        </p:nvSpPr>
        <p:spPr>
          <a:xfrm>
            <a:off x="552450" y="5019675"/>
            <a:ext cx="5467350" cy="828675"/>
          </a:xfrm>
          <a:prstGeom prst="rect">
            <a:avLst/>
          </a:prstGeom>
        </p:spPr>
        <p:txBody>
          <a:bodyPr wrap="square" lIns="0" tIns="0" rIns="0" bIns="0">
            <a:normAutofit/>
          </a:bodyPr>
          <a:lstStyle/>
          <a:p>
            <a:pPr>
              <a:lnSpc>
                <a:spcPct val="160000"/>
              </a:lnSpc>
            </a:pPr>
            <a:r>
              <a:rPr lang="zh-CN" sz="1125" b="1">
                <a:solidFill>
                  <a:srgbClr val="FFFFFF"/>
                </a:solidFill>
                <a:latin typeface="Source Han Sans CN"/>
                <a:ea typeface="Source Han Sans CN"/>
              </a:rPr>
              <a:t>终点机巢子问题：给定路线后</a:t>
            </a:r>
            <a:r>
              <a:rPr lang="en-US" sz="1125" b="1">
                <a:solidFill>
                  <a:srgbClr val="FFFFFF"/>
                </a:solidFill>
                <a:latin typeface="Source Han Sans CN"/>
                <a:ea typeface="Source Han Sans CN"/>
              </a:rPr>
              <a:t> min Σ c</a:t>
            </a:r>
            <a:r>
              <a:rPr lang="en-US" sz="825" b="1">
                <a:solidFill>
                  <a:srgbClr val="FFFFFF"/>
                </a:solidFill>
                <a:latin typeface="Source Han Sans CN"/>
                <a:ea typeface="Source Han Sans CN"/>
              </a:rPr>
              <a:t>ub</a:t>
            </a:r>
            <a:r>
              <a:rPr lang="en-US" sz="1125" b="1">
                <a:solidFill>
                  <a:srgbClr val="FFFFFF"/>
                </a:solidFill>
                <a:latin typeface="Source Han Sans CN"/>
                <a:ea typeface="Source Han Sans CN"/>
              </a:rPr>
              <a:t>(π</a:t>
            </a:r>
            <a:r>
              <a:rPr lang="en-US" sz="825" b="1">
                <a:solidFill>
                  <a:srgbClr val="FFFFFF"/>
                </a:solidFill>
                <a:latin typeface="Source Han Sans CN"/>
                <a:ea typeface="Source Han Sans CN"/>
              </a:rPr>
              <a:t>u</a:t>
            </a:r>
            <a:r>
              <a:rPr lang="en-US" sz="1125" b="1">
                <a:solidFill>
                  <a:srgbClr val="FFFFFF"/>
                </a:solidFill>
                <a:latin typeface="Source Han Sans CN"/>
                <a:ea typeface="Source Han Sans CN"/>
              </a:rPr>
              <a:t>)·z</a:t>
            </a:r>
            <a:r>
              <a:rPr lang="en-US" sz="825" b="1">
                <a:solidFill>
                  <a:srgbClr val="FFFFFF"/>
                </a:solidFill>
                <a:latin typeface="Source Han Sans CN"/>
                <a:ea typeface="Source Han Sans CN"/>
              </a:rPr>
              <a:t>ub</a:t>
            </a:r>
            <a:r>
              <a:rPr lang="zh-CN" sz="1125" b="1">
                <a:solidFill>
                  <a:srgbClr val="FFFFFF"/>
                </a:solidFill>
                <a:latin typeface="Source Han Sans CN"/>
                <a:ea typeface="Source Han Sans CN"/>
              </a:rPr>
              <a:t>（容量约束），结构是小规模运输问题——用最小费用流</a:t>
            </a:r>
            <a:r>
              <a:rPr lang="zh-CN" sz="1125" b="1">
                <a:solidFill>
                  <a:srgbClr val="FFC107"/>
                </a:solidFill>
                <a:latin typeface="Source Han Sans CN"/>
                <a:ea typeface="Source Han Sans CN"/>
              </a:rPr>
              <a:t>精确求解</a:t>
            </a:r>
            <a:r>
              <a:rPr lang="zh-CN" sz="1125" b="1">
                <a:solidFill>
                  <a:srgbClr val="FFFFFF"/>
                </a:solidFill>
                <a:latin typeface="Source Han Sans CN"/>
                <a:ea typeface="Source Han Sans CN"/>
              </a:rPr>
              <a:t>，联合考虑所有</a:t>
            </a:r>
            <a:r>
              <a:rPr lang="en-US" sz="1125" b="1">
                <a:solidFill>
                  <a:srgbClr val="FFFFFF"/>
                </a:solidFill>
                <a:latin typeface="Source Han Sans CN"/>
                <a:ea typeface="Source Han Sans CN"/>
              </a:rPr>
              <a:t> UAV </a:t>
            </a:r>
            <a:r>
              <a:rPr lang="zh-CN" sz="1125" b="1">
                <a:solidFill>
                  <a:srgbClr val="FFFFFF"/>
                </a:solidFill>
                <a:latin typeface="Source Han Sans CN"/>
                <a:ea typeface="Source Han Sans CN"/>
              </a:rPr>
              <a:t>的终点竞争，返航代价进入完整成本评价。</a:t>
            </a:r>
            <a:endParaRPr/>
          </a:p>
        </p:txBody>
      </p:sp>
      <p:sp>
        <p:nvSpPr>
          <p:cNvPr id="485" name="矩形: 圆角 515"/>
          <p:cNvSpPr/>
          <p:nvPr/>
        </p:nvSpPr>
        <p:spPr>
          <a:xfrm>
            <a:off x="6419850" y="1143000"/>
            <a:ext cx="5391150" cy="2952750"/>
          </a:xfrm>
          <a:prstGeom prst="roundRect">
            <a:avLst>
              <a:gd name="adj" fmla="val 3226"/>
            </a:avLst>
          </a:prstGeom>
          <a:solidFill>
            <a:srgbClr val="F0F5FC"/>
          </a:solidFill>
          <a:ln/>
        </p:spPr>
        <p:txBody>
          <a:bodyPr/>
          <a:lstStyle/>
          <a:p>
            <a:endParaRPr/>
          </a:p>
        </p:txBody>
      </p:sp>
      <p:sp>
        <p:nvSpPr>
          <p:cNvPr id="486" name="任意多边形: 形状 516"/>
          <p:cNvSpPr/>
          <p:nvPr/>
        </p:nvSpPr>
        <p:spPr>
          <a:xfrm>
            <a:off x="6419850" y="1143000"/>
            <a:ext cx="5391150" cy="2952750"/>
          </a:xfrm>
          <a:custGeom>
            <a:avLst/>
            <a:gdLst/>
            <a:ahLst/>
            <a:cxnLst/>
            <a:rect l="0" t="0" r="0" b="0"/>
            <a:pathLst>
              <a:path w="566" h="310">
                <a:moveTo>
                  <a:pt x="556" y="0"/>
                </a:moveTo>
                <a:cubicBezTo>
                  <a:pt x="561" y="0"/>
                  <a:pt x="565" y="4"/>
                  <a:pt x="566" y="8"/>
                </a:cubicBezTo>
                <a:cubicBezTo>
                  <a:pt x="565" y="6"/>
                  <a:pt x="563" y="4"/>
                  <a:pt x="560" y="4"/>
                </a:cubicBezTo>
                <a:lnTo>
                  <a:pt x="6" y="4"/>
                </a:lnTo>
                <a:cubicBezTo>
                  <a:pt x="3" y="4"/>
                  <a:pt x="1" y="6"/>
                  <a:pt x="0" y="9"/>
                </a:cubicBezTo>
                <a:cubicBezTo>
                  <a:pt x="1" y="4"/>
                  <a:pt x="5" y="0"/>
                  <a:pt x="10" y="0"/>
                </a:cubicBezTo>
                <a:lnTo>
                  <a:pt x="556" y="0"/>
                </a:lnTo>
                <a:close/>
              </a:path>
            </a:pathLst>
          </a:custGeom>
          <a:solidFill>
            <a:srgbClr val="1E4FA8"/>
          </a:solidFill>
          <a:ln/>
        </p:spPr>
        <p:txBody>
          <a:bodyPr/>
          <a:lstStyle/>
          <a:p>
            <a:endParaRPr/>
          </a:p>
        </p:txBody>
      </p:sp>
      <p:sp>
        <p:nvSpPr>
          <p:cNvPr id="487" name="文本框 517" descr="{&quot;isTemplate&quot;:true,&quot;type&quot;:&quot;text&quot;}"/>
          <p:cNvSpPr txBox="1"/>
          <p:nvPr/>
        </p:nvSpPr>
        <p:spPr>
          <a:xfrm>
            <a:off x="6591300" y="1276350"/>
            <a:ext cx="5048250" cy="209550"/>
          </a:xfrm>
          <a:prstGeom prst="rect">
            <a:avLst/>
          </a:prstGeom>
        </p:spPr>
        <p:txBody>
          <a:bodyPr wrap="none" lIns="0" tIns="0" rIns="0" bIns="0"/>
          <a:lstStyle/>
          <a:p>
            <a:pPr>
              <a:lnSpc>
                <a:spcPct val="100000"/>
              </a:lnSpc>
            </a:pPr>
            <a:r>
              <a:rPr lang="en-US" sz="1350" b="1">
                <a:solidFill>
                  <a:srgbClr val="0E3F8C"/>
                </a:solidFill>
                <a:latin typeface="Source Han Sans CN"/>
                <a:ea typeface="Source Han Sans CN"/>
              </a:rPr>
              <a:t>③ </a:t>
            </a:r>
            <a:r>
              <a:rPr lang="zh-CN" sz="1350" b="1">
                <a:solidFill>
                  <a:srgbClr val="0E3F8C"/>
                </a:solidFill>
                <a:latin typeface="Source Han Sans CN"/>
                <a:ea typeface="Source Han Sans CN"/>
              </a:rPr>
              <a:t>进化评价：四层准字典序（覆盖门禁口径）</a:t>
            </a:r>
            <a:endParaRPr/>
          </a:p>
        </p:txBody>
      </p:sp>
      <p:sp>
        <p:nvSpPr>
          <p:cNvPr id="488" name="矩形: 圆角 518"/>
          <p:cNvSpPr/>
          <p:nvPr/>
        </p:nvSpPr>
        <p:spPr>
          <a:xfrm>
            <a:off x="6591300" y="1581150"/>
            <a:ext cx="5048250" cy="895350"/>
          </a:xfrm>
          <a:prstGeom prst="roundRect">
            <a:avLst>
              <a:gd name="adj" fmla="val 8511"/>
            </a:avLst>
          </a:prstGeom>
          <a:solidFill>
            <a:srgbClr val="FFFFFF"/>
          </a:solidFill>
          <a:ln/>
        </p:spPr>
        <p:txBody>
          <a:bodyPr/>
          <a:lstStyle/>
          <a:p>
            <a:endParaRPr/>
          </a:p>
        </p:txBody>
      </p:sp>
      <p:sp>
        <p:nvSpPr>
          <p:cNvPr id="489" name="文本框 519" descr="{&quot;isTemplate&quot;:true,&quot;type&quot;:&quot;text&quot;}"/>
          <p:cNvSpPr txBox="1"/>
          <p:nvPr/>
        </p:nvSpPr>
        <p:spPr>
          <a:xfrm>
            <a:off x="6724650" y="1695450"/>
            <a:ext cx="4781550" cy="666750"/>
          </a:xfrm>
          <a:prstGeom prst="rect">
            <a:avLst/>
          </a:prstGeom>
        </p:spPr>
        <p:txBody>
          <a:bodyPr wrap="square" lIns="0" tIns="0" rIns="0" bIns="0">
            <a:normAutofit/>
          </a:bodyPr>
          <a:lstStyle/>
          <a:p>
            <a:pPr>
              <a:lnSpc>
                <a:spcPct val="170000"/>
              </a:lnSpc>
            </a:pPr>
            <a:r>
              <a:rPr lang="en-US" sz="1275" b="1">
                <a:solidFill>
                  <a:srgbClr val="0E3F8C"/>
                </a:solidFill>
                <a:latin typeface="Source Han Sans CN"/>
                <a:ea typeface="Source Han Sans CN"/>
              </a:rPr>
              <a:t>f = W</a:t>
            </a:r>
            <a:r>
              <a:rPr lang="en-US" sz="825" b="1">
                <a:solidFill>
                  <a:srgbClr val="0E3F8C"/>
                </a:solidFill>
                <a:latin typeface="Source Han Sans CN"/>
                <a:ea typeface="Source Han Sans CN"/>
              </a:rPr>
              <a:t>hard</a:t>
            </a:r>
            <a:r>
              <a:rPr lang="en-US" sz="1275" b="1">
                <a:solidFill>
                  <a:srgbClr val="0E3F8C"/>
                </a:solidFill>
                <a:latin typeface="Source Han Sans CN"/>
                <a:ea typeface="Source Han Sans CN"/>
              </a:rPr>
              <a:t>·n</a:t>
            </a:r>
            <a:r>
              <a:rPr lang="en-US" sz="825" b="1">
                <a:solidFill>
                  <a:srgbClr val="0E3F8C"/>
                </a:solidFill>
                <a:latin typeface="Source Han Sans CN"/>
                <a:ea typeface="Source Han Sans CN"/>
              </a:rPr>
              <a:t>hard</a:t>
            </a:r>
            <a:r>
              <a:rPr lang="en-US" sz="1275" b="1">
                <a:solidFill>
                  <a:srgbClr val="0E3F8C"/>
                </a:solidFill>
                <a:latin typeface="Source Han Sans CN"/>
                <a:ea typeface="Source Han Sans CN"/>
              </a:rPr>
              <a:t> + w</a:t>
            </a:r>
            <a:r>
              <a:rPr lang="en-US" sz="825" b="1">
                <a:solidFill>
                  <a:srgbClr val="0E3F8C"/>
                </a:solidFill>
                <a:latin typeface="Source Han Sans CN"/>
                <a:ea typeface="Source Han Sans CN"/>
              </a:rPr>
              <a:t>exc</a:t>
            </a:r>
            <a:r>
              <a:rPr lang="en-US" sz="1275" b="1">
                <a:solidFill>
                  <a:srgbClr val="0E3F8C"/>
                </a:solidFill>
                <a:latin typeface="Source Han Sans CN"/>
                <a:ea typeface="Source Han Sans CN"/>
              </a:rPr>
              <a:t>·excess</a:t>
            </a:r>
            <a:r>
              <a:rPr lang="en-US" sz="825" b="1">
                <a:solidFill>
                  <a:srgbClr val="0E3F8C"/>
                </a:solidFill>
                <a:latin typeface="Source Han Sans CN"/>
                <a:ea typeface="Source Han Sans CN"/>
              </a:rPr>
              <a:t>m</a:t>
            </a:r>
            <a:r>
              <a:rPr lang="en-US" sz="1275" b="1">
                <a:solidFill>
                  <a:srgbClr val="0E3F8C"/>
                </a:solidFill>
                <a:latin typeface="Source Han Sans CN"/>
                <a:ea typeface="Source Han Sans CN"/>
              </a:rPr>
              <a:t> + W</a:t>
            </a:r>
            <a:r>
              <a:rPr lang="en-US" sz="825" b="1">
                <a:solidFill>
                  <a:srgbClr val="0E3F8C"/>
                </a:solidFill>
                <a:latin typeface="Source Han Sans CN"/>
                <a:ea typeface="Source Han Sans CN"/>
              </a:rPr>
              <a:t>skip</a:t>
            </a:r>
            <a:r>
              <a:rPr lang="en-US" sz="1275" b="1">
                <a:solidFill>
                  <a:srgbClr val="0E3F8C"/>
                </a:solidFill>
                <a:latin typeface="Source Han Sans CN"/>
                <a:ea typeface="Source Han Sans CN"/>
              </a:rPr>
              <a:t>·n</a:t>
            </a:r>
            <a:r>
              <a:rPr lang="en-US" sz="825" b="1">
                <a:solidFill>
                  <a:srgbClr val="0E3F8C"/>
                </a:solidFill>
                <a:latin typeface="Source Han Sans CN"/>
                <a:ea typeface="Source Han Sans CN"/>
              </a:rPr>
              <a:t>skip</a:t>
            </a:r>
            <a:r>
              <a:rPr lang="en-US" sz="1275" b="1">
                <a:solidFill>
                  <a:srgbClr val="0E3F8C"/>
                </a:solidFill>
                <a:latin typeface="Source Han Sans CN"/>
                <a:ea typeface="Source Han Sans CN"/>
              </a:rPr>
              <a:t> + w</a:t>
            </a:r>
            <a:r>
              <a:rPr lang="en-US" sz="825" b="1">
                <a:solidFill>
                  <a:srgbClr val="0E3F8C"/>
                </a:solidFill>
                <a:latin typeface="Source Han Sans CN"/>
                <a:ea typeface="Source Han Sans CN"/>
              </a:rPr>
              <a:t>late</a:t>
            </a:r>
            <a:r>
              <a:rPr lang="en-US" sz="1275" b="1">
                <a:solidFill>
                  <a:srgbClr val="0E3F8C"/>
                </a:solidFill>
                <a:latin typeface="Source Han Sans CN"/>
                <a:ea typeface="Source Han Sans CN"/>
              </a:rPr>
              <a:t>·L_tot + λ·path + w</a:t>
            </a:r>
            <a:r>
              <a:rPr lang="en-US" sz="825" b="1">
                <a:solidFill>
                  <a:srgbClr val="0E3F8C"/>
                </a:solidFill>
                <a:latin typeface="Source Han Sans CN"/>
                <a:ea typeface="Source Han Sans CN"/>
              </a:rPr>
              <a:t>time</a:t>
            </a:r>
            <a:r>
              <a:rPr lang="en-US" sz="1275" b="1">
                <a:solidFill>
                  <a:srgbClr val="0E3F8C"/>
                </a:solidFill>
                <a:latin typeface="Source Han Sans CN"/>
                <a:ea typeface="Source Han Sans CN"/>
              </a:rPr>
              <a:t>·F</a:t>
            </a:r>
            <a:r>
              <a:rPr lang="en-US" sz="825" b="1">
                <a:solidFill>
                  <a:srgbClr val="0E3F8C"/>
                </a:solidFill>
                <a:latin typeface="Source Han Sans CN"/>
                <a:ea typeface="Source Han Sans CN"/>
              </a:rPr>
              <a:t>3</a:t>
            </a:r>
            <a:endParaRPr/>
          </a:p>
        </p:txBody>
      </p:sp>
      <p:sp>
        <p:nvSpPr>
          <p:cNvPr id="490" name="矩形: 圆角 520"/>
          <p:cNvSpPr/>
          <p:nvPr/>
        </p:nvSpPr>
        <p:spPr>
          <a:xfrm>
            <a:off x="6591300" y="2571750"/>
            <a:ext cx="1104900" cy="200025"/>
          </a:xfrm>
          <a:prstGeom prst="roundRect">
            <a:avLst>
              <a:gd name="adj" fmla="val 19048"/>
            </a:avLst>
          </a:prstGeom>
          <a:solidFill>
            <a:srgbClr val="1E4FA8"/>
          </a:solidFill>
          <a:ln/>
        </p:spPr>
        <p:txBody>
          <a:bodyPr/>
          <a:lstStyle/>
          <a:p>
            <a:endParaRPr/>
          </a:p>
        </p:txBody>
      </p:sp>
      <p:sp>
        <p:nvSpPr>
          <p:cNvPr id="491" name="文本框 521" descr="{&quot;isTemplate&quot;:true,&quot;type&quot;:&quot;text&quot;}"/>
          <p:cNvSpPr txBox="1"/>
          <p:nvPr/>
        </p:nvSpPr>
        <p:spPr>
          <a:xfrm>
            <a:off x="6657975" y="2600325"/>
            <a:ext cx="981075" cy="142875"/>
          </a:xfrm>
          <a:prstGeom prst="rect">
            <a:avLst/>
          </a:prstGeom>
        </p:spPr>
        <p:txBody>
          <a:bodyPr wrap="none" lIns="0" tIns="0" rIns="0" bIns="0"/>
          <a:lstStyle/>
          <a:p>
            <a:pPr>
              <a:lnSpc>
                <a:spcPct val="100000"/>
              </a:lnSpc>
            </a:pPr>
            <a:r>
              <a:rPr lang="en-US" sz="900" b="1">
                <a:solidFill>
                  <a:srgbClr val="FFFFFF"/>
                </a:solidFill>
                <a:latin typeface="Source Han Sans CN"/>
                <a:ea typeface="Source Han Sans CN"/>
              </a:rPr>
              <a:t>T0 </a:t>
            </a:r>
            <a:r>
              <a:rPr lang="zh-CN" sz="900" b="1">
                <a:solidFill>
                  <a:srgbClr val="FFFFFF"/>
                </a:solidFill>
                <a:latin typeface="Source Han Sans CN"/>
                <a:ea typeface="Source Han Sans CN"/>
              </a:rPr>
              <a:t>物理硬约束</a:t>
            </a:r>
            <a:endParaRPr/>
          </a:p>
        </p:txBody>
      </p:sp>
      <p:sp>
        <p:nvSpPr>
          <p:cNvPr id="492" name="文本框 522" descr="{&quot;isTemplate&quot;:true,&quot;type&quot;:&quot;text&quot;}"/>
          <p:cNvSpPr txBox="1"/>
          <p:nvPr/>
        </p:nvSpPr>
        <p:spPr>
          <a:xfrm>
            <a:off x="7791450" y="2571750"/>
            <a:ext cx="3848100" cy="466725"/>
          </a:xfrm>
          <a:prstGeom prst="rect">
            <a:avLst/>
          </a:prstGeom>
        </p:spPr>
        <p:txBody>
          <a:bodyPr wrap="square" lIns="0" tIns="0" rIns="0" bIns="0">
            <a:normAutofit/>
          </a:bodyPr>
          <a:lstStyle/>
          <a:p>
            <a:pPr>
              <a:lnSpc>
                <a:spcPct val="155000"/>
              </a:lnSpc>
            </a:pPr>
            <a:r>
              <a:rPr lang="en-US" sz="975">
                <a:solidFill>
                  <a:srgbClr val="4A5568"/>
                </a:solidFill>
                <a:latin typeface="Source Han Sans CN"/>
                <a:ea typeface="Source Han Sans CN"/>
              </a:rPr>
              <a:t>W_hard = κ·m·R_pool</a:t>
            </a:r>
            <a:r>
              <a:rPr lang="zh-CN" sz="975">
                <a:solidFill>
                  <a:srgbClr val="4A5568"/>
                </a:solidFill>
                <a:latin typeface="Source Han Sans CN"/>
                <a:ea typeface="Source Han Sans CN"/>
              </a:rPr>
              <a:t>：任一次物理违约压倒其余各层全部差异——幽灵交付永不入选</a:t>
            </a:r>
            <a:endParaRPr/>
          </a:p>
        </p:txBody>
      </p:sp>
      <p:sp>
        <p:nvSpPr>
          <p:cNvPr id="493" name="矩形: 圆角 523"/>
          <p:cNvSpPr/>
          <p:nvPr/>
        </p:nvSpPr>
        <p:spPr>
          <a:xfrm>
            <a:off x="6591300" y="3095625"/>
            <a:ext cx="1104900" cy="200025"/>
          </a:xfrm>
          <a:prstGeom prst="roundRect">
            <a:avLst>
              <a:gd name="adj" fmla="val 19048"/>
            </a:avLst>
          </a:prstGeom>
          <a:solidFill>
            <a:srgbClr val="1E4FA8"/>
          </a:solidFill>
          <a:ln/>
        </p:spPr>
        <p:txBody>
          <a:bodyPr/>
          <a:lstStyle/>
          <a:p>
            <a:endParaRPr/>
          </a:p>
        </p:txBody>
      </p:sp>
      <p:sp>
        <p:nvSpPr>
          <p:cNvPr id="494" name="文本框 524" descr="{&quot;isTemplate&quot;:true,&quot;type&quot;:&quot;text&quot;}"/>
          <p:cNvSpPr txBox="1"/>
          <p:nvPr/>
        </p:nvSpPr>
        <p:spPr>
          <a:xfrm>
            <a:off x="6829425" y="3124200"/>
            <a:ext cx="787400" cy="142875"/>
          </a:xfrm>
          <a:prstGeom prst="rect">
            <a:avLst/>
          </a:prstGeom>
        </p:spPr>
        <p:txBody>
          <a:bodyPr wrap="none" lIns="0" tIns="0" rIns="0" bIns="0"/>
          <a:lstStyle/>
          <a:p>
            <a:pPr>
              <a:lnSpc>
                <a:spcPct val="100000"/>
              </a:lnSpc>
            </a:pPr>
            <a:r>
              <a:rPr lang="en-US" sz="900" b="1">
                <a:solidFill>
                  <a:srgbClr val="FFFFFF"/>
                </a:solidFill>
                <a:latin typeface="Source Han Sans CN"/>
                <a:ea typeface="Source Han Sans CN"/>
              </a:rPr>
              <a:t>T0.5 </a:t>
            </a:r>
            <a:r>
              <a:rPr lang="zh-CN" sz="900" b="1">
                <a:solidFill>
                  <a:srgbClr val="FFFFFF"/>
                </a:solidFill>
                <a:latin typeface="Source Han Sans CN"/>
                <a:ea typeface="Source Han Sans CN"/>
              </a:rPr>
              <a:t>覆盖门禁</a:t>
            </a:r>
            <a:endParaRPr/>
          </a:p>
        </p:txBody>
      </p:sp>
      <p:sp>
        <p:nvSpPr>
          <p:cNvPr id="495" name="文本框 525" descr="{&quot;isTemplate&quot;:true,&quot;type&quot;:&quot;text&quot;}"/>
          <p:cNvSpPr txBox="1"/>
          <p:nvPr/>
        </p:nvSpPr>
        <p:spPr>
          <a:xfrm>
            <a:off x="7791450" y="3095625"/>
            <a:ext cx="3848100" cy="238125"/>
          </a:xfrm>
          <a:prstGeom prst="rect">
            <a:avLst/>
          </a:prstGeom>
        </p:spPr>
        <p:txBody>
          <a:bodyPr wrap="none" lIns="0" tIns="0" rIns="0" bIns="0"/>
          <a:lstStyle/>
          <a:p>
            <a:pPr>
              <a:lnSpc>
                <a:spcPct val="155000"/>
              </a:lnSpc>
            </a:pPr>
            <a:r>
              <a:rPr lang="en-US" sz="975">
                <a:solidFill>
                  <a:srgbClr val="4A5568"/>
                </a:solidFill>
                <a:latin typeface="Source Han Sans CN"/>
                <a:ea typeface="Source Han Sans CN"/>
              </a:rPr>
              <a:t>W_skip·n_skip：「能装却没装」即非法，不许成本权衡；构造修复下恒 0</a:t>
            </a:r>
            <a:r>
              <a:rPr lang="zh-CN" sz="975">
                <a:solidFill>
                  <a:srgbClr val="4A5568"/>
                </a:solidFill>
                <a:latin typeface="Source Han Sans CN"/>
                <a:ea typeface="Source Han Sans CN"/>
              </a:rPr>
              <a:t/>
            </a:r>
            <a:r>
              <a:rPr lang="en-US" sz="975">
                <a:solidFill>
                  <a:srgbClr val="4A5568"/>
                </a:solidFill>
                <a:latin typeface="Source Han Sans CN"/>
                <a:ea typeface="Source Han Sans CN"/>
              </a:rPr>
              <a:t/>
            </a:r>
            <a:r>
              <a:rPr lang="zh-CN" sz="975">
                <a:solidFill>
                  <a:srgbClr val="4A5568"/>
                </a:solidFill>
                <a:latin typeface="Source Han Sans CN"/>
                <a:ea typeface="Source Han Sans CN"/>
              </a:rPr>
              <a:t/>
            </a:r>
            <a:r>
              <a:rPr lang="en-US" sz="975">
                <a:solidFill>
                  <a:srgbClr val="4A5568"/>
                </a:solidFill>
                <a:latin typeface="Source Han Sans CN"/>
                <a:ea typeface="Source Han Sans CN"/>
              </a:rPr>
              <a:t/>
            </a:r>
            <a:endParaRPr/>
          </a:p>
        </p:txBody>
      </p:sp>
      <p:sp>
        <p:nvSpPr>
          <p:cNvPr id="496" name="矩形: 圆角 526"/>
          <p:cNvSpPr/>
          <p:nvPr/>
        </p:nvSpPr>
        <p:spPr>
          <a:xfrm>
            <a:off x="6591300" y="3390900"/>
            <a:ext cx="1104900" cy="200025"/>
          </a:xfrm>
          <a:prstGeom prst="roundRect">
            <a:avLst>
              <a:gd name="adj" fmla="val 19048"/>
            </a:avLst>
          </a:prstGeom>
          <a:solidFill>
            <a:srgbClr val="1E4FA8"/>
          </a:solidFill>
          <a:ln/>
        </p:spPr>
        <p:txBody>
          <a:bodyPr/>
          <a:lstStyle/>
          <a:p>
            <a:endParaRPr/>
          </a:p>
        </p:txBody>
      </p:sp>
      <p:sp>
        <p:nvSpPr>
          <p:cNvPr id="497" name="文本框 527" descr="{&quot;isTemplate&quot;:true,&quot;type&quot;:&quot;text&quot;}"/>
          <p:cNvSpPr txBox="1"/>
          <p:nvPr/>
        </p:nvSpPr>
        <p:spPr>
          <a:xfrm>
            <a:off x="6772275" y="3419475"/>
            <a:ext cx="752475" cy="142875"/>
          </a:xfrm>
          <a:prstGeom prst="rect">
            <a:avLst/>
          </a:prstGeom>
        </p:spPr>
        <p:txBody>
          <a:bodyPr wrap="none" lIns="0" tIns="0" rIns="0" bIns="0"/>
          <a:lstStyle/>
          <a:p>
            <a:pPr>
              <a:lnSpc>
                <a:spcPct val="100000"/>
              </a:lnSpc>
            </a:pPr>
            <a:r>
              <a:rPr lang="en-US" sz="900" b="1">
                <a:solidFill>
                  <a:srgbClr val="FFFFFF"/>
                </a:solidFill>
                <a:latin typeface="Source Han Sans CN"/>
                <a:ea typeface="Source Han Sans CN"/>
              </a:rPr>
              <a:t>T2 </a:t>
            </a:r>
            <a:r>
              <a:rPr lang="zh-CN" sz="900" b="1">
                <a:solidFill>
                  <a:srgbClr val="FFFFFF"/>
                </a:solidFill>
                <a:latin typeface="Source Han Sans CN"/>
                <a:ea typeface="Source Han Sans CN"/>
              </a:rPr>
              <a:t>迟到（软）</a:t>
            </a:r>
            <a:endParaRPr/>
          </a:p>
        </p:txBody>
      </p:sp>
      <p:sp>
        <p:nvSpPr>
          <p:cNvPr id="498" name="文本框 528" descr="{&quot;isTemplate&quot;:true,&quot;type&quot;:&quot;text&quot;}"/>
          <p:cNvSpPr txBox="1"/>
          <p:nvPr/>
        </p:nvSpPr>
        <p:spPr>
          <a:xfrm>
            <a:off x="7791450" y="3390900"/>
            <a:ext cx="3848100" cy="238125"/>
          </a:xfrm>
          <a:prstGeom prst="rect">
            <a:avLst/>
          </a:prstGeom>
        </p:spPr>
        <p:txBody>
          <a:bodyPr wrap="none" lIns="0" tIns="0" rIns="0" bIns="0"/>
          <a:lstStyle/>
          <a:p>
            <a:pPr>
              <a:lnSpc>
                <a:spcPct val="155000"/>
              </a:lnSpc>
            </a:pPr>
            <a:r>
              <a:rPr lang="en-US" sz="975">
                <a:solidFill>
                  <a:srgbClr val="4A5568"/>
                </a:solidFill>
                <a:latin typeface="Source Han Sans CN"/>
                <a:ea typeface="Source Han Sans CN"/>
              </a:rPr>
              <a:t>w_late=0.01/s</a:t>
            </a:r>
            <a:r>
              <a:rPr lang="zh-CN" sz="975">
                <a:solidFill>
                  <a:srgbClr val="4A5568"/>
                </a:solidFill>
                <a:latin typeface="Source Han Sans CN"/>
                <a:ea typeface="Source Han Sans CN"/>
              </a:rPr>
              <a:t>：迟到可接受但不免费，与航程代价同台竞争</a:t>
            </a:r>
            <a:endParaRPr/>
          </a:p>
        </p:txBody>
      </p:sp>
      <p:sp>
        <p:nvSpPr>
          <p:cNvPr id="499" name="矩形: 圆角 529"/>
          <p:cNvSpPr/>
          <p:nvPr/>
        </p:nvSpPr>
        <p:spPr>
          <a:xfrm>
            <a:off x="6591300" y="3686175"/>
            <a:ext cx="1104900" cy="200025"/>
          </a:xfrm>
          <a:prstGeom prst="roundRect">
            <a:avLst>
              <a:gd name="adj" fmla="val 19048"/>
            </a:avLst>
          </a:prstGeom>
          <a:solidFill>
            <a:srgbClr val="1E4FA8"/>
          </a:solidFill>
          <a:ln/>
        </p:spPr>
        <p:txBody>
          <a:bodyPr/>
          <a:lstStyle/>
          <a:p>
            <a:endParaRPr/>
          </a:p>
        </p:txBody>
      </p:sp>
      <p:sp>
        <p:nvSpPr>
          <p:cNvPr id="500" name="文本框 530" descr="{&quot;isTemplate&quot;:true,&quot;type&quot;:&quot;text&quot;}"/>
          <p:cNvSpPr txBox="1"/>
          <p:nvPr/>
        </p:nvSpPr>
        <p:spPr>
          <a:xfrm>
            <a:off x="6800850" y="3714750"/>
            <a:ext cx="695325" cy="142875"/>
          </a:xfrm>
          <a:prstGeom prst="rect">
            <a:avLst/>
          </a:prstGeom>
        </p:spPr>
        <p:txBody>
          <a:bodyPr wrap="none" lIns="0" tIns="0" rIns="0" bIns="0"/>
          <a:lstStyle/>
          <a:p>
            <a:pPr>
              <a:lnSpc>
                <a:spcPct val="100000"/>
              </a:lnSpc>
            </a:pPr>
            <a:r>
              <a:rPr lang="en-US" sz="900" b="1">
                <a:solidFill>
                  <a:srgbClr val="FFFFFF"/>
                </a:solidFill>
                <a:latin typeface="Source Han Sans CN"/>
                <a:ea typeface="Source Han Sans CN"/>
              </a:rPr>
              <a:t>T3 </a:t>
            </a:r>
            <a:r>
              <a:rPr lang="zh-CN" sz="900" b="1">
                <a:solidFill>
                  <a:srgbClr val="FFFFFF"/>
                </a:solidFill>
                <a:latin typeface="Source Han Sans CN"/>
                <a:ea typeface="Source Han Sans CN"/>
              </a:rPr>
              <a:t>航程与时间</a:t>
            </a:r>
            <a:r>
              <a:rPr lang="en-US" sz="900" b="1">
                <a:solidFill>
                  <a:srgbClr val="FFFFFF"/>
                </a:solidFill>
                <a:latin typeface="Source Han Sans CN"/>
                <a:ea typeface="Source Han Sans CN"/>
              </a:rPr>
              <a:t/>
            </a:r>
            <a:r>
              <a:rPr lang="zh-CN" sz="900" b="1">
                <a:solidFill>
                  <a:srgbClr val="FFFFFF"/>
                </a:solidFill>
                <a:latin typeface="Source Han Sans CN"/>
                <a:ea typeface="Source Han Sans CN"/>
              </a:rPr>
              <a:t/>
            </a:r>
            <a:endParaRPr/>
          </a:p>
        </p:txBody>
      </p:sp>
      <p:sp>
        <p:nvSpPr>
          <p:cNvPr id="501" name="文本框 531" descr="{&quot;isTemplate&quot;:true,&quot;type&quot;:&quot;text&quot;}"/>
          <p:cNvSpPr txBox="1"/>
          <p:nvPr/>
        </p:nvSpPr>
        <p:spPr>
          <a:xfrm>
            <a:off x="7791450" y="3686175"/>
            <a:ext cx="3848100" cy="238125"/>
          </a:xfrm>
          <a:prstGeom prst="rect">
            <a:avLst/>
          </a:prstGeom>
        </p:spPr>
        <p:txBody>
          <a:bodyPr wrap="none" lIns="0" tIns="0" rIns="0" bIns="0"/>
          <a:lstStyle/>
          <a:p>
            <a:pPr>
              <a:lnSpc>
                <a:spcPct val="155000"/>
              </a:lnSpc>
            </a:pPr>
            <a:r>
              <a:rPr lang="en-US" sz="975">
                <a:solidFill>
                  <a:srgbClr val="4A5568"/>
                </a:solidFill>
                <a:latin typeface="Source Han Sans CN"/>
                <a:ea typeface="Source Han Sans CN"/>
              </a:rPr>
              <a:t>λ·path + w_time·F3</a:t>
            </a:r>
            <a:r>
              <a:rPr lang="zh-CN" sz="975">
                <a:solidFill>
                  <a:srgbClr val="4A5568"/>
                </a:solidFill>
                <a:latin typeface="Source Han Sans CN"/>
                <a:ea typeface="Source Han Sans CN"/>
              </a:rPr>
              <a:t>，</a:t>
            </a:r>
            <a:r>
              <a:rPr lang="en-US" sz="975">
                <a:solidFill>
                  <a:srgbClr val="4A5568"/>
                </a:solidFill>
                <a:latin typeface="Source Han Sans CN"/>
                <a:ea typeface="Source Han Sans CN"/>
              </a:rPr>
              <a:t>F3 = max_u T_u</a:t>
            </a:r>
            <a:r>
              <a:rPr lang="zh-CN" sz="975">
                <a:solidFill>
                  <a:srgbClr val="4A5568"/>
                </a:solidFill>
                <a:latin typeface="Source Han Sans CN"/>
                <a:ea typeface="Source Han Sans CN"/>
              </a:rPr>
              <a:t>（最坏机时间）</a:t>
            </a:r>
            <a:endParaRPr/>
          </a:p>
        </p:txBody>
      </p:sp>
      <p:sp>
        <p:nvSpPr>
          <p:cNvPr id="502" name="矩形: 圆角 532"/>
          <p:cNvSpPr/>
          <p:nvPr/>
        </p:nvSpPr>
        <p:spPr>
          <a:xfrm>
            <a:off x="6419850" y="4191000"/>
            <a:ext cx="5391150" cy="1314450"/>
          </a:xfrm>
          <a:prstGeom prst="roundRect">
            <a:avLst>
              <a:gd name="adj" fmla="val 7246"/>
            </a:avLst>
          </a:prstGeom>
          <a:solidFill>
            <a:srgbClr val="F7F9FC"/>
          </a:solidFill>
          <a:ln w="12700">
            <a:solidFill>
              <a:srgbClr val="D6DCE5"/>
            </a:solidFill>
            <a:prstDash val="solid"/>
          </a:ln>
        </p:spPr>
        <p:txBody>
          <a:bodyPr/>
          <a:lstStyle/>
          <a:p>
            <a:endParaRPr/>
          </a:p>
        </p:txBody>
      </p:sp>
      <p:sp>
        <p:nvSpPr>
          <p:cNvPr id="503" name="文本框 533" descr="{&quot;isTemplate&quot;:true,&quot;type&quot;:&quot;text&quot;}"/>
          <p:cNvSpPr txBox="1"/>
          <p:nvPr/>
        </p:nvSpPr>
        <p:spPr>
          <a:xfrm>
            <a:off x="6591300" y="4314825"/>
            <a:ext cx="5048250" cy="190500"/>
          </a:xfrm>
          <a:prstGeom prst="rect">
            <a:avLst/>
          </a:prstGeom>
        </p:spPr>
        <p:txBody>
          <a:bodyPr wrap="none" lIns="0" tIns="0" rIns="0" bIns="0"/>
          <a:lstStyle/>
          <a:p>
            <a:pPr>
              <a:lnSpc>
                <a:spcPct val="100000"/>
              </a:lnSpc>
            </a:pPr>
            <a:r>
              <a:rPr lang="zh-CN" sz="1200" b="1">
                <a:solidFill>
                  <a:srgbClr val="0E3F8C"/>
                </a:solidFill>
                <a:latin typeface="Source Han Sans CN"/>
                <a:ea typeface="Source Han Sans CN"/>
              </a:rPr>
              <a:t>设计判断</a:t>
            </a:r>
            <a:endParaRPr/>
          </a:p>
        </p:txBody>
      </p:sp>
      <p:sp>
        <p:nvSpPr>
          <p:cNvPr id="504" name="文本框 534" descr="{&quot;isTemplate&quot;:true,&quot;type&quot;:&quot;text&quot;}"/>
          <p:cNvSpPr txBox="1"/>
          <p:nvPr/>
        </p:nvSpPr>
        <p:spPr>
          <a:xfrm>
            <a:off x="6591300" y="4562475"/>
            <a:ext cx="5048250" cy="819150"/>
          </a:xfrm>
          <a:prstGeom prst="rect">
            <a:avLst/>
          </a:prstGeom>
        </p:spPr>
        <p:txBody>
          <a:bodyPr wrap="square" lIns="0" tIns="0" rIns="0" bIns="0">
            <a:normAutofit/>
          </a:bodyPr>
          <a:lstStyle/>
          <a:p>
            <a:pPr>
              <a:lnSpc>
                <a:spcPct val="170000"/>
              </a:lnSpc>
            </a:pPr>
            <a:r>
              <a:rPr lang="zh-CN" sz="1050">
                <a:solidFill>
                  <a:srgbClr val="4A5568"/>
                </a:solidFill>
                <a:latin typeface="Source Han Sans CN"/>
                <a:ea typeface="Source Han Sans CN"/>
              </a:rPr>
              <a:t>固定表述：搜索用 f 不含 −m·F1，F1 只作事后指标——「能装必交付」由覆盖门禁承担、非加权近似；W_hard/W_skip 由指标上下界推导，λ/w_late/w_time 为层内偏好参数；big-M 旧式（−m·F1_eff）保留为兼容口径。</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zh-CN" sz="1050" b="1">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r>
              <a:rPr lang="en-US" sz="1050">
                <a:solidFill>
                  <a:srgbClr val="4A5568"/>
                </a:solidFill>
                <a:latin typeface="Source Han Sans CN"/>
                <a:ea typeface="Source Han Sans CN"/>
              </a:rPr>
              <a:t/>
            </a:r>
            <a:r>
              <a:rPr lang="zh-CN" sz="1050">
                <a:solidFill>
                  <a:srgbClr val="4A5568"/>
                </a:solidFill>
                <a:latin typeface="Source Han Sans CN"/>
                <a:ea typeface="Source Han Sans CN"/>
              </a:rPr>
              <a:t/>
            </a:r>
            <a:endParaRPr/>
          </a:p>
        </p:txBody>
      </p:sp>
      <p:sp>
        <p:nvSpPr>
          <p:cNvPr id="505" name="矩形 535"/>
          <p:cNvSpPr/>
          <p:nvPr/>
        </p:nvSpPr>
        <p:spPr>
          <a:xfrm>
            <a:off x="0" y="6448425"/>
            <a:ext cx="12192000" cy="409575"/>
          </a:xfrm>
          <a:prstGeom prst="rect">
            <a:avLst/>
          </a:prstGeom>
          <a:solidFill>
            <a:srgbClr val="F7F9FC"/>
          </a:solidFill>
          <a:ln/>
        </p:spPr>
        <p:txBody>
          <a:bodyPr/>
          <a:lstStyle/>
          <a:p>
            <a:endParaRPr/>
          </a:p>
        </p:txBody>
      </p:sp>
      <p:sp>
        <p:nvSpPr>
          <p:cNvPr id="506" name="任意多边形: 形状 536"/>
          <p:cNvSpPr/>
          <p:nvPr/>
        </p:nvSpPr>
        <p:spPr>
          <a:xfrm>
            <a:off x="0" y="6438900"/>
            <a:ext cx="12192000" cy="419100"/>
          </a:xfrm>
          <a:custGeom>
            <a:avLst/>
            <a:gdLst/>
            <a:ahLst/>
            <a:cxnLst/>
            <a:rect l="0" t="0" r="0" b="0"/>
            <a:pathLst>
              <a:path w="1280" h="44">
                <a:moveTo>
                  <a:pt x="0" y="0"/>
                </a:moveTo>
                <a:lnTo>
                  <a:pt x="1280" y="0"/>
                </a:lnTo>
                <a:lnTo>
                  <a:pt x="1280" y="1"/>
                </a:lnTo>
                <a:lnTo>
                  <a:pt x="0" y="1"/>
                </a:lnTo>
                <a:close/>
              </a:path>
            </a:pathLst>
          </a:custGeom>
          <a:solidFill>
            <a:srgbClr val="E5E7EB"/>
          </a:solidFill>
          <a:ln/>
        </p:spPr>
        <p:txBody>
          <a:bodyPr/>
          <a:lstStyle/>
          <a:p>
            <a:endParaRPr/>
          </a:p>
        </p:txBody>
      </p:sp>
      <p:sp>
        <p:nvSpPr>
          <p:cNvPr id="507" name="文本框 537" descr="{&quot;isTemplate&quot;:true,&quot;type&quot;:&quot;text&quot;}"/>
          <p:cNvSpPr txBox="1"/>
          <p:nvPr/>
        </p:nvSpPr>
        <p:spPr>
          <a:xfrm>
            <a:off x="381000" y="6581775"/>
            <a:ext cx="2828925" cy="152400"/>
          </a:xfrm>
          <a:prstGeom prst="rect">
            <a:avLst/>
          </a:prstGeom>
        </p:spPr>
        <p:txBody>
          <a:bodyPr wrap="none" lIns="0" tIns="0" rIns="0" bIns="0"/>
          <a:lstStyle/>
          <a:p>
            <a:pPr>
              <a:lnSpc>
                <a:spcPct val="100000"/>
              </a:lnSpc>
            </a:pPr>
            <a:r>
              <a:rPr lang="zh-CN" sz="975">
                <a:solidFill>
                  <a:srgbClr val="8B97A8"/>
                </a:solidFill>
                <a:latin typeface="Source Han Sans CN"/>
                <a:ea typeface="Source Han Sans CN"/>
              </a:rPr>
              <a:t>动态滚动的多机巢多无人机协同任务分配</a:t>
            </a:r>
            <a:r>
              <a:rPr lang="en-US" sz="975">
                <a:solidFill>
                  <a:srgbClr val="8B97A8"/>
                </a:solidFill>
                <a:latin typeface="Source Han Sans CN"/>
                <a:ea typeface="Source Han Sans CN"/>
              </a:rPr>
              <a:t> · </a:t>
            </a:r>
            <a:r>
              <a:rPr lang="zh-CN" sz="975">
                <a:solidFill>
                  <a:srgbClr val="8B97A8"/>
                </a:solidFill>
                <a:latin typeface="Source Han Sans CN"/>
                <a:ea typeface="Source Han Sans CN"/>
              </a:rPr>
              <a:t>进展汇报</a:t>
            </a:r>
            <a:endParaRPr/>
          </a:p>
        </p:txBody>
      </p:sp>
      <p:sp>
        <p:nvSpPr>
          <p:cNvPr id="508" name="文本框 538" descr="{&quot;isTemplate&quot;:true,&quot;type&quot;:&quot;text&quot;}"/>
          <p:cNvSpPr txBox="1"/>
          <p:nvPr/>
        </p:nvSpPr>
        <p:spPr>
          <a:xfrm>
            <a:off x="11296650" y="6572250"/>
            <a:ext cx="514350" cy="171450"/>
          </a:xfrm>
          <a:prstGeom prst="rect">
            <a:avLst/>
          </a:prstGeom>
        </p:spPr>
        <p:txBody>
          <a:bodyPr wrap="none" lIns="0" tIns="0" rIns="0" bIns="0"/>
          <a:lstStyle/>
          <a:p>
            <a:pPr>
              <a:lnSpc>
                <a:spcPct val="100000"/>
              </a:lnSpc>
            </a:pPr>
            <a:r>
              <a:rPr lang="en-US" sz="1125" b="1">
                <a:solidFill>
                  <a:srgbClr val="1E4FA8"/>
                </a:solidFill>
                <a:latin typeface="Source Han Sans CN"/>
                <a:ea typeface="Source Han Sans CN"/>
              </a:rPr>
              <a:t>16 / 18</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2" name="矩形 431"/>
          <p:cNvSpPr/>
          <p:nvPr/>
        </p:nvSpPr>
        <p:spPr>
          <a:xfrm>
            <a:off x="0" y="0"/>
            <a:ext cx="12192000" cy="6858000"/>
          </a:xfrm>
          <a:prstGeom prst="rect">
            <a:avLst/>
          </a:prstGeom>
          <a:solidFill>
            <a:srgbClr val="FFFFFF"/>
          </a:solidFill>
          <a:ln/>
        </p:spPr>
        <p:txBody>
          <a:bodyPr/>
          <a:lstStyle/>
          <a:p>
            <a:endParaRPr/>
          </a:p>
        </p:txBody>
      </p:sp>
      <p:sp>
        <p:nvSpPr>
          <p:cNvPr id="433" name="矩形 432"/>
          <p:cNvSpPr/>
          <p:nvPr/>
        </p:nvSpPr>
        <p:spPr>
          <a:xfrm>
            <a:off x="0" y="0"/>
            <a:ext cx="12192000" cy="114300"/>
          </a:xfrm>
          <a:prstGeom prst="rect">
            <a:avLst/>
          </a:prstGeom>
          <a:solidFill>
            <a:srgbClr val="1E4FA8"/>
          </a:solidFill>
          <a:ln/>
        </p:spPr>
        <p:txBody>
          <a:bodyPr/>
          <a:lstStyle/>
          <a:p>
            <a:endParaRPr/>
          </a:p>
        </p:txBody>
      </p:sp>
      <p:sp>
        <p:nvSpPr>
          <p:cNvPr id="434" name="矩形 433"/>
          <p:cNvSpPr/>
          <p:nvPr/>
        </p:nvSpPr>
        <p:spPr>
          <a:xfrm>
            <a:off x="381000" y="314325"/>
            <a:ext cx="57150" cy="323850"/>
          </a:xfrm>
          <a:prstGeom prst="rect">
            <a:avLst/>
          </a:prstGeom>
          <a:solidFill>
            <a:srgbClr val="1E4FA8"/>
          </a:solidFill>
          <a:ln/>
        </p:spPr>
        <p:txBody>
          <a:bodyPr/>
          <a:lstStyle/>
          <a:p>
            <a:endParaRPr/>
          </a:p>
        </p:txBody>
      </p:sp>
      <p:sp>
        <p:nvSpPr>
          <p:cNvPr id="435" name="文本框 434" descr="{&quot;isTemplate&quot;:true,&quot;type&quot;:&quot;text&quot;}"/>
          <p:cNvSpPr txBox="1"/>
          <p:nvPr/>
        </p:nvSpPr>
        <p:spPr>
          <a:xfrm>
            <a:off x="571500" y="285750"/>
            <a:ext cx="4629150" cy="371475"/>
          </a:xfrm>
          <a:prstGeom prst="rect">
            <a:avLst/>
          </a:prstGeom>
        </p:spPr>
        <p:txBody>
          <a:bodyPr wrap="none" lIns="0" tIns="0" rIns="0" bIns="0"/>
          <a:lstStyle/>
          <a:p>
            <a:pPr>
              <a:lnSpc>
                <a:spcPct val="100000"/>
              </a:lnSpc>
            </a:pPr>
            <a:r>
              <a:rPr lang="zh-CN" sz="2400" b="1">
                <a:solidFill>
                  <a:srgbClr val="0E3F8C"/>
                </a:solidFill>
                <a:latin typeface="Source Han Sans CN"/>
                <a:ea typeface="Source Han Sans CN"/>
              </a:rPr>
              <a:t>改进离散映射差分进化（</a:t>
            </a:r>
            <a:r>
              <a:rPr lang="en-US" sz="2400" b="1">
                <a:solidFill>
                  <a:srgbClr val="0E3F8C"/>
                </a:solidFill>
                <a:latin typeface="Source Han Sans CN"/>
                <a:ea typeface="Source Han Sans CN"/>
              </a:rPr>
              <a:t>DMDE</a:t>
            </a:r>
            <a:r>
              <a:rPr lang="zh-CN" sz="2400" b="1">
                <a:solidFill>
                  <a:srgbClr val="0E3F8C"/>
                </a:solidFill>
                <a:latin typeface="Source Han Sans CN"/>
                <a:ea typeface="Source Han Sans CN"/>
              </a:rPr>
              <a:t>）</a:t>
            </a:r>
            <a:endParaRPr/>
          </a:p>
        </p:txBody>
      </p:sp>
      <p:sp>
        <p:nvSpPr>
          <p:cNvPr id="436" name="文本框 435" descr="{&quot;isTemplate&quot;:true,&quot;type&quot;:&quot;text&quot;}"/>
          <p:cNvSpPr txBox="1"/>
          <p:nvPr/>
        </p:nvSpPr>
        <p:spPr>
          <a:xfrm>
            <a:off x="571500" y="742950"/>
            <a:ext cx="4962525" cy="171450"/>
          </a:xfrm>
          <a:prstGeom prst="rect">
            <a:avLst/>
          </a:prstGeom>
        </p:spPr>
        <p:txBody>
          <a:bodyPr wrap="none" lIns="0" tIns="0" rIns="0" bIns="0"/>
          <a:lstStyle/>
          <a:p>
            <a:pPr>
              <a:lnSpc>
                <a:spcPct val="100000"/>
              </a:lnSpc>
            </a:pPr>
            <a:r>
              <a:rPr lang="zh-CN" sz="1125">
                <a:solidFill>
                  <a:srgbClr val="8B97A8"/>
                </a:solidFill>
                <a:latin typeface="Source Han Sans CN"/>
                <a:ea typeface="Source Han Sans CN"/>
              </a:rPr>
              <a:t>连续编码承载「</a:t>
            </a:r>
            <a:r>
              <a:rPr lang="en-US" sz="1125">
                <a:solidFill>
                  <a:srgbClr val="8B97A8"/>
                </a:solidFill>
                <a:latin typeface="Source Han Sans CN"/>
                <a:ea typeface="Source Han Sans CN"/>
              </a:rPr>
              <a:t>UAV </a:t>
            </a:r>
            <a:r>
              <a:rPr lang="zh-CN" sz="1125">
                <a:solidFill>
                  <a:srgbClr val="8B97A8"/>
                </a:solidFill>
                <a:latin typeface="Source Han Sans CN"/>
                <a:ea typeface="Source Han Sans CN"/>
              </a:rPr>
              <a:t>归属</a:t>
            </a:r>
            <a:r>
              <a:rPr lang="en-US" sz="1125">
                <a:solidFill>
                  <a:srgbClr val="8B97A8"/>
                </a:solidFill>
                <a:latin typeface="Source Han Sans CN"/>
                <a:ea typeface="Source Han Sans CN"/>
              </a:rPr>
              <a:t> + </a:t>
            </a:r>
            <a:r>
              <a:rPr lang="zh-CN" sz="1125">
                <a:solidFill>
                  <a:srgbClr val="8B97A8"/>
                </a:solidFill>
                <a:latin typeface="Source Han Sans CN"/>
                <a:ea typeface="Source Han Sans CN"/>
              </a:rPr>
              <a:t>访问顺序」，差分算子的搜索方向由地理代价引导</a:t>
            </a:r>
            <a:endParaRPr/>
          </a:p>
        </p:txBody>
      </p:sp>
      <p:pic>
        <p:nvPicPr>
          <p:cNvPr id="437" name="图形 436"/>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71500" y="933450"/>
            <a:ext cx="11049000" cy="2400300"/>
          </a:xfrm>
          <a:prstGeom prst="rect">
            <a:avLst/>
          </a:prstGeom>
          <a:ln/>
        </p:spPr>
      </p:pic>
      <p:sp>
        <p:nvSpPr>
          <p:cNvPr id="438" name="矩形: 圆角 437"/>
          <p:cNvSpPr/>
          <p:nvPr/>
        </p:nvSpPr>
        <p:spPr>
          <a:xfrm>
            <a:off x="571500" y="3543300"/>
            <a:ext cx="323850" cy="323850"/>
          </a:xfrm>
          <a:prstGeom prst="roundRect">
            <a:avLst>
              <a:gd name="adj" fmla="val 50000"/>
            </a:avLst>
          </a:prstGeom>
          <a:solidFill>
            <a:srgbClr val="1E4FA8"/>
          </a:solidFill>
          <a:ln/>
        </p:spPr>
        <p:txBody>
          <a:bodyPr/>
          <a:lstStyle/>
          <a:p>
            <a:endParaRPr/>
          </a:p>
        </p:txBody>
      </p:sp>
      <p:sp>
        <p:nvSpPr>
          <p:cNvPr id="439" name="文本框 438" descr="{&quot;isTemplate&quot;:true,&quot;type&quot;:&quot;text&quot;}"/>
          <p:cNvSpPr txBox="1"/>
          <p:nvPr/>
        </p:nvSpPr>
        <p:spPr>
          <a:xfrm>
            <a:off x="685800" y="3609975"/>
            <a:ext cx="95250" cy="190500"/>
          </a:xfrm>
          <a:prstGeom prst="rect">
            <a:avLst/>
          </a:prstGeom>
        </p:spPr>
        <p:txBody>
          <a:bodyPr wrap="none" lIns="0" tIns="0" rIns="0" bIns="0"/>
          <a:lstStyle/>
          <a:p>
            <a:pPr>
              <a:lnSpc>
                <a:spcPct val="100000"/>
              </a:lnSpc>
            </a:pPr>
            <a:r>
              <a:rPr lang="en-US" sz="1200" b="1">
                <a:solidFill>
                  <a:srgbClr val="FFFFFF"/>
                </a:solidFill>
                <a:latin typeface="Source Han Sans CN"/>
                <a:ea typeface="Source Han Sans CN"/>
              </a:rPr>
              <a:t>1</a:t>
            </a:r>
            <a:endParaRPr/>
          </a:p>
        </p:txBody>
      </p:sp>
      <p:sp>
        <p:nvSpPr>
          <p:cNvPr id="440" name="文本框 439" descr="{&quot;isTemplate&quot;:true,&quot;type&quot;:&quot;text&quot;}"/>
          <p:cNvSpPr txBox="1"/>
          <p:nvPr/>
        </p:nvSpPr>
        <p:spPr>
          <a:xfrm>
            <a:off x="990600" y="3600450"/>
            <a:ext cx="857250" cy="209550"/>
          </a:xfrm>
          <a:prstGeom prst="rect">
            <a:avLst/>
          </a:prstGeom>
        </p:spPr>
        <p:txBody>
          <a:bodyPr wrap="none" lIns="0" tIns="0" rIns="0" bIns="0"/>
          <a:lstStyle/>
          <a:p>
            <a:pPr>
              <a:lnSpc>
                <a:spcPct val="100000"/>
              </a:lnSpc>
            </a:pPr>
            <a:r>
              <a:rPr lang="zh-CN" sz="1350" b="1">
                <a:solidFill>
                  <a:srgbClr val="0E3F8C"/>
                </a:solidFill>
                <a:latin typeface="Source Han Sans CN"/>
                <a:ea typeface="Source Han Sans CN"/>
              </a:rPr>
              <a:t>首任务匹配</a:t>
            </a:r>
            <a:endParaRPr/>
          </a:p>
        </p:txBody>
      </p:sp>
      <p:sp>
        <p:nvSpPr>
          <p:cNvPr id="441" name="文本框 440" descr="{&quot;isTemplate&quot;:true,&quot;type&quot;:&quot;text&quot;}"/>
          <p:cNvSpPr txBox="1"/>
          <p:nvPr/>
        </p:nvSpPr>
        <p:spPr>
          <a:xfrm>
            <a:off x="571500" y="3943350"/>
            <a:ext cx="2667000" cy="495300"/>
          </a:xfrm>
          <a:prstGeom prst="rect">
            <a:avLst/>
          </a:prstGeom>
        </p:spPr>
        <p:txBody>
          <a:bodyPr wrap="square" lIns="0" tIns="0" rIns="114300" bIns="0">
            <a:normAutofit/>
          </a:bodyPr>
          <a:lstStyle/>
          <a:p>
            <a:pPr>
              <a:lnSpc>
                <a:spcPct val="160000"/>
              </a:lnSpc>
            </a:pPr>
            <a:r>
              <a:rPr lang="zh-CN" sz="1013">
                <a:solidFill>
                  <a:srgbClr val="4A5568"/>
                </a:solidFill>
                <a:latin typeface="Source Han Sans CN"/>
                <a:ea typeface="Source Han Sans CN"/>
              </a:rPr>
              <a:t>温度自适应</a:t>
            </a:r>
            <a:r>
              <a:rPr lang="en-US" sz="1013">
                <a:solidFill>
                  <a:srgbClr val="4A5568"/>
                </a:solidFill>
                <a:latin typeface="Source Han Sans CN"/>
                <a:ea typeface="Source Han Sans CN"/>
              </a:rPr>
              <a:t> softmax</a:t>
            </a:r>
            <a:r>
              <a:rPr lang="zh-CN" sz="1013">
                <a:solidFill>
                  <a:srgbClr val="4A5568"/>
                </a:solidFill>
                <a:latin typeface="Source Han Sans CN"/>
                <a:ea typeface="Source Han Sans CN"/>
              </a:rPr>
              <a:t>：早期较大候选集软采样保多样性，随温度衰减收敛为贪心匹配</a:t>
            </a:r>
            <a:endParaRPr/>
          </a:p>
        </p:txBody>
      </p:sp>
      <p:sp>
        <p:nvSpPr>
          <p:cNvPr id="442" name="矩形: 圆角 441"/>
          <p:cNvSpPr/>
          <p:nvPr/>
        </p:nvSpPr>
        <p:spPr>
          <a:xfrm>
            <a:off x="3362325" y="3543300"/>
            <a:ext cx="323850" cy="323850"/>
          </a:xfrm>
          <a:prstGeom prst="roundRect">
            <a:avLst>
              <a:gd name="adj" fmla="val 50000"/>
            </a:avLst>
          </a:prstGeom>
          <a:solidFill>
            <a:srgbClr val="1E4FA8"/>
          </a:solidFill>
          <a:ln/>
        </p:spPr>
        <p:txBody>
          <a:bodyPr/>
          <a:lstStyle/>
          <a:p>
            <a:endParaRPr/>
          </a:p>
        </p:txBody>
      </p:sp>
      <p:sp>
        <p:nvSpPr>
          <p:cNvPr id="443" name="文本框 442" descr="{&quot;isTemplate&quot;:true,&quot;type&quot;:&quot;text&quot;}"/>
          <p:cNvSpPr txBox="1"/>
          <p:nvPr/>
        </p:nvSpPr>
        <p:spPr>
          <a:xfrm>
            <a:off x="3476625" y="3609975"/>
            <a:ext cx="95250" cy="190500"/>
          </a:xfrm>
          <a:prstGeom prst="rect">
            <a:avLst/>
          </a:prstGeom>
        </p:spPr>
        <p:txBody>
          <a:bodyPr wrap="none" lIns="0" tIns="0" rIns="0" bIns="0"/>
          <a:lstStyle/>
          <a:p>
            <a:pPr>
              <a:lnSpc>
                <a:spcPct val="100000"/>
              </a:lnSpc>
            </a:pPr>
            <a:r>
              <a:rPr lang="en-US" sz="1200" b="1">
                <a:solidFill>
                  <a:srgbClr val="FFFFFF"/>
                </a:solidFill>
                <a:latin typeface="Source Han Sans CN"/>
                <a:ea typeface="Source Han Sans CN"/>
              </a:rPr>
              <a:t>2</a:t>
            </a:r>
            <a:endParaRPr/>
          </a:p>
        </p:txBody>
      </p:sp>
      <p:sp>
        <p:nvSpPr>
          <p:cNvPr id="444" name="文本框 443" descr="{&quot;isTemplate&quot;:true,&quot;type&quot;:&quot;text&quot;}"/>
          <p:cNvSpPr txBox="1"/>
          <p:nvPr/>
        </p:nvSpPr>
        <p:spPr>
          <a:xfrm>
            <a:off x="3781425" y="3600450"/>
            <a:ext cx="857250" cy="209550"/>
          </a:xfrm>
          <a:prstGeom prst="rect">
            <a:avLst/>
          </a:prstGeom>
        </p:spPr>
        <p:txBody>
          <a:bodyPr wrap="none" lIns="0" tIns="0" rIns="0" bIns="0"/>
          <a:lstStyle/>
          <a:p>
            <a:pPr>
              <a:lnSpc>
                <a:spcPct val="100000"/>
              </a:lnSpc>
            </a:pPr>
            <a:r>
              <a:rPr lang="zh-CN" sz="1350" b="1">
                <a:solidFill>
                  <a:srgbClr val="0E3F8C"/>
                </a:solidFill>
                <a:latin typeface="Source Han Sans CN"/>
                <a:ea typeface="Source Han Sans CN"/>
              </a:rPr>
              <a:t>巡游边匹配</a:t>
            </a:r>
            <a:endParaRPr/>
          </a:p>
        </p:txBody>
      </p:sp>
      <p:sp>
        <p:nvSpPr>
          <p:cNvPr id="445" name="文本框 444" descr="{&quot;isTemplate&quot;:true,&quot;type&quot;:&quot;text&quot;}"/>
          <p:cNvSpPr txBox="1"/>
          <p:nvPr/>
        </p:nvSpPr>
        <p:spPr>
          <a:xfrm>
            <a:off x="3362325" y="3943350"/>
            <a:ext cx="2543175" cy="742950"/>
          </a:xfrm>
          <a:prstGeom prst="rect">
            <a:avLst/>
          </a:prstGeom>
        </p:spPr>
        <p:txBody>
          <a:bodyPr wrap="square" lIns="0" tIns="0" rIns="114300" bIns="0">
            <a:normAutofit/>
          </a:bodyPr>
          <a:lstStyle/>
          <a:p>
            <a:pPr>
              <a:lnSpc>
                <a:spcPct val="160000"/>
              </a:lnSpc>
            </a:pPr>
            <a:r>
              <a:rPr lang="zh-CN" sz="1013">
                <a:solidFill>
                  <a:srgbClr val="4A5568"/>
                </a:solidFill>
                <a:latin typeface="Source Han Sans CN"/>
                <a:ea typeface="Source Han Sans CN"/>
              </a:rPr>
              <a:t>按迭代行替换：以已访问任务为新起点行继续匹配——访问顺序真正进入进化搜索空间</a:t>
            </a:r>
            <a:endParaRPr/>
          </a:p>
        </p:txBody>
      </p:sp>
      <p:sp>
        <p:nvSpPr>
          <p:cNvPr id="446" name="矩形: 圆角 445"/>
          <p:cNvSpPr/>
          <p:nvPr/>
        </p:nvSpPr>
        <p:spPr>
          <a:xfrm>
            <a:off x="6029325" y="3543300"/>
            <a:ext cx="323850" cy="323850"/>
          </a:xfrm>
          <a:prstGeom prst="roundRect">
            <a:avLst>
              <a:gd name="adj" fmla="val 50000"/>
            </a:avLst>
          </a:prstGeom>
          <a:solidFill>
            <a:srgbClr val="1E4FA8"/>
          </a:solidFill>
          <a:ln/>
        </p:spPr>
        <p:txBody>
          <a:bodyPr/>
          <a:lstStyle/>
          <a:p>
            <a:endParaRPr/>
          </a:p>
        </p:txBody>
      </p:sp>
      <p:sp>
        <p:nvSpPr>
          <p:cNvPr id="447" name="文本框 446" descr="{&quot;isTemplate&quot;:true,&quot;type&quot;:&quot;text&quot;}"/>
          <p:cNvSpPr txBox="1"/>
          <p:nvPr/>
        </p:nvSpPr>
        <p:spPr>
          <a:xfrm>
            <a:off x="6143625" y="3609975"/>
            <a:ext cx="95250" cy="190500"/>
          </a:xfrm>
          <a:prstGeom prst="rect">
            <a:avLst/>
          </a:prstGeom>
        </p:spPr>
        <p:txBody>
          <a:bodyPr wrap="none" lIns="0" tIns="0" rIns="0" bIns="0"/>
          <a:lstStyle/>
          <a:p>
            <a:pPr>
              <a:lnSpc>
                <a:spcPct val="100000"/>
              </a:lnSpc>
            </a:pPr>
            <a:r>
              <a:rPr lang="en-US" sz="1200" b="1">
                <a:solidFill>
                  <a:srgbClr val="FFFFFF"/>
                </a:solidFill>
                <a:latin typeface="Source Han Sans CN"/>
                <a:ea typeface="Source Han Sans CN"/>
              </a:rPr>
              <a:t>3</a:t>
            </a:r>
            <a:endParaRPr/>
          </a:p>
        </p:txBody>
      </p:sp>
      <p:sp>
        <p:nvSpPr>
          <p:cNvPr id="448" name="文本框 447" descr="{&quot;isTemplate&quot;:true,&quot;type&quot;:&quot;text&quot;}"/>
          <p:cNvSpPr txBox="1"/>
          <p:nvPr/>
        </p:nvSpPr>
        <p:spPr>
          <a:xfrm>
            <a:off x="6448425" y="3600450"/>
            <a:ext cx="685800" cy="209550"/>
          </a:xfrm>
          <a:prstGeom prst="rect">
            <a:avLst/>
          </a:prstGeom>
        </p:spPr>
        <p:txBody>
          <a:bodyPr wrap="none" lIns="0" tIns="0" rIns="0" bIns="0"/>
          <a:lstStyle/>
          <a:p>
            <a:pPr>
              <a:lnSpc>
                <a:spcPct val="100000"/>
              </a:lnSpc>
            </a:pPr>
            <a:r>
              <a:rPr lang="zh-CN" sz="1350" b="1">
                <a:solidFill>
                  <a:srgbClr val="0E3F8C"/>
                </a:solidFill>
                <a:latin typeface="Source Han Sans CN"/>
                <a:ea typeface="Source Han Sans CN"/>
              </a:rPr>
              <a:t>扰动增强</a:t>
            </a:r>
            <a:endParaRPr/>
          </a:p>
        </p:txBody>
      </p:sp>
      <p:sp>
        <p:nvSpPr>
          <p:cNvPr id="449" name="文本框 448" descr="{&quot;isTemplate&quot;:true,&quot;type&quot;:&quot;text&quot;}"/>
          <p:cNvSpPr txBox="1"/>
          <p:nvPr/>
        </p:nvSpPr>
        <p:spPr>
          <a:xfrm>
            <a:off x="6029325" y="3943350"/>
            <a:ext cx="2543175" cy="495300"/>
          </a:xfrm>
          <a:prstGeom prst="rect">
            <a:avLst/>
          </a:prstGeom>
        </p:spPr>
        <p:txBody>
          <a:bodyPr wrap="square" lIns="0" tIns="0" rIns="114300" bIns="0">
            <a:normAutofit/>
          </a:bodyPr>
          <a:lstStyle/>
          <a:p>
            <a:pPr>
              <a:lnSpc>
                <a:spcPct val="160000"/>
              </a:lnSpc>
            </a:pPr>
            <a:r>
              <a:rPr lang="zh-CN" sz="1013">
                <a:solidFill>
                  <a:srgbClr val="4A5568"/>
                </a:solidFill>
                <a:latin typeface="Source Han Sans CN"/>
                <a:ea typeface="Source Han Sans CN"/>
              </a:rPr>
              <a:t>匹配后辅以</a:t>
            </a:r>
            <a:r>
              <a:rPr lang="en-US" sz="1013">
                <a:solidFill>
                  <a:srgbClr val="4A5568"/>
                </a:solidFill>
                <a:latin typeface="Source Han Sans CN"/>
                <a:ea typeface="Source Han Sans CN"/>
              </a:rPr>
              <a:t> swap / insert / reverse </a:t>
            </a:r>
            <a:r>
              <a:rPr lang="zh-CN" sz="1013">
                <a:solidFill>
                  <a:srgbClr val="4A5568"/>
                </a:solidFill>
                <a:latin typeface="Source Han Sans CN"/>
                <a:ea typeface="Source Han Sans CN"/>
              </a:rPr>
              <a:t>扰动，跳出局部结构</a:t>
            </a:r>
            <a:endParaRPr/>
          </a:p>
        </p:txBody>
      </p:sp>
      <p:sp>
        <p:nvSpPr>
          <p:cNvPr id="450" name="矩形: 圆角 449"/>
          <p:cNvSpPr/>
          <p:nvPr/>
        </p:nvSpPr>
        <p:spPr>
          <a:xfrm>
            <a:off x="8696325" y="3543300"/>
            <a:ext cx="323850" cy="323850"/>
          </a:xfrm>
          <a:prstGeom prst="roundRect">
            <a:avLst>
              <a:gd name="adj" fmla="val 50000"/>
            </a:avLst>
          </a:prstGeom>
          <a:solidFill>
            <a:srgbClr val="1E4FA8"/>
          </a:solidFill>
          <a:ln/>
        </p:spPr>
        <p:txBody>
          <a:bodyPr/>
          <a:lstStyle/>
          <a:p>
            <a:endParaRPr/>
          </a:p>
        </p:txBody>
      </p:sp>
      <p:sp>
        <p:nvSpPr>
          <p:cNvPr id="451" name="文本框 450" descr="{&quot;isTemplate&quot;:true,&quot;type&quot;:&quot;text&quot;}"/>
          <p:cNvSpPr txBox="1"/>
          <p:nvPr/>
        </p:nvSpPr>
        <p:spPr>
          <a:xfrm>
            <a:off x="8810625" y="3609975"/>
            <a:ext cx="95250" cy="190500"/>
          </a:xfrm>
          <a:prstGeom prst="rect">
            <a:avLst/>
          </a:prstGeom>
        </p:spPr>
        <p:txBody>
          <a:bodyPr wrap="none" lIns="0" tIns="0" rIns="0" bIns="0"/>
          <a:lstStyle/>
          <a:p>
            <a:pPr>
              <a:lnSpc>
                <a:spcPct val="100000"/>
              </a:lnSpc>
            </a:pPr>
            <a:r>
              <a:rPr lang="en-US" sz="1200" b="1">
                <a:solidFill>
                  <a:srgbClr val="FFFFFF"/>
                </a:solidFill>
                <a:latin typeface="Source Han Sans CN"/>
                <a:ea typeface="Source Han Sans CN"/>
              </a:rPr>
              <a:t>4</a:t>
            </a:r>
            <a:endParaRPr/>
          </a:p>
        </p:txBody>
      </p:sp>
      <p:sp>
        <p:nvSpPr>
          <p:cNvPr id="452" name="文本框 451" descr="{&quot;isTemplate&quot;:true,&quot;type&quot;:&quot;text&quot;}"/>
          <p:cNvSpPr txBox="1"/>
          <p:nvPr/>
        </p:nvSpPr>
        <p:spPr>
          <a:xfrm>
            <a:off x="9115425" y="3600450"/>
            <a:ext cx="1028700" cy="209550"/>
          </a:xfrm>
          <a:prstGeom prst="rect">
            <a:avLst/>
          </a:prstGeom>
        </p:spPr>
        <p:txBody>
          <a:bodyPr wrap="none" lIns="0" tIns="0" rIns="0" bIns="0"/>
          <a:lstStyle/>
          <a:p>
            <a:pPr>
              <a:lnSpc>
                <a:spcPct val="100000"/>
              </a:lnSpc>
            </a:pPr>
            <a:r>
              <a:rPr lang="zh-CN" sz="1350" b="1">
                <a:solidFill>
                  <a:srgbClr val="0E3F8C"/>
                </a:solidFill>
                <a:latin typeface="Source Han Sans CN"/>
                <a:ea typeface="Source Han Sans CN"/>
              </a:rPr>
              <a:t>段结构规范化</a:t>
            </a:r>
            <a:endParaRPr/>
          </a:p>
        </p:txBody>
      </p:sp>
      <p:sp>
        <p:nvSpPr>
          <p:cNvPr id="453" name="文本框 452" descr="{&quot;isTemplate&quot;:true,&quot;type&quot;:&quot;text&quot;}"/>
          <p:cNvSpPr txBox="1"/>
          <p:nvPr/>
        </p:nvSpPr>
        <p:spPr>
          <a:xfrm>
            <a:off x="8696325" y="3943350"/>
            <a:ext cx="2543175" cy="742950"/>
          </a:xfrm>
          <a:prstGeom prst="rect">
            <a:avLst/>
          </a:prstGeom>
        </p:spPr>
        <p:txBody>
          <a:bodyPr wrap="square" lIns="0" tIns="0" rIns="114300" bIns="0">
            <a:normAutofit/>
          </a:bodyPr>
          <a:lstStyle/>
          <a:p>
            <a:pPr>
              <a:lnSpc>
                <a:spcPct val="160000"/>
              </a:lnSpc>
            </a:pPr>
            <a:r>
              <a:rPr lang="zh-CN" sz="1013">
                <a:solidFill>
                  <a:srgbClr val="4A5568"/>
                </a:solidFill>
                <a:latin typeface="Source Han Sans CN"/>
                <a:ea typeface="Source Han Sans CN"/>
              </a:rPr>
              <a:t>重建航次分段：起始基因按 UAV 升序、巡游基因紧跟其段——SRP 不变式（每任务恰一次、无终止基因）</a:t>
            </a:r>
            <a:r>
              <a:rPr lang="en-US" sz="1013">
                <a:solidFill>
                  <a:srgbClr val="4A5568"/>
                </a:solidFill>
                <a:latin typeface="Source Han Sans CN"/>
                <a:ea typeface="Source Han Sans CN"/>
              </a:rPr>
              <a:t/>
            </a:r>
            <a:r>
              <a:rPr lang="zh-CN" sz="1013">
                <a:solidFill>
                  <a:srgbClr val="4A5568"/>
                </a:solidFill>
                <a:latin typeface="Source Han Sans CN"/>
                <a:ea typeface="Source Han Sans CN"/>
              </a:rPr>
              <a:t/>
            </a:r>
            <a:r>
              <a:rPr lang="en-US" sz="1013">
                <a:solidFill>
                  <a:srgbClr val="4A5568"/>
                </a:solidFill>
                <a:latin typeface="Source Han Sans CN"/>
                <a:ea typeface="Source Han Sans CN"/>
              </a:rPr>
              <a:t/>
            </a:r>
            <a:r>
              <a:rPr lang="zh-CN" sz="1013">
                <a:solidFill>
                  <a:srgbClr val="4A5568"/>
                </a:solidFill>
                <a:latin typeface="Source Han Sans CN"/>
                <a:ea typeface="Source Han Sans CN"/>
              </a:rPr>
              <a:t/>
            </a:r>
            <a:endParaRPr/>
          </a:p>
        </p:txBody>
      </p:sp>
      <p:sp>
        <p:nvSpPr>
          <p:cNvPr id="454" name="矩形: 圆角 453"/>
          <p:cNvSpPr/>
          <p:nvPr/>
        </p:nvSpPr>
        <p:spPr>
          <a:xfrm>
            <a:off x="609600" y="4762500"/>
            <a:ext cx="5429250" cy="990600"/>
          </a:xfrm>
          <a:prstGeom prst="roundRect">
            <a:avLst>
              <a:gd name="adj" fmla="val 9615"/>
            </a:avLst>
          </a:prstGeom>
          <a:solidFill>
            <a:srgbClr val="F0F5FC"/>
          </a:solidFill>
          <a:ln/>
        </p:spPr>
        <p:txBody>
          <a:bodyPr/>
          <a:lstStyle/>
          <a:p>
            <a:endParaRPr/>
          </a:p>
        </p:txBody>
      </p:sp>
      <p:sp>
        <p:nvSpPr>
          <p:cNvPr id="455" name="任意多边形: 形状 454"/>
          <p:cNvSpPr/>
          <p:nvPr/>
        </p:nvSpPr>
        <p:spPr>
          <a:xfrm>
            <a:off x="609600" y="4762500"/>
            <a:ext cx="5429250" cy="990600"/>
          </a:xfrm>
          <a:custGeom>
            <a:avLst/>
            <a:gdLst/>
            <a:ahLst/>
            <a:cxnLst/>
            <a:rect l="0" t="0" r="0" b="0"/>
            <a:pathLst>
              <a:path w="570" h="104">
                <a:moveTo>
                  <a:pt x="9" y="0"/>
                </a:moveTo>
                <a:cubicBezTo>
                  <a:pt x="6" y="0"/>
                  <a:pt x="4" y="3"/>
                  <a:pt x="4" y="6"/>
                </a:cubicBezTo>
                <a:lnTo>
                  <a:pt x="4" y="98"/>
                </a:lnTo>
                <a:cubicBezTo>
                  <a:pt x="4" y="101"/>
                  <a:pt x="6" y="103"/>
                  <a:pt x="9" y="104"/>
                </a:cubicBezTo>
                <a:cubicBezTo>
                  <a:pt x="4" y="103"/>
                  <a:pt x="0" y="99"/>
                  <a:pt x="0" y="94"/>
                </a:cubicBezTo>
                <a:lnTo>
                  <a:pt x="0" y="10"/>
                </a:lnTo>
                <a:cubicBezTo>
                  <a:pt x="0" y="5"/>
                  <a:pt x="4" y="0"/>
                  <a:pt x="10" y="0"/>
                </a:cubicBezTo>
                <a:close/>
              </a:path>
            </a:pathLst>
          </a:custGeom>
          <a:solidFill>
            <a:srgbClr val="1E4FA8"/>
          </a:solidFill>
          <a:ln/>
        </p:spPr>
        <p:txBody>
          <a:bodyPr/>
          <a:lstStyle/>
          <a:p>
            <a:endParaRPr/>
          </a:p>
        </p:txBody>
      </p:sp>
      <p:sp>
        <p:nvSpPr>
          <p:cNvPr id="456" name="文本框 455" descr="{&quot;isTemplate&quot;:true,&quot;type&quot;:&quot;text&quot;}"/>
          <p:cNvSpPr txBox="1"/>
          <p:nvPr/>
        </p:nvSpPr>
        <p:spPr>
          <a:xfrm>
            <a:off x="781050" y="4886325"/>
            <a:ext cx="5048250" cy="180975"/>
          </a:xfrm>
          <a:prstGeom prst="rect">
            <a:avLst/>
          </a:prstGeom>
        </p:spPr>
        <p:txBody>
          <a:bodyPr wrap="none" lIns="0" tIns="0" rIns="0" bIns="0"/>
          <a:lstStyle/>
          <a:p>
            <a:pPr>
              <a:lnSpc>
                <a:spcPct val="100000"/>
              </a:lnSpc>
            </a:pPr>
            <a:r>
              <a:rPr lang="zh-CN" sz="1163" b="1">
                <a:solidFill>
                  <a:srgbClr val="0E3F8C"/>
                </a:solidFill>
                <a:latin typeface="Source Han Sans CN"/>
                <a:ea typeface="Source Han Sans CN"/>
              </a:rPr>
              <a:t>选择性</a:t>
            </a:r>
            <a:r>
              <a:rPr lang="en-US" sz="1163" b="1">
                <a:solidFill>
                  <a:srgbClr val="0E3F8C"/>
                </a:solidFill>
                <a:latin typeface="Source Han Sans CN"/>
                <a:ea typeface="Source Han Sans CN"/>
              </a:rPr>
              <a:t> y=0 </a:t>
            </a:r>
            <a:r>
              <a:rPr lang="zh-CN" sz="1163" b="1">
                <a:solidFill>
                  <a:srgbClr val="0E3F8C"/>
                </a:solidFill>
                <a:latin typeface="Source Han Sans CN"/>
                <a:ea typeface="Source Han Sans CN"/>
              </a:rPr>
              <a:t>的决策位置：不占编码维度</a:t>
            </a:r>
            <a:endParaRPr/>
          </a:p>
        </p:txBody>
      </p:sp>
      <p:sp>
        <p:nvSpPr>
          <p:cNvPr id="457" name="文本框 456" descr="{&quot;isTemplate&quot;:true,&quot;type&quot;:&quot;text&quot;}"/>
          <p:cNvSpPr txBox="1"/>
          <p:nvPr/>
        </p:nvSpPr>
        <p:spPr>
          <a:xfrm>
            <a:off x="781050" y="5114925"/>
            <a:ext cx="5048250" cy="514350"/>
          </a:xfrm>
          <a:prstGeom prst="rect">
            <a:avLst/>
          </a:prstGeom>
        </p:spPr>
        <p:txBody>
          <a:bodyPr wrap="square" lIns="0" tIns="0" rIns="0" bIns="0">
            <a:normAutofit fontScale="77500" lnSpcReduction="20000"/>
          </a:bodyPr>
          <a:lstStyle/>
          <a:p>
            <a:pPr>
              <a:lnSpc>
                <a:spcPct val="165000"/>
              </a:lnSpc>
            </a:pPr>
            <a:r>
              <a:rPr lang="en-US" sz="1013" dirty="0">
                <a:solidFill>
                  <a:srgbClr val="4A5568"/>
                </a:solidFill>
                <a:latin typeface="Source Han Sans CN"/>
                <a:ea typeface="Source Han Sans CN"/>
              </a:rPr>
              <a:t>DE 空间中每个任务都被分配，「暂不执行」不占基因维度——由解码端修复链裁量（物理不可行才移除/改派，能装必装由覆盖门禁保证），并支持「任务少时并入更少机」的合并修复 _consolidate：空闲是解码侧概念，不进基因。</a:t>
            </a:r>
            <a:r>
              <a:rPr lang="zh-CN" sz="1013" dirty="0">
                <a:solidFill>
                  <a:srgbClr val="4A5568"/>
                </a:solidFill>
                <a:latin typeface="Source Han Sans CN"/>
                <a:ea typeface="Source Han Sans CN"/>
              </a:rPr>
              <a:t/>
            </a:r>
            <a:r>
              <a:rPr lang="zh-CN" altLang="en-US" sz="1013" dirty="0">
                <a:solidFill>
                  <a:srgbClr val="4A5568"/>
                </a:solidFill>
                <a:latin typeface="Source Han Sans CN"/>
                <a:ea typeface="Source Han Sans CN"/>
              </a:rPr>
              <a:t/>
            </a:r>
            <a:r>
              <a:rPr lang="en-US" altLang="zh-CN" sz="1013" dirty="0">
                <a:solidFill>
                  <a:srgbClr val="4A5568"/>
                </a:solidFill>
                <a:latin typeface="Source Han Sans CN"/>
                <a:ea typeface="Source Han Sans CN"/>
              </a:rPr>
              <a:t/>
            </a:r>
            <a:r>
              <a:rPr lang="zh-CN" altLang="en-US" sz="1013" dirty="0">
                <a:solidFill>
                  <a:srgbClr val="4A5568"/>
                </a:solidFill>
                <a:latin typeface="Source Han Sans CN"/>
                <a:ea typeface="Source Han Sans CN"/>
              </a:rPr>
              <a:t/>
            </a:r>
            <a:r>
              <a:rPr lang="en-US" altLang="zh-CN" sz="1013" dirty="0">
                <a:solidFill>
                  <a:srgbClr val="4A5568"/>
                </a:solidFill>
                <a:latin typeface="Source Han Sans CN"/>
                <a:ea typeface="Source Han Sans CN"/>
              </a:rPr>
              <a:t/>
            </a:r>
            <a:r>
              <a:rPr lang="zh-CN" altLang="en-US" sz="1013" dirty="0">
                <a:solidFill>
                  <a:srgbClr val="4A5568"/>
                </a:solidFill>
                <a:latin typeface="Source Han Sans CN"/>
                <a:ea typeface="Source Han Sans CN"/>
              </a:rPr>
              <a:t/>
            </a:r>
            <a:r>
              <a:rPr lang="en-US" altLang="zh-CN" sz="1013" dirty="0">
                <a:solidFill>
                  <a:srgbClr val="4A5568"/>
                </a:solidFill>
                <a:latin typeface="Source Han Sans CN"/>
                <a:ea typeface="Source Han Sans CN"/>
              </a:rPr>
              <a:t/>
            </a:r>
            <a:r>
              <a:rPr lang="zh-CN" altLang="en-US" sz="1013" dirty="0">
                <a:solidFill>
                  <a:srgbClr val="4A5568"/>
                </a:solidFill>
                <a:latin typeface="Source Han Sans CN"/>
                <a:ea typeface="Source Han Sans CN"/>
              </a:rPr>
              <a:t/>
            </a:r>
            <a:r>
              <a:rPr lang="en-US" altLang="zh-CN" sz="1013" dirty="0">
                <a:solidFill>
                  <a:srgbClr val="4A5568"/>
                </a:solidFill>
                <a:latin typeface="Source Han Sans CN"/>
                <a:ea typeface="Source Han Sans CN"/>
              </a:rPr>
              <a:t/>
            </a:r>
            <a:r>
              <a:rPr lang="zh-CN" altLang="en-US" sz="1013" dirty="0">
                <a:solidFill>
                  <a:srgbClr val="4A5568"/>
                </a:solidFill>
                <a:latin typeface="Source Han Sans CN"/>
                <a:ea typeface="Source Han Sans CN"/>
              </a:rPr>
              <a:t/>
            </a:r>
            <a:endParaRPr dirty="0"/>
          </a:p>
        </p:txBody>
      </p:sp>
      <p:sp>
        <p:nvSpPr>
          <p:cNvPr id="458" name="矩形: 圆角 457"/>
          <p:cNvSpPr/>
          <p:nvPr/>
        </p:nvSpPr>
        <p:spPr>
          <a:xfrm>
            <a:off x="6229350" y="4762500"/>
            <a:ext cx="5429250" cy="990600"/>
          </a:xfrm>
          <a:prstGeom prst="roundRect">
            <a:avLst>
              <a:gd name="adj" fmla="val 9615"/>
            </a:avLst>
          </a:prstGeom>
          <a:solidFill>
            <a:srgbClr val="F0F5FC"/>
          </a:solidFill>
          <a:ln/>
        </p:spPr>
        <p:txBody>
          <a:bodyPr/>
          <a:lstStyle/>
          <a:p>
            <a:endParaRPr/>
          </a:p>
        </p:txBody>
      </p:sp>
      <p:sp>
        <p:nvSpPr>
          <p:cNvPr id="459" name="任意多边形: 形状 458"/>
          <p:cNvSpPr/>
          <p:nvPr/>
        </p:nvSpPr>
        <p:spPr>
          <a:xfrm>
            <a:off x="6229350" y="4762500"/>
            <a:ext cx="5429250" cy="990600"/>
          </a:xfrm>
          <a:custGeom>
            <a:avLst/>
            <a:gdLst/>
            <a:ahLst/>
            <a:cxnLst/>
            <a:rect l="0" t="0" r="0" b="0"/>
            <a:pathLst>
              <a:path w="570" h="104">
                <a:moveTo>
                  <a:pt x="9" y="0"/>
                </a:moveTo>
                <a:cubicBezTo>
                  <a:pt x="6" y="0"/>
                  <a:pt x="4" y="3"/>
                  <a:pt x="4" y="6"/>
                </a:cubicBezTo>
                <a:lnTo>
                  <a:pt x="4" y="98"/>
                </a:lnTo>
                <a:cubicBezTo>
                  <a:pt x="4" y="101"/>
                  <a:pt x="6" y="103"/>
                  <a:pt x="9" y="104"/>
                </a:cubicBezTo>
                <a:cubicBezTo>
                  <a:pt x="4" y="103"/>
                  <a:pt x="0" y="99"/>
                  <a:pt x="0" y="94"/>
                </a:cubicBezTo>
                <a:lnTo>
                  <a:pt x="0" y="10"/>
                </a:lnTo>
                <a:cubicBezTo>
                  <a:pt x="0" y="5"/>
                  <a:pt x="4" y="0"/>
                  <a:pt x="10" y="0"/>
                </a:cubicBezTo>
                <a:close/>
              </a:path>
            </a:pathLst>
          </a:custGeom>
          <a:solidFill>
            <a:srgbClr val="0E3F8C"/>
          </a:solidFill>
          <a:ln/>
        </p:spPr>
        <p:txBody>
          <a:bodyPr/>
          <a:lstStyle/>
          <a:p>
            <a:endParaRPr/>
          </a:p>
        </p:txBody>
      </p:sp>
      <p:sp>
        <p:nvSpPr>
          <p:cNvPr id="460" name="文本框 459" descr="{&quot;isTemplate&quot;:true,&quot;type&quot;:&quot;text&quot;}"/>
          <p:cNvSpPr txBox="1"/>
          <p:nvPr/>
        </p:nvSpPr>
        <p:spPr>
          <a:xfrm>
            <a:off x="6400800" y="4886325"/>
            <a:ext cx="5048250" cy="180975"/>
          </a:xfrm>
          <a:prstGeom prst="rect">
            <a:avLst/>
          </a:prstGeom>
        </p:spPr>
        <p:txBody>
          <a:bodyPr wrap="none" lIns="0" tIns="0" rIns="0" bIns="0"/>
          <a:lstStyle/>
          <a:p>
            <a:pPr>
              <a:lnSpc>
                <a:spcPct val="100000"/>
              </a:lnSpc>
            </a:pPr>
            <a:r>
              <a:rPr lang="en-US" sz="1163" b="1">
                <a:solidFill>
                  <a:srgbClr val="0E3F8C"/>
                </a:solidFill>
                <a:latin typeface="Source Han Sans CN"/>
                <a:ea typeface="Source Han Sans CN"/>
              </a:rPr>
              <a:t>Lamarckian </a:t>
            </a:r>
            <a:r>
              <a:rPr lang="zh-CN" sz="1163" b="1">
                <a:solidFill>
                  <a:srgbClr val="0E3F8C"/>
                </a:solidFill>
                <a:latin typeface="Source Han Sans CN"/>
                <a:ea typeface="Source Han Sans CN"/>
              </a:rPr>
              <a:t>回写：只回写起始基因</a:t>
            </a:r>
            <a:endParaRPr/>
          </a:p>
        </p:txBody>
      </p:sp>
      <p:sp>
        <p:nvSpPr>
          <p:cNvPr id="461" name="文本框 460" descr="{&quot;isTemplate&quot;:true,&quot;type&quot;:&quot;text&quot;}"/>
          <p:cNvSpPr txBox="1"/>
          <p:nvPr/>
        </p:nvSpPr>
        <p:spPr>
          <a:xfrm>
            <a:off x="6400800" y="5114925"/>
            <a:ext cx="5048250" cy="514350"/>
          </a:xfrm>
          <a:prstGeom prst="rect">
            <a:avLst/>
          </a:prstGeom>
        </p:spPr>
        <p:txBody>
          <a:bodyPr wrap="square" lIns="0" tIns="0" rIns="0" bIns="0">
            <a:normAutofit/>
          </a:bodyPr>
          <a:lstStyle/>
          <a:p>
            <a:pPr>
              <a:lnSpc>
                <a:spcPct val="165000"/>
              </a:lnSpc>
            </a:pPr>
            <a:r>
              <a:rPr lang="zh-CN" sz="1013">
                <a:solidFill>
                  <a:srgbClr val="4A5568"/>
                </a:solidFill>
                <a:latin typeface="Source Han Sans CN"/>
                <a:ea typeface="Source Han Sans CN"/>
              </a:rPr>
              <a:t>修复解只把首任务写回获胜个体的起始基因，巡游基因原样保留、绝不增删——基因长度恒定，这是「每任务恰出现一次」不变式下可安全落地的关键。</a:t>
            </a:r>
            <a:endParaRPr/>
          </a:p>
        </p:txBody>
      </p:sp>
      <p:sp>
        <p:nvSpPr>
          <p:cNvPr id="462" name="矩形 461"/>
          <p:cNvSpPr/>
          <p:nvPr/>
        </p:nvSpPr>
        <p:spPr>
          <a:xfrm>
            <a:off x="0" y="6448425"/>
            <a:ext cx="12192000" cy="409575"/>
          </a:xfrm>
          <a:prstGeom prst="rect">
            <a:avLst/>
          </a:prstGeom>
          <a:solidFill>
            <a:srgbClr val="F7F9FC"/>
          </a:solidFill>
          <a:ln/>
        </p:spPr>
        <p:txBody>
          <a:bodyPr/>
          <a:lstStyle/>
          <a:p>
            <a:endParaRPr/>
          </a:p>
        </p:txBody>
      </p:sp>
      <p:sp>
        <p:nvSpPr>
          <p:cNvPr id="463" name="任意多边形: 形状 462"/>
          <p:cNvSpPr/>
          <p:nvPr/>
        </p:nvSpPr>
        <p:spPr>
          <a:xfrm>
            <a:off x="0" y="6438900"/>
            <a:ext cx="12192000" cy="419100"/>
          </a:xfrm>
          <a:custGeom>
            <a:avLst/>
            <a:gdLst/>
            <a:ahLst/>
            <a:cxnLst/>
            <a:rect l="0" t="0" r="0" b="0"/>
            <a:pathLst>
              <a:path w="1280" h="44">
                <a:moveTo>
                  <a:pt x="0" y="0"/>
                </a:moveTo>
                <a:lnTo>
                  <a:pt x="1280" y="0"/>
                </a:lnTo>
                <a:lnTo>
                  <a:pt x="1280" y="1"/>
                </a:lnTo>
                <a:lnTo>
                  <a:pt x="0" y="1"/>
                </a:lnTo>
                <a:close/>
              </a:path>
            </a:pathLst>
          </a:custGeom>
          <a:solidFill>
            <a:srgbClr val="E5E7EB"/>
          </a:solidFill>
          <a:ln/>
        </p:spPr>
        <p:txBody>
          <a:bodyPr/>
          <a:lstStyle/>
          <a:p>
            <a:endParaRPr/>
          </a:p>
        </p:txBody>
      </p:sp>
      <p:sp>
        <p:nvSpPr>
          <p:cNvPr id="464" name="文本框 463" descr="{&quot;isTemplate&quot;:true,&quot;type&quot;:&quot;text&quot;}"/>
          <p:cNvSpPr txBox="1"/>
          <p:nvPr/>
        </p:nvSpPr>
        <p:spPr>
          <a:xfrm>
            <a:off x="381000" y="6581775"/>
            <a:ext cx="2828925" cy="152400"/>
          </a:xfrm>
          <a:prstGeom prst="rect">
            <a:avLst/>
          </a:prstGeom>
        </p:spPr>
        <p:txBody>
          <a:bodyPr wrap="none" lIns="0" tIns="0" rIns="0" bIns="0"/>
          <a:lstStyle/>
          <a:p>
            <a:pPr>
              <a:lnSpc>
                <a:spcPct val="100000"/>
              </a:lnSpc>
            </a:pPr>
            <a:r>
              <a:rPr lang="zh-CN" sz="975">
                <a:solidFill>
                  <a:srgbClr val="8B97A8"/>
                </a:solidFill>
                <a:latin typeface="Source Han Sans CN"/>
                <a:ea typeface="Source Han Sans CN"/>
              </a:rPr>
              <a:t>动态滚动的多机巢多无人机协同任务分配</a:t>
            </a:r>
            <a:r>
              <a:rPr lang="en-US" sz="975">
                <a:solidFill>
                  <a:srgbClr val="8B97A8"/>
                </a:solidFill>
                <a:latin typeface="Source Han Sans CN"/>
                <a:ea typeface="Source Han Sans CN"/>
              </a:rPr>
              <a:t> · </a:t>
            </a:r>
            <a:r>
              <a:rPr lang="zh-CN" sz="975">
                <a:solidFill>
                  <a:srgbClr val="8B97A8"/>
                </a:solidFill>
                <a:latin typeface="Source Han Sans CN"/>
                <a:ea typeface="Source Han Sans CN"/>
              </a:rPr>
              <a:t>进展汇报</a:t>
            </a:r>
            <a:endParaRPr/>
          </a:p>
        </p:txBody>
      </p:sp>
      <p:sp>
        <p:nvSpPr>
          <p:cNvPr id="465" name="文本框 464" descr="{&quot;isTemplate&quot;:true,&quot;type&quot;:&quot;text&quot;}"/>
          <p:cNvSpPr txBox="1"/>
          <p:nvPr/>
        </p:nvSpPr>
        <p:spPr>
          <a:xfrm>
            <a:off x="11296650" y="6572250"/>
            <a:ext cx="514350" cy="171450"/>
          </a:xfrm>
          <a:prstGeom prst="rect">
            <a:avLst/>
          </a:prstGeom>
        </p:spPr>
        <p:txBody>
          <a:bodyPr wrap="none" lIns="0" tIns="0" rIns="0" bIns="0"/>
          <a:lstStyle/>
          <a:p>
            <a:pPr>
              <a:lnSpc>
                <a:spcPct val="100000"/>
              </a:lnSpc>
            </a:pPr>
            <a:r>
              <a:rPr lang="en-US" sz="1125" b="1">
                <a:solidFill>
                  <a:srgbClr val="1E4FA8"/>
                </a:solidFill>
                <a:latin typeface="Source Han Sans CN"/>
                <a:ea typeface="Source Han Sans CN"/>
              </a:rPr>
              <a:t>17 / 18</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7" name="矩形 221"/>
          <p:cNvSpPr/>
          <p:nvPr/>
        </p:nvSpPr>
        <p:spPr>
          <a:xfrm>
            <a:off x="0" y="0"/>
            <a:ext cx="12192000" cy="6858000"/>
          </a:xfrm>
          <a:prstGeom prst="rect">
            <a:avLst/>
          </a:prstGeom>
          <a:solidFill>
            <a:srgbClr val="0E3F8C"/>
          </a:solidFill>
          <a:ln/>
        </p:spPr>
        <p:txBody>
          <a:bodyPr/>
          <a:lstStyle/>
          <a:p>
            <a:endParaRPr/>
          </a:p>
        </p:txBody>
      </p:sp>
      <p:sp>
        <p:nvSpPr>
          <p:cNvPr id="188" name="矩形 222"/>
          <p:cNvSpPr/>
          <p:nvPr/>
        </p:nvSpPr>
        <p:spPr>
          <a:xfrm>
            <a:off x="0" y="0"/>
            <a:ext cx="12192000" cy="114300"/>
          </a:xfrm>
          <a:prstGeom prst="rect">
            <a:avLst/>
          </a:prstGeom>
          <a:solidFill>
            <a:srgbClr val="3D7BD9"/>
          </a:solidFill>
          <a:ln/>
        </p:spPr>
        <p:txBody>
          <a:bodyPr/>
          <a:lstStyle/>
          <a:p>
            <a:endParaRPr/>
          </a:p>
        </p:txBody>
      </p:sp>
      <p:sp>
        <p:nvSpPr>
          <p:cNvPr id="189" name="矩形 223"/>
          <p:cNvSpPr/>
          <p:nvPr/>
        </p:nvSpPr>
        <p:spPr>
          <a:xfrm>
            <a:off x="0" y="6743700"/>
            <a:ext cx="12192000" cy="114300"/>
          </a:xfrm>
          <a:prstGeom prst="rect">
            <a:avLst/>
          </a:prstGeom>
          <a:solidFill>
            <a:srgbClr val="3D7BD9"/>
          </a:solidFill>
          <a:ln/>
        </p:spPr>
        <p:txBody>
          <a:bodyPr/>
          <a:lstStyle/>
          <a:p>
            <a:endParaRPr/>
          </a:p>
        </p:txBody>
      </p:sp>
      <p:sp>
        <p:nvSpPr>
          <p:cNvPr id="190" name="矩形: 圆角 224"/>
          <p:cNvSpPr/>
          <p:nvPr/>
        </p:nvSpPr>
        <p:spPr>
          <a:xfrm>
            <a:off x="1333500" y="914400"/>
            <a:ext cx="9525000" cy="400050"/>
          </a:xfrm>
          <a:prstGeom prst="roundRect">
            <a:avLst>
              <a:gd name="adj" fmla="val 57143"/>
            </a:avLst>
          </a:prstGeom>
          <a:solidFill>
            <a:srgbClr val="FFFFFF">
              <a:alpha val="8000"/>
            </a:srgbClr>
          </a:solidFill>
          <a:ln w="12700">
            <a:solidFill>
              <a:srgbClr val="FFFFFF">
                <a:alpha val="25000"/>
              </a:srgbClr>
            </a:solidFill>
            <a:prstDash val="solid"/>
          </a:ln>
        </p:spPr>
        <p:txBody>
          <a:bodyPr/>
          <a:lstStyle/>
          <a:p>
            <a:endParaRPr/>
          </a:p>
        </p:txBody>
      </p:sp>
      <p:sp>
        <p:nvSpPr>
          <p:cNvPr id="191" name="文本框 225" descr="{&quot;isTemplate&quot;:true,&quot;type&quot;:&quot;text&quot;}"/>
          <p:cNvSpPr txBox="1"/>
          <p:nvPr/>
        </p:nvSpPr>
        <p:spPr>
          <a:xfrm>
            <a:off x="3581400" y="1028700"/>
            <a:ext cx="933450" cy="171450"/>
          </a:xfrm>
          <a:prstGeom prst="rect">
            <a:avLst/>
          </a:prstGeom>
        </p:spPr>
        <p:txBody>
          <a:bodyPr wrap="none" lIns="0" tIns="0" rIns="0" bIns="0"/>
          <a:lstStyle/>
          <a:p>
            <a:pPr>
              <a:lnSpc>
                <a:spcPct val="100000"/>
              </a:lnSpc>
            </a:pPr>
            <a:r>
              <a:rPr lang="en-US" sz="1125" b="1">
                <a:solidFill>
                  <a:srgbClr val="FFFFFF"/>
                </a:solidFill>
                <a:latin typeface="Source Han Sans CN"/>
                <a:ea typeface="Source Han Sans CN"/>
              </a:rPr>
              <a:t>01 </a:t>
            </a:r>
            <a:r>
              <a:rPr lang="zh-CN" sz="1125" b="1">
                <a:solidFill>
                  <a:srgbClr val="FFFFFF"/>
                </a:solidFill>
                <a:latin typeface="Source Han Sans CN"/>
                <a:ea typeface="Source Han Sans CN"/>
              </a:rPr>
              <a:t>问题与框架</a:t>
            </a:r>
            <a:endParaRPr/>
          </a:p>
        </p:txBody>
      </p:sp>
      <p:sp>
        <p:nvSpPr>
          <p:cNvPr id="192" name="文本框 226" descr="{&quot;isTemplate&quot;:true,&quot;type&quot;:&quot;text&quot;}"/>
          <p:cNvSpPr txBox="1"/>
          <p:nvPr/>
        </p:nvSpPr>
        <p:spPr>
          <a:xfrm>
            <a:off x="4667250" y="1028700"/>
            <a:ext cx="38100" cy="171450"/>
          </a:xfrm>
          <a:prstGeom prst="rect">
            <a:avLst/>
          </a:prstGeom>
        </p:spPr>
        <p:txBody>
          <a:bodyPr wrap="none" lIns="0" tIns="0" rIns="0" bIns="0"/>
          <a:lstStyle/>
          <a:p>
            <a:pPr>
              <a:lnSpc>
                <a:spcPct val="100000"/>
              </a:lnSpc>
            </a:pPr>
            <a:r>
              <a:rPr sz="1125">
                <a:solidFill>
                  <a:srgbClr val="85B7EB"/>
                </a:solidFill>
                <a:latin typeface="Source Han Sans CN"/>
                <a:ea typeface="Source Han Sans CN"/>
              </a:rPr>
              <a:t>·</a:t>
            </a:r>
            <a:endParaRPr/>
          </a:p>
        </p:txBody>
      </p:sp>
      <p:sp>
        <p:nvSpPr>
          <p:cNvPr id="193" name="文本框 227" descr="{&quot;isTemplate&quot;:true,&quot;type&quot;:&quot;text&quot;}"/>
          <p:cNvSpPr txBox="1"/>
          <p:nvPr/>
        </p:nvSpPr>
        <p:spPr>
          <a:xfrm>
            <a:off x="4857750" y="1028700"/>
            <a:ext cx="790575" cy="171450"/>
          </a:xfrm>
          <a:prstGeom prst="rect">
            <a:avLst/>
          </a:prstGeom>
        </p:spPr>
        <p:txBody>
          <a:bodyPr wrap="none" lIns="0" tIns="0" rIns="0" bIns="0"/>
          <a:lstStyle/>
          <a:p>
            <a:pPr>
              <a:lnSpc>
                <a:spcPct val="100000"/>
              </a:lnSpc>
            </a:pPr>
            <a:r>
              <a:rPr lang="en-US" sz="1125" b="1">
                <a:solidFill>
                  <a:srgbClr val="FFFFFF"/>
                </a:solidFill>
                <a:latin typeface="Source Han Sans CN"/>
                <a:ea typeface="Source Han Sans CN"/>
              </a:rPr>
              <a:t>02 </a:t>
            </a:r>
            <a:r>
              <a:rPr lang="zh-CN" sz="1125" b="1">
                <a:solidFill>
                  <a:srgbClr val="FFFFFF"/>
                </a:solidFill>
                <a:latin typeface="Source Han Sans CN"/>
                <a:ea typeface="Source Han Sans CN"/>
              </a:rPr>
              <a:t>任务选择</a:t>
            </a:r>
            <a:endParaRPr/>
          </a:p>
        </p:txBody>
      </p:sp>
      <p:sp>
        <p:nvSpPr>
          <p:cNvPr id="194" name="文本框 228" descr="{&quot;isTemplate&quot;:true,&quot;type&quot;:&quot;text&quot;}"/>
          <p:cNvSpPr txBox="1"/>
          <p:nvPr/>
        </p:nvSpPr>
        <p:spPr>
          <a:xfrm>
            <a:off x="5800725" y="1028700"/>
            <a:ext cx="38100" cy="171450"/>
          </a:xfrm>
          <a:prstGeom prst="rect">
            <a:avLst/>
          </a:prstGeom>
        </p:spPr>
        <p:txBody>
          <a:bodyPr wrap="none" lIns="0" tIns="0" rIns="0" bIns="0"/>
          <a:lstStyle/>
          <a:p>
            <a:pPr>
              <a:lnSpc>
                <a:spcPct val="100000"/>
              </a:lnSpc>
            </a:pPr>
            <a:r>
              <a:rPr sz="1125">
                <a:solidFill>
                  <a:srgbClr val="85B7EB"/>
                </a:solidFill>
                <a:latin typeface="Source Han Sans CN"/>
                <a:ea typeface="Source Han Sans CN"/>
              </a:rPr>
              <a:t>·</a:t>
            </a:r>
            <a:endParaRPr/>
          </a:p>
        </p:txBody>
      </p:sp>
      <p:sp>
        <p:nvSpPr>
          <p:cNvPr id="195" name="文本框 229" descr="{&quot;isTemplate&quot;:true,&quot;type&quot;:&quot;text&quot;}"/>
          <p:cNvSpPr txBox="1"/>
          <p:nvPr/>
        </p:nvSpPr>
        <p:spPr>
          <a:xfrm>
            <a:off x="5991225" y="1028700"/>
            <a:ext cx="1352550" cy="171450"/>
          </a:xfrm>
          <a:prstGeom prst="rect">
            <a:avLst/>
          </a:prstGeom>
        </p:spPr>
        <p:txBody>
          <a:bodyPr wrap="none" lIns="0" tIns="0" rIns="0" bIns="0"/>
          <a:lstStyle/>
          <a:p>
            <a:pPr>
              <a:lnSpc>
                <a:spcPct val="100000"/>
              </a:lnSpc>
            </a:pPr>
            <a:r>
              <a:rPr lang="en-US" sz="1125" b="1">
                <a:solidFill>
                  <a:srgbClr val="FFFFFF"/>
                </a:solidFill>
                <a:latin typeface="Source Han Sans CN"/>
                <a:ea typeface="Source Han Sans CN"/>
              </a:rPr>
              <a:t>03 MUAS </a:t>
            </a:r>
            <a:r>
              <a:rPr lang="zh-CN" sz="1125" b="1">
                <a:solidFill>
                  <a:srgbClr val="FFFFFF"/>
                </a:solidFill>
                <a:latin typeface="Source Han Sans CN"/>
                <a:ea typeface="Source Han Sans CN"/>
              </a:rPr>
              <a:t>与</a:t>
            </a:r>
            <a:r>
              <a:rPr lang="en-US" sz="1125" b="1">
                <a:solidFill>
                  <a:srgbClr val="FFFFFF"/>
                </a:solidFill>
                <a:latin typeface="Source Han Sans CN"/>
                <a:ea typeface="Source Han Sans CN"/>
              </a:rPr>
              <a:t> DMDE</a:t>
            </a:r>
            <a:endParaRPr/>
          </a:p>
        </p:txBody>
      </p:sp>
      <p:sp>
        <p:nvSpPr>
          <p:cNvPr id="198" name="文本框 232" descr="{&quot;isTemplate&quot;:true,&quot;type&quot;:&quot;text&quot;}"/>
          <p:cNvSpPr txBox="1"/>
          <p:nvPr/>
        </p:nvSpPr>
        <p:spPr>
          <a:xfrm>
            <a:off x="5810250" y="1981200"/>
            <a:ext cx="581025" cy="190500"/>
          </a:xfrm>
          <a:prstGeom prst="rect">
            <a:avLst/>
          </a:prstGeom>
        </p:spPr>
        <p:txBody>
          <a:bodyPr wrap="none" lIns="0" tIns="0" rIns="0" bIns="0"/>
          <a:lstStyle/>
          <a:p>
            <a:pPr>
              <a:lnSpc>
                <a:spcPct val="100000"/>
              </a:lnSpc>
            </a:pPr>
            <a:r>
              <a:rPr lang="zh-CN" sz="1200" spc="600">
                <a:solidFill>
                  <a:srgbClr val="85B7EB"/>
                </a:solidFill>
                <a:latin typeface="Source Han Sans CN"/>
                <a:ea typeface="Source Han Sans CN"/>
              </a:rPr>
              <a:t>小</a:t>
            </a:r>
            <a:r>
              <a:rPr lang="en-US" sz="1200" spc="600">
                <a:solidFill>
                  <a:srgbClr val="85B7EB"/>
                </a:solidFill>
                <a:latin typeface="Source Han Sans CN"/>
                <a:ea typeface="Source Han Sans CN"/>
              </a:rPr>
              <a:t> </a:t>
            </a:r>
            <a:r>
              <a:rPr lang="zh-CN" sz="1200" spc="600">
                <a:solidFill>
                  <a:srgbClr val="85B7EB"/>
                </a:solidFill>
                <a:latin typeface="Source Han Sans CN"/>
                <a:ea typeface="Source Han Sans CN"/>
              </a:rPr>
              <a:t>结</a:t>
            </a:r>
            <a:endParaRPr/>
          </a:p>
        </p:txBody>
      </p:sp>
      <p:sp>
        <p:nvSpPr>
          <p:cNvPr id="199" name="文本框 233" descr="{&quot;isTemplate&quot;:true,&quot;type&quot;:&quot;text&quot;}"/>
          <p:cNvSpPr txBox="1"/>
          <p:nvPr/>
        </p:nvSpPr>
        <p:spPr>
          <a:xfrm>
            <a:off x="3295650" y="2190750"/>
            <a:ext cx="5600700" cy="1495425"/>
          </a:xfrm>
          <a:prstGeom prst="rect">
            <a:avLst/>
          </a:prstGeom>
        </p:spPr>
        <p:txBody>
          <a:bodyPr wrap="none" lIns="0" tIns="0" rIns="0" bIns="0"/>
          <a:lstStyle/>
          <a:p>
            <a:pPr algn="ctr">
              <a:lnSpc>
                <a:spcPct val="155000"/>
              </a:lnSpc>
            </a:pPr>
            <a:r>
              <a:rPr lang="zh-CN" sz="3150" b="1">
                <a:solidFill>
                  <a:srgbClr val="FFFFFF"/>
                </a:solidFill>
                <a:latin typeface="Source Han Sans CN"/>
                <a:ea typeface="Source Han Sans CN"/>
              </a:rPr>
              <a:t>分层求解：以能力标定筛选规模</a:t>
            </a:r>
            <a:endParaRPr/>
          </a:p>
          <a:p>
            <a:pPr algn="ctr">
              <a:lnSpc>
                <a:spcPct val="155000"/>
              </a:lnSpc>
            </a:pPr>
            <a:r>
              <a:rPr lang="zh-CN" sz="3150" b="1">
                <a:solidFill>
                  <a:srgbClr val="FFFFFF"/>
                </a:solidFill>
                <a:latin typeface="Source Han Sans CN"/>
                <a:ea typeface="Source Han Sans CN"/>
              </a:rPr>
              <a:t>以组合优化保证质量</a:t>
            </a:r>
            <a:endParaRPr/>
          </a:p>
        </p:txBody>
      </p:sp>
      <p:sp>
        <p:nvSpPr>
          <p:cNvPr id="200" name="矩形 234"/>
          <p:cNvSpPr/>
          <p:nvPr/>
        </p:nvSpPr>
        <p:spPr>
          <a:xfrm>
            <a:off x="5829300" y="4181475"/>
            <a:ext cx="533400" cy="38100"/>
          </a:xfrm>
          <a:prstGeom prst="rect">
            <a:avLst/>
          </a:prstGeom>
          <a:solidFill>
            <a:srgbClr val="FFC107"/>
          </a:solidFill>
          <a:ln/>
        </p:spPr>
        <p:txBody>
          <a:bodyPr/>
          <a:lstStyle/>
          <a:p>
            <a:endParaRPr/>
          </a:p>
        </p:txBody>
      </p:sp>
      <p:sp>
        <p:nvSpPr>
          <p:cNvPr id="201" name="文本框 235" descr="{&quot;isTemplate&quot;:true,&quot;type&quot;:&quot;text&quot;}"/>
          <p:cNvSpPr txBox="1"/>
          <p:nvPr/>
        </p:nvSpPr>
        <p:spPr>
          <a:xfrm>
            <a:off x="3228975" y="4286250"/>
            <a:ext cx="5743575" cy="790575"/>
          </a:xfrm>
          <a:prstGeom prst="rect">
            <a:avLst/>
          </a:prstGeom>
        </p:spPr>
        <p:txBody>
          <a:bodyPr wrap="none" lIns="0" tIns="0" rIns="0" bIns="0"/>
          <a:lstStyle/>
          <a:p>
            <a:pPr algn="ctr">
              <a:lnSpc>
                <a:spcPct val="190000"/>
              </a:lnSpc>
            </a:pPr>
            <a:r>
              <a:rPr lang="zh-CN" sz="1350">
                <a:solidFill>
                  <a:srgbClr val="DCE7F5"/>
                </a:solidFill>
                <a:latin typeface="Source Han Sans CN"/>
                <a:ea typeface="Source Han Sans CN"/>
              </a:rPr>
              <a:t>动态任务选择缩空间</a:t>
            </a:r>
            <a:r>
              <a:rPr lang="en-US" sz="1350">
                <a:solidFill>
                  <a:srgbClr val="DCE7F5"/>
                </a:solidFill>
                <a:latin typeface="Source Han Sans CN"/>
                <a:ea typeface="Source Han Sans CN"/>
              </a:rPr>
              <a:t> · </a:t>
            </a:r>
            <a:r>
              <a:rPr lang="zh-CN" sz="1350">
                <a:solidFill>
                  <a:srgbClr val="DCE7F5"/>
                </a:solidFill>
                <a:latin typeface="Source Han Sans CN"/>
                <a:ea typeface="Source Han Sans CN"/>
              </a:rPr>
              <a:t>选择性</a:t>
            </a:r>
            <a:r>
              <a:rPr lang="en-US" sz="1350">
                <a:solidFill>
                  <a:srgbClr val="DCE7F5"/>
                </a:solidFill>
                <a:latin typeface="Source Han Sans CN"/>
                <a:ea typeface="Source Han Sans CN"/>
              </a:rPr>
              <a:t> MUAS </a:t>
            </a:r>
            <a:r>
              <a:rPr lang="zh-CN" sz="1350">
                <a:solidFill>
                  <a:srgbClr val="DCE7F5"/>
                </a:solidFill>
                <a:latin typeface="Source Han Sans CN"/>
                <a:ea typeface="Source Han Sans CN"/>
              </a:rPr>
              <a:t>精优化</a:t>
            </a:r>
            <a:r>
              <a:rPr lang="en-US" sz="1350">
                <a:solidFill>
                  <a:srgbClr val="DCE7F5"/>
                </a:solidFill>
                <a:latin typeface="Source Han Sans CN"/>
                <a:ea typeface="Source Han Sans CN"/>
              </a:rPr>
              <a:t> · </a:t>
            </a:r>
            <a:r>
              <a:rPr lang="zh-CN" sz="1350">
                <a:solidFill>
                  <a:srgbClr val="DCE7F5"/>
                </a:solidFill>
                <a:latin typeface="Source Han Sans CN"/>
                <a:ea typeface="Source Han Sans CN"/>
              </a:rPr>
              <a:t>滚动闭环不丢任务</a:t>
            </a:r>
            <a:endParaRPr/>
          </a:p>
          <a:p>
            <a:pPr algn="ctr">
              <a:lnSpc>
                <a:spcPct val="190000"/>
              </a:lnSpc>
            </a:pPr>
            <a:r>
              <a:rPr lang="zh-CN" sz="1350">
                <a:solidFill>
                  <a:srgbClr val="DCE7F5"/>
                </a:solidFill>
                <a:latin typeface="Source Han Sans CN"/>
                <a:ea typeface="Source Han Sans CN"/>
              </a:rPr>
              <a:t>覆盖门禁守完成语义 · 四层准字典序保可行 · DMDE 搜归属与顺序</a:t>
            </a:r>
            <a:r>
              <a:rPr lang="en-US" sz="1350">
                <a:solidFill>
                  <a:srgbClr val="DCE7F5"/>
                </a:solidFill>
                <a:latin typeface="Source Han Sans CN"/>
                <a:ea typeface="Source Han Sans CN"/>
              </a:rPr>
              <a:t/>
            </a:r>
            <a:r>
              <a:rPr lang="zh-CN" sz="1350">
                <a:solidFill>
                  <a:srgbClr val="DCE7F5"/>
                </a:solidFill>
                <a:latin typeface="Source Han Sans CN"/>
                <a:ea typeface="Source Han Sans CN"/>
              </a:rPr>
              <a:t/>
            </a:r>
            <a:r>
              <a:rPr lang="en-US" sz="1350">
                <a:solidFill>
                  <a:srgbClr val="DCE7F5"/>
                </a:solidFill>
                <a:latin typeface="Source Han Sans CN"/>
                <a:ea typeface="Source Han Sans CN"/>
              </a:rPr>
              <a:t/>
            </a:r>
            <a:r>
              <a:rPr lang="zh-CN" sz="1350">
                <a:solidFill>
                  <a:srgbClr val="DCE7F5"/>
                </a:solidFill>
                <a:latin typeface="Source Han Sans CN"/>
                <a:ea typeface="Source Han Sans CN"/>
              </a:rPr>
              <a:t/>
            </a:r>
            <a:r>
              <a:rPr lang="en-US" sz="1350">
                <a:solidFill>
                  <a:srgbClr val="DCE7F5"/>
                </a:solidFill>
                <a:latin typeface="Source Han Sans CN"/>
                <a:ea typeface="Source Han Sans CN"/>
              </a:rPr>
              <a:t/>
            </a:r>
            <a:r>
              <a:rPr lang="zh-CN" sz="1350">
                <a:solidFill>
                  <a:srgbClr val="DCE7F5"/>
                </a:solidFill>
                <a:latin typeface="Source Han Sans CN"/>
                <a:ea typeface="Source Han Sans CN"/>
              </a:rPr>
              <a:t/>
            </a:r>
            <a:endParaRPr/>
          </a:p>
        </p:txBody>
      </p:sp>
      <p:sp>
        <p:nvSpPr>
          <p:cNvPr id="202" name="文本框 236" descr="{&quot;isTemplate&quot;:true,&quot;type&quot;:&quot;text&quot;}"/>
          <p:cNvSpPr txBox="1"/>
          <p:nvPr/>
        </p:nvSpPr>
        <p:spPr>
          <a:xfrm>
            <a:off x="4962525" y="5429250"/>
            <a:ext cx="2266950" cy="390525"/>
          </a:xfrm>
          <a:prstGeom prst="rect">
            <a:avLst/>
          </a:prstGeom>
        </p:spPr>
        <p:txBody>
          <a:bodyPr wrap="none" lIns="0" tIns="0" rIns="0" bIns="0"/>
          <a:lstStyle/>
          <a:p>
            <a:pPr>
              <a:lnSpc>
                <a:spcPct val="100000"/>
              </a:lnSpc>
            </a:pPr>
            <a:r>
              <a:rPr lang="zh-CN" sz="2550" b="1">
                <a:solidFill>
                  <a:srgbClr val="FFFFFF"/>
                </a:solidFill>
                <a:latin typeface="Source Han Sans CN"/>
                <a:ea typeface="Source Han Sans CN"/>
              </a:rPr>
              <a:t>请老师批评指正</a:t>
            </a:r>
            <a:endParaRPr/>
          </a:p>
        </p:txBody>
      </p:sp>
      <p:sp>
        <p:nvSpPr>
          <p:cNvPr id="203" name="文本框 237" descr="{&quot;isTemplate&quot;:true,&quot;type&quot;:&quot;text&quot;}"/>
          <p:cNvSpPr txBox="1"/>
          <p:nvPr/>
        </p:nvSpPr>
        <p:spPr>
          <a:xfrm>
            <a:off x="4400550" y="5981700"/>
            <a:ext cx="3400425" cy="171450"/>
          </a:xfrm>
          <a:prstGeom prst="rect">
            <a:avLst/>
          </a:prstGeom>
        </p:spPr>
        <p:txBody>
          <a:bodyPr wrap="none" lIns="0" tIns="0" rIns="0" bIns="0"/>
          <a:lstStyle/>
          <a:p>
            <a:pPr>
              <a:lnSpc>
                <a:spcPct val="100000"/>
              </a:lnSpc>
            </a:pPr>
            <a:r>
              <a:rPr lang="zh-CN" sz="1125">
                <a:solidFill>
                  <a:srgbClr val="85B7EB"/>
                </a:solidFill>
                <a:latin typeface="Source Han Sans CN"/>
                <a:ea typeface="Source Han Sans CN"/>
              </a:rPr>
              <a:t>汇报人：</a:t>
            </a:r>
            <a:r>
              <a:rPr lang="en-US" sz="1125">
                <a:solidFill>
                  <a:srgbClr val="85B7EB"/>
                </a:solidFill>
                <a:latin typeface="Source Han Sans CN"/>
                <a:ea typeface="Source Han Sans CN"/>
              </a:rPr>
              <a:t>XXX</a:t>
            </a:r>
            <a:r>
              <a:rPr lang="zh-CN" sz="1125">
                <a:solidFill>
                  <a:srgbClr val="85B7EB"/>
                </a:solidFill>
                <a:latin typeface="Source Han Sans CN"/>
                <a:ea typeface="Source Han Sans CN"/>
              </a:rPr>
              <a:t>　·　指导教师：</a:t>
            </a:r>
            <a:r>
              <a:rPr lang="en-US" sz="1125">
                <a:solidFill>
                  <a:srgbClr val="85B7EB"/>
                </a:solidFill>
                <a:latin typeface="Source Han Sans CN"/>
                <a:ea typeface="Source Han Sans CN"/>
              </a:rPr>
              <a:t>XXX</a:t>
            </a:r>
            <a:r>
              <a:rPr lang="zh-CN" sz="1125">
                <a:solidFill>
                  <a:srgbClr val="85B7EB"/>
                </a:solidFill>
                <a:latin typeface="Source Han Sans CN"/>
                <a:ea typeface="Source Han Sans CN"/>
              </a:rPr>
              <a:t>　·　</a:t>
            </a:r>
            <a:r>
              <a:rPr lang="en-US" sz="1125">
                <a:solidFill>
                  <a:srgbClr val="85B7EB"/>
                </a:solidFill>
                <a:latin typeface="Source Han Sans CN"/>
                <a:ea typeface="Source Han Sans CN"/>
              </a:rPr>
              <a:t>2026 </a:t>
            </a:r>
            <a:r>
              <a:rPr lang="zh-CN" sz="1125">
                <a:solidFill>
                  <a:srgbClr val="85B7EB"/>
                </a:solidFill>
                <a:latin typeface="Source Han Sans CN"/>
                <a:ea typeface="Source Han Sans CN"/>
              </a:rPr>
              <a:t>年</a:t>
            </a:r>
            <a:r>
              <a:rPr lang="en-US" sz="1125">
                <a:solidFill>
                  <a:srgbClr val="85B7EB"/>
                </a:solidFill>
                <a:latin typeface="Source Han Sans CN"/>
                <a:ea typeface="Source Han Sans CN"/>
              </a:rPr>
              <a:t> 10 </a:t>
            </a:r>
            <a:r>
              <a:rPr lang="zh-CN" sz="1125">
                <a:solidFill>
                  <a:srgbClr val="85B7EB"/>
                </a:solidFill>
                <a:latin typeface="Source Han Sans CN"/>
                <a:ea typeface="Source Han Sans CN"/>
              </a:rPr>
              <a:t>月</a:t>
            </a:r>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3761</Words>
  <Application>Microsoft Office PowerPoint</Application>
  <PresentationFormat>宽屏</PresentationFormat>
  <Paragraphs>309</Paragraphs>
  <Slides>15</Slides>
  <Notes>1</Notes>
  <HiddenSlides>0</HiddenSlides>
  <MMClips>0</MMClips>
  <ScaleCrop>false</ScaleCrop>
  <HeadingPairs>
    <vt:vector size="6" baseType="variant">
      <vt:variant>
        <vt:lpstr>已用的字体</vt:lpstr>
      </vt:variant>
      <vt:variant>
        <vt:i4>3</vt:i4>
      </vt:variant>
      <vt:variant>
        <vt:lpstr>主题</vt:lpstr>
      </vt:variant>
      <vt:variant>
        <vt:i4>1</vt:i4>
      </vt:variant>
      <vt:variant>
        <vt:lpstr>幻灯片标题</vt:lpstr>
      </vt:variant>
      <vt:variant>
        <vt:i4>15</vt:i4>
      </vt:variant>
    </vt:vector>
  </HeadingPairs>
  <TitlesOfParts>
    <vt:vector size="19" baseType="lpstr">
      <vt:lpstr>Source Han Sans CN</vt:lpstr>
      <vt:lpstr>Microsoft YaHei</vt:lpstr>
      <vt:lpstr>Arial</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jiaqi zhang</cp:lastModifiedBy>
  <cp:revision>1</cp:revision>
  <dcterms:created xsi:type="dcterms:W3CDTF">2026-10-21T17:02:08Z</dcterms:created>
  <dcterms:modified xsi:type="dcterms:W3CDTF">2026-10-21T13:59:50Z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IGC">
    <vt:lpwstr>{"AIGC":{"Label":"1","ContentProducer":"00119111010856365494821B355","ProduceID":"01a159fa3706774ba65dc31d75223ae7","ReservedCode1":"","ContentPropagator":"00119111010856365494821B355","PropagateID":"01a159fa3706774ba65dc31d75223ae7","ReservedCode2":""}}</vt:lpwstr>
  </property>
</Properties>
</file>