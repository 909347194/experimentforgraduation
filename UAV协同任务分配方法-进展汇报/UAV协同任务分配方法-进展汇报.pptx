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58" r:id="rId4"/>
    <p:sldId id="259" r:id="rId5"/>
    <p:sldId id="260" r:id="rId6"/>
    <p:sldId id="272" r:id="rId23"/>
    <p:sldId id="261" r:id="rId7"/>
    <p:sldId id="262" r:id="rId8"/>
    <p:sldId id="271" r:id="rId22"/>
    <p:sldId id="264" r:id="rId10"/>
    <p:sldId id="263" r:id="rId9"/>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10.xml"/><Relationship Id="rId10" Type="http://schemas.openxmlformats.org/officeDocument/2006/relationships/slide" Target="slides/slide9.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8.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3552825"/>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分层求解框架的构建与求解方法</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问题 · 方法 · 机制</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围绕「动态任务池 × 多机巢 × 选择性执行」三个关键词，讲清问题特征、两阶段分层框架与两阶段机制设计——只讲方法本身。</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公式与表述均可回溯到论文方法章。</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　P3–P6</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　P7–P8</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 MUAS 与 DMDE　P9–P11</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广域巡检场景中，静态一次性规划无法应对持续到达的任务流。本章先刻画问题特征，再给出「快速任务选择缩空间</a:t>
            </a:r>
            <a:r>
              <a:rPr lang="en-US" sz="1200">
                <a:solidFill>
                  <a:srgbClr val="4A5568"/>
                </a:solidFill>
                <a:latin typeface="Source Han Sans CN"/>
                <a:ea typeface="Source Han Sans CN"/>
              </a:rPr>
              <a:t> + </a:t>
            </a:r>
            <a:r>
              <a:rPr lang="zh-CN" sz="1200">
                <a:solidFill>
                  <a:srgbClr val="4A5568"/>
                </a:solidFill>
                <a:latin typeface="Source Han Sans CN"/>
                <a:ea typeface="Source Han Sans CN"/>
              </a:rPr>
              <a:t>精细</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组合优化」的两阶段总体求解框架。</a:t>
            </a:r>
            <a:endParaRPr/>
          </a:p>
        </p:txBody>
      </p:sp>
      <p:sp>
        <p:nvSpPr>
          <p:cNvPr id="259" name="矩形: 圆角 293"/>
          <p:cNvSpPr/>
          <p:nvPr/>
        </p:nvSpPr>
        <p:spPr>
          <a:xfrm>
            <a:off x="762000" y="5200650"/>
            <a:ext cx="1152525"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84772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P4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28825" y="5200650"/>
            <a:ext cx="1419225"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181225" y="5267325"/>
            <a:ext cx="111442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P5–P6 · 框架与滚动闭环</a:t>
            </a:r>
            <a:r>
              <a:rPr lang="zh-CN" sz="1050" b="1">
                <a:solidFill>
                  <a:srgbClr val="FFFFFF"/>
                </a:solidFill>
                <a:latin typeface="Source Han Sans CN"/>
                <a:ea typeface="Source Han Sans CN"/>
              </a:rPr>
              <a:t/>
            </a:r>
            <a:endParaRPr/>
          </a:p>
        </p:txBody>
      </p:sp>
      <p:sp>
        <p:nvSpPr>
          <p:cNvPr id="263" name="矩形: 圆角 297"/>
          <p:cNvSpPr/>
          <p:nvPr/>
        </p:nvSpPr>
        <p:spPr>
          <a:xfrm>
            <a:off x="76200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9144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135255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15049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194310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20955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71" name="文本框 305" descr="{&quot;isTemplate&quot;:true,&quot;type&quot;:&quot;text&quot;}"/>
          <p:cNvSpPr txBox="1"/>
          <p:nvPr/>
        </p:nvSpPr>
        <p:spPr>
          <a:xfrm>
            <a:off x="3200400" y="5915025"/>
            <a:ext cx="196215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03 / 12</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36576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广域巡检场景下的五大挑战</a:t>
            </a:r>
            <a:endParaRPr/>
          </a:p>
        </p:txBody>
      </p:sp>
      <p:sp>
        <p:nvSpPr>
          <p:cNvPr id="281" name="文本框 315" descr="{&quot;isTemplate&quot;:true,&quot;type&quot;:&quot;text&quot;}"/>
          <p:cNvSpPr txBox="1"/>
          <p:nvPr/>
        </p:nvSpPr>
        <p:spPr>
          <a:xfrm>
            <a:off x="571500" y="742950"/>
            <a:ext cx="38862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静态一次性规划失效——分配决策必须在滚动周期内反复重做</a:t>
            </a:r>
            <a:endParaRPr/>
          </a:p>
        </p:txBody>
      </p:sp>
      <p:sp>
        <p:nvSpPr>
          <p:cNvPr id="282" name="矩形: 圆角 316"/>
          <p:cNvSpPr/>
          <p:nvPr/>
        </p:nvSpPr>
        <p:spPr>
          <a:xfrm>
            <a:off x="381000" y="1104900"/>
            <a:ext cx="6286500" cy="3457575"/>
          </a:xfrm>
          <a:prstGeom prst="roundRect">
            <a:avLst>
              <a:gd name="adj" fmla="val 2755"/>
            </a:avLst>
          </a:prstGeom>
          <a:solidFill>
            <a:srgbClr val="FFFFFF"/>
          </a:solidFill>
          <a:ln w="12700">
            <a:solidFill>
              <a:srgbClr val="D6DCE5"/>
            </a:solidFill>
            <a:prstDash val="solid"/>
          </a:ln>
        </p:spPr>
        <p:txBody>
          <a:bodyPr/>
          <a:lstStyle/>
          <a:p>
            <a:endParaRPr/>
          </a:p>
        </p:txBody>
      </p:sp>
      <p:sp>
        <p:nvSpPr>
          <p:cNvPr id="284" name="文本框 318" descr="{&quot;isTemplate&quot;:true,&quot;type&quot;:&quot;text&quot;}"/>
          <p:cNvSpPr txBox="1"/>
          <p:nvPr/>
        </p:nvSpPr>
        <p:spPr>
          <a:xfrm>
            <a:off x="381000" y="467677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左图为任务池状态演化的示意（任务 × 周期状态矩阵）：任务陆续到达（灰）→ 池内待处理（橙）→ 被选择执行并完成（绿）。任务流持续到来、部分任务滞留数个周期，正是右侧五类挑战共同作用的直观体现。</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285" name="矩形: 圆角 319"/>
          <p:cNvSpPr/>
          <p:nvPr/>
        </p:nvSpPr>
        <p:spPr>
          <a:xfrm>
            <a:off x="6972300" y="1104900"/>
            <a:ext cx="4876800" cy="981075"/>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90750"/>
            <a:ext cx="4876800" cy="981075"/>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90750"/>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305050"/>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526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3050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527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286125"/>
            <a:ext cx="4876800" cy="981075"/>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286125"/>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400425"/>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448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400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648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371975"/>
            <a:ext cx="4876800" cy="981075"/>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371975"/>
            <a:ext cx="4876800" cy="981075"/>
          </a:xfrm>
          <a:custGeom>
            <a:avLst/>
            <a:gdLst/>
            <a:ahLst/>
            <a:cxnLst/>
            <a:rect l="0" t="0" r="0" b="0"/>
            <a:pathLst>
              <a:path w="512" h="103">
                <a:moveTo>
                  <a:pt x="8" y="0"/>
                </a:moveTo>
                <a:cubicBezTo>
                  <a:pt x="6" y="0"/>
                  <a:pt x="4" y="2"/>
                  <a:pt x="4" y="4"/>
                </a:cubicBezTo>
                <a:lnTo>
                  <a:pt x="4" y="99"/>
                </a:lnTo>
                <a:cubicBezTo>
                  <a:pt x="4" y="101"/>
                  <a:pt x="5" y="103"/>
                  <a:pt x="7" y="103"/>
                </a:cubicBezTo>
                <a:cubicBezTo>
                  <a:pt x="3" y="103"/>
                  <a:pt x="0" y="99"/>
                  <a:pt x="0" y="95"/>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4862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5339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4862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7339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任务数远超单周期能力承载，既不能全量求解，也不能非物理地拒绝任务</a:t>
            </a:r>
            <a:endParaRPr/>
          </a:p>
        </p:txBody>
      </p:sp>
      <p:sp>
        <p:nvSpPr>
          <p:cNvPr id="309" name="矩形: 圆角 343"/>
          <p:cNvSpPr/>
          <p:nvPr/>
        </p:nvSpPr>
        <p:spPr>
          <a:xfrm>
            <a:off x="6972300" y="5457825"/>
            <a:ext cx="4876800" cy="733425"/>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457825"/>
            <a:ext cx="4876800" cy="733425"/>
          </a:xfrm>
          <a:custGeom>
            <a:avLst/>
            <a:gdLst/>
            <a:ahLst/>
            <a:cxnLst/>
            <a:rect l="0" t="0" r="0" b="0"/>
            <a:pathLst>
              <a:path w="512" h="77">
                <a:moveTo>
                  <a:pt x="8" y="0"/>
                </a:moveTo>
                <a:cubicBezTo>
                  <a:pt x="6" y="0"/>
                  <a:pt x="4" y="2"/>
                  <a:pt x="4" y="4"/>
                </a:cubicBezTo>
                <a:lnTo>
                  <a:pt x="4" y="73"/>
                </a:lnTo>
                <a:cubicBezTo>
                  <a:pt x="4" y="75"/>
                  <a:pt x="5" y="77"/>
                  <a:pt x="7" y="77"/>
                </a:cubicBezTo>
                <a:cubicBezTo>
                  <a:pt x="3" y="77"/>
                  <a:pt x="0" y="73"/>
                  <a:pt x="0" y="69"/>
                </a:cubicBezTo>
                <a:lnTo>
                  <a:pt x="0" y="8"/>
                </a:lnTo>
                <a:cubicBezTo>
                  <a:pt x="0" y="4"/>
                  <a:pt x="3" y="0"/>
                  <a:pt x="8" y="0"/>
                </a:cubicBezTo>
                <a:close/>
              </a:path>
            </a:pathLst>
          </a:custGeom>
          <a:solidFill>
            <a:srgbClr val="1E4FA8"/>
          </a:solidFill>
          <a:ln/>
        </p:spPr>
        <p:txBody>
          <a:bodyPr/>
          <a:lstStyle/>
          <a:p>
            <a:endParaRPr/>
          </a:p>
        </p:txBody>
      </p:sp>
      <p:sp>
        <p:nvSpPr>
          <p:cNvPr id="311" name="矩形: 圆角 345"/>
          <p:cNvSpPr/>
          <p:nvPr/>
        </p:nvSpPr>
        <p:spPr>
          <a:xfrm>
            <a:off x="7124700" y="5572125"/>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6197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5721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任务价值与空间执行代价并存</a:t>
            </a:r>
            <a:endParaRPr/>
          </a:p>
        </p:txBody>
      </p:sp>
      <p:sp>
        <p:nvSpPr>
          <p:cNvPr id="314" name="文本框 348" descr="{&quot;isTemplate&quot;:true,&quot;type&quot;:&quot;text&quot;}"/>
          <p:cNvSpPr txBox="1"/>
          <p:nvPr/>
        </p:nvSpPr>
        <p:spPr>
          <a:xfrm>
            <a:off x="7543800" y="5819775"/>
            <a:ext cx="4114800" cy="257175"/>
          </a:xfrm>
          <a:prstGeom prst="rect">
            <a:avLst/>
          </a:prstGeom>
        </p:spPr>
        <p:txBody>
          <a:bodyPr wrap="none" lIns="0" tIns="0" rIns="0" bIns="0"/>
          <a:lstStyle/>
          <a:p>
            <a:pPr>
              <a:lnSpc>
                <a:spcPct val="155000"/>
              </a:lnSpc>
            </a:pPr>
            <a:r>
              <a:rPr lang="zh-CN" sz="1050">
                <a:solidFill>
                  <a:srgbClr val="4A5568"/>
                </a:solidFill>
                <a:latin typeface="Source Han Sans CN"/>
                <a:ea typeface="Source Han Sans CN"/>
              </a:rPr>
              <a:t>高价值任务可能伴随高三维航程代价，收益与代价必须放在一起权衡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04 / 12</a:t>
            </a:r>
            <a:endParaRPr/>
          </a:p>
        </p:txBody>
      </p:sp>
      <p:sp>
        <p:nvSpPr>
          <p:cNvPr id="319" name="TextBox 318"/>
          <p:cNvSpPr txBox="1"/>
          <p:nvPr/>
        </p:nvSpPr>
        <p:spPr>
          <a:xfrm>
            <a:off x="508000" y="1219200"/>
            <a:ext cx="3810000" cy="177800"/>
          </a:xfrm>
          <a:prstGeom prst="rect">
            <a:avLst/>
          </a:prstGeom>
          <a:noFill/>
        </p:spPr>
        <p:txBody>
          <a:bodyPr wrap="none" lIns="0" rIns="0" tIns="0" bIns="0">
            <a:spAutoFit/>
          </a:bodyPr>
          <a:lstStyle/>
          <a:p>
            <a:pPr algn="l"/>
            <a:r>
              <a:rPr sz="950" b="1">
                <a:solidFill>
                  <a:srgbClr val="0E3F8C"/>
                </a:solidFill>
                <a:latin typeface="Microsoft YaHei"/>
              </a:rPr>
              <a:t>任务池状态演化示意（任务 × 周期状态矩阵）</a:t>
            </a:r>
          </a:p>
        </p:txBody>
      </p:sp>
      <p:sp>
        <p:nvSpPr>
          <p:cNvPr id="320" name="TextBox 319"/>
          <p:cNvSpPr txBox="1"/>
          <p:nvPr/>
        </p:nvSpPr>
        <p:spPr>
          <a:xfrm>
            <a:off x="838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1</a:t>
            </a:r>
          </a:p>
        </p:txBody>
      </p:sp>
      <p:sp>
        <p:nvSpPr>
          <p:cNvPr id="321" name="TextBox 320"/>
          <p:cNvSpPr txBox="1"/>
          <p:nvPr/>
        </p:nvSpPr>
        <p:spPr>
          <a:xfrm>
            <a:off x="1346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2</a:t>
            </a:r>
          </a:p>
        </p:txBody>
      </p:sp>
      <p:sp>
        <p:nvSpPr>
          <p:cNvPr id="322" name="TextBox 321"/>
          <p:cNvSpPr txBox="1"/>
          <p:nvPr/>
        </p:nvSpPr>
        <p:spPr>
          <a:xfrm>
            <a:off x="1854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3</a:t>
            </a:r>
          </a:p>
        </p:txBody>
      </p:sp>
      <p:sp>
        <p:nvSpPr>
          <p:cNvPr id="323" name="TextBox 322"/>
          <p:cNvSpPr txBox="1"/>
          <p:nvPr/>
        </p:nvSpPr>
        <p:spPr>
          <a:xfrm>
            <a:off x="2362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4</a:t>
            </a:r>
          </a:p>
        </p:txBody>
      </p:sp>
      <p:sp>
        <p:nvSpPr>
          <p:cNvPr id="324" name="TextBox 323"/>
          <p:cNvSpPr txBox="1"/>
          <p:nvPr/>
        </p:nvSpPr>
        <p:spPr>
          <a:xfrm>
            <a:off x="2870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5</a:t>
            </a:r>
          </a:p>
        </p:txBody>
      </p:sp>
      <p:sp>
        <p:nvSpPr>
          <p:cNvPr id="325" name="TextBox 324"/>
          <p:cNvSpPr txBox="1"/>
          <p:nvPr/>
        </p:nvSpPr>
        <p:spPr>
          <a:xfrm>
            <a:off x="3378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6</a:t>
            </a:r>
          </a:p>
        </p:txBody>
      </p:sp>
      <p:sp>
        <p:nvSpPr>
          <p:cNvPr id="326" name="TextBox 325"/>
          <p:cNvSpPr txBox="1"/>
          <p:nvPr/>
        </p:nvSpPr>
        <p:spPr>
          <a:xfrm>
            <a:off x="3886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7</a:t>
            </a:r>
          </a:p>
        </p:txBody>
      </p:sp>
      <p:sp>
        <p:nvSpPr>
          <p:cNvPr id="327" name="TextBox 326"/>
          <p:cNvSpPr txBox="1"/>
          <p:nvPr/>
        </p:nvSpPr>
        <p:spPr>
          <a:xfrm>
            <a:off x="4394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8</a:t>
            </a:r>
          </a:p>
        </p:txBody>
      </p:sp>
      <p:sp>
        <p:nvSpPr>
          <p:cNvPr id="328" name="TextBox 327"/>
          <p:cNvSpPr txBox="1"/>
          <p:nvPr/>
        </p:nvSpPr>
        <p:spPr>
          <a:xfrm>
            <a:off x="4902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9</a:t>
            </a:r>
          </a:p>
        </p:txBody>
      </p:sp>
      <p:sp>
        <p:nvSpPr>
          <p:cNvPr id="329" name="TextBox 328"/>
          <p:cNvSpPr txBox="1"/>
          <p:nvPr/>
        </p:nvSpPr>
        <p:spPr>
          <a:xfrm>
            <a:off x="5410200" y="1473200"/>
            <a:ext cx="508000" cy="139700"/>
          </a:xfrm>
          <a:prstGeom prst="rect">
            <a:avLst/>
          </a:prstGeom>
          <a:noFill/>
        </p:spPr>
        <p:txBody>
          <a:bodyPr wrap="none" lIns="0" rIns="0" tIns="0" bIns="0">
            <a:spAutoFit/>
          </a:bodyPr>
          <a:lstStyle/>
          <a:p>
            <a:pPr algn="ctr"/>
            <a:r>
              <a:rPr sz="750" b="0">
                <a:solidFill>
                  <a:srgbClr val="4A5568"/>
                </a:solidFill>
                <a:latin typeface="Microsoft YaHei"/>
              </a:rPr>
              <a:t>10</a:t>
            </a:r>
          </a:p>
        </p:txBody>
      </p:sp>
      <p:sp>
        <p:nvSpPr>
          <p:cNvPr id="330" name="TextBox 329"/>
          <p:cNvSpPr txBox="1"/>
          <p:nvPr/>
        </p:nvSpPr>
        <p:spPr>
          <a:xfrm>
            <a:off x="508000" y="1701800"/>
            <a:ext cx="279400" cy="139700"/>
          </a:xfrm>
          <a:prstGeom prst="rect">
            <a:avLst/>
          </a:prstGeom>
          <a:noFill/>
        </p:spPr>
        <p:txBody>
          <a:bodyPr wrap="none" lIns="0" rIns="0" tIns="0" bIns="0">
            <a:spAutoFit/>
          </a:bodyPr>
          <a:lstStyle/>
          <a:p>
            <a:pPr algn="r"/>
            <a:r>
              <a:rPr sz="750" b="0">
                <a:solidFill>
                  <a:srgbClr val="4A5568"/>
                </a:solidFill>
                <a:latin typeface="Microsoft YaHei"/>
              </a:rPr>
              <a:t>T1</a:t>
            </a:r>
          </a:p>
        </p:txBody>
      </p:sp>
      <p:sp>
        <p:nvSpPr>
          <p:cNvPr id="331" name="Rectangle 330"/>
          <p:cNvSpPr/>
          <p:nvPr/>
        </p:nvSpPr>
        <p:spPr>
          <a:xfrm>
            <a:off x="838200" y="16383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346200" y="16383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854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2362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2870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3378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3886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4394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4902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5410200" y="16383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508000" y="1968500"/>
            <a:ext cx="279400" cy="139700"/>
          </a:xfrm>
          <a:prstGeom prst="rect">
            <a:avLst/>
          </a:prstGeom>
          <a:noFill/>
        </p:spPr>
        <p:txBody>
          <a:bodyPr wrap="none" lIns="0" rIns="0" tIns="0" bIns="0">
            <a:spAutoFit/>
          </a:bodyPr>
          <a:lstStyle/>
          <a:p>
            <a:pPr algn="r"/>
            <a:r>
              <a:rPr sz="750" b="0">
                <a:solidFill>
                  <a:srgbClr val="4A5568"/>
                </a:solidFill>
                <a:latin typeface="Microsoft YaHei"/>
              </a:rPr>
              <a:t>T2</a:t>
            </a:r>
          </a:p>
        </p:txBody>
      </p:sp>
      <p:sp>
        <p:nvSpPr>
          <p:cNvPr id="342" name="Rectangle 341"/>
          <p:cNvSpPr/>
          <p:nvPr/>
        </p:nvSpPr>
        <p:spPr>
          <a:xfrm>
            <a:off x="838200" y="19050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46200" y="19050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854200" y="19050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2362200" y="19050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2870200" y="19050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3378200" y="19050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3886200" y="19050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4394200" y="19050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4902200" y="19050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5410200" y="19050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508000" y="2235200"/>
            <a:ext cx="279400" cy="139700"/>
          </a:xfrm>
          <a:prstGeom prst="rect">
            <a:avLst/>
          </a:prstGeom>
          <a:noFill/>
        </p:spPr>
        <p:txBody>
          <a:bodyPr wrap="none" lIns="0" rIns="0" tIns="0" bIns="0">
            <a:spAutoFit/>
          </a:bodyPr>
          <a:lstStyle/>
          <a:p>
            <a:pPr algn="r"/>
            <a:r>
              <a:rPr sz="750" b="0">
                <a:solidFill>
                  <a:srgbClr val="4A5568"/>
                </a:solidFill>
                <a:latin typeface="Microsoft YaHei"/>
              </a:rPr>
              <a:t>T3</a:t>
            </a:r>
          </a:p>
        </p:txBody>
      </p:sp>
      <p:sp>
        <p:nvSpPr>
          <p:cNvPr id="353" name="Rectangle 352"/>
          <p:cNvSpPr/>
          <p:nvPr/>
        </p:nvSpPr>
        <p:spPr>
          <a:xfrm>
            <a:off x="838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346200" y="21717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854200" y="21717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2362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2870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3378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3886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4394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4902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5410200" y="21717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508000" y="2501900"/>
            <a:ext cx="279400" cy="139700"/>
          </a:xfrm>
          <a:prstGeom prst="rect">
            <a:avLst/>
          </a:prstGeom>
          <a:noFill/>
        </p:spPr>
        <p:txBody>
          <a:bodyPr wrap="none" lIns="0" rIns="0" tIns="0" bIns="0">
            <a:spAutoFit/>
          </a:bodyPr>
          <a:lstStyle/>
          <a:p>
            <a:pPr algn="r"/>
            <a:r>
              <a:rPr sz="750" b="0">
                <a:solidFill>
                  <a:srgbClr val="4A5568"/>
                </a:solidFill>
                <a:latin typeface="Microsoft YaHei"/>
              </a:rPr>
              <a:t>T4</a:t>
            </a:r>
          </a:p>
        </p:txBody>
      </p:sp>
      <p:sp>
        <p:nvSpPr>
          <p:cNvPr id="364" name="Rectangle 363"/>
          <p:cNvSpPr/>
          <p:nvPr/>
        </p:nvSpPr>
        <p:spPr>
          <a:xfrm>
            <a:off x="838200" y="24384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1346200" y="24384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1854200" y="24384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362200" y="24384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870200" y="24384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3378200" y="24384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3886200" y="24384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4394200" y="24384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902200" y="24384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5410200" y="24384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508000" y="2768600"/>
            <a:ext cx="279400" cy="139700"/>
          </a:xfrm>
          <a:prstGeom prst="rect">
            <a:avLst/>
          </a:prstGeom>
          <a:noFill/>
        </p:spPr>
        <p:txBody>
          <a:bodyPr wrap="none" lIns="0" rIns="0" tIns="0" bIns="0">
            <a:spAutoFit/>
          </a:bodyPr>
          <a:lstStyle/>
          <a:p>
            <a:pPr algn="r"/>
            <a:r>
              <a:rPr sz="750" b="0">
                <a:solidFill>
                  <a:srgbClr val="4A5568"/>
                </a:solidFill>
                <a:latin typeface="Microsoft YaHei"/>
              </a:rPr>
              <a:t>T5</a:t>
            </a:r>
          </a:p>
        </p:txBody>
      </p:sp>
      <p:sp>
        <p:nvSpPr>
          <p:cNvPr id="375" name="Rectangle 374"/>
          <p:cNvSpPr/>
          <p:nvPr/>
        </p:nvSpPr>
        <p:spPr>
          <a:xfrm>
            <a:off x="838200" y="27051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1346200" y="27051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1854200" y="27051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362200" y="27051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870200" y="27051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3378200" y="27051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3886200" y="27051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4394200" y="27051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4902200" y="27051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5410200" y="27051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508000" y="3035300"/>
            <a:ext cx="279400" cy="139700"/>
          </a:xfrm>
          <a:prstGeom prst="rect">
            <a:avLst/>
          </a:prstGeom>
          <a:noFill/>
        </p:spPr>
        <p:txBody>
          <a:bodyPr wrap="none" lIns="0" rIns="0" tIns="0" bIns="0">
            <a:spAutoFit/>
          </a:bodyPr>
          <a:lstStyle/>
          <a:p>
            <a:pPr algn="r"/>
            <a:r>
              <a:rPr sz="750" b="0">
                <a:solidFill>
                  <a:srgbClr val="4A5568"/>
                </a:solidFill>
                <a:latin typeface="Microsoft YaHei"/>
              </a:rPr>
              <a:t>T6</a:t>
            </a:r>
          </a:p>
        </p:txBody>
      </p:sp>
      <p:sp>
        <p:nvSpPr>
          <p:cNvPr id="386" name="Rectangle 385"/>
          <p:cNvSpPr/>
          <p:nvPr/>
        </p:nvSpPr>
        <p:spPr>
          <a:xfrm>
            <a:off x="838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346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1854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Rectangle 388"/>
          <p:cNvSpPr/>
          <p:nvPr/>
        </p:nvSpPr>
        <p:spPr>
          <a:xfrm>
            <a:off x="2362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Rectangle 389"/>
          <p:cNvSpPr/>
          <p:nvPr/>
        </p:nvSpPr>
        <p:spPr>
          <a:xfrm>
            <a:off x="2870200" y="29718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Rectangle 390"/>
          <p:cNvSpPr/>
          <p:nvPr/>
        </p:nvSpPr>
        <p:spPr>
          <a:xfrm>
            <a:off x="3378200" y="29718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3886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Rectangle 392"/>
          <p:cNvSpPr/>
          <p:nvPr/>
        </p:nvSpPr>
        <p:spPr>
          <a:xfrm>
            <a:off x="4394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Rectangle 393"/>
          <p:cNvSpPr/>
          <p:nvPr/>
        </p:nvSpPr>
        <p:spPr>
          <a:xfrm>
            <a:off x="4902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Rectangle 394"/>
          <p:cNvSpPr/>
          <p:nvPr/>
        </p:nvSpPr>
        <p:spPr>
          <a:xfrm>
            <a:off x="5410200" y="29718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508000" y="3302000"/>
            <a:ext cx="279400" cy="139700"/>
          </a:xfrm>
          <a:prstGeom prst="rect">
            <a:avLst/>
          </a:prstGeom>
          <a:noFill/>
        </p:spPr>
        <p:txBody>
          <a:bodyPr wrap="none" lIns="0" rIns="0" tIns="0" bIns="0">
            <a:spAutoFit/>
          </a:bodyPr>
          <a:lstStyle/>
          <a:p>
            <a:pPr algn="r"/>
            <a:r>
              <a:rPr sz="750" b="0">
                <a:solidFill>
                  <a:srgbClr val="4A5568"/>
                </a:solidFill>
                <a:latin typeface="Microsoft YaHei"/>
              </a:rPr>
              <a:t>T7</a:t>
            </a:r>
          </a:p>
        </p:txBody>
      </p:sp>
      <p:sp>
        <p:nvSpPr>
          <p:cNvPr id="397" name="Rectangle 396"/>
          <p:cNvSpPr/>
          <p:nvPr/>
        </p:nvSpPr>
        <p:spPr>
          <a:xfrm>
            <a:off x="838200" y="32385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Rectangle 397"/>
          <p:cNvSpPr/>
          <p:nvPr/>
        </p:nvSpPr>
        <p:spPr>
          <a:xfrm>
            <a:off x="1346200" y="32385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Rectangle 398"/>
          <p:cNvSpPr/>
          <p:nvPr/>
        </p:nvSpPr>
        <p:spPr>
          <a:xfrm>
            <a:off x="1854200" y="32385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Rectangle 399"/>
          <p:cNvSpPr/>
          <p:nvPr/>
        </p:nvSpPr>
        <p:spPr>
          <a:xfrm>
            <a:off x="2362200" y="32385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Rectangle 400"/>
          <p:cNvSpPr/>
          <p:nvPr/>
        </p:nvSpPr>
        <p:spPr>
          <a:xfrm>
            <a:off x="2870200" y="32385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3378200" y="32385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3886200" y="32385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Rectangle 403"/>
          <p:cNvSpPr/>
          <p:nvPr/>
        </p:nvSpPr>
        <p:spPr>
          <a:xfrm>
            <a:off x="4394200" y="32385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Rectangle 404"/>
          <p:cNvSpPr/>
          <p:nvPr/>
        </p:nvSpPr>
        <p:spPr>
          <a:xfrm>
            <a:off x="4902200" y="32385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Rectangle 405"/>
          <p:cNvSpPr/>
          <p:nvPr/>
        </p:nvSpPr>
        <p:spPr>
          <a:xfrm>
            <a:off x="5410200" y="32385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508000" y="3568700"/>
            <a:ext cx="279400" cy="139700"/>
          </a:xfrm>
          <a:prstGeom prst="rect">
            <a:avLst/>
          </a:prstGeom>
          <a:noFill/>
        </p:spPr>
        <p:txBody>
          <a:bodyPr wrap="none" lIns="0" rIns="0" tIns="0" bIns="0">
            <a:spAutoFit/>
          </a:bodyPr>
          <a:lstStyle/>
          <a:p>
            <a:pPr algn="r"/>
            <a:r>
              <a:rPr sz="750" b="0">
                <a:solidFill>
                  <a:srgbClr val="4A5568"/>
                </a:solidFill>
                <a:latin typeface="Microsoft YaHei"/>
              </a:rPr>
              <a:t>T8</a:t>
            </a:r>
          </a:p>
        </p:txBody>
      </p:sp>
      <p:sp>
        <p:nvSpPr>
          <p:cNvPr id="408" name="Rectangle 407"/>
          <p:cNvSpPr/>
          <p:nvPr/>
        </p:nvSpPr>
        <p:spPr>
          <a:xfrm>
            <a:off x="838200" y="35052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Rectangle 408"/>
          <p:cNvSpPr/>
          <p:nvPr/>
        </p:nvSpPr>
        <p:spPr>
          <a:xfrm>
            <a:off x="1346200" y="35052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Rectangle 409"/>
          <p:cNvSpPr/>
          <p:nvPr/>
        </p:nvSpPr>
        <p:spPr>
          <a:xfrm>
            <a:off x="1854200" y="35052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Rectangle 410"/>
          <p:cNvSpPr/>
          <p:nvPr/>
        </p:nvSpPr>
        <p:spPr>
          <a:xfrm>
            <a:off x="2362200" y="35052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2870200" y="35052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3378200" y="35052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Rectangle 413"/>
          <p:cNvSpPr/>
          <p:nvPr/>
        </p:nvSpPr>
        <p:spPr>
          <a:xfrm>
            <a:off x="3886200" y="3505200"/>
            <a:ext cx="508000" cy="266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Rectangle 414"/>
          <p:cNvSpPr/>
          <p:nvPr/>
        </p:nvSpPr>
        <p:spPr>
          <a:xfrm>
            <a:off x="4394200" y="3505200"/>
            <a:ext cx="508000" cy="266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Rectangle 415"/>
          <p:cNvSpPr/>
          <p:nvPr/>
        </p:nvSpPr>
        <p:spPr>
          <a:xfrm>
            <a:off x="4902200" y="3505200"/>
            <a:ext cx="508000" cy="266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Rectangle 416"/>
          <p:cNvSpPr/>
          <p:nvPr/>
        </p:nvSpPr>
        <p:spPr>
          <a:xfrm>
            <a:off x="5410200" y="3505200"/>
            <a:ext cx="508000" cy="26670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2743200" y="3822700"/>
            <a:ext cx="1524000" cy="139700"/>
          </a:xfrm>
          <a:prstGeom prst="rect">
            <a:avLst/>
          </a:prstGeom>
          <a:noFill/>
        </p:spPr>
        <p:txBody>
          <a:bodyPr wrap="none" lIns="0" rIns="0" tIns="0" bIns="0">
            <a:spAutoFit/>
          </a:bodyPr>
          <a:lstStyle/>
          <a:p>
            <a:pPr algn="ctr"/>
            <a:r>
              <a:rPr sz="750" b="0">
                <a:solidFill>
                  <a:srgbClr val="4A5568"/>
                </a:solidFill>
                <a:latin typeface="Microsoft YaHei"/>
              </a:rPr>
              <a:t>滚动周期</a:t>
            </a:r>
          </a:p>
        </p:txBody>
      </p:sp>
      <p:sp>
        <p:nvSpPr>
          <p:cNvPr id="419" name="TextBox 418"/>
          <p:cNvSpPr txBox="1"/>
          <p:nvPr/>
        </p:nvSpPr>
        <p:spPr>
          <a:xfrm>
            <a:off x="508000" y="1473200"/>
            <a:ext cx="279400" cy="139700"/>
          </a:xfrm>
          <a:prstGeom prst="rect">
            <a:avLst/>
          </a:prstGeom>
          <a:noFill/>
        </p:spPr>
        <p:txBody>
          <a:bodyPr wrap="none" lIns="0" rIns="0" tIns="0" bIns="0">
            <a:spAutoFit/>
          </a:bodyPr>
          <a:lstStyle/>
          <a:p>
            <a:pPr algn="r"/>
            <a:r>
              <a:rPr sz="750" b="0">
                <a:solidFill>
                  <a:srgbClr val="4A5568"/>
                </a:solidFill>
                <a:latin typeface="Microsoft YaHei"/>
              </a:rPr>
              <a:t>任务</a:t>
            </a:r>
          </a:p>
        </p:txBody>
      </p:sp>
      <p:sp>
        <p:nvSpPr>
          <p:cNvPr id="420" name="Rectangle 419"/>
          <p:cNvSpPr/>
          <p:nvPr/>
        </p:nvSpPr>
        <p:spPr>
          <a:xfrm>
            <a:off x="1092200" y="4025900"/>
            <a:ext cx="139700" cy="139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TextBox 420"/>
          <p:cNvSpPr txBox="1"/>
          <p:nvPr/>
        </p:nvSpPr>
        <p:spPr>
          <a:xfrm>
            <a:off x="1282700" y="4038600"/>
            <a:ext cx="1397000" cy="139700"/>
          </a:xfrm>
          <a:prstGeom prst="rect">
            <a:avLst/>
          </a:prstGeom>
          <a:noFill/>
        </p:spPr>
        <p:txBody>
          <a:bodyPr wrap="none" lIns="0" rIns="0" tIns="0" bIns="0">
            <a:spAutoFit/>
          </a:bodyPr>
          <a:lstStyle/>
          <a:p>
            <a:pPr algn="l"/>
            <a:r>
              <a:rPr sz="750" b="0">
                <a:solidFill>
                  <a:srgbClr val="4A5568"/>
                </a:solidFill>
                <a:latin typeface="Microsoft YaHei"/>
              </a:rPr>
              <a:t>任务到达</a:t>
            </a:r>
          </a:p>
        </p:txBody>
      </p:sp>
      <p:sp>
        <p:nvSpPr>
          <p:cNvPr id="422" name="Rectangle 421"/>
          <p:cNvSpPr/>
          <p:nvPr/>
        </p:nvSpPr>
        <p:spPr>
          <a:xfrm>
            <a:off x="2743200" y="4025900"/>
            <a:ext cx="139700" cy="139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2933700" y="4038600"/>
            <a:ext cx="1397000" cy="139700"/>
          </a:xfrm>
          <a:prstGeom prst="rect">
            <a:avLst/>
          </a:prstGeom>
          <a:noFill/>
        </p:spPr>
        <p:txBody>
          <a:bodyPr wrap="none" lIns="0" rIns="0" tIns="0" bIns="0">
            <a:spAutoFit/>
          </a:bodyPr>
          <a:lstStyle/>
          <a:p>
            <a:pPr algn="l"/>
            <a:r>
              <a:rPr sz="750" b="0">
                <a:solidFill>
                  <a:srgbClr val="4A5568"/>
                </a:solidFill>
                <a:latin typeface="Microsoft YaHei"/>
              </a:rPr>
              <a:t>池内待处理</a:t>
            </a:r>
          </a:p>
        </p:txBody>
      </p:sp>
      <p:sp>
        <p:nvSpPr>
          <p:cNvPr id="424" name="Rectangle 423"/>
          <p:cNvSpPr/>
          <p:nvPr/>
        </p:nvSpPr>
        <p:spPr>
          <a:xfrm>
            <a:off x="4394200" y="4025900"/>
            <a:ext cx="139700" cy="139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TextBox 424"/>
          <p:cNvSpPr txBox="1"/>
          <p:nvPr/>
        </p:nvSpPr>
        <p:spPr>
          <a:xfrm>
            <a:off x="4584700" y="4038600"/>
            <a:ext cx="1397000" cy="139700"/>
          </a:xfrm>
          <a:prstGeom prst="rect">
            <a:avLst/>
          </a:prstGeom>
          <a:noFill/>
        </p:spPr>
        <p:txBody>
          <a:bodyPr wrap="none" lIns="0" rIns="0" tIns="0" bIns="0">
            <a:spAutoFit/>
          </a:bodyPr>
          <a:lstStyle/>
          <a:p>
            <a:pPr algn="l"/>
            <a:r>
              <a:rPr sz="750" b="0">
                <a:solidFill>
                  <a:srgbClr val="4A5568"/>
                </a:solidFill>
                <a:latin typeface="Microsoft YaHei"/>
              </a:rPr>
              <a:t>被选择执行并完成</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核心主张：快速任务选择缩空间</a:t>
            </a:r>
            <a:r>
              <a:rPr lang="en-US" sz="1200" b="1">
                <a:solidFill>
                  <a:srgbClr val="FFFFFF"/>
                </a:solidFill>
                <a:latin typeface="Source Han Sans CN"/>
                <a:ea typeface="Source Han Sans CN"/>
              </a:rPr>
              <a:t> + </a:t>
            </a:r>
            <a:r>
              <a:rPr lang="zh-CN" sz="1200" b="1">
                <a:solidFill>
                  <a:srgbClr val="FFFFFF"/>
                </a:solidFill>
                <a:latin typeface="Source Han Sans CN"/>
                <a:ea typeface="Source Han Sans CN"/>
              </a:rPr>
              <a:t>精细</a:t>
            </a:r>
            <a:r>
              <a:rPr lang="en-US" sz="1200" b="1">
                <a:solidFill>
                  <a:srgbClr val="FFFFFF"/>
                </a:solidFill>
                <a:latin typeface="Source Han Sans CN"/>
                <a:ea typeface="Source Han Sans CN"/>
              </a:rPr>
              <a:t> MUAS </a:t>
            </a:r>
            <a:r>
              <a:rPr lang="zh-CN" sz="1200" b="1">
                <a:solidFill>
                  <a:srgbClr val="FFFFFF"/>
                </a:solidFill>
                <a:latin typeface="Source Han Sans CN"/>
                <a:ea typeface="Source Han Sans CN"/>
              </a:rPr>
              <a:t>组合优化</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a:t>
            </a:r>
            <a:r>
              <a:rPr lang="en-US" sz="1050">
                <a:solidFill>
                  <a:srgbClr val="4A5568"/>
                </a:solidFill>
                <a:latin typeface="Source Han Sans CN"/>
                <a:ea typeface="Source Han Sans CN"/>
              </a:rPr>
              <a:t> y × </a:t>
            </a:r>
            <a:r>
              <a:rPr lang="zh-CN" sz="1050">
                <a:solidFill>
                  <a:srgbClr val="4A5568"/>
                </a:solidFill>
                <a:latin typeface="Source Han Sans CN"/>
                <a:ea typeface="Source Han Sans CN"/>
              </a:rPr>
              <a:t>归属</a:t>
            </a:r>
            <a:r>
              <a:rPr lang="en-US" sz="1050">
                <a:solidFill>
                  <a:srgbClr val="4A5568"/>
                </a:solidFill>
                <a:latin typeface="Source Han Sans CN"/>
                <a:ea typeface="Source Han Sans CN"/>
              </a:rPr>
              <a:t> x × </a:t>
            </a:r>
            <a:r>
              <a:rPr lang="zh-CN" sz="1050">
                <a:solidFill>
                  <a:srgbClr val="4A5568"/>
                </a:solidFill>
                <a:latin typeface="Source Han Sans CN"/>
                <a:ea typeface="Source Han Sans CN"/>
              </a:rPr>
              <a:t>访问顺序</a:t>
            </a:r>
            <a:r>
              <a:rPr lang="en-US" sz="1050">
                <a:solidFill>
                  <a:srgbClr val="4A5568"/>
                </a:solidFill>
                <a:latin typeface="Source Han Sans CN"/>
                <a:ea typeface="Source Han Sans CN"/>
              </a:rPr>
              <a:t> π × </a:t>
            </a:r>
            <a:r>
              <a:rPr lang="zh-CN" sz="1050">
                <a:solidFill>
                  <a:srgbClr val="4A5568"/>
                </a:solidFill>
                <a:latin typeface="Source Han Sans CN"/>
                <a:ea typeface="Source Han Sans CN"/>
              </a:rPr>
              <a:t>终点机巢</a:t>
            </a:r>
            <a:r>
              <a:rPr lang="en-US" sz="1050">
                <a:solidFill>
                  <a:srgbClr val="4A5568"/>
                </a:solidFill>
                <a:latin typeface="Source Han Sans CN"/>
                <a:ea typeface="Source Han Sans CN"/>
              </a:rPr>
              <a:t> z </a:t>
            </a:r>
            <a:r>
              <a:rPr lang="zh-CN" sz="1050">
                <a:solidFill>
                  <a:srgbClr val="4A5568"/>
                </a:solidFill>
                <a:latin typeface="Source Han Sans CN"/>
                <a:ea typeface="Source Han Sans CN"/>
              </a:rPr>
              <a:t>联合确定；起点固定、终点可选、允许部分空闲——这是多机巢动态滚动的</a:t>
            </a:r>
            <a:r>
              <a:rPr lang="en-US" sz="1050">
                <a:solidFill>
                  <a:srgbClr val="4A5568"/>
                </a:solidFill>
                <a:latin typeface="Source Han Sans CN"/>
                <a:ea typeface="Source Han Sans CN"/>
              </a:rPr>
              <a:t> MTSP </a:t>
            </a:r>
            <a:r>
              <a:rPr lang="zh-CN" sz="1050">
                <a:solidFill>
                  <a:srgbClr val="4A5568"/>
                </a:solidFill>
                <a:latin typeface="Source Han Sans CN"/>
                <a:ea typeface="Source Han Sans CN"/>
              </a:rPr>
              <a:t>变体。</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05 / 12</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35267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04787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P8 · 优先级预筛选与边际收益选择</a:t>
            </a:r>
            <a:r>
              <a:rPr lang="zh-CN" sz="1050" b="1">
                <a:solidFill>
                  <a:srgbClr val="FFFFFF"/>
                </a:solidFill>
                <a:latin typeface="Source Han Sans CN"/>
                <a:ea typeface="Source Han Sans CN"/>
              </a:rPr>
              <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6200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9144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135255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15049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194310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20955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7" name="文本框 376" descr="{&quot;isTemplate&quot;:true,&quot;type&quot;:&quot;text&quot;}"/>
          <p:cNvSpPr txBox="1"/>
          <p:nvPr/>
        </p:nvSpPr>
        <p:spPr>
          <a:xfrm>
            <a:off x="3200400" y="5915025"/>
            <a:ext cx="196215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07 / 12</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闸门①</a:t>
            </a:r>
            <a:r>
              <a:rPr lang="en-US" sz="1050">
                <a:solidFill>
                  <a:srgbClr val="4A5568"/>
                </a:solidFill>
                <a:latin typeface="Source Han Sans CN"/>
                <a:ea typeface="Source Han Sans CN"/>
              </a:rPr>
              <a:t> prefilter</a:t>
            </a:r>
            <a:r>
              <a:rPr lang="zh-CN" sz="1050">
                <a:solidFill>
                  <a:srgbClr val="4A5568"/>
                </a:solidFill>
                <a:latin typeface="Source Han Sans CN"/>
                <a:ea typeface="Source Han Sans CN"/>
              </a:rPr>
              <a:t>：是否有可用机</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往返航程可达（DEM 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闸门②</a:t>
            </a:r>
            <a:r>
              <a:rPr lang="en-US" sz="1050">
                <a:solidFill>
                  <a:srgbClr val="4A5568"/>
                </a:solidFill>
                <a:latin typeface="Source Han Sans CN"/>
                <a:ea typeface="Source Han Sans CN"/>
              </a:rPr>
              <a:t> postcheck</a:t>
            </a:r>
            <a:r>
              <a:rPr lang="zh-CN" sz="1050">
                <a:solidFill>
                  <a:srgbClr val="4A5568"/>
                </a:solidFill>
                <a:latin typeface="Source Han Sans CN"/>
                <a:ea typeface="Source Han Sans CN"/>
              </a:rPr>
              <a:t>：机群剩余航程预算——仅物理不可行才不进候选，否则留池下周期再评；时间窗迟到由适应度折减、非参选资格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判断：选择质量与实时性兼得——边际比只依赖代价矩阵查表与插入估计，单周期选择开销可忽略，却保住了「任务</a:t>
            </a:r>
            <a:r>
              <a:rPr lang="en-US" sz="1200" b="1">
                <a:solidFill>
                  <a:srgbClr val="FFFFFF"/>
                </a:solidFill>
                <a:latin typeface="Source Han Sans CN"/>
                <a:ea typeface="Source Han Sans CN"/>
              </a:rPr>
              <a:t> × </a:t>
            </a:r>
            <a:r>
              <a:rPr lang="zh-CN" sz="1200" b="1">
                <a:solidFill>
                  <a:srgbClr val="FFFFFF"/>
                </a:solidFill>
                <a:latin typeface="Source Han Sans CN"/>
                <a:ea typeface="Source Han Sans CN"/>
              </a:rPr>
              <a:t>组合」的匹配质量。</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08 / 12</a:t>
            </a:r>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4191000"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39370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P10 · 优化模型与适应度　　P11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6200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9144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135255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15049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194310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20955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7" name="文本框 376" descr="{&quot;isTemplate&quot;:true,&quot;type&quot;:&quot;text&quot;}"/>
          <p:cNvSpPr txBox="1"/>
          <p:nvPr/>
        </p:nvSpPr>
        <p:spPr>
          <a:xfrm>
            <a:off x="3200400" y="5915025"/>
            <a:ext cx="196215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12</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只作事后指标——「能装必交付」由覆盖门禁承担、非加权近似；W_hard/W_skip 由指标上下界推导，λ/w_late/w_time 为层内偏好参数；big-M 旧式（−m·F1_eff）保留为兼容口径。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12</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12</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40030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486275"/>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覆盖门禁守完成语义 · 四层准字典序保可行 · DMDE 搜归属与顺序</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endParaRPr/>
          </a:p>
        </p:txBody>
      </p:sp>
      <p:sp>
        <p:nvSpPr>
          <p:cNvPr id="202" name="文本框 236" descr="{&quot;isTemplate&quot;:true,&quot;type&quot;:&quot;text&quot;}"/>
          <p:cNvSpPr txBox="1"/>
          <p:nvPr/>
        </p:nvSpPr>
        <p:spPr>
          <a:xfrm>
            <a:off x="4962525" y="5324475"/>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84835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动态滚动与闭环运行：周期时序与状态更新</a:t>
            </a:r>
            <a:r>
              <a:rPr lang="en-US" sz="2400" b="1">
                <a:solidFill>
                  <a:srgbClr val="0E3F8C"/>
                </a:solidFill>
                <a:latin typeface="Source Han Sans CN"/>
                <a:ea typeface="Source Han Sans CN"/>
              </a:rPr>
              <a:t/>
            </a:r>
            <a:r>
              <a:rPr lang="zh-CN" sz="2400" b="1">
                <a:solidFill>
                  <a:srgbClr val="0E3F8C"/>
                </a:solidFill>
                <a:latin typeface="Source Han Sans CN"/>
                <a:ea typeface="Source Han Sans CN"/>
              </a:rPr>
              <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每周期独立重算选择与分配，状态只经执行反馈演化——长程运行不丢任务</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任务池演化（完成出池 · 未选留池 · 新到入池）</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T(t+1) = remain ∪ new ∪ release</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完成出池、未选留池、故障释放、新任务到达；滞留任务带等待补偿 W = 1−e−t/τ 参与下周期排序，不会被静默丢失——池水位守恒，arrived = done + unreach + elim + remain 每周期成立。</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1E4FA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机队状态更新（规划只用当前真实状态）</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状态(u) = 停靠机巢 + 剩余航程 + 可用性　　每周期重算 K(t) 与 cap(t)</a:t>
            </a:r>
            <a:r>
              <a:rPr lang="zh-CN" sz="1238" b="1">
                <a:solidFill>
                  <a:srgbClr val="0E3F8C"/>
                </a:solidFill>
                <a:latin typeface="Source Han Sans CN"/>
                <a:ea typeface="Source Han Sans CN"/>
              </a:rPr>
              <a:t/>
            </a:r>
            <a:r>
              <a:rPr lang="en-US" sz="1238" b="1">
                <a:solidFill>
                  <a:srgbClr val="0E3F8C"/>
                </a:solidFill>
                <a:latin typeface="Source Han Sans CN"/>
                <a:ea typeface="Source Han Sans CN"/>
              </a:rPr>
              <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B(t) = 可起飞子集剩余航程和；cap(t) = max(min_cap, ⌊B(t)/c_med⌋)</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起降、充电、故障与返航迁移每周期改变可用集与停靠巢；充电中的机是幻影容量、不计入 B(t)——规划基于当前状态而非初始快照。</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周期时序：</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到达入池</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① 任务选择</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② MUAS 求解</a:t>
            </a:r>
            <a:r>
              <a:rPr lang="en-US" sz="975">
                <a:solidFill>
                  <a:srgbClr val="1E4FA8"/>
                </a:solidFill>
                <a:latin typeface="Source Han Sans CN"/>
                <a:ea typeface="Source Han Sans CN"/>
              </a:rPr>
              <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③ 执行出动</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④ 反馈更新</a:t>
            </a:r>
            <a:r>
              <a:rPr lang="en-US" sz="975">
                <a:solidFill>
                  <a:srgbClr val="1E4FA8"/>
                </a:solidFill>
                <a:latin typeface="Source Han Sans CN"/>
                <a:ea typeface="Source Han Sans CN"/>
              </a:rPr>
              <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完成反馈闸门（完成只认物理约束）</a:t>
            </a:r>
            <a:r>
              <a:rPr lang="zh-CN" sz="1425" b="1">
                <a:solidFill>
                  <a:srgbClr val="0E3F8C"/>
                </a:solidFill>
                <a:latin typeface="Source Han Sans CN"/>
                <a:ea typeface="Source Han Sans CN"/>
              </a:rPr>
              <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迟到照常完成 · 物理不可行回池</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迟到交付按 L 折价计收益、不计废飞；物理不可行才回池重选，是唯一合法的未完成原因</a:t>
            </a:r>
            <a:r>
              <a:rPr lang="en-US" sz="825">
                <a:solidFill>
                  <a:srgbClr val="1E4FA8"/>
                </a:solidFill>
                <a:latin typeface="Source Han Sans CN"/>
                <a:ea typeface="Source Han Sans CN"/>
              </a:rPr>
              <a:t/>
            </a:r>
            <a:r>
              <a:rPr lang="en-US" sz="120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zh-CN" sz="1200">
                <a:solidFill>
                  <a:srgbClr val="1E4FA8"/>
                </a:solidFill>
                <a:latin typeface="Source Han Sans CN"/>
                <a:ea typeface="Source Han Sans CN"/>
              </a:rPr>
              <a:t/>
            </a:r>
            <a:r>
              <a:rPr lang="en-US" sz="1200">
                <a:solidFill>
                  <a:srgbClr val="1E4FA8"/>
                </a:solidFill>
                <a:latin typeface="Source Han Sans CN"/>
                <a:ea typeface="Source Han Sans CN"/>
              </a:rPr>
              <a:t/>
            </a:r>
            <a:r>
              <a:rPr lang="zh-CN" sz="1200">
                <a:solidFill>
                  <a:srgbClr val="1E4FA8"/>
                </a:solidFill>
                <a:latin typeface="Source Han Sans CN"/>
                <a:ea typeface="Source Han Sans CN"/>
              </a:rPr>
              <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执行反馈只按物理可行性裁决——「任务不被完成只有物理约束被违反」；迟到由适应度按 w_late 计价，与航程代价同台竞争。</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滞留与防饥饿（不停饿兜底）</a:t>
            </a:r>
            <a:r>
              <a:rPr lang="zh-CN" sz="1275" b="1">
                <a:solidFill>
                  <a:srgbClr val="0E3F8C"/>
                </a:solidFill>
                <a:latin typeface="Source Han Sans CN"/>
                <a:ea typeface="Source Han Sans CN"/>
              </a:rPr>
              <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等待超阈值或逼近 latest 的任务强制纳入候选集并在终刀获强优先；边际接受判据带等待软加权 eff = ratio·(1+γ·age)——长程运行下没有任务被无限期挤出。</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判断：滚动闭环把「求解一次」变成「持续服务」——每周期规模由 cap(t) 卡住、状态由执行反馈驱动，任务去留全程可审计，长程运行不丢任务。</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06 / 12</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