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a:p>
            <a:r>
              <a:rPr lang="zh-CN" smtClean="0"/>
              <a:t/>
            </a:r>
          </a:p>
          <a:p>
            <a:r>
              <a:rPr lang="zh-CN" smtClean="0"/>
              <a:t>【为什么用巡检数据举证，却不把问题定义域限定在巡检】</a:t>
            </a:r>
          </a:p>
          <a:p>
            <a:r>
              <a:rPr lang="zh-CN" smtClean="0"/>
              <a:t>本页三段量化缺口取自巡检，理由只有一个：这是目前公开实测数据最完整的场景</a:t>
            </a:r>
          </a:p>
          <a:p>
            <a:r>
              <a:rPr lang="zh-CN" smtClean="0"/>
              <a:t>（大疆机场 4 架次记录、机巢覆盖测算、单机日巡检口径都有出处）。应急派送与</a:t>
            </a:r>
          </a:p>
          <a:p>
            <a:r>
              <a:rPr lang="zh-CN" smtClean="0"/>
              <a:t>态势感知目前拿不到同等质量的公开数据，不代表缺口不存在——恰恰相反，应急场景</a:t>
            </a:r>
          </a:p>
          <a:p>
            <a:r>
              <a:rPr lang="zh-CN" smtClean="0"/>
              <a:t>「需求随上报产生、运力必然不足」在 P5 线 6（Yucesoy 2025 / van Steenbergen 2024）</a:t>
            </a:r>
          </a:p>
          <a:p>
            <a:r>
              <a:rPr lang="zh-CN" smtClean="0"/>
              <a:t>里已被反复确认，只是没有架次级实测。</a:t>
            </a:r>
          </a:p>
          <a:p>
            <a:r>
              <a:rPr lang="zh-CN" smtClean="0"/>
              <a:t>因此本页的正确讲法是：「以数据最完整的场景为例，说明这类缺口的量级」，</a:t>
            </a:r>
          </a:p>
          <a:p>
            <a:r>
              <a:rPr lang="zh-CN" smtClean="0"/>
              <a:t>而不是「只有巡检才做不完」。若被问「应急场景的数字呢」，答：定性一致、</a:t>
            </a:r>
          </a:p>
          <a:p>
            <a:r>
              <a:rPr lang="zh-CN" smtClean="0"/>
              <a:t>量级待实例化后补测，这正是 P8 下一步工作的第三步。</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五大挑战（P10）· 口径说明与文献旁证</a:t>
            </a:r>
          </a:p>
          <a:p>
            <a:r>
              <a:rPr lang="zh-CN" smtClean="0"/>
              <a:t/>
            </a:r>
          </a:p>
          <a:p>
            <a:r>
              <a:rPr lang="zh-CN" smtClean="0"/>
              <a:t>【为什么标题去掉「广域巡检场景下」】</a:t>
            </a:r>
          </a:p>
          <a:p>
            <a:r>
              <a:rPr lang="zh-CN" smtClean="0"/>
              <a:t>五条挑战没有一条是巡检特有的：持续任务流、供过于求、多起降点、三维地形、</a:t>
            </a:r>
          </a:p>
          <a:p>
            <a:r>
              <a:rPr lang="zh-CN" smtClean="0"/>
              <a:t>机队能力受限，是「广域 + 持续任务流 + 资源受限」这一类问题的结构属性。</a:t>
            </a:r>
          </a:p>
          <a:p>
            <a:r>
              <a:rPr lang="zh-CN" smtClean="0"/>
              <a:t>广域巡检只是当前唯一实例化并验证的场景（P7 已作诚实声明），不是问题的定义域。</a:t>
            </a:r>
          </a:p>
          <a:p>
            <a:r>
              <a:rPr lang="zh-CN" smtClean="0"/>
              <a:t>标题退回巡检，会让 P3–P8 六页建立的框架定位前功尽弃——被问「你这方法只能巡检用吗」</a:t>
            </a:r>
          </a:p>
          <a:p>
            <a:r>
              <a:rPr lang="zh-CN" smtClean="0"/>
              <a:t>时，这一页就是最刺眼的反例。</a:t>
            </a:r>
          </a:p>
          <a:p>
            <a:r>
              <a:rPr lang="zh-CN" smtClean="0"/>
              <a:t/>
            </a:r>
          </a:p>
          <a:p>
            <a:r>
              <a:rPr lang="zh-CN" smtClean="0"/>
              <a:t>【五条挑战 × 文献旁证（被问「这些挑战是不是你自己编的」时用）】</a:t>
            </a:r>
          </a:p>
          <a:p>
            <a:r>
              <a:rPr lang="zh-CN" smtClean="0"/>
              <a:t>1 任务动态到达与持续滞留</a:t>
            </a:r>
          </a:p>
          <a:p>
            <a:r>
              <a:rPr lang="zh-CN" smtClean="0"/>
              <a:t>  → Alqefari &amp; Menai. Multi-UAV Task Assignment in Dynamic Environments:</a:t>
            </a:r>
          </a:p>
          <a:p>
            <a:r>
              <a:rPr lang="zh-CN" smtClean="0"/>
              <a:t>    Current Trends and Future Directions. Drones 9(1):75, 2025.</a:t>
            </a:r>
          </a:p>
          <a:p>
            <a:r>
              <a:rPr lang="zh-CN" smtClean="0"/>
              <a:t>    列为首要动态源 "sudden task appearances"，并要求方法</a:t>
            </a:r>
          </a:p>
          <a:p>
            <a:r>
              <a:rPr lang="zh-CN" smtClean="0"/>
              <a:t>    "reactive and adaptive, rather than one-shot static plans"。</a:t>
            </a:r>
          </a:p>
          <a:p>
            <a:r>
              <a:rPr lang="zh-CN" smtClean="0"/>
              <a:t>2 无人机可用状态动态变化</a:t>
            </a:r>
          </a:p>
          <a:p>
            <a:r>
              <a:rPr lang="zh-CN" smtClean="0"/>
              <a:t>  → 同上："UAV failures, and varying mission requirements"；</a:t>
            </a:r>
          </a:p>
          <a:p>
            <a:r>
              <a:rPr lang="zh-CN" smtClean="0"/>
              <a:t>    Drones 9(8):530 亦将 UAV failures 列为动态环境核心扰动。</a:t>
            </a:r>
          </a:p>
          <a:p>
            <a:r>
              <a:rPr lang="zh-CN" smtClean="0"/>
              <a:t>3 多机巢起降与终点选择</a:t>
            </a:r>
          </a:p>
          <a:p>
            <a:r>
              <a:rPr lang="zh-CN" smtClean="0"/>
              <a:t>  → 文献覆盖最薄的一条，恰是本工作的增量所在。最近的羊钊等 2025</a:t>
            </a:r>
          </a:p>
          <a:p>
            <a:r>
              <a:rPr lang="zh-CN" smtClean="0"/>
              <a:t>    做异巢起降两阶段，但仍要求遍历全部航路点、无弃单。</a:t>
            </a:r>
          </a:p>
          <a:p>
            <a:r>
              <a:rPr lang="zh-CN" smtClean="0"/>
              <a:t>4 任务数量与执行能力不匹配</a:t>
            </a:r>
          </a:p>
          <a:p>
            <a:r>
              <a:rPr lang="zh-CN" smtClean="0"/>
              <a:t>  → Wu et al. A Survey of UAV Swarm Task Allocation Based on the</a:t>
            </a:r>
          </a:p>
          <a:p>
            <a:r>
              <a:rPr lang="zh-CN" smtClean="0"/>
              <a:t>    Perspective of Coalition Formation. IJSIR 13(1), 2023. 明确指出缺口：</a:t>
            </a:r>
          </a:p>
          <a:p>
            <a:r>
              <a:rPr lang="zh-CN" smtClean="0"/>
              <a:t>    "Less consideration is given to task allocation with inadequate</a:t>
            </a:r>
          </a:p>
          <a:p>
            <a:r>
              <a:rPr lang="zh-CN" smtClean="0"/>
              <a:t>    resources … mostly assuming that UAV swarms possess sufficient</a:t>
            </a:r>
          </a:p>
          <a:p>
            <a:r>
              <a:rPr lang="zh-CN" smtClean="0"/>
              <a:t>    capacity to complete all tasks."——「默认全部完成」正是被假设掉的前提。</a:t>
            </a:r>
          </a:p>
          <a:p>
            <a:r>
              <a:rPr lang="zh-CN" smtClean="0"/>
              <a:t>5 三维地形抬升真实执行代价</a:t>
            </a:r>
          </a:p>
          <a:p>
            <a:r>
              <a:rPr lang="zh-CN" smtClean="0"/>
              <a:t>  → Review of Dynamic Task Allocation Methods for UAV Swarms Oriented to</a:t>
            </a:r>
          </a:p>
          <a:p>
            <a:r>
              <a:rPr lang="zh-CN" smtClean="0"/>
              <a:t>    Ground Targets. CSMS, 2021: "the existing UAV swarm task allocation</a:t>
            </a:r>
          </a:p>
          <a:p>
            <a:r>
              <a:rPr lang="zh-CN" smtClean="0"/>
              <a:t>    model assumes that the space is two-dimensional and that the target</a:t>
            </a:r>
          </a:p>
          <a:p>
            <a:r>
              <a:rPr lang="zh-CN" smtClean="0"/>
              <a:t>    is static"；量化支撑见伍景琼等 2025（DEM 修正率 2.85%~18.94%）。</a:t>
            </a:r>
          </a:p>
          <a:p>
            <a:r>
              <a:rPr lang="zh-CN" smtClean="0"/>
              <a:t/>
            </a:r>
          </a:p>
          <a:p>
            <a:r>
              <a:rPr lang="zh-CN" smtClean="0"/>
              <a:t>【规模与分层（对应 P6 第③块）】</a:t>
            </a:r>
          </a:p>
          <a:p>
            <a:r>
              <a:rPr lang="zh-CN" smtClean="0"/>
              <a:t>  → Drones 9(8):530："The number of possible task-to-UAV allocations grows</a:t>
            </a:r>
          </a:p>
          <a:p>
            <a:r>
              <a:rPr lang="zh-CN" smtClean="0"/>
              <a:t>    exponentially with the team size and task count … exacerbated in dynamic</a:t>
            </a:r>
          </a:p>
          <a:p>
            <a:r>
              <a:rPr lang="zh-CN" smtClean="0"/>
              <a:t>    scenarios, where the assignment may need to be recomputed frequently"；</a:t>
            </a:r>
          </a:p>
          <a:p>
            <a:r>
              <a:rPr lang="zh-CN" smtClean="0"/>
              <a:t>    并提出 "Optimality vs. Real-Time Responsiveness" 权衡。</a:t>
            </a:r>
          </a:p>
          <a:p>
            <a:r>
              <a:rPr lang="zh-CN" smtClean="0"/>
              <a:t>    即：全要素联合精确求解在滚动周期内不可达，因此必须分层缩空间。</a:t>
            </a:r>
          </a:p>
          <a:p>
            <a:r>
              <a:rPr lang="zh-CN" smtClean="0"/>
              <a:t/>
            </a:r>
          </a:p>
          <a:p>
            <a:r>
              <a:rPr lang="zh-CN" smtClean="0"/>
              <a:t>【讲法】</a:t>
            </a:r>
          </a:p>
          <a:p>
            <a:r>
              <a:rPr lang="zh-CN" smtClean="0"/>
              <a:t>不要逐条念挑战。先说「这五条同时成立 → 一次性静态解必然失效」，再进 P11 的</a:t>
            </a:r>
          </a:p>
          <a:p>
            <a:r>
              <a:rPr lang="zh-CN" smtClean="0"/>
              <a:t>两阶段分层框架。文献旁证只在被质疑时抛出，不要主动铺开。</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方法链已闭环，实验证据正在补齐——按当前事实口径汇报，不做未经验证的宣称</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 · 三维地理等约束集</a:t>
            </a:r>
          </a:p>
          <a:p>
            <a:pPr>
              <a:spcAft>
                <a:spcPts val="600"/>
              </a:spcAft>
            </a:pPr>
            <a:r>
              <a:rPr sz="975" b="0">
                <a:solidFill>
                  <a:srgbClr val="4A5568"/>
                </a:solidFill>
                <a:latin typeface="微软雅黑"/>
                <a:ea typeface="微软雅黑"/>
              </a:rPr>
              <a:t>两阶段：动态任务选择缩空间 → 选择性 MUAS 精优化；外层滚动闭环 + 防饥饿</a:t>
            </a:r>
          </a:p>
          <a:p>
            <a:pPr>
              <a:spcAft>
                <a:spcPts val="600"/>
              </a:spcAft>
            </a:pPr>
            <a:r>
              <a:rPr sz="975" b="0">
                <a:solidFill>
                  <a:srgbClr val="4A5568"/>
                </a:solidFill>
                <a:latin typeface="微软雅黑"/>
                <a:ea typeface="微软雅黑"/>
              </a:rPr>
              <a:t>DMDE 结构扩展：哨兵基因统一编码、逆映射四步、Lamarckian 回写</a:t>
            </a:r>
          </a:p>
          <a:p>
            <a:pPr>
              <a:spcAft>
                <a:spcPts val="600"/>
              </a:spcAft>
            </a:pPr>
            <a:r>
              <a:rPr sz="975" b="0">
                <a:solidFill>
                  <a:srgbClr val="4A5568"/>
                </a:solidFill>
                <a:latin typeface="微软雅黑"/>
                <a:ea typeface="微软雅黑"/>
              </a:rPr>
              <a:t>场景与代价：ASTER GDEM 三维代价场 + 8 机巢（广域巡检实例化）；基线族已实现</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六组实验按当前口径重跑</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六组实验：冒烟 / 规模标定 / 事件滚动 / 消融 / 基线对照 / 联合域</a:t>
            </a:r>
          </a:p>
          <a:p>
            <a:pPr>
              <a:spcAft>
                <a:spcPts val="600"/>
              </a:spcAft>
            </a:pPr>
            <a:r>
              <a:rPr sz="975" b="0">
                <a:solidFill>
                  <a:srgbClr val="4A5568"/>
                </a:solidFill>
                <a:latin typeface="微软雅黑"/>
                <a:ea typeface="微软雅黑"/>
              </a:rPr>
              <a:t>选择层标定口径（机数名额 ∩ 能力 vs 能力驱动）待按实验结论切换</a:t>
            </a:r>
          </a:p>
          <a:p>
            <a:pPr>
              <a:spcAft>
                <a:spcPts val="600"/>
              </a:spcAft>
            </a:pPr>
            <a:r>
              <a:rPr sz="975" b="0">
                <a:solidFill>
                  <a:srgbClr val="4A5568"/>
                </a:solidFill>
                <a:latin typeface="微软雅黑"/>
                <a:ea typeface="微软雅黑"/>
              </a:rPr>
              <a:t>覆盖门禁口径的开关尚未在生产配置中默认开启</a:t>
            </a:r>
          </a:p>
          <a:p>
            <a:pPr>
              <a:spcAft>
                <a:spcPts val="600"/>
              </a:spcAft>
            </a:pPr>
            <a:r>
              <a:rPr sz="975" b="0">
                <a:solidFill>
                  <a:srgbClr val="4A5568"/>
                </a:solidFill>
                <a:latin typeface="微软雅黑"/>
                <a:ea typeface="微软雅黑"/>
              </a:rPr>
              <a:t>规模—吞吐—质量的权衡曲线待回填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第一步：六组实验出数，完成基线对照与机制消融</a:t>
            </a:r>
          </a:p>
          <a:p>
            <a:pPr>
              <a:spcAft>
                <a:spcPts val="600"/>
              </a:spcAft>
            </a:pPr>
            <a:r>
              <a:rPr sz="975" b="0">
                <a:solidFill>
                  <a:srgbClr val="4A5568"/>
                </a:solidFill>
                <a:latin typeface="微软雅黑"/>
                <a:ea typeface="微软雅黑"/>
              </a:rPr>
              <a:t>第二步：固化生产口径（门禁开启 + 选择层标定）</a:t>
            </a:r>
          </a:p>
          <a:p>
            <a:pPr>
              <a:spcAft>
                <a:spcPts val="600"/>
              </a:spcAft>
            </a:pPr>
            <a:r>
              <a:rPr sz="975" b="0">
                <a:solidFill>
                  <a:srgbClr val="4A5568"/>
                </a:solidFill>
                <a:latin typeface="微软雅黑"/>
                <a:ea typeface="微软雅黑"/>
              </a:rPr>
              <a:t>第三步：把实例化迁到应急派送 / 态势感知，检验口径可迁移性</a:t>
            </a:r>
          </a:p>
          <a:p>
            <a:pPr>
              <a:spcAft>
                <a:spcPts val="600"/>
              </a:spcAft>
            </a:pPr>
            <a:r>
              <a:rPr sz="975" b="0">
                <a:solidFill>
                  <a:srgbClr val="4A5568"/>
                </a:solidFill>
                <a:latin typeface="微软雅黑"/>
                <a:ea typeface="微软雅黑"/>
              </a:rPr>
              <a:t>在此之前，不主张「优于某方法」的结论</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诚实口径：方法可以讲、公式可以讲、机制可以讲；「跑得多快、比谁更好」目前没有数据支撑，本轮汇报不给出任何对比结论，且全部结论限于广域巡检实例化场景。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持续到达的任务流叠加机队能力上限，使静态一次性规划无法胜任。本章先刻画问题的五条结构性特征，再给出「快速任务选择缩空间 + 精细 MUAS 组合优化」的两阶段总体求解框架。</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5715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五大挑战：为什么不能一次解完</a:t>
            </a:r>
            <a:endParaRPr/>
          </a:p>
        </p:txBody>
      </p:sp>
      <p:sp>
        <p:nvSpPr>
          <p:cNvPr id="281" name="文本框 315" descr="{&quot;isTemplate&quot;:true,&quot;type&quot;:&quot;text&quot;}"/>
          <p:cNvSpPr txBox="1"/>
          <p:nvPr/>
        </p:nvSpPr>
        <p:spPr>
          <a:xfrm>
            <a:off x="571500" y="742950"/>
            <a:ext cx="5905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五条挑战是问题域的结构属性——任一被拿掉，静态规划就足够</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2.85%~18.94%：真实三维航段代价显著高于平面直线距离，且高价值任务常伴随高航程代价——收益与代价必须联合权衡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为层内偏好参数；big-M 旧式（−m·F1_eff）保留为兼容口径。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搜归属与顺序</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